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handoutMasterIdLst>
    <p:handoutMasterId r:id="rId32"/>
  </p:handoutMasterIdLst>
  <p:sldIdLst>
    <p:sldId id="256" r:id="rId2"/>
    <p:sldId id="260" r:id="rId3"/>
    <p:sldId id="261" r:id="rId4"/>
    <p:sldId id="637" r:id="rId5"/>
    <p:sldId id="596" r:id="rId6"/>
    <p:sldId id="616" r:id="rId7"/>
    <p:sldId id="617" r:id="rId8"/>
    <p:sldId id="618" r:id="rId9"/>
    <p:sldId id="623" r:id="rId10"/>
    <p:sldId id="619" r:id="rId11"/>
    <p:sldId id="624" r:id="rId12"/>
    <p:sldId id="625" r:id="rId13"/>
    <p:sldId id="626" r:id="rId14"/>
    <p:sldId id="620" r:id="rId15"/>
    <p:sldId id="627" r:id="rId16"/>
    <p:sldId id="628" r:id="rId17"/>
    <p:sldId id="629" r:id="rId18"/>
    <p:sldId id="631" r:id="rId19"/>
    <p:sldId id="632" r:id="rId20"/>
    <p:sldId id="633" r:id="rId21"/>
    <p:sldId id="638" r:id="rId22"/>
    <p:sldId id="621" r:id="rId23"/>
    <p:sldId id="634" r:id="rId24"/>
    <p:sldId id="639" r:id="rId25"/>
    <p:sldId id="630" r:id="rId26"/>
    <p:sldId id="622" r:id="rId27"/>
    <p:sldId id="259" r:id="rId28"/>
    <p:sldId id="641" r:id="rId29"/>
    <p:sldId id="635" r:id="rId30"/>
  </p:sldIdLst>
  <p:sldSz cx="18288000" cy="10287000"/>
  <p:notesSz cx="6858000" cy="9144000"/>
  <p:embeddedFontLst>
    <p:embeddedFont>
      <p:font typeface="DM Sans" panose="020B0604020202020204" charset="0"/>
      <p:regular r:id="rId33"/>
      <p:bold r:id="rId34"/>
      <p:italic r:id="rId35"/>
      <p:boldItalic r:id="rId36"/>
    </p:embeddedFont>
    <p:embeddedFont>
      <p:font typeface="Gordita" panose="020B0604020202020204" charset="0"/>
      <p:regular r:id="rId37"/>
    </p:embeddedFont>
    <p:embeddedFont>
      <p:font typeface="Inter" panose="020B0604020202020204" charset="0"/>
      <p:regular r:id="rId38"/>
    </p:embeddedFont>
    <p:embeddedFont>
      <p:font typeface="Gordita Bold" panose="020B0604020202020204" charset="0"/>
      <p:regular r:id="rId39"/>
    </p:embeddedFont>
    <p:embeddedFont>
      <p:font typeface="Arimo Bold" panose="020B0604020202020204" charset="0"/>
      <p:regular r:id="rId40"/>
    </p:embeddedFont>
    <p:embeddedFont>
      <p:font typeface="Codec Pro" panose="020B0604020202020204" charset="0"/>
      <p:regular r:id="rId41"/>
    </p:embeddedFont>
    <p:embeddedFont>
      <p:font typeface="Proxima Nova Bold" panose="020B0604020202020204" charset="0"/>
      <p:regular r:id="rId42"/>
    </p:embeddedFont>
    <p:embeddedFont>
      <p:font typeface="Proxima Nova" panose="020B0604020202020204" charset="0"/>
      <p:regular r:id="rId43"/>
    </p:embeddedFont>
    <p:embeddedFont>
      <p:font typeface="Canva Sans Bold" panose="020B0604020202020204" charset="0"/>
      <p:regular r:id="rId44"/>
    </p:embeddedFont>
    <p:embeddedFont>
      <p:font typeface="Inter Bold" panose="020B0604020202020204" charset="0"/>
      <p:regular r:id="rId45"/>
    </p:embeddedFont>
    <p:embeddedFont>
      <p:font typeface="Open Sauce Bold" panose="020B0604020202020204" charset="0"/>
      <p:regular r:id="rId46"/>
    </p:embeddedFont>
    <p:embeddedFont>
      <p:font typeface="DM Sans Bold" panose="020B0604020202020204" charset="0"/>
      <p:regular r:id="rId47"/>
      <p:bold r:id="rId48"/>
    </p:embeddedFont>
    <p:embeddedFont>
      <p:font typeface="Open Sauce" panose="020B0604020202020204" charset="0"/>
      <p:regular r:id="rId49"/>
    </p:embeddedFont>
    <p:embeddedFont>
      <p:font typeface="Algerian" panose="04020705040A02060702" pitchFamily="82" charset="0"/>
      <p:regular r:id="rId50"/>
    </p:embeddedFont>
    <p:embeddedFont>
      <p:font typeface="Calibri" panose="020F0502020204030204" pitchFamily="34" charset="0"/>
      <p:regular r:id="rId51"/>
      <p:bold r:id="rId52"/>
      <p:italic r:id="rId53"/>
      <p:boldItalic r:id="rId54"/>
    </p:embeddedFont>
    <p:embeddedFont>
      <p:font typeface="Neue Machina" panose="020B0604020202020204" charset="0"/>
      <p:regular r:id="rId55"/>
    </p:embeddedFont>
    <p:embeddedFont>
      <p:font typeface="Calibri Light" panose="020F0302020204030204" pitchFamily="34" charset="0"/>
      <p:regular r:id="rId56"/>
      <p:italic r:id="rId5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inab benmoussa" initials="zb" lastIdx="1" clrIdx="0">
    <p:extLst>
      <p:ext uri="{19B8F6BF-5375-455C-9EA6-DF929625EA0E}">
        <p15:presenceInfo xmlns:p15="http://schemas.microsoft.com/office/powerpoint/2012/main" userId="ff0d639662e2544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7E9639D4-E3E2-4D34-9284-5A2195B3D0D7}" styleName="Style clair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748" autoAdjust="0"/>
    <p:restoredTop sz="94725" autoAdjust="0"/>
  </p:normalViewPr>
  <p:slideViewPr>
    <p:cSldViewPr>
      <p:cViewPr varScale="1">
        <p:scale>
          <a:sx n="45" d="100"/>
          <a:sy n="45" d="100"/>
        </p:scale>
        <p:origin x="20" y="160"/>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font" Target="fonts/font15.fntdata"/><Relationship Id="rId50" Type="http://schemas.openxmlformats.org/officeDocument/2006/relationships/font" Target="fonts/font18.fntdata"/><Relationship Id="rId55" Type="http://schemas.openxmlformats.org/officeDocument/2006/relationships/font" Target="fonts/font2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9.fntdata"/><Relationship Id="rId54" Type="http://schemas.openxmlformats.org/officeDocument/2006/relationships/font" Target="fonts/font22.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font" Target="fonts/font13.fntdata"/><Relationship Id="rId53" Type="http://schemas.openxmlformats.org/officeDocument/2006/relationships/font" Target="fonts/font21.fntdata"/><Relationship Id="rId58"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49" Type="http://schemas.openxmlformats.org/officeDocument/2006/relationships/font" Target="fonts/font17.fntdata"/><Relationship Id="rId57" Type="http://schemas.openxmlformats.org/officeDocument/2006/relationships/font" Target="fonts/font25.fntdata"/><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font" Target="fonts/font12.fntdata"/><Relationship Id="rId52" Type="http://schemas.openxmlformats.org/officeDocument/2006/relationships/font" Target="fonts/font20.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3" Type="http://schemas.openxmlformats.org/officeDocument/2006/relationships/font" Target="fonts/font11.fntdata"/><Relationship Id="rId48" Type="http://schemas.openxmlformats.org/officeDocument/2006/relationships/font" Target="fonts/font16.fntdata"/><Relationship Id="rId56" Type="http://schemas.openxmlformats.org/officeDocument/2006/relationships/font" Target="fonts/font24.fntdata"/><Relationship Id="rId8" Type="http://schemas.openxmlformats.org/officeDocument/2006/relationships/slide" Target="slides/slide7.xml"/><Relationship Id="rId51" Type="http://schemas.openxmlformats.org/officeDocument/2006/relationships/font" Target="fonts/font19.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font" Target="fonts/font14.fntdata"/><Relationship Id="rId5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9767C3E-7941-467A-8969-B4122FAD268D}" type="datetimeFigureOut">
              <a:rPr lang="fr-FR" smtClean="0"/>
              <a:t>19/06/2026</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EA064DC-AD8D-4C1B-AE56-357E0346F846}" type="slidenum">
              <a:rPr lang="fr-FR" smtClean="0"/>
              <a:t>‹N°›</a:t>
            </a:fld>
            <a:endParaRPr lang="fr-FR"/>
          </a:p>
        </p:txBody>
      </p:sp>
    </p:spTree>
    <p:extLst>
      <p:ext uri="{BB962C8B-B14F-4D97-AF65-F5344CB8AC3E}">
        <p14:creationId xmlns:p14="http://schemas.microsoft.com/office/powerpoint/2010/main" val="27348226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M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5101E0-6741-4551-A200-FF9245CDA5EA}" type="datetimeFigureOut">
              <a:rPr lang="fr-MA" smtClean="0"/>
              <a:t>19/06/2026</a:t>
            </a:fld>
            <a:endParaRPr lang="fr-M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M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M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M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D28C51-8F77-4B61-8641-E5BD716ED5D1}" type="slidenum">
              <a:rPr lang="fr-MA" smtClean="0"/>
              <a:t>‹N°›</a:t>
            </a:fld>
            <a:endParaRPr lang="fr-MA"/>
          </a:p>
        </p:txBody>
      </p:sp>
    </p:spTree>
    <p:extLst>
      <p:ext uri="{BB962C8B-B14F-4D97-AF65-F5344CB8AC3E}">
        <p14:creationId xmlns:p14="http://schemas.microsoft.com/office/powerpoint/2010/main" val="1804576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smtClean="0">
                <a:solidFill>
                  <a:schemeClr val="tx1"/>
                </a:solidFill>
                <a:effectLst/>
                <a:latin typeface="+mn-lt"/>
                <a:ea typeface="+mn-ea"/>
                <a:cs typeface="+mn-cs"/>
              </a:rPr>
              <a:t/>
            </a:r>
            <a:br>
              <a:rPr lang="fr-FR" sz="1200" kern="1200" dirty="0" smtClean="0">
                <a:solidFill>
                  <a:schemeClr val="tx1"/>
                </a:solidFill>
                <a:effectLst/>
                <a:latin typeface="+mn-lt"/>
                <a:ea typeface="+mn-ea"/>
                <a:cs typeface="+mn-cs"/>
              </a:rPr>
            </a:br>
            <a:r>
              <a:rPr lang="ar-SA" sz="1200" b="1" kern="1200" dirty="0" smtClean="0">
                <a:solidFill>
                  <a:schemeClr val="tx1"/>
                </a:solidFill>
                <a:effectLst/>
                <a:latin typeface="+mn-lt"/>
                <a:ea typeface="+mn-ea"/>
                <a:cs typeface="+mn-cs"/>
              </a:rPr>
              <a:t>بسم الله الرحمن الرحيم</a:t>
            </a:r>
            <a:r>
              <a:rPr lang="fr-FR" sz="1200" kern="1200" dirty="0" smtClean="0">
                <a:solidFill>
                  <a:schemeClr val="tx1"/>
                </a:solidFill>
                <a:effectLst/>
                <a:latin typeface="+mn-lt"/>
                <a:ea typeface="+mn-ea"/>
                <a:cs typeface="+mn-cs"/>
              </a:rPr>
              <a:t/>
            </a:r>
            <a:br>
              <a:rPr lang="fr-FR" sz="1200" kern="1200" dirty="0" smtClean="0">
                <a:solidFill>
                  <a:schemeClr val="tx1"/>
                </a:solidFill>
                <a:effectLst/>
                <a:latin typeface="+mn-lt"/>
                <a:ea typeface="+mn-ea"/>
                <a:cs typeface="+mn-cs"/>
              </a:rPr>
            </a:br>
            <a:r>
              <a:rPr lang="ar-SA" sz="1200" b="1" kern="1200" dirty="0" smtClean="0">
                <a:solidFill>
                  <a:schemeClr val="tx1"/>
                </a:solidFill>
                <a:effectLst/>
                <a:latin typeface="+mn-lt"/>
                <a:ea typeface="+mn-ea"/>
                <a:cs typeface="+mn-cs"/>
              </a:rPr>
              <a:t>الحمد لله الذي علّمنا ما ينفعنا، ونفعنا بما علّمنا، وزادنا علماً</a:t>
            </a:r>
            <a:endParaRPr lang="fr-FR" sz="1200" kern="1200" dirty="0" smtClean="0">
              <a:solidFill>
                <a:schemeClr val="tx1"/>
              </a:solidFill>
              <a:effectLst/>
              <a:latin typeface="+mn-lt"/>
              <a:ea typeface="+mn-ea"/>
              <a:cs typeface="+mn-cs"/>
            </a:endParaRPr>
          </a:p>
          <a:p>
            <a:endParaRPr lang="fr-FR" sz="1200" b="1" kern="1200" dirty="0" smtClean="0">
              <a:solidFill>
                <a:schemeClr val="tx1"/>
              </a:solidFill>
              <a:effectLst/>
              <a:latin typeface="+mn-lt"/>
              <a:ea typeface="+mn-ea"/>
              <a:cs typeface="+mn-cs"/>
            </a:endParaRPr>
          </a:p>
          <a:p>
            <a:r>
              <a:rPr lang="fr-FR" sz="1200" b="1" kern="1200" dirty="0" smtClean="0">
                <a:solidFill>
                  <a:schemeClr val="tx1"/>
                </a:solidFill>
                <a:effectLst/>
                <a:latin typeface="+mn-lt"/>
                <a:ea typeface="+mn-ea"/>
                <a:cs typeface="+mn-cs"/>
              </a:rPr>
              <a:t>Bonjour à toutes et à tous,</a:t>
            </a:r>
          </a:p>
          <a:p>
            <a:endParaRPr lang="fr-FR" sz="1200" kern="1200" dirty="0" smtClean="0">
              <a:solidFill>
                <a:schemeClr val="tx1"/>
              </a:solidFill>
              <a:effectLst/>
              <a:latin typeface="+mn-lt"/>
              <a:ea typeface="+mn-ea"/>
              <a:cs typeface="+mn-cs"/>
            </a:endParaRPr>
          </a:p>
          <a:p>
            <a:r>
              <a:rPr lang="fr-FR" sz="1200" kern="1200" dirty="0" smtClean="0">
                <a:solidFill>
                  <a:schemeClr val="tx1"/>
                </a:solidFill>
                <a:effectLst/>
                <a:latin typeface="+mn-lt"/>
                <a:ea typeface="+mn-ea"/>
                <a:cs typeface="+mn-cs"/>
              </a:rPr>
              <a:t>Avant de commencer, je souhaite remercier toutes les personnes qui ont contribué à la réalisation de ce projet.</a:t>
            </a:r>
          </a:p>
          <a:p>
            <a:r>
              <a:rPr lang="fr-FR" sz="1200" kern="1200" dirty="0" smtClean="0">
                <a:solidFill>
                  <a:schemeClr val="tx1"/>
                </a:solidFill>
                <a:effectLst/>
                <a:latin typeface="+mn-lt"/>
                <a:ea typeface="+mn-ea"/>
                <a:cs typeface="+mn-cs"/>
              </a:rPr>
              <a:t>Je remercie en premier lieu mon encadrant académique, Monsieur Youssef </a:t>
            </a:r>
            <a:r>
              <a:rPr lang="fr-FR" sz="1200" kern="1200" dirty="0" err="1" smtClean="0">
                <a:solidFill>
                  <a:schemeClr val="tx1"/>
                </a:solidFill>
                <a:effectLst/>
                <a:latin typeface="+mn-lt"/>
                <a:ea typeface="+mn-ea"/>
                <a:cs typeface="+mn-cs"/>
              </a:rPr>
              <a:t>Nour</a:t>
            </a:r>
            <a:r>
              <a:rPr lang="fr-FR" sz="1200" kern="1200" dirty="0" smtClean="0">
                <a:solidFill>
                  <a:schemeClr val="tx1"/>
                </a:solidFill>
                <a:effectLst/>
                <a:latin typeface="+mn-lt"/>
                <a:ea typeface="+mn-ea"/>
                <a:cs typeface="+mn-cs"/>
              </a:rPr>
              <a:t>-El Aine, pour ses conseils, son accompagnement et son soutien tout au long de ce travail.</a:t>
            </a:r>
          </a:p>
          <a:p>
            <a:endParaRPr lang="fr-FR" sz="1200" kern="1200" dirty="0" smtClean="0">
              <a:solidFill>
                <a:schemeClr val="tx1"/>
              </a:solidFill>
              <a:effectLst/>
              <a:latin typeface="+mn-lt"/>
              <a:ea typeface="+mn-ea"/>
              <a:cs typeface="+mn-cs"/>
            </a:endParaRPr>
          </a:p>
          <a:p>
            <a:r>
              <a:rPr lang="fr-FR" sz="1200" kern="1200" dirty="0" smtClean="0">
                <a:solidFill>
                  <a:schemeClr val="tx1"/>
                </a:solidFill>
                <a:effectLst/>
                <a:latin typeface="+mn-lt"/>
                <a:ea typeface="+mn-ea"/>
                <a:cs typeface="+mn-cs"/>
              </a:rPr>
              <a:t>Je remercie également Monsieur Abdellah </a:t>
            </a:r>
            <a:r>
              <a:rPr lang="fr-FR" sz="1200" kern="1200" dirty="0" err="1" smtClean="0">
                <a:solidFill>
                  <a:schemeClr val="tx1"/>
                </a:solidFill>
                <a:effectLst/>
                <a:latin typeface="+mn-lt"/>
                <a:ea typeface="+mn-ea"/>
                <a:cs typeface="+mn-cs"/>
              </a:rPr>
              <a:t>Boujida</a:t>
            </a:r>
            <a:r>
              <a:rPr lang="fr-FR" sz="1200" kern="1200" dirty="0" smtClean="0">
                <a:solidFill>
                  <a:schemeClr val="tx1"/>
                </a:solidFill>
                <a:effectLst/>
                <a:latin typeface="+mn-lt"/>
                <a:ea typeface="+mn-ea"/>
                <a:cs typeface="+mn-cs"/>
              </a:rPr>
              <a:t> et Monsieur Yassine </a:t>
            </a:r>
            <a:r>
              <a:rPr lang="fr-FR" sz="1200" kern="1200" dirty="0" err="1" smtClean="0">
                <a:solidFill>
                  <a:schemeClr val="tx1"/>
                </a:solidFill>
                <a:effectLst/>
                <a:latin typeface="+mn-lt"/>
                <a:ea typeface="+mn-ea"/>
                <a:cs typeface="+mn-cs"/>
              </a:rPr>
              <a:t>Driouch</a:t>
            </a:r>
            <a:r>
              <a:rPr lang="fr-FR" sz="1200" kern="1200" dirty="0" smtClean="0">
                <a:solidFill>
                  <a:schemeClr val="tx1"/>
                </a:solidFill>
                <a:effectLst/>
                <a:latin typeface="+mn-lt"/>
                <a:ea typeface="+mn-ea"/>
                <a:cs typeface="+mn-cs"/>
              </a:rPr>
              <a:t> de la Direction des Systèmes d’Information de Tanger Med Port </a:t>
            </a:r>
            <a:r>
              <a:rPr lang="fr-FR" sz="1200" kern="1200" dirty="0" err="1" smtClean="0">
                <a:solidFill>
                  <a:schemeClr val="tx1"/>
                </a:solidFill>
                <a:effectLst/>
                <a:latin typeface="+mn-lt"/>
                <a:ea typeface="+mn-ea"/>
                <a:cs typeface="+mn-cs"/>
              </a:rPr>
              <a:t>Authority</a:t>
            </a:r>
            <a:r>
              <a:rPr lang="fr-FR" sz="1200" kern="1200" dirty="0" smtClean="0">
                <a:solidFill>
                  <a:schemeClr val="tx1"/>
                </a:solidFill>
                <a:effectLst/>
                <a:latin typeface="+mn-lt"/>
                <a:ea typeface="+mn-ea"/>
                <a:cs typeface="+mn-cs"/>
              </a:rPr>
              <a:t> pour leur encadrement, leur disponibilité et la confiance qu’ils m’ont accordée durant cette expérience.</a:t>
            </a:r>
          </a:p>
          <a:p>
            <a:endParaRPr lang="fr-FR" sz="1200" kern="1200" dirty="0" smtClean="0">
              <a:solidFill>
                <a:schemeClr val="tx1"/>
              </a:solidFill>
              <a:effectLst/>
              <a:latin typeface="+mn-lt"/>
              <a:ea typeface="+mn-ea"/>
              <a:cs typeface="+mn-cs"/>
            </a:endParaRPr>
          </a:p>
          <a:p>
            <a:r>
              <a:rPr lang="fr-FR" sz="1200" kern="1200" dirty="0" smtClean="0">
                <a:solidFill>
                  <a:schemeClr val="tx1"/>
                </a:solidFill>
                <a:effectLst/>
                <a:latin typeface="+mn-lt"/>
                <a:ea typeface="+mn-ea"/>
                <a:cs typeface="+mn-cs"/>
              </a:rPr>
              <a:t>Un remerciement particulier à Professeur </a:t>
            </a:r>
            <a:r>
              <a:rPr lang="fr-FR" sz="1200" kern="1200" dirty="0" err="1" smtClean="0">
                <a:solidFill>
                  <a:schemeClr val="tx1"/>
                </a:solidFill>
                <a:effectLst/>
                <a:latin typeface="+mn-lt"/>
                <a:ea typeface="+mn-ea"/>
                <a:cs typeface="+mn-cs"/>
              </a:rPr>
              <a:t>Hajami</a:t>
            </a:r>
            <a:r>
              <a:rPr lang="fr-FR" sz="1200" kern="1200" dirty="0" smtClean="0">
                <a:solidFill>
                  <a:schemeClr val="tx1"/>
                </a:solidFill>
                <a:effectLst/>
                <a:latin typeface="+mn-lt"/>
                <a:ea typeface="+mn-ea"/>
                <a:cs typeface="+mn-cs"/>
              </a:rPr>
              <a:t> </a:t>
            </a:r>
            <a:r>
              <a:rPr lang="fr-FR" sz="1200" kern="1200" dirty="0" err="1" smtClean="0">
                <a:solidFill>
                  <a:schemeClr val="tx1"/>
                </a:solidFill>
                <a:effectLst/>
                <a:latin typeface="+mn-lt"/>
                <a:ea typeface="+mn-ea"/>
                <a:cs typeface="+mn-cs"/>
              </a:rPr>
              <a:t>Abdelmajid</a:t>
            </a:r>
            <a:r>
              <a:rPr lang="fr-FR" sz="1200" kern="1200" dirty="0" smtClean="0">
                <a:solidFill>
                  <a:schemeClr val="tx1"/>
                </a:solidFill>
                <a:effectLst/>
                <a:latin typeface="+mn-lt"/>
                <a:ea typeface="+mn-ea"/>
                <a:cs typeface="+mn-cs"/>
              </a:rPr>
              <a:t> pour son soutien et son intérêt pour ce travail.</a:t>
            </a:r>
          </a:p>
          <a:p>
            <a:endParaRPr lang="fr-FR" sz="1200" kern="1200" dirty="0" smtClean="0">
              <a:solidFill>
                <a:schemeClr val="tx1"/>
              </a:solidFill>
              <a:effectLst/>
              <a:latin typeface="+mn-lt"/>
              <a:ea typeface="+mn-ea"/>
              <a:cs typeface="+mn-cs"/>
            </a:endParaRPr>
          </a:p>
          <a:p>
            <a:r>
              <a:rPr lang="fr-FR" sz="1200" kern="1200" dirty="0" smtClean="0">
                <a:solidFill>
                  <a:schemeClr val="tx1"/>
                </a:solidFill>
                <a:effectLst/>
                <a:latin typeface="+mn-lt"/>
                <a:ea typeface="+mn-ea"/>
                <a:cs typeface="+mn-cs"/>
              </a:rPr>
              <a:t>Je remercie les membres du jury, Professeur </a:t>
            </a:r>
            <a:r>
              <a:rPr lang="fr-FR" sz="1200" kern="1200" dirty="0" err="1" smtClean="0">
                <a:solidFill>
                  <a:schemeClr val="tx1"/>
                </a:solidFill>
                <a:effectLst/>
                <a:latin typeface="+mn-lt"/>
                <a:ea typeface="+mn-ea"/>
                <a:cs typeface="+mn-cs"/>
              </a:rPr>
              <a:t>Machhour</a:t>
            </a:r>
            <a:r>
              <a:rPr lang="fr-FR" sz="1200" kern="1200" dirty="0" smtClean="0">
                <a:solidFill>
                  <a:schemeClr val="tx1"/>
                </a:solidFill>
                <a:effectLst/>
                <a:latin typeface="+mn-lt"/>
                <a:ea typeface="+mn-ea"/>
                <a:cs typeface="+mn-cs"/>
              </a:rPr>
              <a:t> Hamid et Professeur </a:t>
            </a:r>
            <a:r>
              <a:rPr lang="fr-FR" sz="1200" kern="1200" dirty="0" err="1" smtClean="0">
                <a:solidFill>
                  <a:schemeClr val="tx1"/>
                </a:solidFill>
                <a:effectLst/>
                <a:latin typeface="+mn-lt"/>
                <a:ea typeface="+mn-ea"/>
                <a:cs typeface="+mn-cs"/>
              </a:rPr>
              <a:t>Anajjar</a:t>
            </a:r>
            <a:r>
              <a:rPr lang="fr-FR" sz="1200" kern="1200" dirty="0" smtClean="0">
                <a:solidFill>
                  <a:schemeClr val="tx1"/>
                </a:solidFill>
                <a:effectLst/>
                <a:latin typeface="+mn-lt"/>
                <a:ea typeface="+mn-ea"/>
                <a:cs typeface="+mn-cs"/>
              </a:rPr>
              <a:t> </a:t>
            </a:r>
            <a:r>
              <a:rPr lang="fr-FR" sz="1200" kern="1200" dirty="0" err="1" smtClean="0">
                <a:solidFill>
                  <a:schemeClr val="tx1"/>
                </a:solidFill>
                <a:effectLst/>
                <a:latin typeface="+mn-lt"/>
                <a:ea typeface="+mn-ea"/>
                <a:cs typeface="+mn-cs"/>
              </a:rPr>
              <a:t>Abdelhak</a:t>
            </a:r>
            <a:r>
              <a:rPr lang="fr-FR" sz="1200" kern="1200" dirty="0" smtClean="0">
                <a:solidFill>
                  <a:schemeClr val="tx1"/>
                </a:solidFill>
                <a:effectLst/>
                <a:latin typeface="+mn-lt"/>
                <a:ea typeface="+mn-ea"/>
                <a:cs typeface="+mn-cs"/>
              </a:rPr>
              <a:t>, pour le temps consacré à l’évaluation de ce travail.</a:t>
            </a:r>
          </a:p>
          <a:p>
            <a:endParaRPr lang="fr-FR" sz="1200" kern="1200" dirty="0" smtClean="0">
              <a:solidFill>
                <a:schemeClr val="tx1"/>
              </a:solidFill>
              <a:effectLst/>
              <a:latin typeface="+mn-lt"/>
              <a:ea typeface="+mn-ea"/>
              <a:cs typeface="+mn-cs"/>
            </a:endParaRPr>
          </a:p>
          <a:p>
            <a:r>
              <a:rPr lang="fr-FR" sz="1200" kern="1200" dirty="0" smtClean="0">
                <a:solidFill>
                  <a:schemeClr val="tx1"/>
                </a:solidFill>
                <a:effectLst/>
                <a:latin typeface="+mn-lt"/>
                <a:ea typeface="+mn-ea"/>
                <a:cs typeface="+mn-cs"/>
              </a:rPr>
              <a:t>Enfin, je remercie ma famille et mes proches pour leur soutien tout au long de mon parcours.</a:t>
            </a:r>
          </a:p>
          <a:p>
            <a:endParaRPr lang="fr-FR" sz="4400"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a:t>
            </a:fld>
            <a:endParaRPr lang="fr-MA"/>
          </a:p>
        </p:txBody>
      </p:sp>
    </p:spTree>
    <p:extLst>
      <p:ext uri="{BB962C8B-B14F-4D97-AF65-F5344CB8AC3E}">
        <p14:creationId xmlns:p14="http://schemas.microsoft.com/office/powerpoint/2010/main" val="3280310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2400" dirty="0" smtClean="0"/>
              <a:t>Cette présentation est divisée en </a:t>
            </a:r>
            <a:r>
              <a:rPr lang="fr-FR" sz="2400" b="1" dirty="0" smtClean="0"/>
              <a:t>six parties principales</a:t>
            </a:r>
            <a:r>
              <a:rPr lang="fr-FR" sz="2400" dirty="0" smtClean="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2400" dirty="0" smtClean="0"/>
          </a:p>
          <a:p>
            <a:endParaRPr lang="en-US" sz="2400" dirty="0" smtClean="0"/>
          </a:p>
          <a:p>
            <a:r>
              <a:rPr lang="fr-FR" sz="2400" b="1" dirty="0" smtClean="0"/>
              <a:t>Dans la première partie, Contexte et Problématique, je vais présenter les besoins de la DSI de Tanger Med, </a:t>
            </a:r>
          </a:p>
          <a:p>
            <a:endParaRPr lang="fr-FR" sz="2400" dirty="0" smtClean="0"/>
          </a:p>
          <a:p>
            <a:r>
              <a:rPr lang="fr-FR" sz="2400" b="1" dirty="0" smtClean="0"/>
              <a:t>Dans la deuxième partie, Architecture et Déploiement, je vais montrer l'architecture globale du </a:t>
            </a:r>
            <a:r>
              <a:rPr lang="fr-FR" sz="2400" b="1" dirty="0" err="1" smtClean="0"/>
              <a:t>datacenter</a:t>
            </a:r>
            <a:r>
              <a:rPr lang="fr-FR" sz="2400" b="1" dirty="0" smtClean="0"/>
              <a:t>, </a:t>
            </a:r>
          </a:p>
          <a:p>
            <a:endParaRPr lang="fr-FR" sz="2400" dirty="0" smtClean="0"/>
          </a:p>
          <a:p>
            <a:r>
              <a:rPr lang="fr-FR" sz="2400" b="1" dirty="0" smtClean="0"/>
              <a:t>Dans la troisième partie, Sécurité </a:t>
            </a:r>
            <a:r>
              <a:rPr lang="fr-FR" sz="2400" b="1" dirty="0" err="1" smtClean="0"/>
              <a:t>Zero</a:t>
            </a:r>
            <a:r>
              <a:rPr lang="fr-FR" sz="2400" b="1" dirty="0" smtClean="0"/>
              <a:t>-Trust, je vais expliquer les mécanismes de sécurité déployés, notamment </a:t>
            </a:r>
            <a:r>
              <a:rPr lang="fr-FR" sz="2400" b="1" dirty="0" err="1" smtClean="0"/>
              <a:t>pfSense</a:t>
            </a:r>
            <a:r>
              <a:rPr lang="fr-FR" sz="2400" b="1" dirty="0" smtClean="0"/>
              <a:t>, </a:t>
            </a:r>
            <a:r>
              <a:rPr lang="fr-FR" sz="2400" b="1" dirty="0" err="1" smtClean="0"/>
              <a:t>Keycloak</a:t>
            </a:r>
            <a:r>
              <a:rPr lang="fr-FR" sz="2400" b="1" dirty="0" smtClean="0"/>
              <a:t> et </a:t>
            </a:r>
            <a:r>
              <a:rPr lang="fr-FR" sz="2400" b="1" dirty="0" err="1" smtClean="0"/>
              <a:t>Cloudflare</a:t>
            </a:r>
            <a:r>
              <a:rPr lang="fr-FR" sz="2400" b="1" dirty="0" smtClean="0"/>
              <a:t> </a:t>
            </a:r>
            <a:r>
              <a:rPr lang="fr-FR" sz="2400" b="1" dirty="0" err="1" smtClean="0"/>
              <a:t>Zero</a:t>
            </a:r>
            <a:r>
              <a:rPr lang="fr-FR" sz="2400" b="1" dirty="0" smtClean="0"/>
              <a:t> Trust, </a:t>
            </a:r>
          </a:p>
          <a:p>
            <a:endParaRPr lang="fr-FR" sz="2400" dirty="0" smtClean="0"/>
          </a:p>
          <a:p>
            <a:r>
              <a:rPr lang="fr-FR" sz="2400" b="1" dirty="0" smtClean="0"/>
              <a:t>Dans la quatrième partie, Automatisation </a:t>
            </a:r>
            <a:r>
              <a:rPr lang="fr-FR" sz="2400" b="1" dirty="0" err="1" smtClean="0"/>
              <a:t>IaC</a:t>
            </a:r>
            <a:r>
              <a:rPr lang="fr-FR" sz="2400" b="1" dirty="0" smtClean="0"/>
              <a:t>, je vais présenter l'utilisation de </a:t>
            </a:r>
            <a:r>
              <a:rPr lang="fr-FR" sz="2400" b="1" dirty="0" err="1" smtClean="0"/>
              <a:t>Terraform</a:t>
            </a:r>
            <a:r>
              <a:rPr lang="fr-FR" sz="2400" b="1" dirty="0" smtClean="0"/>
              <a:t> et </a:t>
            </a:r>
            <a:r>
              <a:rPr lang="fr-FR" sz="2400" b="1" dirty="0" err="1" smtClean="0"/>
              <a:t>Ansible</a:t>
            </a:r>
            <a:r>
              <a:rPr lang="fr-FR" sz="2400" b="1" dirty="0" smtClean="0"/>
              <a:t> </a:t>
            </a:r>
          </a:p>
          <a:p>
            <a:endParaRPr lang="fr-FR" sz="2400" dirty="0" smtClean="0"/>
          </a:p>
          <a:p>
            <a:r>
              <a:rPr lang="fr-FR" sz="2400" b="1" dirty="0" smtClean="0"/>
              <a:t>Dans la cinquième partie, Backup et </a:t>
            </a:r>
            <a:r>
              <a:rPr lang="fr-FR" sz="2400" b="1" dirty="0" err="1" smtClean="0"/>
              <a:t>Disaster</a:t>
            </a:r>
            <a:r>
              <a:rPr lang="fr-FR" sz="2400" b="1" dirty="0" smtClean="0"/>
              <a:t> </a:t>
            </a:r>
            <a:r>
              <a:rPr lang="fr-FR" sz="2400" b="1" dirty="0" err="1" smtClean="0"/>
              <a:t>Recovery</a:t>
            </a:r>
            <a:r>
              <a:rPr lang="fr-FR" sz="2400" b="1" dirty="0" smtClean="0"/>
              <a:t>, présenter la stratégie de sauvegarde avec </a:t>
            </a:r>
            <a:r>
              <a:rPr lang="fr-FR" sz="2400" b="1" dirty="0" err="1" smtClean="0"/>
              <a:t>Proxmox</a:t>
            </a:r>
            <a:r>
              <a:rPr lang="fr-FR" sz="2400" b="1" dirty="0" smtClean="0"/>
              <a:t> Backup Server</a:t>
            </a:r>
          </a:p>
          <a:p>
            <a:endParaRPr lang="fr-FR" sz="2400" dirty="0" smtClean="0"/>
          </a:p>
          <a:p>
            <a:r>
              <a:rPr lang="fr-FR" sz="2400" b="1" dirty="0" smtClean="0"/>
              <a:t>Enfin, dans la sixième partie, Supervision et Résultats, présenter les outils de monitoring utilisés</a:t>
            </a:r>
            <a:endParaRPr lang="fr-FR" sz="2400"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a:t>
            </a:fld>
            <a:endParaRPr lang="fr-MA"/>
          </a:p>
        </p:txBody>
      </p:sp>
    </p:spTree>
    <p:extLst>
      <p:ext uri="{BB962C8B-B14F-4D97-AF65-F5344CB8AC3E}">
        <p14:creationId xmlns:p14="http://schemas.microsoft.com/office/powerpoint/2010/main" val="29012872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smtClean="0"/>
              <a:t>Aujourd'hui, la plupart des entreprises s'orientent vers les technologies Cloud afin de centraliser leurs données, améliorer la disponibilité des services et simplifier l'administration de leur infrastructure.</a:t>
            </a:r>
          </a:p>
          <a:p>
            <a:endParaRPr lang="fr-FR" dirty="0" smtClean="0"/>
          </a:p>
          <a:p>
            <a:r>
              <a:rPr lang="fr-FR" dirty="0" smtClean="0"/>
              <a:t>Le Cloud permet également aux utilisateurs d'accéder à leurs ressources depuis n'importe où, tout en réduisant les coûts liés aux équipements physiques.</a:t>
            </a:r>
          </a:p>
          <a:p>
            <a:r>
              <a:rPr lang="fr-FR" dirty="0" smtClean="0"/>
              <a:t>Cependant, avec l'augmentation du nombre d'utilisateurs et des données, les enjeux de sécurité, de disponibilité et d'automatisation deviennent de plus en plus importants.</a:t>
            </a:r>
          </a:p>
          <a:p>
            <a:endParaRPr lang="fr-FR" dirty="0" smtClean="0"/>
          </a:p>
          <a:p>
            <a:r>
              <a:rPr lang="fr-FR" dirty="0" smtClean="0"/>
              <a:t>C'est dans ce contexte que s'inscrit notre projet réalisé au sein de Tanger Med Port </a:t>
            </a:r>
            <a:r>
              <a:rPr lang="fr-FR" dirty="0" err="1" smtClean="0"/>
              <a:t>Authority</a:t>
            </a:r>
            <a:r>
              <a:rPr lang="fr-FR" dirty="0" smtClean="0"/>
              <a:t>.</a:t>
            </a:r>
          </a:p>
          <a:p>
            <a:endParaRPr lang="fr-FR" dirty="0" smtClean="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3</a:t>
            </a:fld>
            <a:endParaRPr lang="fr-MA"/>
          </a:p>
        </p:txBody>
      </p:sp>
    </p:spTree>
    <p:extLst>
      <p:ext uri="{BB962C8B-B14F-4D97-AF65-F5344CB8AC3E}">
        <p14:creationId xmlns:p14="http://schemas.microsoft.com/office/powerpoint/2010/main" val="1658072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smtClean="0"/>
              <a:t>En scannant le QR code ou en utilisant l'adresse affichée, on peut accéder à une </a:t>
            </a:r>
          </a:p>
          <a:p>
            <a:endParaRPr lang="fr-FR" dirty="0" smtClean="0"/>
          </a:p>
          <a:p>
            <a:r>
              <a:rPr lang="fr-FR" dirty="0" smtClean="0"/>
              <a:t>présentation complète du projet, les technologies utilisées, la documentation et les résultats obtenus.</a:t>
            </a:r>
          </a:p>
          <a:p>
            <a:endParaRPr lang="fr-FR" dirty="0" smtClean="0"/>
          </a:p>
          <a:p>
            <a:endParaRPr lang="fr-FR" dirty="0"/>
          </a:p>
        </p:txBody>
      </p:sp>
      <p:sp>
        <p:nvSpPr>
          <p:cNvPr id="4" name="Espace réservé du numéro de diapositive 3"/>
          <p:cNvSpPr>
            <a:spLocks noGrp="1"/>
          </p:cNvSpPr>
          <p:nvPr>
            <p:ph type="sldNum" sz="quarter" idx="10"/>
          </p:nvPr>
        </p:nvSpPr>
        <p:spPr/>
        <p:txBody>
          <a:bodyPr/>
          <a:lstStyle/>
          <a:p>
            <a:fld id="{EFD28C51-8F77-4B61-8641-E5BD716ED5D1}" type="slidenum">
              <a:rPr lang="fr-MA" smtClean="0"/>
              <a:t>4</a:t>
            </a:fld>
            <a:endParaRPr lang="fr-MA"/>
          </a:p>
        </p:txBody>
      </p:sp>
    </p:spTree>
    <p:extLst>
      <p:ext uri="{BB962C8B-B14F-4D97-AF65-F5344CB8AC3E}">
        <p14:creationId xmlns:p14="http://schemas.microsoft.com/office/powerpoint/2010/main" val="41949600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smtClean="0"/>
              <a:t>Cette slide présente les principaux objectifs du projet.</a:t>
            </a:r>
            <a:endParaRPr lang="fr-FR" dirty="0" smtClean="0"/>
          </a:p>
          <a:p>
            <a:r>
              <a:rPr lang="fr-FR" dirty="0" smtClean="0"/>
              <a:t>Tout d'abord, déployer un cluster </a:t>
            </a:r>
            <a:r>
              <a:rPr lang="fr-FR" b="1" dirty="0" err="1" smtClean="0"/>
              <a:t>Proxmox</a:t>
            </a:r>
            <a:r>
              <a:rPr lang="fr-FR" b="1" dirty="0" smtClean="0"/>
              <a:t> VE en haute disponibilité</a:t>
            </a:r>
            <a:r>
              <a:rPr lang="fr-FR" dirty="0" smtClean="0"/>
              <a:t> afin d'assurer la continuité des services en cas de panne.</a:t>
            </a:r>
          </a:p>
          <a:p>
            <a:endParaRPr lang="fr-FR" dirty="0" smtClean="0"/>
          </a:p>
          <a:p>
            <a:r>
              <a:rPr lang="fr-FR" dirty="0" smtClean="0"/>
              <a:t>Ensuite, mettre en place un stockage distribué </a:t>
            </a:r>
            <a:r>
              <a:rPr lang="fr-FR" b="1" dirty="0" err="1" smtClean="0"/>
              <a:t>Ceph</a:t>
            </a:r>
            <a:r>
              <a:rPr lang="fr-FR" b="1" dirty="0" smtClean="0"/>
              <a:t> </a:t>
            </a:r>
            <a:r>
              <a:rPr lang="fr-FR" b="1" dirty="0" err="1" smtClean="0"/>
              <a:t>Reef</a:t>
            </a:r>
            <a:r>
              <a:rPr lang="fr-FR" dirty="0" smtClean="0"/>
              <a:t> pour garantir la disponibilité et la protection des données.</a:t>
            </a:r>
          </a:p>
          <a:p>
            <a:endParaRPr lang="fr-FR" dirty="0" smtClean="0"/>
          </a:p>
          <a:p>
            <a:r>
              <a:rPr lang="fr-FR" dirty="0" smtClean="0"/>
              <a:t>Puis, implémenter une architecture </a:t>
            </a:r>
            <a:r>
              <a:rPr lang="fr-FR" b="1" dirty="0" err="1" smtClean="0"/>
              <a:t>Zero</a:t>
            </a:r>
            <a:r>
              <a:rPr lang="fr-FR" b="1" dirty="0" smtClean="0"/>
              <a:t>-Trust</a:t>
            </a:r>
            <a:r>
              <a:rPr lang="fr-FR" dirty="0" smtClean="0"/>
              <a:t> afin de renforcer la sécurité et l'isolation entre les différents tenants.</a:t>
            </a:r>
          </a:p>
          <a:p>
            <a:endParaRPr lang="fr-FR" dirty="0" smtClean="0"/>
          </a:p>
          <a:p>
            <a:r>
              <a:rPr lang="fr-FR" dirty="0" smtClean="0"/>
              <a:t>Également, automatiser l'infrastructure grâce à </a:t>
            </a:r>
            <a:r>
              <a:rPr lang="fr-FR" b="1" dirty="0" err="1" smtClean="0"/>
              <a:t>Terraform</a:t>
            </a:r>
            <a:r>
              <a:rPr lang="fr-FR" b="1" dirty="0" smtClean="0"/>
              <a:t> et </a:t>
            </a:r>
            <a:r>
              <a:rPr lang="fr-FR" b="1" dirty="0" err="1" smtClean="0"/>
              <a:t>Ansible</a:t>
            </a:r>
            <a:r>
              <a:rPr lang="fr-FR" dirty="0" smtClean="0"/>
              <a:t> pour réduire les interventions manuelles.</a:t>
            </a:r>
          </a:p>
          <a:p>
            <a:endParaRPr lang="fr-FR" dirty="0" smtClean="0"/>
          </a:p>
          <a:p>
            <a:r>
              <a:rPr lang="fr-FR" dirty="0" smtClean="0"/>
              <a:t>Mettre en œuvre </a:t>
            </a:r>
            <a:r>
              <a:rPr lang="fr-FR" b="1" dirty="0" err="1" smtClean="0"/>
              <a:t>Proxmox</a:t>
            </a:r>
            <a:r>
              <a:rPr lang="fr-FR" b="1" dirty="0" smtClean="0"/>
              <a:t> Backup Server</a:t>
            </a:r>
            <a:r>
              <a:rPr lang="fr-FR" dirty="0" smtClean="0"/>
              <a:t> et une solution de restauration.</a:t>
            </a:r>
          </a:p>
          <a:p>
            <a:endParaRPr lang="fr-FR" dirty="0" smtClean="0"/>
          </a:p>
          <a:p>
            <a:r>
              <a:rPr lang="fr-FR" dirty="0" smtClean="0"/>
              <a:t>Enfin, déployer une solution de </a:t>
            </a:r>
            <a:r>
              <a:rPr lang="fr-FR" b="1" dirty="0" smtClean="0"/>
              <a:t>supervision</a:t>
            </a:r>
            <a:r>
              <a:rPr lang="fr-FR" dirty="0" smtClean="0"/>
              <a:t> </a:t>
            </a:r>
            <a:r>
              <a:rPr lang="fr-FR" baseline="0" dirty="0" smtClean="0"/>
              <a:t> et </a:t>
            </a:r>
            <a:r>
              <a:rPr lang="fr-FR" dirty="0" smtClean="0"/>
              <a:t> surveiller en temps réel l'état de l'infrastructure.</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5</a:t>
            </a:fld>
            <a:endParaRPr lang="fr-MA"/>
          </a:p>
        </p:txBody>
      </p:sp>
    </p:spTree>
    <p:extLst>
      <p:ext uri="{BB962C8B-B14F-4D97-AF65-F5344CB8AC3E}">
        <p14:creationId xmlns:p14="http://schemas.microsoft.com/office/powerpoint/2010/main" val="16000733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smtClean="0"/>
              <a:t>Avant de concevoir la solution, nous avons d'abord analysé les limites des infrastructures classiques ainsi que les besoins de la DSI de Tanger Med.</a:t>
            </a:r>
          </a:p>
          <a:p>
            <a:endParaRPr lang="fr-FR" dirty="0" smtClean="0"/>
          </a:p>
          <a:p>
            <a:r>
              <a:rPr lang="fr-FR" dirty="0" smtClean="0"/>
              <a:t>D'un côté, les infrastructures traditionnelles présentent plusieurs contraintes : </a:t>
            </a:r>
          </a:p>
          <a:p>
            <a:r>
              <a:rPr lang="fr-FR" dirty="0" smtClean="0"/>
              <a:t>une administration manuelle,</a:t>
            </a:r>
          </a:p>
          <a:p>
            <a:r>
              <a:rPr lang="fr-FR" dirty="0" smtClean="0"/>
              <a:t> l'absence de haute disponibilité, </a:t>
            </a:r>
          </a:p>
          <a:p>
            <a:r>
              <a:rPr lang="fr-FR" dirty="0" smtClean="0"/>
              <a:t>une sécurité limitée, d</a:t>
            </a:r>
          </a:p>
          <a:p>
            <a:r>
              <a:rPr lang="fr-FR" dirty="0" smtClean="0"/>
              <a:t>es sauvegardes peu fiables et des coûts parfois élevés.</a:t>
            </a:r>
          </a:p>
          <a:p>
            <a:endParaRPr lang="fr-FR" dirty="0" smtClean="0"/>
          </a:p>
          <a:p>
            <a:r>
              <a:rPr lang="fr-FR" dirty="0" smtClean="0"/>
              <a:t>D'un autre côté, la DSI avait besoin d'une infrastructure capable d'assurer </a:t>
            </a:r>
          </a:p>
          <a:p>
            <a:r>
              <a:rPr lang="fr-FR" dirty="0" smtClean="0"/>
              <a:t>une isolation entre les différents tenants, </a:t>
            </a:r>
          </a:p>
          <a:p>
            <a:r>
              <a:rPr lang="fr-FR" dirty="0" smtClean="0"/>
              <a:t>une haute disponibilité des services,</a:t>
            </a:r>
          </a:p>
          <a:p>
            <a:r>
              <a:rPr lang="fr-FR" dirty="0" smtClean="0"/>
              <a:t> une sécurité basée sur l'approche </a:t>
            </a:r>
            <a:r>
              <a:rPr lang="fr-FR" dirty="0" err="1" smtClean="0"/>
              <a:t>Zero</a:t>
            </a:r>
            <a:r>
              <a:rPr lang="fr-FR" dirty="0" smtClean="0"/>
              <a:t>-Trust, </a:t>
            </a:r>
          </a:p>
          <a:p>
            <a:r>
              <a:rPr lang="fr-FR" dirty="0" smtClean="0"/>
              <a:t>un déploiement automatisé et une meilleure traçabilité des opérations.</a:t>
            </a:r>
          </a:p>
          <a:p>
            <a:endParaRPr lang="fr-FR" b="1" dirty="0" smtClean="0"/>
          </a:p>
          <a:p>
            <a:r>
              <a:rPr lang="fr-FR" b="1" dirty="0" smtClean="0"/>
              <a:t>C'est pour répondre à ces besoins plateforme cloud privée a été mise en place.</a:t>
            </a:r>
            <a:endParaRPr lang="fr-FR" dirty="0" smtClean="0"/>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6</a:t>
            </a:fld>
            <a:endParaRPr lang="fr-MA"/>
          </a:p>
        </p:txBody>
      </p:sp>
    </p:spTree>
    <p:extLst>
      <p:ext uri="{BB962C8B-B14F-4D97-AF65-F5344CB8AC3E}">
        <p14:creationId xmlns:p14="http://schemas.microsoft.com/office/powerpoint/2010/main" val="1540129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smtClean="0"/>
              <a:t>nous avons étudié plusieurs solutions afin de choisir les technologies les plus adaptées au contexte de TMPA.</a:t>
            </a:r>
          </a:p>
          <a:p>
            <a:endParaRPr lang="fr-FR" b="1" dirty="0" smtClean="0"/>
          </a:p>
          <a:p>
            <a:r>
              <a:rPr lang="fr-FR" sz="1200" kern="1200" dirty="0" smtClean="0">
                <a:solidFill>
                  <a:schemeClr val="tx1"/>
                </a:solidFill>
                <a:effectLst/>
                <a:latin typeface="+mn-lt"/>
                <a:ea typeface="+mn-ea"/>
                <a:cs typeface="+mn-cs"/>
              </a:rPr>
              <a:t>Pour l’orchestration, nous avons retenu </a:t>
            </a:r>
            <a:r>
              <a:rPr lang="fr-FR" sz="1200" kern="1200" dirty="0" err="1" smtClean="0">
                <a:solidFill>
                  <a:schemeClr val="tx1"/>
                </a:solidFill>
                <a:effectLst/>
                <a:latin typeface="+mn-lt"/>
                <a:ea typeface="+mn-ea"/>
                <a:cs typeface="+mn-cs"/>
              </a:rPr>
              <a:t>Proxmox</a:t>
            </a:r>
            <a:r>
              <a:rPr lang="fr-FR" sz="1200" kern="1200" dirty="0" smtClean="0">
                <a:solidFill>
                  <a:schemeClr val="tx1"/>
                </a:solidFill>
                <a:effectLst/>
                <a:latin typeface="+mn-lt"/>
                <a:ea typeface="+mn-ea"/>
                <a:cs typeface="+mn-cs"/>
              </a:rPr>
              <a:t> VE plutôt qu’</a:t>
            </a:r>
            <a:r>
              <a:rPr lang="fr-FR" sz="1200" kern="1200" dirty="0" err="1" smtClean="0">
                <a:solidFill>
                  <a:schemeClr val="tx1"/>
                </a:solidFill>
                <a:effectLst/>
                <a:latin typeface="+mn-lt"/>
                <a:ea typeface="+mn-ea"/>
                <a:cs typeface="+mn-cs"/>
              </a:rPr>
              <a:t>OpenStack</a:t>
            </a:r>
            <a:r>
              <a:rPr lang="fr-FR" sz="1200" kern="1200" dirty="0" smtClean="0">
                <a:solidFill>
                  <a:schemeClr val="tx1"/>
                </a:solidFill>
                <a:effectLst/>
                <a:latin typeface="+mn-lt"/>
                <a:ea typeface="+mn-ea"/>
                <a:cs typeface="+mn-cs"/>
              </a:rPr>
              <a:t>, car il consomme moins de ressources matérielles </a:t>
            </a:r>
            <a:endParaRPr lang="fr-FR" dirty="0" smtClean="0"/>
          </a:p>
          <a:p>
            <a:pPr rtl="0"/>
            <a:endParaRPr lang="fr-FR" dirty="0" smtClean="0"/>
          </a:p>
          <a:p>
            <a:pPr rtl="0"/>
            <a:r>
              <a:rPr lang="fr-FR" dirty="0" smtClean="0"/>
              <a:t>Pour la sécurité réseau, nous avons choisi </a:t>
            </a:r>
            <a:r>
              <a:rPr lang="fr-FR" b="1" dirty="0" err="1" smtClean="0"/>
              <a:t>pfSense</a:t>
            </a:r>
            <a:r>
              <a:rPr lang="fr-FR" dirty="0" smtClean="0"/>
              <a:t>, une solution Open Source</a:t>
            </a:r>
          </a:p>
          <a:p>
            <a:pPr rtl="0"/>
            <a:endParaRPr lang="fr-FR" dirty="0" smtClean="0"/>
          </a:p>
          <a:p>
            <a:r>
              <a:rPr lang="fr-FR" dirty="0" smtClean="0"/>
              <a:t>Côté stockage, </a:t>
            </a:r>
            <a:r>
              <a:rPr lang="fr-FR" b="1" dirty="0" err="1" smtClean="0"/>
              <a:t>Ceph</a:t>
            </a:r>
            <a:r>
              <a:rPr lang="fr-FR" b="1" dirty="0" smtClean="0"/>
              <a:t> </a:t>
            </a:r>
            <a:r>
              <a:rPr lang="fr-FR" b="1" dirty="0" err="1" smtClean="0"/>
              <a:t>Reef</a:t>
            </a:r>
            <a:r>
              <a:rPr lang="fr-FR" dirty="0" smtClean="0"/>
              <a:t> a sa capacité à éliminer les points de défaillance uniques.</a:t>
            </a:r>
          </a:p>
          <a:p>
            <a:endParaRPr lang="fr-FR" dirty="0" smtClean="0"/>
          </a:p>
          <a:p>
            <a:r>
              <a:rPr lang="fr-FR" dirty="0" smtClean="0"/>
              <a:t>Pour l'accès distant, nous avons adopté </a:t>
            </a:r>
            <a:r>
              <a:rPr lang="fr-FR" b="1" dirty="0" err="1" smtClean="0"/>
              <a:t>Cloudflare</a:t>
            </a:r>
            <a:r>
              <a:rPr lang="fr-FR" b="1" dirty="0" smtClean="0"/>
              <a:t> </a:t>
            </a:r>
            <a:r>
              <a:rPr lang="fr-FR" b="1" dirty="0" err="1" smtClean="0"/>
              <a:t>Zero</a:t>
            </a:r>
            <a:r>
              <a:rPr lang="fr-FR" b="1" dirty="0" smtClean="0"/>
              <a:t> Trust</a:t>
            </a:r>
            <a:r>
              <a:rPr lang="fr-FR" dirty="0" smtClean="0"/>
              <a:t> afin de sécuriser les accès sans exposer directement les services sur Internet.</a:t>
            </a:r>
          </a:p>
          <a:p>
            <a:endParaRPr lang="fr-FR" dirty="0" smtClean="0"/>
          </a:p>
          <a:p>
            <a:r>
              <a:rPr lang="fr-FR" dirty="0" smtClean="0"/>
              <a:t>En fin L'automatisation repose sur </a:t>
            </a:r>
            <a:r>
              <a:rPr lang="fr-FR" b="1" dirty="0" err="1" smtClean="0"/>
              <a:t>Terraform</a:t>
            </a:r>
            <a:r>
              <a:rPr lang="fr-FR" b="1" dirty="0" smtClean="0"/>
              <a:t> et </a:t>
            </a:r>
            <a:r>
              <a:rPr lang="fr-FR" b="1" dirty="0" err="1" smtClean="0"/>
              <a:t>Ansible</a:t>
            </a:r>
            <a:r>
              <a:rPr lang="fr-FR" dirty="0" smtClean="0"/>
              <a:t>, ce qui permet de déployer et configurer l'infrastructure</a:t>
            </a:r>
          </a:p>
          <a:p>
            <a:endParaRPr lang="fr-FR"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7</a:t>
            </a:fld>
            <a:endParaRPr lang="fr-MA"/>
          </a:p>
        </p:txBody>
      </p:sp>
    </p:spTree>
    <p:extLst>
      <p:ext uri="{BB962C8B-B14F-4D97-AF65-F5344CB8AC3E}">
        <p14:creationId xmlns:p14="http://schemas.microsoft.com/office/powerpoint/2010/main" val="1183103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smtClean="0"/>
              <a:t>L’infrastructure est déployée sur VMware Workstation avec </a:t>
            </a:r>
            <a:r>
              <a:rPr lang="fr-FR" dirty="0" err="1" smtClean="0"/>
              <a:t>Proxmox</a:t>
            </a:r>
            <a:r>
              <a:rPr lang="fr-FR" dirty="0" smtClean="0"/>
              <a:t>.</a:t>
            </a:r>
          </a:p>
          <a:p>
            <a:endParaRPr lang="fr-FR" dirty="0" smtClean="0"/>
          </a:p>
          <a:p>
            <a:r>
              <a:rPr lang="fr-FR" dirty="0" smtClean="0"/>
              <a:t>Une configuration de trois réseaux a été mise en place afin de séparer les différents flux </a:t>
            </a:r>
          </a:p>
          <a:p>
            <a:endParaRPr lang="fr-FR" dirty="0" smtClean="0"/>
          </a:p>
          <a:p>
            <a:r>
              <a:rPr lang="fr-FR" dirty="0" smtClean="0"/>
              <a:t>un réseau de management pour l’administration du cluster, </a:t>
            </a:r>
          </a:p>
          <a:p>
            <a:r>
              <a:rPr lang="fr-FR" dirty="0" smtClean="0"/>
              <a:t>un réseau dédié à la réplication </a:t>
            </a:r>
            <a:r>
              <a:rPr lang="fr-FR" dirty="0" err="1" smtClean="0"/>
              <a:t>Ceph</a:t>
            </a:r>
            <a:r>
              <a:rPr lang="fr-FR" dirty="0" smtClean="0"/>
              <a:t>, </a:t>
            </a:r>
          </a:p>
          <a:p>
            <a:r>
              <a:rPr lang="fr-FR" dirty="0" smtClean="0"/>
              <a:t>un réseau destiné au trafic des tenants à travers plusieurs </a:t>
            </a:r>
            <a:r>
              <a:rPr lang="fr-FR" dirty="0" err="1" smtClean="0"/>
              <a:t>VLANs</a:t>
            </a:r>
            <a:r>
              <a:rPr lang="fr-FR" dirty="0" smtClean="0"/>
              <a:t>. </a:t>
            </a:r>
          </a:p>
          <a:p>
            <a:endParaRPr lang="fr-FR" dirty="0" smtClean="0"/>
          </a:p>
          <a:p>
            <a:r>
              <a:rPr lang="fr-FR" dirty="0" smtClean="0"/>
              <a:t>L’infrastructure est composée de trois nœuds </a:t>
            </a:r>
            <a:r>
              <a:rPr lang="fr-FR" dirty="0" err="1" smtClean="0"/>
              <a:t>Proxmox</a:t>
            </a:r>
            <a:r>
              <a:rPr lang="fr-FR" dirty="0" smtClean="0"/>
              <a:t> configurés en cluster :</a:t>
            </a:r>
          </a:p>
          <a:p>
            <a:r>
              <a:rPr lang="fr-FR" dirty="0" smtClean="0"/>
              <a:t>Serveur 1 / Serveur 2   / Serveur 3 </a:t>
            </a:r>
          </a:p>
          <a:p>
            <a:endParaRPr lang="fr-FR" dirty="0" smtClean="0"/>
          </a:p>
          <a:p>
            <a:r>
              <a:rPr lang="fr-FR" dirty="0" smtClean="0"/>
              <a:t>Chaque serveur participe au cluster </a:t>
            </a:r>
            <a:r>
              <a:rPr lang="fr-FR" dirty="0" err="1" smtClean="0"/>
              <a:t>Ceph</a:t>
            </a:r>
            <a:r>
              <a:rPr lang="fr-FR" dirty="0" smtClean="0"/>
              <a:t>, qui fournit un stockage distribué et répliqué entre les nœuds afin d’assurer la disponibilité des données.</a:t>
            </a:r>
          </a:p>
          <a:p>
            <a:r>
              <a:rPr lang="fr-FR" dirty="0" smtClean="0"/>
              <a:t>Dans notre cas :</a:t>
            </a:r>
          </a:p>
          <a:p>
            <a:r>
              <a:rPr lang="fr-FR" dirty="0" smtClean="0"/>
              <a:t>Serveur 1 et Serveur 2 disposent chacun d’un disque de 500 GB dédié à </a:t>
            </a:r>
            <a:r>
              <a:rPr lang="fr-FR" dirty="0" err="1" smtClean="0"/>
              <a:t>Ceph</a:t>
            </a:r>
            <a:r>
              <a:rPr lang="fr-FR" dirty="0" smtClean="0"/>
              <a:t> </a:t>
            </a:r>
          </a:p>
          <a:p>
            <a:endParaRPr lang="fr-FR" dirty="0" smtClean="0"/>
          </a:p>
          <a:p>
            <a:r>
              <a:rPr lang="fr-FR" dirty="0" smtClean="0"/>
              <a:t>Un serveur </a:t>
            </a:r>
            <a:r>
              <a:rPr lang="fr-FR" dirty="0" err="1" smtClean="0"/>
              <a:t>Proxmox</a:t>
            </a:r>
            <a:r>
              <a:rPr lang="fr-FR" dirty="0" smtClean="0"/>
              <a:t> Backup Server (PBS) a également été déployé pour les sauvegardes et la restauration des machines virtuelles. </a:t>
            </a:r>
          </a:p>
          <a:p>
            <a:endParaRPr lang="fr-FR" dirty="0" smtClean="0"/>
          </a:p>
          <a:p>
            <a:endParaRPr lang="fr-FR" dirty="0" smtClean="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8</a:t>
            </a:fld>
            <a:endParaRPr lang="fr-MA"/>
          </a:p>
        </p:txBody>
      </p:sp>
    </p:spTree>
    <p:extLst>
      <p:ext uri="{BB962C8B-B14F-4D97-AF65-F5344CB8AC3E}">
        <p14:creationId xmlns:p14="http://schemas.microsoft.com/office/powerpoint/2010/main" val="5962807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smtClean="0"/>
              <a:t>Cette slide présente l'organisation du stockage </a:t>
            </a:r>
            <a:r>
              <a:rPr lang="fr-FR" b="1" dirty="0" err="1" smtClean="0"/>
              <a:t>Ceph</a:t>
            </a:r>
            <a:r>
              <a:rPr lang="fr-FR" b="1" dirty="0" smtClean="0"/>
              <a:t> ainsi que son utilisation dans notre infrastructure.</a:t>
            </a:r>
            <a:endParaRPr lang="fr-FR" dirty="0" smtClean="0"/>
          </a:p>
          <a:p>
            <a:r>
              <a:rPr lang="fr-FR" dirty="0" smtClean="0"/>
              <a:t>Comme nous pouvons le voir, le cluster </a:t>
            </a:r>
            <a:r>
              <a:rPr lang="fr-FR" dirty="0" err="1" smtClean="0"/>
              <a:t>Ceph</a:t>
            </a:r>
            <a:r>
              <a:rPr lang="fr-FR" dirty="0" smtClean="0"/>
              <a:t> est composé de plusieurs </a:t>
            </a:r>
            <a:r>
              <a:rPr lang="fr-FR" b="1" dirty="0" smtClean="0"/>
              <a:t>OSD</a:t>
            </a:r>
            <a:r>
              <a:rPr lang="fr-FR" dirty="0" smtClean="0"/>
              <a:t> répartis sur les différents serveurs afin de distribuer les données et éviter un point unique de défaillance.</a:t>
            </a:r>
          </a:p>
          <a:p>
            <a:r>
              <a:rPr lang="fr-FR" dirty="0" smtClean="0"/>
              <a:t>Nous avons ensuite créé plusieurs </a:t>
            </a:r>
            <a:r>
              <a:rPr lang="fr-FR" b="1" dirty="0" smtClean="0"/>
              <a:t>pools de stockage</a:t>
            </a:r>
            <a:r>
              <a:rPr lang="fr-FR" dirty="0" smtClean="0"/>
              <a:t>, chacun dédié à un service ou à un tenant spécifique.</a:t>
            </a:r>
          </a:p>
          <a:p>
            <a:r>
              <a:rPr lang="fr-FR" dirty="0" smtClean="0"/>
              <a:t>Par exemple, le pool </a:t>
            </a:r>
            <a:r>
              <a:rPr lang="fr-FR" b="1" dirty="0" smtClean="0"/>
              <a:t>finance</a:t>
            </a:r>
            <a:r>
              <a:rPr lang="fr-FR" dirty="0" smtClean="0"/>
              <a:t> est utilisé pour les machines virtuelles du département Finance, tandis que le pool </a:t>
            </a:r>
            <a:r>
              <a:rPr lang="fr-FR" b="1" dirty="0" smtClean="0"/>
              <a:t>audit</a:t>
            </a:r>
            <a:r>
              <a:rPr lang="fr-FR" dirty="0" smtClean="0"/>
              <a:t> est dédié au département Audit.</a:t>
            </a:r>
          </a:p>
          <a:p>
            <a:r>
              <a:rPr lang="fr-FR" dirty="0" smtClean="0"/>
              <a:t>Nous avons également créé des pools dédiés aux services critiques comme </a:t>
            </a:r>
            <a:r>
              <a:rPr lang="fr-FR" b="1" dirty="0" err="1" smtClean="0"/>
              <a:t>pfSense</a:t>
            </a:r>
            <a:r>
              <a:rPr lang="fr-FR" dirty="0" smtClean="0"/>
              <a:t> et </a:t>
            </a:r>
            <a:r>
              <a:rPr lang="fr-FR" b="1" dirty="0" err="1" smtClean="0"/>
              <a:t>Keycloak</a:t>
            </a:r>
            <a:r>
              <a:rPr lang="fr-FR" dirty="0" smtClean="0"/>
              <a:t>.</a:t>
            </a:r>
          </a:p>
          <a:p>
            <a:r>
              <a:rPr lang="fr-FR" dirty="0" smtClean="0"/>
              <a:t>Chaque pool utilise une politique de réplication permettant de conserver plusieurs copies des données afin d'assurer leur disponibilité même en cas de panne d'un disque ou d'un serveur.</a:t>
            </a:r>
          </a:p>
          <a:p>
            <a:r>
              <a:rPr lang="fr-FR" dirty="0" smtClean="0"/>
              <a:t>Au total, environ </a:t>
            </a:r>
            <a:r>
              <a:rPr lang="fr-FR" b="1" dirty="0" smtClean="0"/>
              <a:t>347 Go</a:t>
            </a:r>
            <a:r>
              <a:rPr lang="fr-FR" dirty="0" smtClean="0"/>
              <a:t> de stockage sont actuellement utilisés sur le cluster.</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9</a:t>
            </a:fld>
            <a:endParaRPr lang="fr-MA"/>
          </a:p>
        </p:txBody>
      </p:sp>
    </p:spTree>
    <p:extLst>
      <p:ext uri="{BB962C8B-B14F-4D97-AF65-F5344CB8AC3E}">
        <p14:creationId xmlns:p14="http://schemas.microsoft.com/office/powerpoint/2010/main" val="4248171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smtClean="0"/>
              <a:t>Pour renforcer la sécurité de l’infrastructure, nous avons adopté une architecture </a:t>
            </a:r>
            <a:r>
              <a:rPr lang="fr-FR" b="1" dirty="0" err="1" smtClean="0"/>
              <a:t>Zero</a:t>
            </a:r>
            <a:r>
              <a:rPr lang="fr-FR" b="1" dirty="0" smtClean="0"/>
              <a:t>-Trust basée sur trois couches complémentaires.</a:t>
            </a:r>
            <a:endParaRPr lang="fr-FR" dirty="0" smtClean="0"/>
          </a:p>
          <a:p>
            <a:endParaRPr lang="fr-FR" dirty="0" smtClean="0"/>
          </a:p>
          <a:p>
            <a:r>
              <a:rPr lang="fr-FR" dirty="0" smtClean="0"/>
              <a:t>La première couche est la </a:t>
            </a:r>
            <a:r>
              <a:rPr lang="fr-FR" b="1" dirty="0" smtClean="0"/>
              <a:t>couche réseau</a:t>
            </a:r>
            <a:r>
              <a:rPr lang="fr-FR" dirty="0" smtClean="0"/>
              <a:t>, assurée par </a:t>
            </a:r>
            <a:r>
              <a:rPr lang="fr-FR" b="1" dirty="0" err="1" smtClean="0"/>
              <a:t>pfSense</a:t>
            </a:r>
            <a:r>
              <a:rPr lang="fr-FR" dirty="0" smtClean="0"/>
              <a:t>, qui permet de filtrer le trafic, segmenter le réseau et isoler les différents flux.</a:t>
            </a:r>
          </a:p>
          <a:p>
            <a:endParaRPr lang="fr-FR" dirty="0" smtClean="0"/>
          </a:p>
          <a:p>
            <a:r>
              <a:rPr lang="fr-FR" dirty="0" smtClean="0"/>
              <a:t>La deuxième couche est la </a:t>
            </a:r>
            <a:r>
              <a:rPr lang="fr-FR" b="1" dirty="0" smtClean="0"/>
              <a:t>couche identité</a:t>
            </a:r>
            <a:r>
              <a:rPr lang="fr-FR" dirty="0" smtClean="0"/>
              <a:t>, basée sur </a:t>
            </a:r>
            <a:r>
              <a:rPr lang="fr-FR" b="1" dirty="0" err="1" smtClean="0"/>
              <a:t>Keycloak</a:t>
            </a:r>
            <a:r>
              <a:rPr lang="fr-FR" dirty="0" smtClean="0"/>
              <a:t>, qui centralise l’authentification des utilisateurs et gère les rôles ainsi que les permissions.</a:t>
            </a:r>
          </a:p>
          <a:p>
            <a:endParaRPr lang="fr-FR" dirty="0" smtClean="0"/>
          </a:p>
          <a:p>
            <a:r>
              <a:rPr lang="fr-FR" dirty="0" smtClean="0"/>
              <a:t>Enfin, la troisième couche est la </a:t>
            </a:r>
            <a:r>
              <a:rPr lang="fr-FR" b="1" dirty="0" smtClean="0"/>
              <a:t>couche accès</a:t>
            </a:r>
            <a:r>
              <a:rPr lang="fr-FR" dirty="0" smtClean="0"/>
              <a:t>, mise en œuvre avec </a:t>
            </a:r>
            <a:r>
              <a:rPr lang="fr-FR" b="1" dirty="0" err="1" smtClean="0"/>
              <a:t>Cloudflare</a:t>
            </a:r>
            <a:r>
              <a:rPr lang="fr-FR" b="1" dirty="0" smtClean="0"/>
              <a:t> </a:t>
            </a:r>
            <a:r>
              <a:rPr lang="fr-FR" b="1" dirty="0" err="1" smtClean="0"/>
              <a:t>Zero</a:t>
            </a:r>
            <a:r>
              <a:rPr lang="fr-FR" b="1" dirty="0" smtClean="0"/>
              <a:t> Trust</a:t>
            </a:r>
            <a:r>
              <a:rPr lang="fr-FR" dirty="0" smtClean="0"/>
              <a:t>, qui protège l'accès</a:t>
            </a:r>
            <a:r>
              <a:rPr lang="fr-FR" baseline="0" dirty="0" smtClean="0"/>
              <a:t> </a:t>
            </a:r>
            <a:endParaRPr lang="fr-FR" b="1"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10</a:t>
            </a:fld>
            <a:endParaRPr lang="fr-MA"/>
          </a:p>
        </p:txBody>
      </p:sp>
    </p:spTree>
    <p:extLst>
      <p:ext uri="{BB962C8B-B14F-4D97-AF65-F5344CB8AC3E}">
        <p14:creationId xmlns:p14="http://schemas.microsoft.com/office/powerpoint/2010/main" val="36238561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b="1" dirty="0" smtClean="0"/>
              <a:t>La première couche de notre architecture </a:t>
            </a:r>
            <a:r>
              <a:rPr lang="fr-FR" b="1" dirty="0" err="1" smtClean="0"/>
              <a:t>Zero</a:t>
            </a:r>
            <a:r>
              <a:rPr lang="fr-FR" b="1" dirty="0" smtClean="0"/>
              <a:t>-Trust est la couche réseau, basée sur </a:t>
            </a:r>
            <a:r>
              <a:rPr lang="fr-FR" b="1" dirty="0" err="1" smtClean="0"/>
              <a:t>pfSense</a:t>
            </a:r>
            <a:r>
              <a:rPr lang="fr-FR" b="1" dirty="0" smtClean="0"/>
              <a:t>.</a:t>
            </a:r>
            <a:endParaRPr lang="fr-FR" dirty="0" smtClean="0"/>
          </a:p>
          <a:p>
            <a:endParaRPr lang="fr-FR" dirty="0" smtClean="0"/>
          </a:p>
          <a:p>
            <a:r>
              <a:rPr lang="fr-FR" dirty="0" err="1" smtClean="0"/>
              <a:t>pfSense</a:t>
            </a:r>
            <a:r>
              <a:rPr lang="fr-FR" dirty="0" smtClean="0"/>
              <a:t> joue le rôle de pare-feu principal et permet de contrôler l'ensemble des communications au sein de l'infrastructure.</a:t>
            </a:r>
          </a:p>
          <a:p>
            <a:endParaRPr lang="fr-FR" dirty="0" smtClean="0"/>
          </a:p>
          <a:p>
            <a:r>
              <a:rPr lang="fr-FR" dirty="0" smtClean="0"/>
              <a:t>Pour renforcer la sécurité, nous avons mis en place une </a:t>
            </a:r>
            <a:r>
              <a:rPr lang="fr-FR" b="1" dirty="0" smtClean="0"/>
              <a:t>micro-segmentation basée sur des </a:t>
            </a:r>
            <a:r>
              <a:rPr lang="fr-FR" b="1" dirty="0" err="1" smtClean="0"/>
              <a:t>VLANs</a:t>
            </a:r>
            <a:r>
              <a:rPr lang="fr-FR" dirty="0" smtClean="0"/>
              <a:t>..</a:t>
            </a:r>
          </a:p>
          <a:p>
            <a:endParaRPr lang="fr-FR" dirty="0" smtClean="0"/>
          </a:p>
          <a:p>
            <a:r>
              <a:rPr lang="fr-FR" dirty="0" smtClean="0"/>
              <a:t>Par exemple, le VLAN Finance et le VLAN Audit sont séparés et ne peuvent pas communiquer directement entre eux.</a:t>
            </a:r>
          </a:p>
          <a:p>
            <a:endParaRPr lang="fr-FR" dirty="0" smtClean="0"/>
          </a:p>
          <a:p>
            <a:endParaRPr lang="fr-FR" dirty="0" smtClean="0"/>
          </a:p>
          <a:p>
            <a:r>
              <a:rPr lang="en-US" dirty="0" err="1" smtClean="0"/>
              <a:t>Efin</a:t>
            </a:r>
            <a:r>
              <a:rPr lang="en-US" baseline="0" dirty="0" smtClean="0"/>
              <a:t> ava</a:t>
            </a:r>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11</a:t>
            </a:fld>
            <a:endParaRPr lang="fr-MA"/>
          </a:p>
        </p:txBody>
      </p:sp>
    </p:spTree>
    <p:extLst>
      <p:ext uri="{BB962C8B-B14F-4D97-AF65-F5344CB8AC3E}">
        <p14:creationId xmlns:p14="http://schemas.microsoft.com/office/powerpoint/2010/main" val="2456837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b="1" dirty="0" smtClean="0"/>
              <a:t>La deuxième couche de notre architecture </a:t>
            </a:r>
            <a:r>
              <a:rPr lang="fr-FR" b="1" dirty="0" err="1" smtClean="0"/>
              <a:t>Zero</a:t>
            </a:r>
            <a:r>
              <a:rPr lang="fr-FR" b="1" dirty="0" smtClean="0"/>
              <a:t>-Trust concerne la gestion des identités et des accès.</a:t>
            </a:r>
            <a:endParaRPr lang="fr-FR" dirty="0" smtClean="0"/>
          </a:p>
          <a:p>
            <a:endParaRPr lang="fr-FR" dirty="0" smtClean="0"/>
          </a:p>
          <a:p>
            <a:r>
              <a:rPr lang="fr-FR" dirty="0" smtClean="0"/>
              <a:t>Pour cela, nous avons utilisé </a:t>
            </a:r>
            <a:r>
              <a:rPr lang="fr-FR" b="1" dirty="0" err="1" smtClean="0"/>
              <a:t>Keycloak</a:t>
            </a:r>
            <a:r>
              <a:rPr lang="fr-FR" dirty="0" smtClean="0"/>
              <a:t>, qui centralise l'authentification et la gestion des utilisateurs.</a:t>
            </a:r>
          </a:p>
          <a:p>
            <a:endParaRPr lang="fr-FR" dirty="0" smtClean="0"/>
          </a:p>
          <a:p>
            <a:r>
              <a:rPr lang="fr-FR" dirty="0" smtClean="0"/>
              <a:t>Afin d'assurer l'isolation entre les différents tenants, nous avons créé plusieurs </a:t>
            </a:r>
            <a:r>
              <a:rPr lang="fr-FR" b="1" dirty="0" err="1" smtClean="0"/>
              <a:t>realms</a:t>
            </a:r>
            <a:r>
              <a:rPr lang="fr-FR" dirty="0" smtClean="0"/>
              <a:t>, comme Finance, Audit, </a:t>
            </a:r>
            <a:r>
              <a:rPr lang="fr-FR" dirty="0" err="1" smtClean="0"/>
              <a:t>Maersk</a:t>
            </a:r>
            <a:r>
              <a:rPr lang="fr-FR" dirty="0" smtClean="0"/>
              <a:t> et </a:t>
            </a:r>
            <a:r>
              <a:rPr lang="fr-FR" dirty="0" err="1" smtClean="0"/>
              <a:t>Marsa</a:t>
            </a:r>
            <a:r>
              <a:rPr lang="fr-FR" dirty="0" smtClean="0"/>
              <a:t> Maroc. </a:t>
            </a:r>
          </a:p>
          <a:p>
            <a:endParaRPr lang="fr-FR" dirty="0" smtClean="0"/>
          </a:p>
          <a:p>
            <a:r>
              <a:rPr lang="fr-FR" dirty="0" smtClean="0"/>
              <a:t>Nous avons également mis en place un système </a:t>
            </a:r>
            <a:r>
              <a:rPr lang="fr-FR" b="1" dirty="0" smtClean="0"/>
              <a:t>RBAC (</a:t>
            </a:r>
            <a:r>
              <a:rPr lang="fr-FR" b="1" dirty="0" err="1" smtClean="0"/>
              <a:t>Role-Based</a:t>
            </a:r>
            <a:r>
              <a:rPr lang="fr-FR" b="1" dirty="0" smtClean="0"/>
              <a:t> Access Control)</a:t>
            </a:r>
            <a:r>
              <a:rPr lang="fr-FR" dirty="0" smtClean="0"/>
              <a:t> qui attribue des permissions selon le rôle de chaque utilisateur.</a:t>
            </a:r>
          </a:p>
          <a:p>
            <a:endParaRPr lang="fr-FR" dirty="0" smtClean="0"/>
          </a:p>
          <a:p>
            <a:r>
              <a:rPr lang="fr-FR" dirty="0" smtClean="0"/>
              <a:t>Par exemple,</a:t>
            </a:r>
          </a:p>
          <a:p>
            <a:r>
              <a:rPr lang="fr-FR" dirty="0" smtClean="0"/>
              <a:t> </a:t>
            </a:r>
          </a:p>
          <a:p>
            <a:r>
              <a:rPr lang="fr-FR" dirty="0" smtClean="0"/>
              <a:t>un </a:t>
            </a:r>
            <a:r>
              <a:rPr lang="fr-FR" b="1" dirty="0" smtClean="0"/>
              <a:t>administrateur</a:t>
            </a:r>
            <a:r>
              <a:rPr lang="fr-FR" dirty="0" smtClean="0"/>
              <a:t> dispose d'un accès complet à son environnement,</a:t>
            </a:r>
          </a:p>
          <a:p>
            <a:r>
              <a:rPr lang="fr-FR" dirty="0" smtClean="0"/>
              <a:t> </a:t>
            </a:r>
          </a:p>
          <a:p>
            <a:r>
              <a:rPr lang="fr-FR" dirty="0" smtClean="0"/>
              <a:t>un </a:t>
            </a:r>
            <a:r>
              <a:rPr lang="fr-FR" b="1" dirty="0" smtClean="0"/>
              <a:t>client</a:t>
            </a:r>
            <a:r>
              <a:rPr lang="fr-FR" dirty="0" smtClean="0"/>
              <a:t> peut gérer uniquement ses propres machines virtuelles, </a:t>
            </a:r>
          </a:p>
          <a:p>
            <a:endParaRPr lang="fr-FR" dirty="0" smtClean="0"/>
          </a:p>
          <a:p>
            <a:r>
              <a:rPr lang="fr-FR" dirty="0" smtClean="0"/>
              <a:t>tandis qu'un </a:t>
            </a:r>
            <a:r>
              <a:rPr lang="fr-FR" b="1" dirty="0" smtClean="0"/>
              <a:t>utilisateur standard</a:t>
            </a:r>
            <a:r>
              <a:rPr lang="fr-FR" dirty="0" smtClean="0"/>
              <a:t> possède uniquement des droits de consultation ou d'utilisation.</a:t>
            </a:r>
          </a:p>
          <a:p>
            <a:endParaRPr lang="fr-FR" dirty="0" smtClean="0"/>
          </a:p>
          <a:p>
            <a:r>
              <a:rPr lang="fr-FR" dirty="0" smtClean="0"/>
              <a:t>Cette approche permet de garantir que chaque utilisateur accède uniquement aux ressources qui lui sont autorisées, tout en assurant une gestion centralisée et sécurisée des identités.</a:t>
            </a:r>
          </a:p>
          <a:p>
            <a:endParaRPr lang="en-US"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12</a:t>
            </a:fld>
            <a:endParaRPr lang="fr-MA"/>
          </a:p>
        </p:txBody>
      </p:sp>
    </p:spTree>
    <p:extLst>
      <p:ext uri="{BB962C8B-B14F-4D97-AF65-F5344CB8AC3E}">
        <p14:creationId xmlns:p14="http://schemas.microsoft.com/office/powerpoint/2010/main" val="2646363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smtClean="0"/>
          </a:p>
          <a:p>
            <a:r>
              <a:rPr lang="fr-FR" b="1" dirty="0" smtClean="0"/>
              <a:t>1. Le rôle de </a:t>
            </a:r>
            <a:r>
              <a:rPr lang="fr-FR" b="1" dirty="0" err="1" smtClean="0"/>
              <a:t>Keycloak</a:t>
            </a:r>
            <a:endParaRPr lang="fr-FR" b="1" dirty="0" smtClean="0"/>
          </a:p>
          <a:p>
            <a:r>
              <a:rPr lang="fr-FR" dirty="0" smtClean="0"/>
              <a:t>La slide commence par présenter </a:t>
            </a:r>
            <a:r>
              <a:rPr lang="fr-FR" b="1" dirty="0" err="1" smtClean="0"/>
              <a:t>Keycloak</a:t>
            </a:r>
            <a:r>
              <a:rPr lang="fr-FR" dirty="0" smtClean="0"/>
              <a:t> comme la plateforme IAM (</a:t>
            </a:r>
            <a:r>
              <a:rPr lang="fr-FR" dirty="0" err="1" smtClean="0"/>
              <a:t>Identity</a:t>
            </a:r>
            <a:r>
              <a:rPr lang="fr-FR" dirty="0" smtClean="0"/>
              <a:t> and Access Management) retenue, en mettant en avant ses fonctionnalités clés :</a:t>
            </a:r>
          </a:p>
          <a:p>
            <a:r>
              <a:rPr lang="fr-FR" dirty="0" smtClean="0"/>
              <a:t>Gestion centralisée (utilisateurs, rôles, permissions).</a:t>
            </a:r>
          </a:p>
          <a:p>
            <a:r>
              <a:rPr lang="fr-FR" dirty="0" smtClean="0"/>
              <a:t>Authentification OIDC (</a:t>
            </a:r>
            <a:r>
              <a:rPr lang="fr-FR" dirty="0" err="1" smtClean="0"/>
              <a:t>OpenID</a:t>
            </a:r>
            <a:r>
              <a:rPr lang="fr-FR" dirty="0" smtClean="0"/>
              <a:t> </a:t>
            </a:r>
            <a:r>
              <a:rPr lang="fr-FR" dirty="0" err="1" smtClean="0"/>
              <a:t>Connect</a:t>
            </a:r>
            <a:r>
              <a:rPr lang="fr-FR" dirty="0" smtClean="0"/>
              <a:t>).</a:t>
            </a:r>
          </a:p>
          <a:p>
            <a:r>
              <a:rPr lang="fr-FR" dirty="0" smtClean="0"/>
              <a:t>Sécurité renforcée (MFA/OTP, SSO).</a:t>
            </a:r>
          </a:p>
          <a:p>
            <a:r>
              <a:rPr lang="fr-FR" dirty="0" smtClean="0"/>
              <a:t>Contrôle granulaire des accès.</a:t>
            </a:r>
          </a:p>
          <a:p>
            <a:endParaRPr lang="en-US" b="1" dirty="0" smtClean="0"/>
          </a:p>
          <a:p>
            <a:endParaRPr lang="fr-FR" b="1" dirty="0" smtClean="0"/>
          </a:p>
          <a:p>
            <a:r>
              <a:rPr lang="fr-FR" b="1" dirty="0" smtClean="0"/>
              <a:t>3. Tableau comparatif</a:t>
            </a:r>
          </a:p>
          <a:p>
            <a:endParaRPr lang="fr-FR" dirty="0" smtClean="0"/>
          </a:p>
          <a:p>
            <a:r>
              <a:rPr lang="fr-FR" dirty="0" smtClean="0"/>
              <a:t>Le tableau synthétise les différences fondamentales entre les deux approches :</a:t>
            </a:r>
          </a:p>
          <a:p>
            <a:r>
              <a:rPr lang="fr-FR" b="1" dirty="0" smtClean="0"/>
              <a:t>Principe :</a:t>
            </a:r>
            <a:r>
              <a:rPr lang="fr-FR" dirty="0" smtClean="0"/>
              <a:t> RBAC se base sur des rôles fixes, alors qu'ABAC utilise des attributs dynamiques (ex: heure, localisation, etc.).</a:t>
            </a:r>
          </a:p>
          <a:p>
            <a:r>
              <a:rPr lang="fr-FR" b="1" dirty="0" smtClean="0"/>
              <a:t>Complexité &amp; Performance :</a:t>
            </a:r>
            <a:r>
              <a:rPr lang="fr-FR" dirty="0" smtClean="0"/>
              <a:t> Le RBAC est moins complexe et plus rapide (JWT direct) que l'ABAC.</a:t>
            </a:r>
          </a:p>
          <a:p>
            <a:r>
              <a:rPr lang="fr-FR" b="1" dirty="0" smtClean="0"/>
              <a:t>Isolation :</a:t>
            </a:r>
            <a:r>
              <a:rPr lang="fr-FR" dirty="0" smtClean="0"/>
              <a:t> L'aspect "multi-tenant" est géré nativement par les </a:t>
            </a:r>
            <a:r>
              <a:rPr lang="fr-FR" i="1" dirty="0" err="1" smtClean="0"/>
              <a:t>realms</a:t>
            </a:r>
            <a:r>
              <a:rPr lang="fr-FR" dirty="0" smtClean="0"/>
              <a:t> de </a:t>
            </a:r>
            <a:r>
              <a:rPr lang="fr-FR" dirty="0" err="1" smtClean="0"/>
              <a:t>Keycloak</a:t>
            </a:r>
            <a:r>
              <a:rPr lang="fr-FR" dirty="0" smtClean="0"/>
              <a:t> en RBAC, tandis que l'ABAC nécessiterait des attributs contextuels complexes.</a:t>
            </a:r>
          </a:p>
          <a:p>
            <a:r>
              <a:rPr lang="fr-FR" b="1" dirty="0" smtClean="0"/>
              <a:t>Mise en œuvre :</a:t>
            </a:r>
            <a:r>
              <a:rPr lang="fr-FR" dirty="0" smtClean="0"/>
              <a:t> Le RBAC est natif dans </a:t>
            </a:r>
            <a:r>
              <a:rPr lang="fr-FR" dirty="0" err="1" smtClean="0"/>
              <a:t>Keycloak</a:t>
            </a:r>
            <a:r>
              <a:rPr lang="fr-FR" dirty="0" smtClean="0"/>
              <a:t>, contrairement à l'ABAC qui demanderait l'ajout d'un moteur de règles externe.</a:t>
            </a:r>
          </a:p>
          <a:p>
            <a:endParaRPr lang="fr-FR" dirty="0" smtClean="0"/>
          </a:p>
          <a:p>
            <a:r>
              <a:rPr lang="fr-FR" dirty="0" smtClean="0"/>
              <a:t>En résumé, cette slide démontre un choix d'ingénierie pragmatique : tu as privilégié une solution </a:t>
            </a:r>
            <a:r>
              <a:rPr lang="fr-FR" b="1" dirty="0" smtClean="0"/>
              <a:t>robuste, native et performante</a:t>
            </a:r>
            <a:r>
              <a:rPr lang="fr-FR" dirty="0" smtClean="0"/>
              <a:t> (RBAC) plutôt qu'une solution trop complexe pour les besoins actuels de ton infrastructure (ABAC).</a:t>
            </a:r>
          </a:p>
          <a:p>
            <a:endParaRPr lang="fr-FR" b="1" dirty="0" smtClean="0"/>
          </a:p>
          <a:p>
            <a:r>
              <a:rPr lang="fr-FR" b="1" dirty="0" smtClean="0"/>
              <a:t>2. La justification du choix (RBAC vs ABAC)</a:t>
            </a:r>
          </a:p>
          <a:p>
            <a:endParaRPr lang="fr-FR" dirty="0" smtClean="0"/>
          </a:p>
          <a:p>
            <a:r>
              <a:rPr lang="fr-FR" dirty="0" smtClean="0"/>
              <a:t>La partie centrale de la slide explique pourquoi tu as </a:t>
            </a:r>
            <a:r>
              <a:rPr lang="fr-FR" b="1" dirty="0" smtClean="0"/>
              <a:t>retenu le modèle RBAC</a:t>
            </a:r>
            <a:r>
              <a:rPr lang="fr-FR" dirty="0" smtClean="0"/>
              <a:t> (</a:t>
            </a:r>
            <a:r>
              <a:rPr lang="fr-FR" i="1" dirty="0" err="1" smtClean="0"/>
              <a:t>Role-Based</a:t>
            </a:r>
            <a:r>
              <a:rPr lang="fr-FR" i="1" dirty="0" smtClean="0"/>
              <a:t> Access Control</a:t>
            </a:r>
            <a:r>
              <a:rPr lang="fr-FR" dirty="0" smtClean="0"/>
              <a:t>) au détriment de l'ABAC (</a:t>
            </a:r>
            <a:r>
              <a:rPr lang="fr-FR" i="1" dirty="0" err="1" smtClean="0"/>
              <a:t>Attribute-Based</a:t>
            </a:r>
            <a:r>
              <a:rPr lang="fr-FR" i="1" dirty="0" smtClean="0"/>
              <a:t> Access Control</a:t>
            </a:r>
            <a:r>
              <a:rPr lang="fr-FR" dirty="0" smtClean="0"/>
              <a:t>) :</a:t>
            </a:r>
          </a:p>
          <a:p>
            <a:r>
              <a:rPr lang="fr-FR" b="1" dirty="0" smtClean="0"/>
              <a:t>Simplicité et efficacité :</a:t>
            </a:r>
            <a:r>
              <a:rPr lang="fr-FR" dirty="0" smtClean="0"/>
              <a:t> Le RBAC est plus simple à administrer, plus facile à auditer et plus rapide à mettre en œuvre.</a:t>
            </a:r>
          </a:p>
          <a:p>
            <a:r>
              <a:rPr lang="fr-FR" b="1" dirty="0" smtClean="0"/>
              <a:t>Adéquation :</a:t>
            </a:r>
            <a:r>
              <a:rPr lang="fr-FR" dirty="0" smtClean="0"/>
              <a:t> Le RBAC est jugé suffisant pour les besoins spécifiques du projet TMPA.</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13</a:t>
            </a:fld>
            <a:endParaRPr lang="fr-MA"/>
          </a:p>
        </p:txBody>
      </p:sp>
    </p:spTree>
    <p:extLst>
      <p:ext uri="{BB962C8B-B14F-4D97-AF65-F5344CB8AC3E}">
        <p14:creationId xmlns:p14="http://schemas.microsoft.com/office/powerpoint/2010/main" val="21409505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smtClean="0">
                <a:solidFill>
                  <a:schemeClr val="tx1"/>
                </a:solidFill>
                <a:effectLst/>
                <a:latin typeface="+mn-lt"/>
                <a:ea typeface="+mn-ea"/>
                <a:cs typeface="+mn-cs"/>
              </a:rPr>
              <a:t>Après avoir mis en place la gestion des rôles avec </a:t>
            </a:r>
            <a:r>
              <a:rPr lang="fr-FR" sz="1200" b="1" kern="1200" dirty="0" err="1" smtClean="0">
                <a:solidFill>
                  <a:schemeClr val="tx1"/>
                </a:solidFill>
                <a:effectLst/>
                <a:latin typeface="+mn-lt"/>
                <a:ea typeface="+mn-ea"/>
                <a:cs typeface="+mn-cs"/>
              </a:rPr>
              <a:t>Keycloak</a:t>
            </a:r>
            <a:r>
              <a:rPr lang="fr-FR" sz="1200" b="1" kern="1200" dirty="0" smtClean="0">
                <a:solidFill>
                  <a:schemeClr val="tx1"/>
                </a:solidFill>
                <a:effectLst/>
                <a:latin typeface="+mn-lt"/>
                <a:ea typeface="+mn-ea"/>
                <a:cs typeface="+mn-cs"/>
              </a:rPr>
              <a:t>, nous avons intégré le mécanisme SSO basé sur le protocole OIDC.</a:t>
            </a:r>
            <a:endParaRPr lang="fr-FR" sz="1200" kern="1200" dirty="0" smtClean="0">
              <a:solidFill>
                <a:schemeClr val="tx1"/>
              </a:solidFill>
              <a:effectLst/>
              <a:latin typeface="+mn-lt"/>
              <a:ea typeface="+mn-ea"/>
              <a:cs typeface="+mn-cs"/>
            </a:endParaRPr>
          </a:p>
          <a:p>
            <a:endParaRPr lang="fr-FR" b="1" dirty="0" smtClean="0"/>
          </a:p>
          <a:p>
            <a:r>
              <a:rPr lang="fr-FR" b="1" dirty="0" smtClean="0"/>
              <a:t>1. Le rôle du SSO (Single </a:t>
            </a:r>
            <a:r>
              <a:rPr lang="fr-FR" b="1" dirty="0" err="1" smtClean="0"/>
              <a:t>Sign</a:t>
            </a:r>
            <a:r>
              <a:rPr lang="fr-FR" b="1" dirty="0" smtClean="0"/>
              <a:t>-On)</a:t>
            </a:r>
          </a:p>
          <a:p>
            <a:endParaRPr lang="fr-FR" b="1" dirty="0" smtClean="0"/>
          </a:p>
          <a:p>
            <a:r>
              <a:rPr lang="fr-FR" b="1" dirty="0" smtClean="0"/>
              <a:t>Concept :</a:t>
            </a:r>
            <a:r>
              <a:rPr lang="fr-FR" dirty="0" smtClean="0"/>
              <a:t> </a:t>
            </a:r>
          </a:p>
          <a:p>
            <a:r>
              <a:rPr lang="fr-FR" b="1" dirty="0" smtClean="0"/>
              <a:t>Avantages </a:t>
            </a:r>
          </a:p>
          <a:p>
            <a:r>
              <a:rPr lang="fr-FR" b="1" dirty="0" smtClean="0"/>
              <a:t>2. Le mécanisme de confiance (OIDC)</a:t>
            </a:r>
          </a:p>
          <a:p>
            <a:endParaRPr lang="fr-FR" b="1" dirty="0" smtClean="0"/>
          </a:p>
          <a:p>
            <a:r>
              <a:rPr lang="fr-FR" b="1" dirty="0" smtClean="0"/>
              <a:t>Le processus :</a:t>
            </a:r>
            <a:r>
              <a:rPr lang="fr-FR" dirty="0" smtClean="0"/>
              <a:t> </a:t>
            </a:r>
          </a:p>
          <a:p>
            <a:r>
              <a:rPr lang="fr-FR" b="1" dirty="0" smtClean="0"/>
              <a:t>Le jeton (JWT) :</a:t>
            </a:r>
          </a:p>
          <a:p>
            <a:endParaRPr lang="en-US" dirty="0" smtClean="0"/>
          </a:p>
          <a:p>
            <a:endParaRPr lang="en-US" dirty="0" smtClean="0"/>
          </a:p>
          <a:p>
            <a:r>
              <a:rPr lang="fr-FR" b="1" dirty="0" smtClean="0"/>
              <a:t>Le Flux SSO OIDC (Étape par étape) :</a:t>
            </a:r>
          </a:p>
          <a:p>
            <a:endParaRPr lang="fr-FR" b="1" dirty="0" smtClean="0"/>
          </a:p>
          <a:p>
            <a:r>
              <a:rPr lang="fr-FR" b="1" dirty="0" smtClean="0"/>
              <a:t>Utilisateur (01) :</a:t>
            </a:r>
            <a:r>
              <a:rPr lang="fr-FR" dirty="0" smtClean="0"/>
              <a:t> L'utilisateur tente d'accéder à une ressource (ex: </a:t>
            </a:r>
            <a:r>
              <a:rPr lang="fr-FR" dirty="0" err="1" smtClean="0"/>
              <a:t>Proxmox</a:t>
            </a:r>
            <a:r>
              <a:rPr lang="fr-FR" dirty="0" smtClean="0"/>
              <a:t>).</a:t>
            </a:r>
          </a:p>
          <a:p>
            <a:endParaRPr lang="fr-FR" b="1" dirty="0" smtClean="0"/>
          </a:p>
          <a:p>
            <a:r>
              <a:rPr lang="fr-FR" b="1" dirty="0" err="1" smtClean="0"/>
              <a:t>Keycloak</a:t>
            </a:r>
            <a:r>
              <a:rPr lang="fr-FR" b="1" dirty="0" smtClean="0"/>
              <a:t> (02) :</a:t>
            </a:r>
            <a:r>
              <a:rPr lang="fr-FR" dirty="0" smtClean="0"/>
              <a:t> La requête est redirigée vers </a:t>
            </a:r>
            <a:r>
              <a:rPr lang="fr-FR" dirty="0" err="1" smtClean="0"/>
              <a:t>Keycloak</a:t>
            </a:r>
            <a:r>
              <a:rPr lang="fr-FR" dirty="0" smtClean="0"/>
              <a:t>. C'est ici que l'utilisateur s'authentifie avec son login et son </a:t>
            </a:r>
            <a:r>
              <a:rPr lang="fr-FR" b="1" dirty="0" smtClean="0"/>
              <a:t>MFA/OTP</a:t>
            </a:r>
            <a:r>
              <a:rPr lang="fr-FR" dirty="0" smtClean="0"/>
              <a:t> (sécurité renforcée).</a:t>
            </a:r>
          </a:p>
          <a:p>
            <a:endParaRPr lang="fr-FR" b="1" dirty="0" smtClean="0"/>
          </a:p>
          <a:p>
            <a:r>
              <a:rPr lang="fr-FR" b="1" dirty="0" smtClean="0"/>
              <a:t>JWT </a:t>
            </a:r>
            <a:r>
              <a:rPr lang="fr-FR" b="1" dirty="0" err="1" smtClean="0"/>
              <a:t>Token</a:t>
            </a:r>
            <a:r>
              <a:rPr lang="fr-FR" b="1" dirty="0" smtClean="0"/>
              <a:t> (03) :</a:t>
            </a:r>
            <a:r>
              <a:rPr lang="fr-FR" dirty="0" smtClean="0"/>
              <a:t> Une fois l'identité vérifiée, </a:t>
            </a:r>
            <a:r>
              <a:rPr lang="fr-FR" dirty="0" err="1" smtClean="0"/>
              <a:t>Keycloak</a:t>
            </a:r>
            <a:r>
              <a:rPr lang="fr-FR" dirty="0" smtClean="0"/>
              <a:t> génère un </a:t>
            </a:r>
            <a:r>
              <a:rPr lang="fr-FR" b="1" dirty="0" smtClean="0"/>
              <a:t>JWT (JSON Web </a:t>
            </a:r>
            <a:r>
              <a:rPr lang="fr-FR" b="1" dirty="0" err="1" smtClean="0"/>
              <a:t>Token</a:t>
            </a:r>
            <a:r>
              <a:rPr lang="fr-FR" b="1" dirty="0" smtClean="0"/>
              <a:t>)</a:t>
            </a:r>
            <a:r>
              <a:rPr lang="fr-FR" dirty="0" smtClean="0"/>
              <a:t> signé</a:t>
            </a:r>
          </a:p>
          <a:p>
            <a:endParaRPr lang="fr-FR" b="1" dirty="0" smtClean="0"/>
          </a:p>
          <a:p>
            <a:r>
              <a:rPr lang="fr-FR" b="1" dirty="0" err="1" smtClean="0"/>
              <a:t>Proxmox</a:t>
            </a:r>
            <a:r>
              <a:rPr lang="fr-FR" b="1" dirty="0" smtClean="0"/>
              <a:t> (04) :</a:t>
            </a:r>
            <a:r>
              <a:rPr lang="fr-FR" dirty="0" smtClean="0"/>
              <a:t> </a:t>
            </a:r>
            <a:r>
              <a:rPr lang="fr-FR" dirty="0" err="1" smtClean="0"/>
              <a:t>Proxmox</a:t>
            </a:r>
            <a:r>
              <a:rPr lang="fr-FR" dirty="0" smtClean="0"/>
              <a:t> reçoit ce jeton et vérifie sa signature.</a:t>
            </a:r>
          </a:p>
          <a:p>
            <a:endParaRPr lang="fr-FR" b="1" dirty="0" smtClean="0"/>
          </a:p>
          <a:p>
            <a:r>
              <a:rPr lang="fr-FR" b="1" dirty="0" smtClean="0"/>
              <a:t>Accès accordé (05) :</a:t>
            </a:r>
            <a:r>
              <a:rPr lang="fr-FR" dirty="0" smtClean="0"/>
              <a:t> </a:t>
            </a:r>
            <a:r>
              <a:rPr lang="fr-FR" dirty="0" err="1" smtClean="0"/>
              <a:t>Proxmox</a:t>
            </a:r>
            <a:r>
              <a:rPr lang="fr-FR" dirty="0" smtClean="0"/>
              <a:t> valide l'accès en fonction des droits contenus.</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14</a:t>
            </a:fld>
            <a:endParaRPr lang="fr-MA"/>
          </a:p>
        </p:txBody>
      </p:sp>
    </p:spTree>
    <p:extLst>
      <p:ext uri="{BB962C8B-B14F-4D97-AF65-F5344CB8AC3E}">
        <p14:creationId xmlns:p14="http://schemas.microsoft.com/office/powerpoint/2010/main" val="24891549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dirty="0" smtClean="0"/>
          </a:p>
          <a:p>
            <a:r>
              <a:rPr lang="fr-FR" b="1" dirty="0" smtClean="0"/>
              <a:t>1. Éviter l'exposition directe des serveurs (La protection "</a:t>
            </a:r>
            <a:r>
              <a:rPr lang="fr-FR" b="1" dirty="0" err="1" smtClean="0"/>
              <a:t>Stealth</a:t>
            </a:r>
            <a:r>
              <a:rPr lang="fr-FR" b="1" dirty="0" smtClean="0"/>
              <a:t>")</a:t>
            </a:r>
            <a:endParaRPr lang="fr-FR" dirty="0" smtClean="0"/>
          </a:p>
          <a:p>
            <a:r>
              <a:rPr lang="fr-FR" b="1" dirty="0" smtClean="0"/>
              <a:t>2. Accès distant sécurisé (Le remplacement du VPN traditionnel)</a:t>
            </a:r>
            <a:endParaRPr lang="fr-FR" dirty="0" smtClean="0"/>
          </a:p>
          <a:p>
            <a:r>
              <a:rPr lang="fr-FR" b="1" dirty="0" smtClean="0"/>
              <a:t>3. Sécurité et Chiffrement de bout en bout</a:t>
            </a:r>
            <a:endParaRPr lang="fr-FR" dirty="0" smtClean="0"/>
          </a:p>
          <a:p>
            <a:r>
              <a:rPr lang="fr-FR" b="1" dirty="0" smtClean="0"/>
              <a:t>4. Alternative au VPN traditionnel (La simplicité opérationnelle)</a:t>
            </a:r>
            <a:endParaRPr lang="fr-FR" dirty="0" smtClean="0"/>
          </a:p>
          <a:p>
            <a:endParaRPr lang="en-US" dirty="0" smtClean="0"/>
          </a:p>
          <a:p>
            <a:endParaRPr lang="en-US" dirty="0" smtClean="0"/>
          </a:p>
          <a:p>
            <a:r>
              <a:rPr lang="fr-FR" dirty="0" smtClean="0"/>
              <a:t>Nous avons publié 8 services via le domaine </a:t>
            </a:r>
            <a:r>
              <a:rPr lang="fr-FR" b="1" dirty="0" smtClean="0"/>
              <a:t>ayoub-tmsa.org</a:t>
            </a:r>
            <a:r>
              <a:rPr lang="fr-FR" dirty="0" smtClean="0"/>
              <a:t>.</a:t>
            </a:r>
            <a:br>
              <a:rPr lang="fr-FR" dirty="0" smtClean="0"/>
            </a:br>
            <a:r>
              <a:rPr lang="fr-FR" dirty="0" smtClean="0"/>
              <a:t>Chaque service dispose de son propre sous-domaine (ex : </a:t>
            </a:r>
            <a:r>
              <a:rPr lang="fr-FR" b="1" dirty="0" smtClean="0"/>
              <a:t>pve.ayoub-tmsa.org</a:t>
            </a:r>
            <a:r>
              <a:rPr lang="fr-FR" dirty="0" smtClean="0"/>
              <a:t> pour </a:t>
            </a:r>
            <a:r>
              <a:rPr lang="fr-FR" dirty="0" err="1" smtClean="0"/>
              <a:t>Proxmox</a:t>
            </a:r>
            <a:r>
              <a:rPr lang="fr-FR" dirty="0" smtClean="0"/>
              <a:t>).</a:t>
            </a:r>
          </a:p>
          <a:p>
            <a:r>
              <a:rPr lang="fr-FR" dirty="0" smtClean="0"/>
              <a:t>Cette architecture permet un accès direct, sécurisé et sans VPN ni client installé.</a:t>
            </a:r>
            <a:br>
              <a:rPr lang="fr-FR" dirty="0" smtClean="0"/>
            </a:br>
            <a:r>
              <a:rPr lang="fr-FR" dirty="0" smtClean="0"/>
              <a:t>Même avec plusieurs sous-domaines, la gestion reste simple grâce à la centralisation et à la sécurité assurée par </a:t>
            </a:r>
            <a:r>
              <a:rPr lang="fr-FR" dirty="0" err="1" smtClean="0"/>
              <a:t>Cloudflare</a:t>
            </a:r>
            <a:r>
              <a:rPr lang="fr-FR" dirty="0" smtClean="0"/>
              <a:t>.</a:t>
            </a:r>
          </a:p>
          <a:p>
            <a:endParaRPr lang="en-US" dirty="0" smtClean="0"/>
          </a:p>
          <a:p>
            <a:endParaRPr lang="en-US" dirty="0" smtClean="0"/>
          </a:p>
          <a:p>
            <a:endParaRPr lang="en-US" dirty="0" smtClean="0"/>
          </a:p>
          <a:p>
            <a:endParaRPr lang="en-US" dirty="0" smtClean="0"/>
          </a:p>
          <a:p>
            <a:r>
              <a:rPr lang="fr-FR" b="1" dirty="0" smtClean="0"/>
              <a:t>1. Éviter l'exposition directe des serveurs (La protection "</a:t>
            </a:r>
            <a:r>
              <a:rPr lang="fr-FR" b="1" dirty="0" err="1" smtClean="0"/>
              <a:t>Stealth</a:t>
            </a:r>
            <a:r>
              <a:rPr lang="fr-FR" b="1" dirty="0" smtClean="0"/>
              <a:t>")</a:t>
            </a:r>
            <a:endParaRPr lang="fr-FR" dirty="0" smtClean="0"/>
          </a:p>
          <a:p>
            <a:r>
              <a:rPr lang="fr-FR" b="1" dirty="0" smtClean="0"/>
              <a:t>Argument :</a:t>
            </a:r>
            <a:r>
              <a:rPr lang="fr-FR" dirty="0" smtClean="0"/>
              <a:t> « Dans une architecture classique, il faut exposer des serveurs sur Internet pour y accéder. Avec </a:t>
            </a:r>
            <a:r>
              <a:rPr lang="fr-FR" dirty="0" err="1" smtClean="0"/>
              <a:t>Cloudflare</a:t>
            </a:r>
            <a:r>
              <a:rPr lang="fr-FR" dirty="0" smtClean="0"/>
              <a:t>, nos serveurs restent totalement "invisibles" pour le public. L'adresse IP réelle de notre infrastructure est masquée derrière le réseau mondial de </a:t>
            </a:r>
            <a:r>
              <a:rPr lang="fr-FR" dirty="0" err="1" smtClean="0"/>
              <a:t>Cloudflare</a:t>
            </a:r>
            <a:r>
              <a:rPr lang="fr-FR" dirty="0" smtClean="0"/>
              <a:t>. »</a:t>
            </a:r>
          </a:p>
          <a:p>
            <a:r>
              <a:rPr lang="fr-FR" b="1" dirty="0" smtClean="0"/>
              <a:t>2. Accès distant sécurisé (Le remplacement du VPN traditionnel)</a:t>
            </a:r>
            <a:endParaRPr lang="fr-FR" dirty="0" smtClean="0"/>
          </a:p>
          <a:p>
            <a:r>
              <a:rPr lang="fr-FR" b="1" dirty="0" smtClean="0"/>
              <a:t>Argument :</a:t>
            </a:r>
            <a:r>
              <a:rPr lang="fr-FR" dirty="0" smtClean="0"/>
              <a:t> « Nous avons remplacé le VPN traditionnel — souvent lourd à gérer et complexe pour les utilisateurs — par </a:t>
            </a:r>
            <a:r>
              <a:rPr lang="fr-FR" b="1" dirty="0" err="1" smtClean="0"/>
              <a:t>Cloudflare</a:t>
            </a:r>
            <a:r>
              <a:rPr lang="fr-FR" b="1" dirty="0" smtClean="0"/>
              <a:t> Tunnel</a:t>
            </a:r>
            <a:r>
              <a:rPr lang="fr-FR" dirty="0" smtClean="0"/>
              <a:t>. Ce tunnel établit une connexion sortante chiffrée. Cela nous permet d'accéder à nos ressources internes (comme les serveurs TMPA) de manière fluide, comme si nous étions sur le réseau local, sans avoir à installer ou configurer de clients VPN complexes sur chaque poste. »</a:t>
            </a:r>
          </a:p>
          <a:p>
            <a:r>
              <a:rPr lang="fr-FR" b="1" dirty="0" smtClean="0"/>
              <a:t>3. Sécurité et Chiffrement de bout en bout</a:t>
            </a:r>
            <a:endParaRPr lang="fr-FR" dirty="0" smtClean="0"/>
          </a:p>
          <a:p>
            <a:r>
              <a:rPr lang="fr-FR" b="1" dirty="0" smtClean="0"/>
              <a:t>Argument :</a:t>
            </a:r>
            <a:r>
              <a:rPr lang="fr-FR" dirty="0" smtClean="0"/>
              <a:t> « La sécurité est totale : le trafic est chiffré en TLS sur tout le trajet, de l'appareil de l'agent jusqu'à notre serveur interne. Personne ne peut intercepter ou lire les échanges, même si le réseau public utilisé est non sécurisé. »</a:t>
            </a:r>
          </a:p>
          <a:p>
            <a:r>
              <a:rPr lang="fr-FR" b="1" dirty="0" smtClean="0"/>
              <a:t>4. Alternative au VPN traditionnel (La simplicité opérationnelle)</a:t>
            </a:r>
            <a:endParaRPr lang="fr-FR" dirty="0" smtClean="0"/>
          </a:p>
          <a:p>
            <a:r>
              <a:rPr lang="fr-FR" b="1" dirty="0" smtClean="0"/>
              <a:t>Argument :</a:t>
            </a:r>
            <a:r>
              <a:rPr lang="fr-FR" dirty="0" smtClean="0"/>
              <a:t> « Contrairement à un VPN classique qui ouvre un accès large à tout le réseau local, cette solution nous permet de limiter l'accès </a:t>
            </a:r>
            <a:r>
              <a:rPr lang="fr-FR" b="1" dirty="0" smtClean="0"/>
              <a:t>application par application</a:t>
            </a:r>
            <a:r>
              <a:rPr lang="fr-FR" dirty="0" smtClean="0"/>
              <a:t>. C'est le principe du moindre privilège : chaque utilisateur n'accède qu'aux services dont il a strictement besoin, ce qui bloque tout mouvement latéral d'une menace informatique. »</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15</a:t>
            </a:fld>
            <a:endParaRPr lang="fr-MA"/>
          </a:p>
        </p:txBody>
      </p:sp>
    </p:spTree>
    <p:extLst>
      <p:ext uri="{BB962C8B-B14F-4D97-AF65-F5344CB8AC3E}">
        <p14:creationId xmlns:p14="http://schemas.microsoft.com/office/powerpoint/2010/main" val="42040931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endParaRPr lang="en-US" dirty="0" smtClean="0"/>
          </a:p>
          <a:p>
            <a:r>
              <a:rPr lang="fr-FR" dirty="0" smtClean="0"/>
              <a:t>Lorsqu'un agent souhaite accéder à une ressource comme pve.ayoub-tmsa.org, le système applique une politique de filtrage multi-niveaux :</a:t>
            </a:r>
          </a:p>
          <a:p>
            <a:endParaRPr lang="fr-FR" b="1" dirty="0" smtClean="0"/>
          </a:p>
          <a:p>
            <a:r>
              <a:rPr lang="fr-FR" b="1" dirty="0" smtClean="0"/>
              <a:t>Le filtrage au niveau du poste (WARP) :</a:t>
            </a:r>
            <a:r>
              <a:rPr lang="fr-FR" dirty="0" smtClean="0"/>
              <a:t> C'est notre premier rempart. Si le client </a:t>
            </a:r>
            <a:r>
              <a:rPr lang="fr-FR" b="1" dirty="0" err="1" smtClean="0"/>
              <a:t>Cloudflare</a:t>
            </a:r>
            <a:r>
              <a:rPr lang="fr-FR" b="1" dirty="0" smtClean="0"/>
              <a:t> WARP</a:t>
            </a:r>
            <a:r>
              <a:rPr lang="fr-FR" dirty="0" smtClean="0"/>
              <a:t> n'est pas installé ou si l'appareil n'est pas conforme aux politiques de l'entreprise, l'accès au domaine est </a:t>
            </a:r>
            <a:r>
              <a:rPr lang="fr-FR" b="1" dirty="0" smtClean="0"/>
              <a:t>immédiatement refusé</a:t>
            </a:r>
            <a:r>
              <a:rPr lang="fr-FR" dirty="0" smtClean="0"/>
              <a:t>. Le trafic n'atteint </a:t>
            </a:r>
          </a:p>
          <a:p>
            <a:r>
              <a:rPr lang="fr-FR" dirty="0" smtClean="0"/>
              <a:t>jamais notre infrastructure.</a:t>
            </a:r>
          </a:p>
          <a:p>
            <a:endParaRPr lang="fr-FR" b="1" dirty="0" smtClean="0"/>
          </a:p>
          <a:p>
            <a:r>
              <a:rPr lang="fr-FR" b="1" dirty="0" smtClean="0"/>
              <a:t>L'authentification Access (OTP) :</a:t>
            </a:r>
            <a:r>
              <a:rPr lang="fr-FR" dirty="0" smtClean="0"/>
              <a:t> Une fois la conformité de l'appareil validée, </a:t>
            </a:r>
            <a:r>
              <a:rPr lang="fr-FR" dirty="0" err="1" smtClean="0"/>
              <a:t>Cloudflare</a:t>
            </a:r>
            <a:r>
              <a:rPr lang="fr-FR" dirty="0" smtClean="0"/>
              <a:t> Access déclenche une vérification d'identité via un code </a:t>
            </a:r>
            <a:r>
              <a:rPr lang="fr-FR" b="1" dirty="0" smtClean="0"/>
              <a:t>OTP par email</a:t>
            </a:r>
            <a:r>
              <a:rPr lang="fr-FR" dirty="0" smtClean="0"/>
              <a:t>. Cela garantit que c'est bien l'utilisateur autorisé qui est derrière l'écran.</a:t>
            </a:r>
          </a:p>
          <a:p>
            <a:endParaRPr lang="fr-FR" b="1" dirty="0" smtClean="0"/>
          </a:p>
          <a:p>
            <a:r>
              <a:rPr lang="fr-FR" b="1" dirty="0" smtClean="0"/>
              <a:t>Le tunnel chiffré :</a:t>
            </a:r>
            <a:r>
              <a:rPr lang="fr-FR" dirty="0" smtClean="0"/>
              <a:t> Après ces étapes, le trafic transite par un </a:t>
            </a:r>
            <a:r>
              <a:rPr lang="fr-FR" b="1" dirty="0" smtClean="0"/>
              <a:t>tunnel chiffré</a:t>
            </a:r>
            <a:r>
              <a:rPr lang="fr-FR" dirty="0" smtClean="0"/>
              <a:t>. Nos serveurs ne sont jamais exposés directement sur Internet, ce qui élimine toute surface d'attaque.</a:t>
            </a:r>
          </a:p>
          <a:p>
            <a:endParaRPr lang="fr-FR" b="1" dirty="0" smtClean="0"/>
          </a:p>
          <a:p>
            <a:r>
              <a:rPr lang="fr-FR" b="1" dirty="0" smtClean="0"/>
              <a:t>La validation applicative (</a:t>
            </a:r>
            <a:r>
              <a:rPr lang="fr-FR" b="1" dirty="0" err="1" smtClean="0"/>
              <a:t>Keycloak</a:t>
            </a:r>
            <a:r>
              <a:rPr lang="fr-FR" b="1" dirty="0" smtClean="0"/>
              <a:t>) :</a:t>
            </a:r>
            <a:r>
              <a:rPr lang="fr-FR" dirty="0" smtClean="0"/>
              <a:t> Enfin, une fois arrivé sur le service, une authentification forte via </a:t>
            </a:r>
            <a:r>
              <a:rPr lang="fr-FR" b="1" dirty="0" err="1" smtClean="0"/>
              <a:t>Keycloak</a:t>
            </a:r>
            <a:r>
              <a:rPr lang="fr-FR" b="1" dirty="0" smtClean="0"/>
              <a:t> et MFA</a:t>
            </a:r>
            <a:r>
              <a:rPr lang="fr-FR" dirty="0" smtClean="0"/>
              <a:t> est exigée.</a:t>
            </a:r>
          </a:p>
          <a:p>
            <a:endParaRPr lang="fr-FR" dirty="0" smtClean="0"/>
          </a:p>
          <a:p>
            <a:r>
              <a:rPr lang="fr-FR" dirty="0" smtClean="0"/>
              <a:t>Cette approche de défense en profondeur permet de sécuriser l'accès distant de manière granulaire, sans les contraintes de maintenance d'un VPN traditionnel. »</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16</a:t>
            </a:fld>
            <a:endParaRPr lang="fr-MA"/>
          </a:p>
        </p:txBody>
      </p:sp>
    </p:spTree>
    <p:extLst>
      <p:ext uri="{BB962C8B-B14F-4D97-AF65-F5344CB8AC3E}">
        <p14:creationId xmlns:p14="http://schemas.microsoft.com/office/powerpoint/2010/main" val="41298674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b="1" dirty="0" smtClean="0"/>
              <a:t>Cette slide illustre le parcours complet d'un administrateur lorsqu'il accède à la plateforme </a:t>
            </a:r>
            <a:r>
              <a:rPr lang="fr-FR" b="1" dirty="0" err="1" smtClean="0"/>
              <a:t>Proxmox</a:t>
            </a:r>
            <a:r>
              <a:rPr lang="fr-FR" b="1" dirty="0" smtClean="0"/>
              <a:t>.</a:t>
            </a:r>
            <a:endParaRPr lang="fr-FR" dirty="0" smtClean="0"/>
          </a:p>
          <a:p>
            <a:endParaRPr lang="fr-FR" dirty="0" smtClean="0"/>
          </a:p>
          <a:p>
            <a:r>
              <a:rPr lang="fr-FR" dirty="0" smtClean="0"/>
              <a:t>Tout d'abord, l'administrateur active </a:t>
            </a:r>
            <a:r>
              <a:rPr lang="fr-FR" b="1" dirty="0" err="1" smtClean="0"/>
              <a:t>Cloudflare</a:t>
            </a:r>
            <a:r>
              <a:rPr lang="fr-FR" b="1" dirty="0" smtClean="0"/>
              <a:t> WARP</a:t>
            </a:r>
            <a:r>
              <a:rPr lang="fr-FR" dirty="0" smtClean="0"/>
              <a:t> afin d'établir une connexion sécurisée.</a:t>
            </a:r>
          </a:p>
          <a:p>
            <a:endParaRPr lang="fr-FR" dirty="0" smtClean="0"/>
          </a:p>
          <a:p>
            <a:r>
              <a:rPr lang="fr-FR" dirty="0" smtClean="0"/>
              <a:t>Ensuite, il accède à l'interface </a:t>
            </a:r>
            <a:r>
              <a:rPr lang="fr-FR" dirty="0" err="1" smtClean="0"/>
              <a:t>Proxmox</a:t>
            </a:r>
            <a:r>
              <a:rPr lang="fr-FR" dirty="0" smtClean="0"/>
              <a:t> via son URL sécurisée.</a:t>
            </a:r>
          </a:p>
          <a:p>
            <a:endParaRPr lang="fr-FR" dirty="0" smtClean="0"/>
          </a:p>
          <a:p>
            <a:r>
              <a:rPr lang="fr-FR" dirty="0" err="1" smtClean="0"/>
              <a:t>Cloudflare</a:t>
            </a:r>
            <a:r>
              <a:rPr lang="fr-FR" dirty="0" smtClean="0"/>
              <a:t> Access lui demande alors de s'authentifier à l'aide de son adresse professionnelle et d'un code OTP reçu par email.</a:t>
            </a:r>
          </a:p>
          <a:p>
            <a:endParaRPr lang="fr-FR" dirty="0" smtClean="0"/>
          </a:p>
          <a:p>
            <a:r>
              <a:rPr lang="fr-FR" dirty="0" smtClean="0"/>
              <a:t>Après cette première vérification, l'utilisateur est redirigé vers </a:t>
            </a:r>
            <a:r>
              <a:rPr lang="fr-FR" b="1" dirty="0" err="1" smtClean="0"/>
              <a:t>Keycloak</a:t>
            </a:r>
            <a:r>
              <a:rPr lang="fr-FR" dirty="0" smtClean="0"/>
              <a:t> pour effectuer son authentification SSO avec MFA.</a:t>
            </a:r>
          </a:p>
          <a:p>
            <a:endParaRPr lang="fr-FR" dirty="0" smtClean="0"/>
          </a:p>
          <a:p>
            <a:r>
              <a:rPr lang="fr-FR" dirty="0" smtClean="0"/>
              <a:t>Une fois authentifié, </a:t>
            </a:r>
            <a:r>
              <a:rPr lang="fr-FR" dirty="0" err="1" smtClean="0"/>
              <a:t>Keycloak</a:t>
            </a:r>
            <a:r>
              <a:rPr lang="fr-FR" dirty="0" smtClean="0"/>
              <a:t> génère un jeton contenant les rôles et les permissions de l'utilisateur.</a:t>
            </a:r>
          </a:p>
          <a:p>
            <a:endParaRPr lang="fr-FR" dirty="0" smtClean="0"/>
          </a:p>
          <a:p>
            <a:r>
              <a:rPr lang="fr-FR" dirty="0" err="1" smtClean="0"/>
              <a:t>Proxmox</a:t>
            </a:r>
            <a:r>
              <a:rPr lang="fr-FR" dirty="0" smtClean="0"/>
              <a:t> vérifie ensuite ces permissions et applique les droits d'accès correspondants grâce au modèle RBAC.</a:t>
            </a:r>
          </a:p>
          <a:p>
            <a:endParaRPr lang="fr-FR" dirty="0" smtClean="0"/>
          </a:p>
          <a:p>
            <a:r>
              <a:rPr lang="fr-FR" dirty="0" smtClean="0"/>
              <a:t>Enfin, </a:t>
            </a:r>
            <a:r>
              <a:rPr lang="fr-FR" b="1" dirty="0" err="1" smtClean="0"/>
              <a:t>pfSense</a:t>
            </a:r>
            <a:r>
              <a:rPr lang="fr-FR" b="1" dirty="0" smtClean="0"/>
              <a:t> contrôle les flux réseau</a:t>
            </a:r>
            <a:r>
              <a:rPr lang="fr-FR" dirty="0" smtClean="0"/>
              <a:t>, puis l'accès à </a:t>
            </a:r>
            <a:r>
              <a:rPr lang="fr-FR" dirty="0" err="1" smtClean="0"/>
              <a:t>Proxmox</a:t>
            </a:r>
            <a:r>
              <a:rPr lang="fr-FR" dirty="0" smtClean="0"/>
              <a:t> est autorisé.</a:t>
            </a:r>
          </a:p>
          <a:p>
            <a:endParaRPr lang="fr-FR" b="1" dirty="0" smtClean="0"/>
          </a:p>
          <a:p>
            <a:r>
              <a:rPr lang="fr-FR" b="1" dirty="0" smtClean="0"/>
              <a:t>Ce scénario montre que chaque accès est vérifié à plusieurs niveaux avant d'autoriser l'utilisateur à accéder aux ressources.</a:t>
            </a:r>
            <a:endParaRPr lang="fr-FR"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17</a:t>
            </a:fld>
            <a:endParaRPr lang="fr-MA"/>
          </a:p>
        </p:txBody>
      </p:sp>
    </p:spTree>
    <p:extLst>
      <p:ext uri="{BB962C8B-B14F-4D97-AF65-F5344CB8AC3E}">
        <p14:creationId xmlns:p14="http://schemas.microsoft.com/office/powerpoint/2010/main" val="15112456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dirty="0" smtClean="0"/>
              <a:t>Pour cette slide </a:t>
            </a:r>
            <a:r>
              <a:rPr lang="fr-FR" b="1" dirty="0" smtClean="0"/>
              <a:t>Automatisation </a:t>
            </a:r>
            <a:r>
              <a:rPr lang="fr-FR" b="1" dirty="0" err="1" smtClean="0"/>
              <a:t>IaC</a:t>
            </a:r>
            <a:r>
              <a:rPr lang="fr-FR" b="1" dirty="0" smtClean="0"/>
              <a:t> : </a:t>
            </a:r>
            <a:r>
              <a:rPr lang="fr-FR" b="1" dirty="0" err="1" smtClean="0"/>
              <a:t>Terraform</a:t>
            </a:r>
            <a:r>
              <a:rPr lang="fr-FR" b="1" dirty="0" smtClean="0"/>
              <a:t> + </a:t>
            </a:r>
            <a:r>
              <a:rPr lang="fr-FR" b="1" dirty="0" err="1" smtClean="0"/>
              <a:t>Ansible</a:t>
            </a:r>
            <a:r>
              <a:rPr lang="fr-FR" dirty="0" smtClean="0"/>
              <a:t>, tu peux présenter chaque bloc ainsi :</a:t>
            </a:r>
          </a:p>
          <a:p>
            <a:r>
              <a:rPr lang="fr-FR" b="1" dirty="0" err="1" smtClean="0"/>
              <a:t>Terraform</a:t>
            </a:r>
            <a:r>
              <a:rPr lang="fr-FR" b="1" dirty="0" smtClean="0"/>
              <a:t> – Provisionnement</a:t>
            </a:r>
          </a:p>
          <a:p>
            <a:r>
              <a:rPr lang="fr-FR" dirty="0" smtClean="0"/>
              <a:t>Automatisation du déploiement de l’infrastructure </a:t>
            </a:r>
            <a:r>
              <a:rPr lang="fr-FR" dirty="0" err="1" smtClean="0"/>
              <a:t>Proxmox</a:t>
            </a:r>
            <a:r>
              <a:rPr lang="fr-FR" dirty="0" smtClean="0"/>
              <a:t> </a:t>
            </a:r>
          </a:p>
          <a:p>
            <a:r>
              <a:rPr lang="fr-FR" dirty="0" smtClean="0"/>
              <a:t>Création des </a:t>
            </a:r>
            <a:r>
              <a:rPr lang="fr-FR" dirty="0" err="1" smtClean="0"/>
              <a:t>VMs</a:t>
            </a:r>
            <a:r>
              <a:rPr lang="fr-FR" dirty="0" smtClean="0"/>
              <a:t>, </a:t>
            </a:r>
            <a:r>
              <a:rPr lang="fr-FR" dirty="0" err="1" smtClean="0"/>
              <a:t>VLANs</a:t>
            </a:r>
            <a:r>
              <a:rPr lang="fr-FR" dirty="0" smtClean="0"/>
              <a:t> et pools </a:t>
            </a:r>
            <a:r>
              <a:rPr lang="fr-FR" dirty="0" err="1" smtClean="0"/>
              <a:t>Ceph</a:t>
            </a:r>
            <a:r>
              <a:rPr lang="fr-FR" dirty="0" smtClean="0"/>
              <a:t> par code </a:t>
            </a:r>
          </a:p>
          <a:p>
            <a:r>
              <a:rPr lang="fr-FR" dirty="0" smtClean="0"/>
              <a:t>Environnements reproductibles et cohérents </a:t>
            </a:r>
          </a:p>
          <a:p>
            <a:r>
              <a:rPr lang="fr-FR" dirty="0" smtClean="0"/>
              <a:t>Gestion centralisée de la configuration </a:t>
            </a:r>
          </a:p>
          <a:p>
            <a:r>
              <a:rPr lang="fr-FR" dirty="0" smtClean="0"/>
              <a:t>Déploiement rapide en quelques minutes </a:t>
            </a:r>
          </a:p>
          <a:p>
            <a:r>
              <a:rPr lang="fr-FR" b="1" dirty="0" err="1" smtClean="0"/>
              <a:t>Ansible</a:t>
            </a:r>
            <a:r>
              <a:rPr lang="fr-FR" b="1" dirty="0" smtClean="0"/>
              <a:t> – Configuration &amp; </a:t>
            </a:r>
            <a:r>
              <a:rPr lang="fr-FR" b="1" dirty="0" err="1" smtClean="0"/>
              <a:t>Hardening</a:t>
            </a:r>
            <a:endParaRPr lang="fr-FR" b="1" dirty="0" smtClean="0"/>
          </a:p>
          <a:p>
            <a:r>
              <a:rPr lang="fr-FR" dirty="0" smtClean="0"/>
              <a:t>Configuration automatique des serveurs et services </a:t>
            </a:r>
          </a:p>
          <a:p>
            <a:r>
              <a:rPr lang="fr-FR" dirty="0" smtClean="0"/>
              <a:t>Application des bonnes pratiques de sécurité (CIS Benchmark) </a:t>
            </a:r>
          </a:p>
          <a:p>
            <a:r>
              <a:rPr lang="fr-FR" dirty="0" smtClean="0"/>
              <a:t>Durcissement SSH, PAM, UFW et </a:t>
            </a:r>
            <a:r>
              <a:rPr lang="fr-FR" dirty="0" err="1" smtClean="0"/>
              <a:t>auditd</a:t>
            </a:r>
            <a:r>
              <a:rPr lang="fr-FR" dirty="0" smtClean="0"/>
              <a:t> </a:t>
            </a:r>
          </a:p>
          <a:p>
            <a:r>
              <a:rPr lang="fr-FR" dirty="0" smtClean="0"/>
              <a:t>Sauvegardes et </a:t>
            </a:r>
            <a:r>
              <a:rPr lang="fr-FR" dirty="0" err="1" smtClean="0"/>
              <a:t>snapshots</a:t>
            </a:r>
            <a:r>
              <a:rPr lang="fr-FR" dirty="0" smtClean="0"/>
              <a:t> automatisés </a:t>
            </a:r>
          </a:p>
          <a:p>
            <a:r>
              <a:rPr lang="fr-FR" dirty="0" smtClean="0"/>
              <a:t>Remédiation et </a:t>
            </a:r>
            <a:r>
              <a:rPr lang="fr-FR" dirty="0" err="1" smtClean="0"/>
              <a:t>rollback</a:t>
            </a:r>
            <a:r>
              <a:rPr lang="fr-FR" dirty="0" smtClean="0"/>
              <a:t> en cas d’incident </a:t>
            </a:r>
          </a:p>
          <a:p>
            <a:r>
              <a:rPr lang="fr-FR" b="1" dirty="0" smtClean="0"/>
              <a:t>Résultat</a:t>
            </a:r>
          </a:p>
          <a:p>
            <a:r>
              <a:rPr lang="fr-FR" b="1" dirty="0" smtClean="0"/>
              <a:t>Infrastructure déployée, configurée et sécurisée automatiquement avec une intervention manuelle minimale.</a:t>
            </a:r>
            <a:endParaRPr lang="fr-FR"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18</a:t>
            </a:fld>
            <a:endParaRPr lang="fr-MA"/>
          </a:p>
        </p:txBody>
      </p:sp>
    </p:spTree>
    <p:extLst>
      <p:ext uri="{BB962C8B-B14F-4D97-AF65-F5344CB8AC3E}">
        <p14:creationId xmlns:p14="http://schemas.microsoft.com/office/powerpoint/2010/main" val="4843756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dirty="0" smtClean="0"/>
              <a:t>Pour cette slide, tu peux présenter le </a:t>
            </a:r>
            <a:r>
              <a:rPr lang="fr-FR" b="1" dirty="0" smtClean="0"/>
              <a:t>rôle du portail client</a:t>
            </a:r>
            <a:r>
              <a:rPr lang="fr-FR" dirty="0" smtClean="0"/>
              <a:t> de manière simple et professionnelle :</a:t>
            </a:r>
          </a:p>
          <a:p>
            <a:endParaRPr lang="fr-FR" dirty="0" smtClean="0"/>
          </a:p>
          <a:p>
            <a:r>
              <a:rPr lang="fr-FR" b="1" dirty="0" smtClean="0"/>
              <a:t>Rôle de l'Application</a:t>
            </a:r>
          </a:p>
          <a:p>
            <a:endParaRPr lang="fr-FR" b="1" dirty="0" smtClean="0"/>
          </a:p>
          <a:p>
            <a:r>
              <a:rPr lang="fr-FR" dirty="0" smtClean="0"/>
              <a:t>Le portail </a:t>
            </a:r>
            <a:r>
              <a:rPr lang="fr-FR" b="1" dirty="0" smtClean="0"/>
              <a:t>TMPA Cloud Server</a:t>
            </a:r>
            <a:r>
              <a:rPr lang="fr-FR" dirty="0" smtClean="0"/>
              <a:t> est une application web développée avec </a:t>
            </a:r>
            <a:r>
              <a:rPr lang="fr-FR" b="1" dirty="0" err="1" smtClean="0"/>
              <a:t>Flask</a:t>
            </a:r>
            <a:r>
              <a:rPr lang="fr-FR" dirty="0" smtClean="0"/>
              <a:t> qui permet aux utilisateurs de déployer et gérer leurs ressources cloud via une interface simple et sécurisée. Il centralise les opérations d'infrastructure et automatise le </a:t>
            </a:r>
            <a:r>
              <a:rPr lang="fr-FR" dirty="0" err="1" smtClean="0"/>
              <a:t>provisioning</a:t>
            </a:r>
            <a:r>
              <a:rPr lang="fr-FR" dirty="0" smtClean="0"/>
              <a:t> des services.</a:t>
            </a:r>
          </a:p>
          <a:p>
            <a:endParaRPr lang="fr-FR" dirty="0" smtClean="0"/>
          </a:p>
          <a:p>
            <a:r>
              <a:rPr lang="fr-FR" b="1" dirty="0" smtClean="0"/>
              <a:t>Fonctionnalités principales</a:t>
            </a:r>
          </a:p>
          <a:p>
            <a:r>
              <a:rPr lang="fr-FR" dirty="0" smtClean="0"/>
              <a:t> </a:t>
            </a:r>
            <a:r>
              <a:rPr lang="fr-FR" b="1" dirty="0" smtClean="0"/>
              <a:t>Provisionnement automatisé</a:t>
            </a:r>
            <a:endParaRPr lang="fr-FR" dirty="0" smtClean="0"/>
          </a:p>
          <a:p>
            <a:r>
              <a:rPr lang="fr-FR" dirty="0" smtClean="0"/>
              <a:t>Création de VM en un clic </a:t>
            </a:r>
          </a:p>
          <a:p>
            <a:r>
              <a:rPr lang="fr-FR" dirty="0" smtClean="0"/>
              <a:t>Déploiement via </a:t>
            </a:r>
            <a:r>
              <a:rPr lang="fr-FR" dirty="0" err="1" smtClean="0"/>
              <a:t>Terraform</a:t>
            </a:r>
            <a:r>
              <a:rPr lang="fr-FR" dirty="0" smtClean="0"/>
              <a:t> et </a:t>
            </a:r>
            <a:r>
              <a:rPr lang="fr-FR" dirty="0" err="1" smtClean="0"/>
              <a:t>Proxmox</a:t>
            </a:r>
            <a:r>
              <a:rPr lang="fr-FR" dirty="0" smtClean="0"/>
              <a:t> </a:t>
            </a:r>
          </a:p>
          <a:p>
            <a:endParaRPr lang="fr-FR" dirty="0" smtClean="0"/>
          </a:p>
          <a:p>
            <a:r>
              <a:rPr lang="fr-FR" b="1" dirty="0" smtClean="0"/>
              <a:t>Configuration réseau automatique</a:t>
            </a:r>
            <a:endParaRPr lang="fr-FR" dirty="0" smtClean="0"/>
          </a:p>
          <a:p>
            <a:r>
              <a:rPr lang="fr-FR" dirty="0" smtClean="0"/>
              <a:t>Attribution VLAN et IP </a:t>
            </a:r>
          </a:p>
          <a:p>
            <a:r>
              <a:rPr lang="fr-FR" dirty="0" smtClean="0"/>
              <a:t>Application des règles </a:t>
            </a:r>
            <a:r>
              <a:rPr lang="fr-FR" dirty="0" err="1" smtClean="0"/>
              <a:t>pfSense</a:t>
            </a:r>
            <a:r>
              <a:rPr lang="fr-FR" dirty="0" smtClean="0"/>
              <a:t> </a:t>
            </a:r>
          </a:p>
          <a:p>
            <a:endParaRPr lang="fr-FR" dirty="0" smtClean="0"/>
          </a:p>
          <a:p>
            <a:r>
              <a:rPr lang="fr-FR" b="1" dirty="0" smtClean="0"/>
              <a:t>Authentification sécurisée</a:t>
            </a:r>
            <a:endParaRPr lang="fr-FR" dirty="0" smtClean="0"/>
          </a:p>
          <a:p>
            <a:r>
              <a:rPr lang="fr-FR" dirty="0" smtClean="0"/>
              <a:t>Intégration </a:t>
            </a:r>
            <a:r>
              <a:rPr lang="fr-FR" dirty="0" err="1" smtClean="0"/>
              <a:t>Keycloak</a:t>
            </a:r>
            <a:r>
              <a:rPr lang="fr-FR" dirty="0" smtClean="0"/>
              <a:t> SSO </a:t>
            </a:r>
          </a:p>
          <a:p>
            <a:r>
              <a:rPr lang="fr-FR" dirty="0" smtClean="0"/>
              <a:t>Contrôle d'accès RBAC </a:t>
            </a:r>
          </a:p>
          <a:p>
            <a:r>
              <a:rPr lang="fr-FR" dirty="0" smtClean="0"/>
              <a:t>Authentification MFA </a:t>
            </a:r>
          </a:p>
          <a:p>
            <a:endParaRPr lang="fr-FR" dirty="0" smtClean="0"/>
          </a:p>
          <a:p>
            <a:r>
              <a:rPr lang="fr-FR" b="1" dirty="0" smtClean="0"/>
              <a:t>Traçabilité et audit</a:t>
            </a:r>
            <a:endParaRPr lang="fr-FR" dirty="0" smtClean="0"/>
          </a:p>
          <a:p>
            <a:r>
              <a:rPr lang="fr-FR" dirty="0" smtClean="0"/>
              <a:t>Journalisation des actions </a:t>
            </a:r>
          </a:p>
          <a:p>
            <a:r>
              <a:rPr lang="fr-FR" dirty="0" smtClean="0"/>
              <a:t>Historique des déploiements </a:t>
            </a:r>
          </a:p>
          <a:p>
            <a:endParaRPr lang="fr-FR" b="1" dirty="0" smtClean="0"/>
          </a:p>
          <a:p>
            <a:r>
              <a:rPr lang="fr-FR" b="1" dirty="0" smtClean="0"/>
              <a:t>Suivi en temps réel</a:t>
            </a:r>
            <a:endParaRPr lang="fr-FR" dirty="0" smtClean="0"/>
          </a:p>
          <a:p>
            <a:r>
              <a:rPr lang="fr-FR" dirty="0" smtClean="0"/>
              <a:t>Affichage de l'avancement du déploiement </a:t>
            </a:r>
          </a:p>
          <a:p>
            <a:r>
              <a:rPr lang="fr-FR" dirty="0" smtClean="0"/>
              <a:t>Notifications et logs instantanés </a:t>
            </a:r>
          </a:p>
          <a:p>
            <a:endParaRPr lang="fr-FR"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19</a:t>
            </a:fld>
            <a:endParaRPr lang="fr-MA"/>
          </a:p>
        </p:txBody>
      </p:sp>
    </p:spTree>
    <p:extLst>
      <p:ext uri="{BB962C8B-B14F-4D97-AF65-F5344CB8AC3E}">
        <p14:creationId xmlns:p14="http://schemas.microsoft.com/office/powerpoint/2010/main" val="21955893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smtClean="0"/>
              <a:t>La solution </a:t>
            </a:r>
            <a:r>
              <a:rPr lang="fr-FR" b="1" dirty="0" err="1" smtClean="0"/>
              <a:t>Proxmox</a:t>
            </a:r>
            <a:r>
              <a:rPr lang="fr-FR" b="1" dirty="0" smtClean="0"/>
              <a:t> Backup Server — Sauvegarde Automatique</a:t>
            </a:r>
            <a:r>
              <a:rPr lang="fr-FR" dirty="0" smtClean="0"/>
              <a:t> est organisée en 6 parties : </a:t>
            </a:r>
          </a:p>
          <a:p>
            <a:endParaRPr lang="en-US" dirty="0" smtClean="0"/>
          </a:p>
          <a:p>
            <a:endParaRPr lang="fr-FR" dirty="0" smtClean="0"/>
          </a:p>
          <a:p>
            <a:r>
              <a:rPr lang="fr-FR" b="1" dirty="0" smtClean="0"/>
              <a:t>01 — Fréquence</a:t>
            </a:r>
          </a:p>
          <a:p>
            <a:r>
              <a:rPr lang="fr-FR" dirty="0" smtClean="0"/>
              <a:t>Sauvegarde automatique toutes les 2 heures </a:t>
            </a:r>
          </a:p>
          <a:p>
            <a:r>
              <a:rPr lang="fr-FR" dirty="0" smtClean="0"/>
              <a:t>Protection continue des machines virtuelles </a:t>
            </a:r>
          </a:p>
          <a:p>
            <a:endParaRPr lang="fr-FR" b="1" dirty="0" smtClean="0"/>
          </a:p>
          <a:p>
            <a:r>
              <a:rPr lang="fr-FR" b="1" dirty="0" smtClean="0"/>
              <a:t>02 — Impact sur la Production</a:t>
            </a:r>
          </a:p>
          <a:p>
            <a:r>
              <a:rPr lang="fr-FR" dirty="0" err="1" smtClean="0"/>
              <a:t>Snapshots</a:t>
            </a:r>
            <a:r>
              <a:rPr lang="fr-FR" dirty="0" smtClean="0"/>
              <a:t> à chaud (Live Backup) </a:t>
            </a:r>
          </a:p>
          <a:p>
            <a:r>
              <a:rPr lang="fr-FR" dirty="0" smtClean="0"/>
              <a:t>Aucune interruption de service </a:t>
            </a:r>
          </a:p>
          <a:p>
            <a:endParaRPr lang="fr-FR" b="1" dirty="0" smtClean="0"/>
          </a:p>
          <a:p>
            <a:r>
              <a:rPr lang="fr-FR" b="1" dirty="0" smtClean="0"/>
              <a:t>03 — Compression</a:t>
            </a:r>
          </a:p>
          <a:p>
            <a:r>
              <a:rPr lang="fr-FR" dirty="0" smtClean="0"/>
              <a:t>Compression ZSTD intégrée </a:t>
            </a:r>
          </a:p>
          <a:p>
            <a:r>
              <a:rPr lang="fr-FR" dirty="0" smtClean="0"/>
              <a:t>Réduction de l'espace de stockage utilisé </a:t>
            </a:r>
          </a:p>
          <a:p>
            <a:endParaRPr lang="fr-FR" b="1" dirty="0" smtClean="0"/>
          </a:p>
          <a:p>
            <a:r>
              <a:rPr lang="fr-FR" b="1" dirty="0" smtClean="0"/>
              <a:t>04 — Déduplication</a:t>
            </a:r>
          </a:p>
          <a:p>
            <a:r>
              <a:rPr lang="fr-FR" dirty="0" smtClean="0"/>
              <a:t>Élimination des blocs redondants </a:t>
            </a:r>
          </a:p>
          <a:p>
            <a:r>
              <a:rPr lang="fr-FR" dirty="0" smtClean="0"/>
              <a:t>Économie de stockage de 60 à 80 % </a:t>
            </a:r>
          </a:p>
          <a:p>
            <a:endParaRPr lang="fr-FR" b="1" dirty="0" smtClean="0"/>
          </a:p>
          <a:p>
            <a:r>
              <a:rPr lang="fr-FR" b="1" dirty="0" smtClean="0"/>
              <a:t>05 — Politique de Rétention</a:t>
            </a:r>
          </a:p>
          <a:p>
            <a:r>
              <a:rPr lang="fr-FR" dirty="0" smtClean="0"/>
              <a:t>Conservation des 3 dernières sauvegardes </a:t>
            </a:r>
          </a:p>
          <a:p>
            <a:r>
              <a:rPr lang="fr-FR" dirty="0" smtClean="0"/>
              <a:t>Rotation automatique des versions </a:t>
            </a:r>
          </a:p>
          <a:p>
            <a:endParaRPr lang="fr-FR" b="1" dirty="0" smtClean="0"/>
          </a:p>
          <a:p>
            <a:r>
              <a:rPr lang="fr-FR" b="1" dirty="0" smtClean="0"/>
              <a:t>06 — Vérification</a:t>
            </a:r>
          </a:p>
          <a:p>
            <a:r>
              <a:rPr lang="fr-FR" dirty="0" smtClean="0"/>
              <a:t>Contrôle automatique de l'intégrité des sauvegardes </a:t>
            </a:r>
          </a:p>
          <a:p>
            <a:r>
              <a:rPr lang="fr-FR" dirty="0" smtClean="0"/>
              <a:t>Détection précoce des erreurs de restauration </a:t>
            </a:r>
          </a:p>
          <a:p>
            <a:endParaRPr lang="fr-FR" b="1" dirty="0" smtClean="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20</a:t>
            </a:fld>
            <a:endParaRPr lang="fr-MA"/>
          </a:p>
        </p:txBody>
      </p:sp>
    </p:spTree>
    <p:extLst>
      <p:ext uri="{BB962C8B-B14F-4D97-AF65-F5344CB8AC3E}">
        <p14:creationId xmlns:p14="http://schemas.microsoft.com/office/powerpoint/2010/main" val="328467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b="1" dirty="0" smtClean="0"/>
              <a:t>Avant le portail</a:t>
            </a:r>
          </a:p>
          <a:p>
            <a:r>
              <a:rPr lang="fr-FR" dirty="0" smtClean="0"/>
              <a:t>Déploiement manuel et répétitif </a:t>
            </a:r>
          </a:p>
          <a:p>
            <a:r>
              <a:rPr lang="fr-FR" dirty="0" smtClean="0"/>
              <a:t>Risque élevé d'erreurs humaines </a:t>
            </a:r>
          </a:p>
          <a:p>
            <a:r>
              <a:rPr lang="fr-FR" dirty="0" smtClean="0"/>
              <a:t>Temps de mise en service important </a:t>
            </a:r>
          </a:p>
          <a:p>
            <a:r>
              <a:rPr lang="fr-FR" dirty="0" smtClean="0"/>
              <a:t>Faible traçabilité des opérations </a:t>
            </a:r>
          </a:p>
          <a:p>
            <a:r>
              <a:rPr lang="fr-FR" dirty="0" smtClean="0"/>
              <a:t>Processus dépendant de l'administrateur </a:t>
            </a:r>
          </a:p>
          <a:p>
            <a:endParaRPr lang="fr-FR" b="1" dirty="0" smtClean="0"/>
          </a:p>
          <a:p>
            <a:r>
              <a:rPr lang="fr-FR" b="1" dirty="0" smtClean="0"/>
              <a:t>Après le portail</a:t>
            </a:r>
          </a:p>
          <a:p>
            <a:r>
              <a:rPr lang="fr-FR" dirty="0" smtClean="0"/>
              <a:t>Déploiement automatisé en un clic </a:t>
            </a:r>
          </a:p>
          <a:p>
            <a:r>
              <a:rPr lang="fr-FR" dirty="0" smtClean="0"/>
              <a:t>Configuration réseau et sécurité automatiques </a:t>
            </a:r>
          </a:p>
          <a:p>
            <a:r>
              <a:rPr lang="fr-FR" dirty="0" smtClean="0"/>
              <a:t>Traçabilité complète des actions </a:t>
            </a:r>
          </a:p>
          <a:p>
            <a:r>
              <a:rPr lang="fr-FR" dirty="0" smtClean="0"/>
              <a:t>Processus standardisé et reproductible </a:t>
            </a:r>
          </a:p>
          <a:p>
            <a:r>
              <a:rPr lang="fr-FR" dirty="0" smtClean="0"/>
              <a:t>Réduction significative du temps de déploiement </a:t>
            </a:r>
          </a:p>
          <a:p>
            <a:endParaRPr lang="fr-FR" b="1" dirty="0" smtClean="0"/>
          </a:p>
          <a:p>
            <a:r>
              <a:rPr lang="fr-FR" b="1" dirty="0" smtClean="0"/>
              <a:t>Le portail TMPA Cloud Server transforme un processus manuel complexe en un service cloud automatisé, rapide, sécurisé et reproductible.</a:t>
            </a:r>
            <a:endParaRPr lang="fr-FR"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21</a:t>
            </a:fld>
            <a:endParaRPr lang="fr-MA"/>
          </a:p>
        </p:txBody>
      </p:sp>
    </p:spTree>
    <p:extLst>
      <p:ext uri="{BB962C8B-B14F-4D97-AF65-F5344CB8AC3E}">
        <p14:creationId xmlns:p14="http://schemas.microsoft.com/office/powerpoint/2010/main" val="2145821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dirty="0" smtClean="0"/>
              <a:t>Pour cette slide, tu peux remplacer les textes par une version plus professionnelle :</a:t>
            </a:r>
          </a:p>
          <a:p>
            <a:r>
              <a:rPr lang="fr-FR" b="1" dirty="0" smtClean="0"/>
              <a:t>01 — Portail Client</a:t>
            </a:r>
          </a:p>
          <a:p>
            <a:r>
              <a:rPr lang="fr-FR" dirty="0" smtClean="0"/>
              <a:t>Authentification sécurisée via SSO </a:t>
            </a:r>
            <a:r>
              <a:rPr lang="fr-FR" dirty="0" err="1" smtClean="0"/>
              <a:t>Keycloak</a:t>
            </a:r>
            <a:r>
              <a:rPr lang="fr-FR" dirty="0" smtClean="0"/>
              <a:t> </a:t>
            </a:r>
          </a:p>
          <a:p>
            <a:r>
              <a:rPr lang="fr-FR" dirty="0" smtClean="0"/>
              <a:t>Saisie des paramètres de la VM (CPU, RAM, VLAN, stockage) </a:t>
            </a:r>
          </a:p>
          <a:p>
            <a:r>
              <a:rPr lang="fr-FR" dirty="0" smtClean="0"/>
              <a:t>Déclenchement du déploiement en un clic </a:t>
            </a:r>
          </a:p>
          <a:p>
            <a:r>
              <a:rPr lang="fr-FR" b="1" dirty="0" smtClean="0"/>
              <a:t>02 — Configuration Réseau (</a:t>
            </a:r>
            <a:r>
              <a:rPr lang="fr-FR" b="1" dirty="0" err="1" smtClean="0"/>
              <a:t>Ansible</a:t>
            </a:r>
            <a:r>
              <a:rPr lang="fr-FR" b="1" dirty="0" smtClean="0"/>
              <a:t> + </a:t>
            </a:r>
            <a:r>
              <a:rPr lang="fr-FR" b="1" dirty="0" err="1" smtClean="0"/>
              <a:t>pfSense</a:t>
            </a:r>
            <a:r>
              <a:rPr lang="fr-FR" b="1" dirty="0" smtClean="0"/>
              <a:t>)</a:t>
            </a:r>
          </a:p>
          <a:p>
            <a:r>
              <a:rPr lang="fr-FR" dirty="0" smtClean="0"/>
              <a:t>Création automatique du VLAN </a:t>
            </a:r>
          </a:p>
          <a:p>
            <a:r>
              <a:rPr lang="fr-FR" dirty="0" smtClean="0"/>
              <a:t>Attribution IP et configuration DHCP </a:t>
            </a:r>
          </a:p>
          <a:p>
            <a:r>
              <a:rPr lang="fr-FR" dirty="0" smtClean="0"/>
              <a:t>Application des règles de sécurité et de micro-segmentation </a:t>
            </a:r>
          </a:p>
          <a:p>
            <a:r>
              <a:rPr lang="fr-FR" b="1" dirty="0" smtClean="0"/>
              <a:t>03 — Provisionnement Infrastructure (</a:t>
            </a:r>
            <a:r>
              <a:rPr lang="fr-FR" b="1" dirty="0" err="1" smtClean="0"/>
              <a:t>Terraform</a:t>
            </a:r>
            <a:r>
              <a:rPr lang="fr-FR" b="1" dirty="0" smtClean="0"/>
              <a:t> + </a:t>
            </a:r>
            <a:r>
              <a:rPr lang="fr-FR" b="1" dirty="0" err="1" smtClean="0"/>
              <a:t>Proxmox</a:t>
            </a:r>
            <a:r>
              <a:rPr lang="fr-FR" b="1" dirty="0" smtClean="0"/>
              <a:t>)</a:t>
            </a:r>
          </a:p>
          <a:p>
            <a:r>
              <a:rPr lang="fr-FR" dirty="0" smtClean="0"/>
              <a:t>Clonage du </a:t>
            </a:r>
            <a:r>
              <a:rPr lang="fr-FR" dirty="0" err="1" smtClean="0"/>
              <a:t>template</a:t>
            </a:r>
            <a:r>
              <a:rPr lang="fr-FR" dirty="0" smtClean="0"/>
              <a:t> VM </a:t>
            </a:r>
          </a:p>
          <a:p>
            <a:r>
              <a:rPr lang="fr-FR" dirty="0" smtClean="0"/>
              <a:t>Allocation des ressources (CPU, RAM, stockage) </a:t>
            </a:r>
          </a:p>
          <a:p>
            <a:r>
              <a:rPr lang="fr-FR" dirty="0" smtClean="0"/>
              <a:t>Attachement au réseau et au pool </a:t>
            </a:r>
            <a:r>
              <a:rPr lang="fr-FR" dirty="0" err="1" smtClean="0"/>
              <a:t>Ceph</a:t>
            </a:r>
            <a:r>
              <a:rPr lang="fr-FR" dirty="0" smtClean="0"/>
              <a:t> </a:t>
            </a:r>
          </a:p>
          <a:p>
            <a:r>
              <a:rPr lang="fr-FR" b="1" dirty="0" smtClean="0"/>
              <a:t>04 — Service Opérationnel</a:t>
            </a:r>
          </a:p>
          <a:p>
            <a:r>
              <a:rPr lang="fr-FR" dirty="0" smtClean="0"/>
              <a:t>VM prête à l'utilisation </a:t>
            </a:r>
          </a:p>
          <a:p>
            <a:r>
              <a:rPr lang="fr-FR" dirty="0" smtClean="0"/>
              <a:t>Accès sécurisé via </a:t>
            </a:r>
            <a:r>
              <a:rPr lang="fr-FR" dirty="0" err="1" smtClean="0"/>
              <a:t>Cloudflare</a:t>
            </a:r>
            <a:r>
              <a:rPr lang="fr-FR" dirty="0" smtClean="0"/>
              <a:t> </a:t>
            </a:r>
            <a:r>
              <a:rPr lang="fr-FR" dirty="0" err="1" smtClean="0"/>
              <a:t>Zero</a:t>
            </a:r>
            <a:r>
              <a:rPr lang="fr-FR" dirty="0" smtClean="0"/>
              <a:t> Trust </a:t>
            </a:r>
          </a:p>
          <a:p>
            <a:r>
              <a:rPr lang="fr-FR" dirty="0" smtClean="0"/>
              <a:t>Supervision, sauvegarde et audit activés </a:t>
            </a:r>
          </a:p>
          <a:p>
            <a:r>
              <a:rPr lang="fr-FR" b="1" dirty="0" smtClean="0"/>
              <a:t>Conclusion</a:t>
            </a:r>
          </a:p>
          <a:p>
            <a:r>
              <a:rPr lang="fr-FR" b="1" dirty="0" smtClean="0"/>
              <a:t>Déploiement d'une machine virtuelle entièrement automatisé, sécurisé et reproductible en moins de 20 minutes.</a:t>
            </a:r>
            <a:endParaRPr lang="fr-FR" dirty="0" smtClean="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22</a:t>
            </a:fld>
            <a:endParaRPr lang="fr-MA"/>
          </a:p>
        </p:txBody>
      </p:sp>
    </p:spTree>
    <p:extLst>
      <p:ext uri="{BB962C8B-B14F-4D97-AF65-F5344CB8AC3E}">
        <p14:creationId xmlns:p14="http://schemas.microsoft.com/office/powerpoint/2010/main" val="7804149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err="1" smtClean="0"/>
              <a:t>Disaster</a:t>
            </a:r>
            <a:r>
              <a:rPr lang="fr-FR" b="1" dirty="0" smtClean="0"/>
              <a:t> </a:t>
            </a:r>
            <a:r>
              <a:rPr lang="fr-FR" b="1" dirty="0" err="1" smtClean="0"/>
              <a:t>Recovery</a:t>
            </a:r>
            <a:endParaRPr lang="fr-FR" dirty="0" smtClean="0"/>
          </a:p>
          <a:p>
            <a:r>
              <a:rPr lang="fr-FR" dirty="0" smtClean="0"/>
              <a:t>Il y a deux éléments principaux :</a:t>
            </a:r>
          </a:p>
          <a:p>
            <a:r>
              <a:rPr lang="en-US" dirty="0" smtClean="0"/>
              <a:t>Pour</a:t>
            </a:r>
            <a:r>
              <a:rPr lang="en-US" baseline="0" dirty="0" smtClean="0"/>
              <a:t> premiere </a:t>
            </a:r>
            <a:r>
              <a:rPr lang="en-US" baseline="0" dirty="0" err="1" smtClean="0"/>
              <a:t>elemant</a:t>
            </a:r>
            <a:r>
              <a:rPr lang="en-US" baseline="0" dirty="0" smtClean="0"/>
              <a:t> </a:t>
            </a:r>
            <a:r>
              <a:rPr lang="en-US" baseline="0" dirty="0" err="1" smtClean="0"/>
              <a:t>ona</a:t>
            </a:r>
            <a:r>
              <a:rPr lang="en-US" baseline="0" dirty="0" smtClean="0"/>
              <a:t>  dis r pour </a:t>
            </a:r>
            <a:r>
              <a:rPr lang="en-US" baseline="0" dirty="0" err="1" smtClean="0"/>
              <a:t>vm</a:t>
            </a:r>
            <a:r>
              <a:rPr lang="en-US" baseline="0" dirty="0" smtClean="0"/>
              <a:t> </a:t>
            </a:r>
          </a:p>
          <a:p>
            <a:endParaRPr lang="en-US" baseline="0" dirty="0" smtClean="0"/>
          </a:p>
          <a:p>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err="1" smtClean="0"/>
              <a:t>Disaster</a:t>
            </a:r>
            <a:r>
              <a:rPr lang="fr-FR" b="1" dirty="0" smtClean="0"/>
              <a:t> </a:t>
            </a:r>
            <a:r>
              <a:rPr lang="fr-FR" b="1" dirty="0" err="1" smtClean="0"/>
              <a:t>Recovery</a:t>
            </a:r>
            <a:r>
              <a:rPr lang="fr-FR" b="1" dirty="0" smtClean="0"/>
              <a:t> (DR)</a:t>
            </a:r>
            <a:r>
              <a:rPr lang="fr-FR" dirty="0" smtClean="0"/>
              <a:t> : Solution qui permet de </a:t>
            </a:r>
            <a:r>
              <a:rPr lang="fr-FR" b="1" dirty="0" smtClean="0"/>
              <a:t>restaurer</a:t>
            </a:r>
            <a:r>
              <a:rPr lang="fr-FR" dirty="0" smtClean="0"/>
              <a:t> les services et les machines virtuelles après une panne.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err="1" smtClean="0"/>
              <a:t>Disaster</a:t>
            </a:r>
            <a:r>
              <a:rPr lang="fr-FR" b="1" dirty="0" smtClean="0"/>
              <a:t> </a:t>
            </a:r>
            <a:r>
              <a:rPr lang="fr-FR" b="1" dirty="0" err="1" smtClean="0"/>
              <a:t>Recovery</a:t>
            </a:r>
            <a:r>
              <a:rPr lang="fr-FR" b="1" dirty="0" smtClean="0"/>
              <a:t> (DR) : Solution qui permet de restaurer les services et les machines virtuelles dans leur état initial après une panne.</a:t>
            </a:r>
            <a:endParaRPr lang="fr-FR" dirty="0" smtClean="0"/>
          </a:p>
          <a:p>
            <a:r>
              <a:rPr lang="en-US" baseline="0" dirty="0" smtClean="0"/>
              <a:t/>
            </a:r>
            <a:br>
              <a:rPr lang="en-US" baseline="0" dirty="0" smtClean="0"/>
            </a:br>
            <a:endParaRPr lang="en-US" baseline="0" dirty="0" smtClean="0"/>
          </a:p>
          <a:p>
            <a:endParaRPr lang="en-US" baseline="0" dirty="0" smtClean="0"/>
          </a:p>
          <a:p>
            <a:endParaRPr lang="en-US" baseline="0" dirty="0" smtClean="0"/>
          </a:p>
          <a:p>
            <a:endParaRPr lang="en-US" baseline="0" dirty="0" smtClean="0"/>
          </a:p>
          <a:p>
            <a:endParaRPr lang="en-US" baseline="0" dirty="0" smtClean="0"/>
          </a:p>
          <a:p>
            <a:endParaRPr lang="en-US" baseline="0" dirty="0" smtClean="0"/>
          </a:p>
          <a:p>
            <a:r>
              <a:rPr lang="fr-FR" b="1" dirty="0" smtClean="0"/>
              <a:t>RPO (</a:t>
            </a:r>
            <a:r>
              <a:rPr lang="fr-FR" b="1" dirty="0" err="1" smtClean="0"/>
              <a:t>Recovery</a:t>
            </a:r>
            <a:r>
              <a:rPr lang="fr-FR" b="1" dirty="0" smtClean="0"/>
              <a:t> Point Objective) :</a:t>
            </a:r>
            <a:r>
              <a:rPr lang="fr-FR" dirty="0" smtClean="0"/>
              <a:t> La quantité maximale de données que tu acceptes de perdre (ton "point de retour arrière").</a:t>
            </a:r>
          </a:p>
          <a:p>
            <a:endParaRPr lang="fr-FR" dirty="0" smtClean="0"/>
          </a:p>
          <a:p>
            <a:r>
              <a:rPr lang="fr-FR" b="1" dirty="0" smtClean="0"/>
              <a:t>RTO (</a:t>
            </a:r>
            <a:r>
              <a:rPr lang="fr-FR" b="1" dirty="0" err="1" smtClean="0"/>
              <a:t>Recovery</a:t>
            </a:r>
            <a:r>
              <a:rPr lang="fr-FR" b="1" dirty="0" smtClean="0"/>
              <a:t> Time Objective) :</a:t>
            </a:r>
            <a:r>
              <a:rPr lang="fr-FR" dirty="0" smtClean="0"/>
              <a:t> Le temps maximal nécessaire pour remettre le service en marche après une panne.</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23</a:t>
            </a:fld>
            <a:endParaRPr lang="fr-MA"/>
          </a:p>
        </p:txBody>
      </p:sp>
    </p:spTree>
    <p:extLst>
      <p:ext uri="{BB962C8B-B14F-4D97-AF65-F5344CB8AC3E}">
        <p14:creationId xmlns:p14="http://schemas.microsoft.com/office/powerpoint/2010/main" val="39571555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b="1" dirty="0" smtClean="0"/>
              <a:t>1. Définitions rapides pour le jury</a:t>
            </a:r>
          </a:p>
          <a:p>
            <a:r>
              <a:rPr lang="fr-FR" dirty="0" smtClean="0"/>
              <a:t>Commence par rappeler la différence, car c'est la base de tout plan de reprise :</a:t>
            </a:r>
          </a:p>
          <a:p>
            <a:r>
              <a:rPr lang="fr-FR" b="1" dirty="0" smtClean="0"/>
              <a:t>RPO (</a:t>
            </a:r>
            <a:r>
              <a:rPr lang="fr-FR" b="1" dirty="0" err="1" smtClean="0"/>
              <a:t>Recovery</a:t>
            </a:r>
            <a:r>
              <a:rPr lang="fr-FR" b="1" dirty="0" smtClean="0"/>
              <a:t> Point Objective) :</a:t>
            </a:r>
            <a:r>
              <a:rPr lang="fr-FR" dirty="0" smtClean="0"/>
              <a:t> La quantité maximale de données que tu acceptes de perdre (ton "point de retour arrière").</a:t>
            </a:r>
          </a:p>
          <a:p>
            <a:endParaRPr lang="fr-FR" dirty="0" smtClean="0"/>
          </a:p>
          <a:p>
            <a:r>
              <a:rPr lang="fr-FR" b="1" dirty="0" smtClean="0"/>
              <a:t>RTO (</a:t>
            </a:r>
            <a:r>
              <a:rPr lang="fr-FR" b="1" dirty="0" err="1" smtClean="0"/>
              <a:t>Recovery</a:t>
            </a:r>
            <a:r>
              <a:rPr lang="fr-FR" b="1" dirty="0" smtClean="0"/>
              <a:t> Time Objective) :</a:t>
            </a:r>
            <a:r>
              <a:rPr lang="fr-FR" dirty="0" smtClean="0"/>
              <a:t> Le temps maximal nécessaire pour remettre le service en marche après une panne.</a:t>
            </a:r>
          </a:p>
          <a:p>
            <a:endParaRPr lang="fr-FR" dirty="0" smtClean="0"/>
          </a:p>
          <a:p>
            <a:r>
              <a:rPr lang="fr-FR" b="1" dirty="0" smtClean="0"/>
              <a:t>2. Analyse du tableau (Le "Pitch" technique)</a:t>
            </a:r>
          </a:p>
          <a:p>
            <a:endParaRPr lang="fr-FR" b="1" dirty="0" smtClean="0"/>
          </a:p>
          <a:p>
            <a:r>
              <a:rPr lang="fr-FR" dirty="0" smtClean="0"/>
              <a:t>Pour valider notre architecture, nous avons mesuré les RTO et RPO sur quatre scénarios critiques :</a:t>
            </a:r>
          </a:p>
          <a:p>
            <a:r>
              <a:rPr lang="fr-FR" b="1" dirty="0" smtClean="0"/>
              <a:t>Sur la haute disponibilité (</a:t>
            </a:r>
            <a:r>
              <a:rPr lang="fr-FR" b="1" dirty="0" err="1" smtClean="0"/>
              <a:t>Corosync</a:t>
            </a:r>
            <a:r>
              <a:rPr lang="fr-FR" b="1" dirty="0" smtClean="0"/>
              <a:t>/</a:t>
            </a:r>
            <a:r>
              <a:rPr lang="fr-FR" b="1" dirty="0" err="1" smtClean="0"/>
              <a:t>Ceph</a:t>
            </a:r>
            <a:r>
              <a:rPr lang="fr-FR" b="1" dirty="0" smtClean="0"/>
              <a:t>) :</a:t>
            </a:r>
            <a:r>
              <a:rPr lang="fr-FR" dirty="0" smtClean="0"/>
              <a:t> En cas de panne d'un nœud, la bascule est automatique en </a:t>
            </a:r>
            <a:r>
              <a:rPr lang="fr-FR" b="1" dirty="0" smtClean="0"/>
              <a:t>45 secondes</a:t>
            </a:r>
            <a:r>
              <a:rPr lang="fr-FR" dirty="0" smtClean="0"/>
              <a:t>, soit mieux que notre cible de 60s, avec </a:t>
            </a:r>
            <a:r>
              <a:rPr lang="fr-FR" b="1" dirty="0" smtClean="0"/>
              <a:t>zéro perte de données (RPO 0)</a:t>
            </a:r>
            <a:r>
              <a:rPr lang="fr-FR" dirty="0" smtClean="0"/>
              <a:t>.</a:t>
            </a:r>
          </a:p>
          <a:p>
            <a:r>
              <a:rPr lang="fr-FR" b="1" dirty="0" smtClean="0"/>
              <a:t>Sur la restauration applicative et réseau (</a:t>
            </a:r>
            <a:r>
              <a:rPr lang="fr-FR" b="1" dirty="0" err="1" smtClean="0"/>
              <a:t>Terraform</a:t>
            </a:r>
            <a:r>
              <a:rPr lang="fr-FR" b="1" dirty="0" smtClean="0"/>
              <a:t>/</a:t>
            </a:r>
            <a:r>
              <a:rPr lang="fr-FR" b="1" dirty="0" err="1" smtClean="0"/>
              <a:t>Ansible</a:t>
            </a:r>
            <a:r>
              <a:rPr lang="fr-FR" b="1" dirty="0" smtClean="0"/>
              <a:t>) :</a:t>
            </a:r>
            <a:r>
              <a:rPr lang="fr-FR" dirty="0" smtClean="0"/>
              <a:t> En cas de suppression accidentelle, notre script de restauration nous permet de relancer une VM ou un firewall en moins de </a:t>
            </a:r>
            <a:r>
              <a:rPr lang="fr-FR" b="1" dirty="0" smtClean="0"/>
              <a:t>5 minutes</a:t>
            </a:r>
            <a:r>
              <a:rPr lang="fr-FR" dirty="0" smtClean="0"/>
              <a:t>. Le RPO est de 2h, ce qui correspond à la fréquence de nos sauvegardes sur </a:t>
            </a:r>
            <a:r>
              <a:rPr lang="fr-FR" dirty="0" err="1" smtClean="0"/>
              <a:t>Proxmox</a:t>
            </a:r>
            <a:r>
              <a:rPr lang="fr-FR" dirty="0" smtClean="0"/>
              <a:t> Backup Server (PBS).</a:t>
            </a:r>
          </a:p>
          <a:p>
            <a:r>
              <a:rPr lang="fr-FR" b="1" dirty="0" smtClean="0"/>
              <a:t>Sur la résilience du stockage (</a:t>
            </a:r>
            <a:r>
              <a:rPr lang="fr-FR" b="1" dirty="0" err="1" smtClean="0"/>
              <a:t>Ceph</a:t>
            </a:r>
            <a:r>
              <a:rPr lang="fr-FR" b="1" dirty="0" smtClean="0"/>
              <a:t>) :</a:t>
            </a:r>
            <a:r>
              <a:rPr lang="fr-FR" dirty="0" smtClean="0"/>
              <a:t> En cas de perte d'un disque (OSD), le système reconstruit les données automatiquement en </a:t>
            </a:r>
            <a:r>
              <a:rPr lang="fr-FR" b="1" dirty="0" smtClean="0"/>
              <a:t>2 à 5 minutes</a:t>
            </a:r>
            <a:r>
              <a:rPr lang="fr-FR" dirty="0" smtClean="0"/>
              <a:t>, garantissant une continuité sans intervention humaine. </a:t>
            </a:r>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24</a:t>
            </a:fld>
            <a:endParaRPr lang="fr-MA"/>
          </a:p>
        </p:txBody>
      </p:sp>
    </p:spTree>
    <p:extLst>
      <p:ext uri="{BB962C8B-B14F-4D97-AF65-F5344CB8AC3E}">
        <p14:creationId xmlns:p14="http://schemas.microsoft.com/office/powerpoint/2010/main" val="2293751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smtClean="0"/>
              <a:t>Afin d’assurer une supervision centralisée de toute l’infrastructure, nous avons mis en place la </a:t>
            </a:r>
            <a:r>
              <a:rPr lang="fr-FR" b="1" dirty="0" err="1" smtClean="0"/>
              <a:t>stack</a:t>
            </a:r>
            <a:r>
              <a:rPr lang="fr-FR" b="1" dirty="0" smtClean="0"/>
              <a:t> </a:t>
            </a:r>
            <a:r>
              <a:rPr lang="fr-FR" b="1" dirty="0" err="1" smtClean="0"/>
              <a:t>Prometheus</a:t>
            </a:r>
            <a:r>
              <a:rPr lang="fr-FR" b="1" dirty="0" smtClean="0"/>
              <a:t>, </a:t>
            </a:r>
            <a:r>
              <a:rPr lang="fr-FR" b="1" dirty="0" err="1" smtClean="0"/>
              <a:t>Grafana</a:t>
            </a:r>
            <a:r>
              <a:rPr lang="fr-FR" b="1" dirty="0" smtClean="0"/>
              <a:t> et </a:t>
            </a:r>
            <a:r>
              <a:rPr lang="fr-FR" b="1" dirty="0" err="1" smtClean="0"/>
              <a:t>Alertmanager</a:t>
            </a:r>
            <a:r>
              <a:rPr lang="fr-FR" b="1" dirty="0" smtClean="0"/>
              <a:t>.</a:t>
            </a:r>
          </a:p>
          <a:p>
            <a:endParaRPr lang="fr-FR" dirty="0" smtClean="0"/>
          </a:p>
          <a:p>
            <a:r>
              <a:rPr lang="fr-FR" dirty="0" smtClean="0"/>
              <a:t>Pro</a:t>
            </a:r>
            <a:br>
              <a:rPr lang="fr-FR" dirty="0" smtClean="0"/>
            </a:br>
            <a:r>
              <a:rPr lang="fr-FR" dirty="0" err="1" smtClean="0"/>
              <a:t>graffana</a:t>
            </a:r>
            <a:r>
              <a:rPr lang="fr-FR" dirty="0" smtClean="0"/>
              <a:t> </a:t>
            </a:r>
          </a:p>
          <a:p>
            <a:endParaRPr lang="fr-FR" dirty="0" smtClean="0"/>
          </a:p>
          <a:p>
            <a:r>
              <a:rPr lang="fr-FR" dirty="0" smtClean="0"/>
              <a:t>Nous supervisons notamment les trois serveurs </a:t>
            </a:r>
            <a:r>
              <a:rPr lang="fr-FR" dirty="0" err="1" smtClean="0"/>
              <a:t>Proxmox</a:t>
            </a:r>
            <a:r>
              <a:rPr lang="fr-FR" dirty="0" smtClean="0"/>
              <a:t>, </a:t>
            </a:r>
          </a:p>
          <a:p>
            <a:endParaRPr lang="fr-FR" dirty="0" smtClean="0"/>
          </a:p>
          <a:p>
            <a:r>
              <a:rPr lang="fr-FR" dirty="0" smtClean="0"/>
              <a:t>Toutes les machines virtuelles applicatives s</a:t>
            </a:r>
          </a:p>
          <a:p>
            <a:endParaRPr lang="fr-FR" dirty="0" smtClean="0"/>
          </a:p>
          <a:p>
            <a:r>
              <a:rPr lang="fr-FR" dirty="0" smtClean="0"/>
              <a:t>Nous surveillons également </a:t>
            </a:r>
            <a:r>
              <a:rPr lang="fr-FR" dirty="0" err="1" smtClean="0"/>
              <a:t>Proxmox</a:t>
            </a:r>
            <a:r>
              <a:rPr lang="fr-FR" dirty="0" smtClean="0"/>
              <a:t> Backup Server afin de contrôler l’espace de stockage disponible</a:t>
            </a:r>
          </a:p>
          <a:p>
            <a:endParaRPr lang="fr-FR" dirty="0" smtClean="0"/>
          </a:p>
          <a:p>
            <a:r>
              <a:rPr lang="fr-FR" dirty="0" smtClean="0"/>
              <a:t>Le pare-feu </a:t>
            </a:r>
            <a:r>
              <a:rPr lang="fr-FR" dirty="0" err="1" smtClean="0"/>
              <a:t>pfSense</a:t>
            </a:r>
            <a:r>
              <a:rPr lang="fr-FR" dirty="0" smtClean="0"/>
              <a:t> est intégré à la supervision pour suivre les interfaces réseau</a:t>
            </a:r>
          </a:p>
          <a:p>
            <a:endParaRPr lang="fr-FR" dirty="0" smtClean="0"/>
          </a:p>
          <a:p>
            <a:r>
              <a:rPr lang="fr-FR" dirty="0" smtClean="0"/>
              <a:t>Enfin, </a:t>
            </a:r>
            <a:r>
              <a:rPr lang="fr-FR" dirty="0" err="1" smtClean="0"/>
              <a:t>Alertmanager</a:t>
            </a:r>
            <a:r>
              <a:rPr lang="fr-FR" dirty="0" smtClean="0"/>
              <a:t> centralise les alertes </a:t>
            </a:r>
            <a:r>
              <a:rPr lang="fr-FR" baseline="0" dirty="0" smtClean="0"/>
              <a:t> pour </a:t>
            </a:r>
            <a:r>
              <a:rPr lang="fr-FR" dirty="0" smtClean="0"/>
              <a:t>notifié rapidement en cas d’incident critique.</a:t>
            </a:r>
          </a:p>
          <a:p>
            <a:endParaRPr lang="fr-FR" b="1" dirty="0" smtClean="0"/>
          </a:p>
          <a:p>
            <a:r>
              <a:rPr lang="fr-FR" b="1" dirty="0" smtClean="0"/>
              <a:t>Cette couche de supervision nous permet de détecter les anomalies de manière proactive, de garantir la disponibilité des services et de faciliter les opérations d’exploitation.</a:t>
            </a:r>
            <a:r>
              <a:rPr lang="fr-FR" dirty="0" smtClean="0"/>
              <a:t> »</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25</a:t>
            </a:fld>
            <a:endParaRPr lang="fr-MA"/>
          </a:p>
        </p:txBody>
      </p:sp>
    </p:spTree>
    <p:extLst>
      <p:ext uri="{BB962C8B-B14F-4D97-AF65-F5344CB8AC3E}">
        <p14:creationId xmlns:p14="http://schemas.microsoft.com/office/powerpoint/2010/main" val="40834705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r>
              <a:rPr lang="fr-FR" dirty="0" smtClean="0"/>
              <a:t>Tout commence par l’infrastructure elle-même : les serveurs </a:t>
            </a:r>
            <a:r>
              <a:rPr lang="fr-FR" dirty="0" err="1" smtClean="0"/>
              <a:t>Proxmox</a:t>
            </a:r>
            <a:r>
              <a:rPr lang="fr-FR" dirty="0" smtClean="0"/>
              <a:t>, les machines virtuelles et les différents services déployés.</a:t>
            </a:r>
          </a:p>
          <a:p>
            <a:endParaRPr lang="fr-FR" dirty="0" smtClean="0"/>
          </a:p>
          <a:p>
            <a:r>
              <a:rPr lang="fr-FR" dirty="0" smtClean="0"/>
              <a:t>Ensuite, </a:t>
            </a:r>
            <a:r>
              <a:rPr lang="fr-FR" b="1" dirty="0" err="1" smtClean="0"/>
              <a:t>Prometheus</a:t>
            </a:r>
            <a:r>
              <a:rPr lang="fr-FR" dirty="0" smtClean="0"/>
              <a:t> collecte automatiquement les métriques de tous ces composants, comme CPU / mémoire / stockage</a:t>
            </a:r>
          </a:p>
          <a:p>
            <a:endParaRPr lang="fr-FR" dirty="0" smtClean="0"/>
          </a:p>
          <a:p>
            <a:r>
              <a:rPr lang="fr-FR" dirty="0" smtClean="0"/>
              <a:t>Ces métriques sont ensuite exploitées par </a:t>
            </a:r>
            <a:r>
              <a:rPr lang="fr-FR" b="1" dirty="0" err="1" smtClean="0"/>
              <a:t>Grafana</a:t>
            </a:r>
            <a:r>
              <a:rPr lang="fr-FR" dirty="0" smtClean="0"/>
              <a:t>, qui les transforme en tableaux de bord permettant une visualisation en temps réel de l’état de l’infrastructure.</a:t>
            </a:r>
          </a:p>
          <a:p>
            <a:endParaRPr lang="fr-FR" dirty="0" smtClean="0"/>
          </a:p>
          <a:p>
            <a:r>
              <a:rPr lang="fr-FR" b="1" dirty="0" err="1" smtClean="0"/>
              <a:t>Alertmanager</a:t>
            </a:r>
            <a:r>
              <a:rPr lang="fr-FR" dirty="0" smtClean="0"/>
              <a:t> centralise les alertes, </a:t>
            </a:r>
            <a:r>
              <a:rPr lang="fr-FR" baseline="0" dirty="0" smtClean="0"/>
              <a:t> </a:t>
            </a:r>
            <a:r>
              <a:rPr lang="fr-FR" dirty="0" smtClean="0"/>
              <a:t>notifications par email aux administrateurs.</a:t>
            </a:r>
          </a:p>
          <a:p>
            <a:endParaRPr lang="fr-FR" dirty="0" smtClean="0"/>
          </a:p>
          <a:p>
            <a:r>
              <a:rPr lang="fr-FR" b="1" dirty="0" smtClean="0"/>
              <a:t>Cette architecture nous permet d’assurer une surveillance proactive, de détecter rapidement les incidents et de réduire le temps de réaction en cas de problème.</a:t>
            </a:r>
            <a:r>
              <a:rPr lang="fr-FR" dirty="0" smtClean="0"/>
              <a:t> »</a:t>
            </a:r>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26</a:t>
            </a:fld>
            <a:endParaRPr lang="fr-MA"/>
          </a:p>
        </p:txBody>
      </p:sp>
    </p:spTree>
    <p:extLst>
      <p:ext uri="{BB962C8B-B14F-4D97-AF65-F5344CB8AC3E}">
        <p14:creationId xmlns:p14="http://schemas.microsoft.com/office/powerpoint/2010/main" val="9665931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smtClean="0"/>
              <a:t>Ce projet nous a permis de concevoir et déployer une infrastructure cloud privée complète pour Tanger Med Port </a:t>
            </a:r>
            <a:r>
              <a:rPr lang="fr-FR" dirty="0" err="1" smtClean="0"/>
              <a:t>Authority</a:t>
            </a:r>
            <a:r>
              <a:rPr lang="fr-FR" dirty="0" smtClean="0"/>
              <a:t>.</a:t>
            </a:r>
          </a:p>
          <a:p>
            <a:endParaRPr lang="fr-FR" dirty="0" smtClean="0"/>
          </a:p>
          <a:p>
            <a:r>
              <a:rPr lang="fr-FR" dirty="0" smtClean="0"/>
              <a:t>Nous avons mis en place une plateforme hautement disponible basée sur </a:t>
            </a:r>
            <a:r>
              <a:rPr lang="fr-FR" dirty="0" err="1" smtClean="0"/>
              <a:t>Proxmox</a:t>
            </a:r>
            <a:r>
              <a:rPr lang="fr-FR" dirty="0" smtClean="0"/>
              <a:t>, </a:t>
            </a:r>
            <a:r>
              <a:rPr lang="fr-FR" dirty="0" err="1" smtClean="0"/>
              <a:t>Ceph</a:t>
            </a:r>
            <a:r>
              <a:rPr lang="fr-FR" dirty="0" smtClean="0"/>
              <a:t> et un cluster de trois nœuds.</a:t>
            </a:r>
          </a:p>
          <a:p>
            <a:endParaRPr lang="fr-FR" dirty="0" smtClean="0"/>
          </a:p>
          <a:p>
            <a:r>
              <a:rPr lang="fr-FR" dirty="0" smtClean="0"/>
              <a:t>Les tests de </a:t>
            </a:r>
            <a:r>
              <a:rPr lang="fr-FR" dirty="0" err="1" smtClean="0"/>
              <a:t>disaster</a:t>
            </a:r>
            <a:r>
              <a:rPr lang="fr-FR" dirty="0" smtClean="0"/>
              <a:t> </a:t>
            </a:r>
            <a:r>
              <a:rPr lang="fr-FR" dirty="0" err="1" smtClean="0"/>
              <a:t>recovery</a:t>
            </a:r>
            <a:r>
              <a:rPr lang="fr-FR" dirty="0" smtClean="0"/>
              <a:t> ont validé un RTO inférieur à 60 secondes avec une restauration rapide des services.</a:t>
            </a:r>
          </a:p>
          <a:p>
            <a:endParaRPr lang="fr-FR" dirty="0" smtClean="0"/>
          </a:p>
          <a:p>
            <a:r>
              <a:rPr lang="fr-FR" dirty="0" smtClean="0"/>
              <a:t>La sécurité a été renforcée avec une approche </a:t>
            </a:r>
            <a:r>
              <a:rPr lang="fr-FR" dirty="0" err="1" smtClean="0"/>
              <a:t>Zero</a:t>
            </a:r>
            <a:r>
              <a:rPr lang="fr-FR" dirty="0" smtClean="0"/>
              <a:t> Trust (</a:t>
            </a:r>
            <a:r>
              <a:rPr lang="fr-FR" dirty="0" err="1" smtClean="0"/>
              <a:t>Keycloak</a:t>
            </a:r>
            <a:r>
              <a:rPr lang="fr-FR" dirty="0" smtClean="0"/>
              <a:t>, MFA, RBAC, </a:t>
            </a:r>
            <a:r>
              <a:rPr lang="fr-FR" dirty="0" err="1" smtClean="0"/>
              <a:t>Cloudflare</a:t>
            </a:r>
            <a:r>
              <a:rPr lang="fr-FR" dirty="0" smtClean="0"/>
              <a:t> Access).</a:t>
            </a:r>
          </a:p>
          <a:p>
            <a:endParaRPr lang="fr-FR" dirty="0" smtClean="0"/>
          </a:p>
          <a:p>
            <a:r>
              <a:rPr lang="fr-FR" dirty="0" smtClean="0"/>
              <a:t>L’automatisation avec </a:t>
            </a:r>
            <a:r>
              <a:rPr lang="fr-FR" dirty="0" err="1" smtClean="0"/>
              <a:t>Terraform</a:t>
            </a:r>
            <a:r>
              <a:rPr lang="fr-FR" dirty="0" smtClean="0"/>
              <a:t>, </a:t>
            </a:r>
            <a:r>
              <a:rPr lang="fr-FR" dirty="0" err="1" smtClean="0"/>
              <a:t>Ansible</a:t>
            </a:r>
            <a:r>
              <a:rPr lang="fr-FR" dirty="0" smtClean="0"/>
              <a:t> et un portail web permet le déploiement des VM en environ 20 minutes.</a:t>
            </a:r>
          </a:p>
          <a:p>
            <a:endParaRPr lang="fr-FR" dirty="0" smtClean="0"/>
          </a:p>
          <a:p>
            <a:r>
              <a:rPr lang="fr-FR" dirty="0" smtClean="0"/>
              <a:t>Enfin, la supervision avec </a:t>
            </a:r>
            <a:r>
              <a:rPr lang="fr-FR" dirty="0" err="1" smtClean="0"/>
              <a:t>Prometheus</a:t>
            </a:r>
            <a:r>
              <a:rPr lang="fr-FR" dirty="0" smtClean="0"/>
              <a:t>, </a:t>
            </a:r>
            <a:r>
              <a:rPr lang="fr-FR" dirty="0" err="1" smtClean="0"/>
              <a:t>Grafana</a:t>
            </a:r>
            <a:r>
              <a:rPr lang="fr-FR" dirty="0" smtClean="0"/>
              <a:t> et ELK assure un suivi complet de l’infrastructure.</a:t>
            </a:r>
          </a:p>
          <a:p>
            <a:endParaRPr lang="fr-FR" dirty="0" smtClean="0"/>
          </a:p>
          <a:p>
            <a:r>
              <a:rPr lang="fr-FR" dirty="0" smtClean="0"/>
              <a:t>Ce projet répond aux besoins de disponibilité, sécurité, automatisation et résilience de TMPA.</a:t>
            </a:r>
          </a:p>
          <a:p>
            <a:endParaRPr lang="fr-FR" dirty="0" smtClean="0"/>
          </a:p>
          <a:p>
            <a:endParaRPr lang="fr-FR" dirty="0" smtClean="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27</a:t>
            </a:fld>
            <a:endParaRPr lang="fr-MA"/>
          </a:p>
        </p:txBody>
      </p:sp>
    </p:spTree>
    <p:extLst>
      <p:ext uri="{BB962C8B-B14F-4D97-AF65-F5344CB8AC3E}">
        <p14:creationId xmlns:p14="http://schemas.microsoft.com/office/powerpoint/2010/main" val="33420456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smtClean="0"/>
          </a:p>
          <a:p>
            <a:r>
              <a:rPr lang="fr-FR" dirty="0" smtClean="0"/>
              <a:t>Je vous remercie pour votre attention et je suis maintenant disponible pour répondre à vos questions.</a:t>
            </a:r>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28</a:t>
            </a:fld>
            <a:endParaRPr lang="fr-MA"/>
          </a:p>
        </p:txBody>
      </p:sp>
    </p:spTree>
    <p:extLst>
      <p:ext uri="{BB962C8B-B14F-4D97-AF65-F5344CB8AC3E}">
        <p14:creationId xmlns:p14="http://schemas.microsoft.com/office/powerpoint/2010/main" val="7327703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a:p>
            <a:endParaRPr lang="fr-FR" dirty="0"/>
          </a:p>
        </p:txBody>
      </p:sp>
      <p:sp>
        <p:nvSpPr>
          <p:cNvPr id="4" name="Espace réservé du numéro de diapositive 3"/>
          <p:cNvSpPr>
            <a:spLocks noGrp="1"/>
          </p:cNvSpPr>
          <p:nvPr>
            <p:ph type="sldNum" sz="quarter" idx="5"/>
          </p:nvPr>
        </p:nvSpPr>
        <p:spPr/>
        <p:txBody>
          <a:bodyPr/>
          <a:lstStyle/>
          <a:p>
            <a:fld id="{EFD28C51-8F77-4B61-8641-E5BD716ED5D1}" type="slidenum">
              <a:rPr lang="fr-MA" smtClean="0"/>
              <a:t>29</a:t>
            </a:fld>
            <a:endParaRPr lang="fr-MA"/>
          </a:p>
        </p:txBody>
      </p:sp>
    </p:spTree>
    <p:extLst>
      <p:ext uri="{BB962C8B-B14F-4D97-AF65-F5344CB8AC3E}">
        <p14:creationId xmlns:p14="http://schemas.microsoft.com/office/powerpoint/2010/main" val="5269775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73346C0-EE4C-4BC6-8E9C-310ED9BD7D83}" type="datetime1">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ACDEA49-DC25-4F72-B9BA-4492B8A39A96}" type="datetime1">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0D6922C-CD23-45EA-854C-77BD93705ADD}" type="datetime1">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455BE55-9069-437E-84CD-F6B874D02114}" type="datetime1">
              <a:rPr lang="en-US" smtClean="0"/>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B52DF9C-2BF9-47E5-AD10-B070D227B95C}" type="datetime1">
              <a:rPr lang="en-US" smtClean="0"/>
              <a:t>6/19/2026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DC84F46-BCF4-4495-A390-B99BD6E040CC}" type="datetime1">
              <a:rPr lang="en-US" smtClean="0"/>
              <a:t>6/19/2026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E35B9ED-4AEC-45A5-8B20-C93359014830}" type="datetime1">
              <a:rPr lang="en-US" smtClean="0"/>
              <a:t>6/19/2026</a:t>
            </a:fld>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0697E04-D597-4831-9FBE-50FD33283100}" type="datetime1">
              <a:rPr lang="en-US" smtClean="0"/>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6F26AC3-6410-4A61-A982-18442AD9D2D1}" type="datetime1">
              <a:rPr lang="en-US" smtClean="0"/>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733AE9F-0D89-4D94-8F38-2E12D388AB5E}" type="datetime1">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BC18DC7-347D-4B9E-9337-53C644FEAC5E}" type="datetime1">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28600" y="9718675"/>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E69259-ECDA-49DF-B029-F6C2DD353078}" type="datetime1">
              <a:rPr lang="en-US" smtClean="0"/>
              <a:t>6/19/2026</a:t>
            </a:fld>
            <a:endParaRPr lang="en-US"/>
          </a:p>
        </p:txBody>
      </p:sp>
      <p:sp>
        <p:nvSpPr>
          <p:cNvPr id="5" name="Footer Placeholder 4"/>
          <p:cNvSpPr>
            <a:spLocks noGrp="1"/>
          </p:cNvSpPr>
          <p:nvPr>
            <p:ph type="ftr" sz="quarter" idx="3"/>
          </p:nvPr>
        </p:nvSpPr>
        <p:spPr>
          <a:xfrm>
            <a:off x="6858000" y="9788525"/>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6002000" y="978852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iming>
    <p:tnLst>
      <p:par>
        <p:cTn id="1" dur="indefinite" restart="never" nodeType="tmRoot"/>
      </p:par>
    </p:tnLst>
  </p:timing>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jpe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9.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hyperlink" Target="https://pfe-tmpa.ayoub-tmsa.org/" TargetMode="External"/><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7.png"/><Relationship Id="rId3" Type="http://schemas.openxmlformats.org/officeDocument/2006/relationships/image" Target="../media/image1.jpeg"/><Relationship Id="rId7" Type="http://schemas.openxmlformats.org/officeDocument/2006/relationships/image" Target="../media/image14.png"/><Relationship Id="rId12" Type="http://schemas.openxmlformats.org/officeDocument/2006/relationships/image" Target="../media/image11.svg"/><Relationship Id="rId17" Type="http://schemas.openxmlformats.org/officeDocument/2006/relationships/image" Target="../media/image19.png"/><Relationship Id="rId2" Type="http://schemas.openxmlformats.org/officeDocument/2006/relationships/notesSlide" Target="../notesSlides/notesSlide5.xml"/><Relationship Id="rId16" Type="http://schemas.openxmlformats.org/officeDocument/2006/relationships/image" Target="../media/image15.svg"/><Relationship Id="rId1" Type="http://schemas.openxmlformats.org/officeDocument/2006/relationships/slideLayout" Target="../slideLayouts/slideLayout7.xml"/><Relationship Id="rId6" Type="http://schemas.openxmlformats.org/officeDocument/2006/relationships/image" Target="../media/image5.svg"/><Relationship Id="rId11" Type="http://schemas.openxmlformats.org/officeDocument/2006/relationships/image" Target="../media/image16.png"/><Relationship Id="rId15" Type="http://schemas.openxmlformats.org/officeDocument/2006/relationships/image" Target="../media/image18.png"/><Relationship Id="rId10" Type="http://schemas.openxmlformats.org/officeDocument/2006/relationships/image" Target="../media/image9.svg"/><Relationship Id="rId4" Type="http://schemas.openxmlformats.org/officeDocument/2006/relationships/image" Target="../media/image13.png"/><Relationship Id="rId9" Type="http://schemas.openxmlformats.org/officeDocument/2006/relationships/image" Target="../media/image15.png"/><Relationship Id="rId14" Type="http://schemas.openxmlformats.org/officeDocument/2006/relationships/image" Target="../media/image13.svg"/></Relationships>
</file>

<file path=ppt/slides/_rels/slide6.xml.rels><?xml version="1.0" encoding="UTF-8" standalone="yes"?>
<Relationships xmlns="http://schemas.openxmlformats.org/package/2006/relationships"><Relationship Id="rId8" Type="http://schemas.openxmlformats.org/officeDocument/2006/relationships/image" Target="../media/image50.svg"/><Relationship Id="rId13" Type="http://schemas.openxmlformats.org/officeDocument/2006/relationships/image" Target="../media/image24.png"/><Relationship Id="rId3" Type="http://schemas.openxmlformats.org/officeDocument/2006/relationships/image" Target="../media/image1.jpeg"/><Relationship Id="rId7" Type="http://schemas.openxmlformats.org/officeDocument/2006/relationships/image" Target="../media/image21.png"/><Relationship Id="rId12" Type="http://schemas.openxmlformats.org/officeDocument/2006/relationships/image" Target="../media/image90.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3.svg"/><Relationship Id="rId11" Type="http://schemas.openxmlformats.org/officeDocument/2006/relationships/image" Target="../media/image23.png"/><Relationship Id="rId5" Type="http://schemas.openxmlformats.org/officeDocument/2006/relationships/image" Target="../media/image2.svg"/><Relationship Id="rId10" Type="http://schemas.openxmlformats.org/officeDocument/2006/relationships/image" Target="../media/image70.svg"/><Relationship Id="rId4" Type="http://schemas.openxmlformats.org/officeDocument/2006/relationships/image" Target="../media/image20.png"/><Relationship Id="rId9" Type="http://schemas.openxmlformats.org/officeDocument/2006/relationships/image" Target="../media/image22.png"/><Relationship Id="rId14" Type="http://schemas.openxmlformats.org/officeDocument/2006/relationships/image" Target="../media/image110.sv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NULL"/><Relationship Id="rId3" Type="http://schemas.openxmlformats.org/officeDocument/2006/relationships/image" Target="../media/image1.jpeg"/><Relationship Id="rId7" Type="http://schemas.openxmlformats.org/officeDocument/2006/relationships/image" Target="NULL"/><Relationship Id="rId12"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7.xml"/><Relationship Id="rId11" Type="http://schemas.openxmlformats.org/officeDocument/2006/relationships/image" Target="NULL"/><Relationship Id="rId5" Type="http://schemas.openxmlformats.org/officeDocument/2006/relationships/image" Target="../media/image26.png"/><Relationship Id="rId10" Type="http://schemas.openxmlformats.org/officeDocument/2006/relationships/image" Target="../media/image28.png"/><Relationship Id="rId4" Type="http://schemas.openxmlformats.org/officeDocument/2006/relationships/image" Target="../media/image25.png"/><Relationship Id="rId9" Type="http://schemas.openxmlformats.org/officeDocument/2006/relationships/image" Target="NUL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NUL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NULL"/><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NULL"/><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NULL"/><Relationship Id="rId3" Type="http://schemas.openxmlformats.org/officeDocument/2006/relationships/image" Target="../media/image1.jpeg"/><Relationship Id="rId7" Type="http://schemas.openxmlformats.org/officeDocument/2006/relationships/image" Target="NULL"/><Relationship Id="rId12"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media/image39.png"/><Relationship Id="rId4" Type="http://schemas.openxmlformats.org/officeDocument/2006/relationships/image" Target="../media/image36.png"/><Relationship Id="rId9" Type="http://schemas.openxmlformats.org/officeDocument/2006/relationships/image" Target="NULL"/><Relationship Id="rId14" Type="http://schemas.openxmlformats.org/officeDocument/2006/relationships/image" Target="../media/image41.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46.png"/><Relationship Id="rId18" Type="http://schemas.openxmlformats.org/officeDocument/2006/relationships/image" Target="NULL"/><Relationship Id="rId3" Type="http://schemas.openxmlformats.org/officeDocument/2006/relationships/image" Target="../media/image1.jpeg"/><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media/image48.png"/><Relationship Id="rId2" Type="http://schemas.openxmlformats.org/officeDocument/2006/relationships/notesSlide" Target="../notesSlides/notesSlide14.xml"/><Relationship Id="rId16" Type="http://schemas.openxmlformats.org/officeDocument/2006/relationships/image" Target="NULL"/><Relationship Id="rId1" Type="http://schemas.openxmlformats.org/officeDocument/2006/relationships/slideLayout" Target="../slideLayouts/slideLayout7.xml"/><Relationship Id="rId11" Type="http://schemas.openxmlformats.org/officeDocument/2006/relationships/image" Target="../media/image45.png"/><Relationship Id="rId15" Type="http://schemas.openxmlformats.org/officeDocument/2006/relationships/image" Target="../media/image47.png"/><Relationship Id="rId10" Type="http://schemas.openxmlformats.org/officeDocument/2006/relationships/image" Target="NULL"/><Relationship Id="rId4" Type="http://schemas.openxmlformats.org/officeDocument/2006/relationships/image" Target="../media/image42.png"/><Relationship Id="rId9" Type="http://schemas.openxmlformats.org/officeDocument/2006/relationships/image" Target="../media/image44.png"/><Relationship Id="rId14" Type="http://schemas.openxmlformats.org/officeDocument/2006/relationships/image" Target="NUL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NULL"/><Relationship Id="rId18" Type="http://schemas.openxmlformats.org/officeDocument/2006/relationships/image" Target="../media/image56.png"/><Relationship Id="rId3" Type="http://schemas.openxmlformats.org/officeDocument/2006/relationships/image" Target="../media/image1.jpeg"/><Relationship Id="rId7" Type="http://schemas.openxmlformats.org/officeDocument/2006/relationships/image" Target="NULL"/><Relationship Id="rId12" Type="http://schemas.openxmlformats.org/officeDocument/2006/relationships/image" Target="../media/image53.png"/><Relationship Id="rId17" Type="http://schemas.openxmlformats.org/officeDocument/2006/relationships/image" Target="NULL"/><Relationship Id="rId2" Type="http://schemas.openxmlformats.org/officeDocument/2006/relationships/notesSlide" Target="../notesSlides/notesSlide16.xml"/><Relationship Id="rId16" Type="http://schemas.openxmlformats.org/officeDocument/2006/relationships/image" Target="../media/image55.png"/><Relationship Id="rId20"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media/image52.png"/><Relationship Id="rId19" Type="http://schemas.openxmlformats.org/officeDocument/2006/relationships/image" Target="NULL"/><Relationship Id="rId4" Type="http://schemas.openxmlformats.org/officeDocument/2006/relationships/image" Target="../media/image49.png"/><Relationship Id="rId9" Type="http://schemas.openxmlformats.org/officeDocument/2006/relationships/image" Target="NULL"/><Relationship Id="rId14" Type="http://schemas.openxmlformats.org/officeDocument/2006/relationships/image" Target="../media/image54.png"/></Relationships>
</file>

<file path=ppt/slides/_rels/slide17.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media/image63.png"/><Relationship Id="rId18" Type="http://schemas.openxmlformats.org/officeDocument/2006/relationships/image" Target="NULL"/><Relationship Id="rId3" Type="http://schemas.openxmlformats.org/officeDocument/2006/relationships/image" Target="../media/image1.jpeg"/><Relationship Id="rId21" Type="http://schemas.openxmlformats.org/officeDocument/2006/relationships/image" Target="../media/image67.png"/><Relationship Id="rId7" Type="http://schemas.openxmlformats.org/officeDocument/2006/relationships/image" Target="../media/image60.png"/><Relationship Id="rId12" Type="http://schemas.openxmlformats.org/officeDocument/2006/relationships/image" Target="NULL"/><Relationship Id="rId17" Type="http://schemas.openxmlformats.org/officeDocument/2006/relationships/image" Target="../media/image65.png"/><Relationship Id="rId2" Type="http://schemas.openxmlformats.org/officeDocument/2006/relationships/notesSlide" Target="../notesSlides/notesSlide17.xm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media/image62.png"/><Relationship Id="rId5" Type="http://schemas.openxmlformats.org/officeDocument/2006/relationships/image" Target="../media/image59.png"/><Relationship Id="rId15" Type="http://schemas.openxmlformats.org/officeDocument/2006/relationships/image" Target="../media/image64.png"/><Relationship Id="rId10" Type="http://schemas.openxmlformats.org/officeDocument/2006/relationships/image" Target="NULL"/><Relationship Id="rId19" Type="http://schemas.openxmlformats.org/officeDocument/2006/relationships/image" Target="../media/image66.png"/><Relationship Id="rId4" Type="http://schemas.openxmlformats.org/officeDocument/2006/relationships/image" Target="../media/image58.png"/><Relationship Id="rId9" Type="http://schemas.openxmlformats.org/officeDocument/2006/relationships/image" Target="../media/image61.png"/><Relationship Id="rId14" Type="http://schemas.openxmlformats.org/officeDocument/2006/relationships/image" Target="NULL"/><Relationship Id="rId22" Type="http://schemas.openxmlformats.org/officeDocument/2006/relationships/image" Target="NULL"/></Relationships>
</file>

<file path=ppt/slides/_rels/slide1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1.jpeg"/><Relationship Id="rId4" Type="http://schemas.openxmlformats.org/officeDocument/2006/relationships/image" Target="NULL"/></Relationships>
</file>

<file path=ppt/slides/_rels/slide19.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media/image74.png"/><Relationship Id="rId3" Type="http://schemas.openxmlformats.org/officeDocument/2006/relationships/image" Target="../media/image1.jpeg"/><Relationship Id="rId7" Type="http://schemas.openxmlformats.org/officeDocument/2006/relationships/image" Target="../media/image71.png"/><Relationship Id="rId12" Type="http://schemas.openxmlformats.org/officeDocument/2006/relationships/image" Target="NUL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media/image73.png"/><Relationship Id="rId5" Type="http://schemas.openxmlformats.org/officeDocument/2006/relationships/image" Target="../media/image70.png"/><Relationship Id="rId10" Type="http://schemas.openxmlformats.org/officeDocument/2006/relationships/image" Target="NULL"/><Relationship Id="rId4" Type="http://schemas.openxmlformats.org/officeDocument/2006/relationships/image" Target="../media/image69.png"/><Relationship Id="rId9" Type="http://schemas.openxmlformats.org/officeDocument/2006/relationships/image" Target="../media/image72.png"/><Relationship Id="rId14" Type="http://schemas.openxmlformats.org/officeDocument/2006/relationships/image" Target="NULL"/></Relationships>
</file>

<file path=ppt/slides/_rels/slide20.xml.rels><?xml version="1.0" encoding="UTF-8" standalone="yes"?>
<Relationships xmlns="http://schemas.openxmlformats.org/package/2006/relationships"><Relationship Id="rId8" Type="http://schemas.openxmlformats.org/officeDocument/2006/relationships/image" Target="../media/image77.png"/><Relationship Id="rId13" Type="http://schemas.openxmlformats.org/officeDocument/2006/relationships/image" Target="NULL"/><Relationship Id="rId18" Type="http://schemas.openxmlformats.org/officeDocument/2006/relationships/image" Target="../media/image82.png"/><Relationship Id="rId3" Type="http://schemas.openxmlformats.org/officeDocument/2006/relationships/image" Target="../media/image1.jpeg"/><Relationship Id="rId7" Type="http://schemas.openxmlformats.org/officeDocument/2006/relationships/image" Target="NULL"/><Relationship Id="rId12" Type="http://schemas.openxmlformats.org/officeDocument/2006/relationships/image" Target="../media/image79.png"/><Relationship Id="rId17" Type="http://schemas.openxmlformats.org/officeDocument/2006/relationships/image" Target="NULL"/><Relationship Id="rId2" Type="http://schemas.openxmlformats.org/officeDocument/2006/relationships/notesSlide" Target="../notesSlides/notesSlide20.xml"/><Relationship Id="rId16" Type="http://schemas.openxmlformats.org/officeDocument/2006/relationships/image" Target="../media/image81.png"/><Relationship Id="rId1" Type="http://schemas.openxmlformats.org/officeDocument/2006/relationships/slideLayout" Target="../slideLayouts/slideLayout7.xml"/><Relationship Id="rId6" Type="http://schemas.openxmlformats.org/officeDocument/2006/relationships/image" Target="../media/image76.png"/><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media/image78.png"/><Relationship Id="rId19" Type="http://schemas.openxmlformats.org/officeDocument/2006/relationships/image" Target="NULL"/><Relationship Id="rId4" Type="http://schemas.openxmlformats.org/officeDocument/2006/relationships/image" Target="../media/image75.png"/><Relationship Id="rId9" Type="http://schemas.openxmlformats.org/officeDocument/2006/relationships/image" Target="NULL"/><Relationship Id="rId14" Type="http://schemas.openxmlformats.org/officeDocument/2006/relationships/image" Target="../media/image80.png"/></Relationships>
</file>

<file path=ppt/slides/_rels/slide21.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1.jpeg"/><Relationship Id="rId7" Type="http://schemas.openxmlformats.org/officeDocument/2006/relationships/image" Target="NULL"/><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84.png"/><Relationship Id="rId5" Type="http://schemas.openxmlformats.org/officeDocument/2006/relationships/image" Target="NULL"/><Relationship Id="rId4" Type="http://schemas.openxmlformats.org/officeDocument/2006/relationships/image" Target="../media/image83.png"/><Relationship Id="rId9" Type="http://schemas.openxmlformats.org/officeDocument/2006/relationships/image" Target="NULL"/></Relationships>
</file>

<file path=ppt/slides/_rels/slide22.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media/image91.png"/><Relationship Id="rId3" Type="http://schemas.openxmlformats.org/officeDocument/2006/relationships/image" Target="../media/image1.jpeg"/><Relationship Id="rId7" Type="http://schemas.openxmlformats.org/officeDocument/2006/relationships/image" Target="../media/image88.png"/><Relationship Id="rId12" Type="http://schemas.openxmlformats.org/officeDocument/2006/relationships/image" Target="NULL"/><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87.png"/><Relationship Id="rId11" Type="http://schemas.openxmlformats.org/officeDocument/2006/relationships/image" Target="../media/image90.png"/><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media/image86.png"/><Relationship Id="rId9" Type="http://schemas.openxmlformats.org/officeDocument/2006/relationships/image" Target="../media/image89.png"/><Relationship Id="rId14" Type="http://schemas.openxmlformats.org/officeDocument/2006/relationships/image" Target="NULL"/></Relationships>
</file>

<file path=ppt/slides/_rels/slide23.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1.jpeg"/><Relationship Id="rId7" Type="http://schemas.openxmlformats.org/officeDocument/2006/relationships/image" Target="NULL"/><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95.png"/></Relationships>
</file>

<file path=ppt/slides/_rels/slide2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1.jpeg"/><Relationship Id="rId7" Type="http://schemas.openxmlformats.org/officeDocument/2006/relationships/image" Target="../media/image97.png"/><Relationship Id="rId2" Type="http://schemas.openxmlformats.org/officeDocument/2006/relationships/notesSlide" Target="../notesSlides/notesSlide25.xml"/><Relationship Id="rId16"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media/image99.png"/><Relationship Id="rId5" Type="http://schemas.openxmlformats.org/officeDocument/2006/relationships/image" Target="../media/image96.png"/><Relationship Id="rId15" Type="http://schemas.openxmlformats.org/officeDocument/2006/relationships/image" Target="../media/image100.png"/><Relationship Id="rId10" Type="http://schemas.openxmlformats.org/officeDocument/2006/relationships/image" Target="NULL"/><Relationship Id="rId4" Type="http://schemas.openxmlformats.org/officeDocument/2006/relationships/image" Target="../media/image43.png"/><Relationship Id="rId9" Type="http://schemas.openxmlformats.org/officeDocument/2006/relationships/image" Target="../media/image98.png"/><Relationship Id="rId14" Type="http://schemas.openxmlformats.org/officeDocument/2006/relationships/image" Target="NULL"/></Relationships>
</file>

<file path=ppt/slides/_rels/slide26.xml.rels><?xml version="1.0" encoding="UTF-8" standalone="yes"?>
<Relationships xmlns="http://schemas.openxmlformats.org/package/2006/relationships"><Relationship Id="rId8" Type="http://schemas.openxmlformats.org/officeDocument/2006/relationships/image" Target="../media/image103.png"/><Relationship Id="rId13" Type="http://schemas.openxmlformats.org/officeDocument/2006/relationships/image" Target="NULL"/><Relationship Id="rId18" Type="http://schemas.openxmlformats.org/officeDocument/2006/relationships/image" Target="../media/image108.png"/><Relationship Id="rId26" Type="http://schemas.openxmlformats.org/officeDocument/2006/relationships/image" Target="../media/image111.png"/><Relationship Id="rId3" Type="http://schemas.openxmlformats.org/officeDocument/2006/relationships/image" Target="../media/image1.jpeg"/><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media/image105.png"/><Relationship Id="rId17" Type="http://schemas.openxmlformats.org/officeDocument/2006/relationships/image" Target="NULL"/><Relationship Id="rId25" Type="http://schemas.openxmlformats.org/officeDocument/2006/relationships/image" Target="NULL"/><Relationship Id="rId2" Type="http://schemas.openxmlformats.org/officeDocument/2006/relationships/notesSlide" Target="../notesSlides/notesSlide26.xml"/><Relationship Id="rId16" Type="http://schemas.openxmlformats.org/officeDocument/2006/relationships/image" Target="../media/image107.png"/><Relationship Id="rId20" Type="http://schemas.openxmlformats.org/officeDocument/2006/relationships/image" Target="../media/image109.png"/><Relationship Id="rId29" Type="http://schemas.openxmlformats.org/officeDocument/2006/relationships/image" Target="../media/image114.png"/><Relationship Id="rId1" Type="http://schemas.openxmlformats.org/officeDocument/2006/relationships/slideLayout" Target="../slideLayouts/slideLayout7.xml"/><Relationship Id="rId6" Type="http://schemas.openxmlformats.org/officeDocument/2006/relationships/image" Target="../media/image102.png"/><Relationship Id="rId11" Type="http://schemas.openxmlformats.org/officeDocument/2006/relationships/image" Target="NULL"/><Relationship Id="rId24" Type="http://schemas.openxmlformats.org/officeDocument/2006/relationships/image" Target="../media/image31.png"/><Relationship Id="rId32" Type="http://schemas.openxmlformats.org/officeDocument/2006/relationships/image" Target="../media/image116.png"/><Relationship Id="rId5" Type="http://schemas.openxmlformats.org/officeDocument/2006/relationships/image" Target="NULL"/><Relationship Id="rId15" Type="http://schemas.openxmlformats.org/officeDocument/2006/relationships/image" Target="NULL"/><Relationship Id="rId23" Type="http://schemas.openxmlformats.org/officeDocument/2006/relationships/image" Target="NULL"/><Relationship Id="rId28" Type="http://schemas.openxmlformats.org/officeDocument/2006/relationships/image" Target="../media/image113.png"/><Relationship Id="rId10" Type="http://schemas.openxmlformats.org/officeDocument/2006/relationships/image" Target="../media/image104.png"/><Relationship Id="rId19" Type="http://schemas.openxmlformats.org/officeDocument/2006/relationships/image" Target="NULL"/><Relationship Id="rId31" Type="http://schemas.openxmlformats.org/officeDocument/2006/relationships/image" Target="../media/image115.png"/><Relationship Id="rId4" Type="http://schemas.openxmlformats.org/officeDocument/2006/relationships/image" Target="../media/image101.png"/><Relationship Id="rId9" Type="http://schemas.openxmlformats.org/officeDocument/2006/relationships/image" Target="NULL"/><Relationship Id="rId14" Type="http://schemas.openxmlformats.org/officeDocument/2006/relationships/image" Target="../media/image106.png"/><Relationship Id="rId22" Type="http://schemas.openxmlformats.org/officeDocument/2006/relationships/image" Target="../media/image110.png"/><Relationship Id="rId27" Type="http://schemas.openxmlformats.org/officeDocument/2006/relationships/image" Target="../media/image112.png"/><Relationship Id="rId30" Type="http://schemas.openxmlformats.org/officeDocument/2006/relationships/image" Target="NULL"/></Relationships>
</file>

<file path=ppt/slides/_rels/slide27.xml.rels><?xml version="1.0" encoding="UTF-8" standalone="yes"?>
<Relationships xmlns="http://schemas.openxmlformats.org/package/2006/relationships"><Relationship Id="rId8" Type="http://schemas.openxmlformats.org/officeDocument/2006/relationships/image" Target="../media/image58.png"/><Relationship Id="rId13" Type="http://schemas.openxmlformats.org/officeDocument/2006/relationships/image" Target="../media/image122.png"/><Relationship Id="rId18" Type="http://schemas.openxmlformats.org/officeDocument/2006/relationships/image" Target="../media/image124.png"/><Relationship Id="rId3" Type="http://schemas.openxmlformats.org/officeDocument/2006/relationships/image" Target="../media/image117.jpeg"/><Relationship Id="rId7" Type="http://schemas.openxmlformats.org/officeDocument/2006/relationships/image" Target="../media/image119.png"/><Relationship Id="rId12" Type="http://schemas.openxmlformats.org/officeDocument/2006/relationships/image" Target="../media/image10.svg"/><Relationship Id="rId17" Type="http://schemas.openxmlformats.org/officeDocument/2006/relationships/image" Target="../media/image16.svg"/><Relationship Id="rId2" Type="http://schemas.openxmlformats.org/officeDocument/2006/relationships/notesSlide" Target="../notesSlides/notesSlide27.xml"/><Relationship Id="rId16" Type="http://schemas.openxmlformats.org/officeDocument/2006/relationships/image" Target="../media/image123.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21.png"/><Relationship Id="rId5" Type="http://schemas.openxmlformats.org/officeDocument/2006/relationships/image" Target="NULL"/><Relationship Id="rId15" Type="http://schemas.openxmlformats.org/officeDocument/2006/relationships/image" Target="../media/image14.svg"/><Relationship Id="rId10" Type="http://schemas.openxmlformats.org/officeDocument/2006/relationships/image" Target="../media/image8.svg"/><Relationship Id="rId19" Type="http://schemas.openxmlformats.org/officeDocument/2006/relationships/image" Target="../media/image12.svg"/><Relationship Id="rId4" Type="http://schemas.openxmlformats.org/officeDocument/2006/relationships/image" Target="../media/image118.png"/><Relationship Id="rId9" Type="http://schemas.openxmlformats.org/officeDocument/2006/relationships/image" Target="../media/image120.png"/></Relationships>
</file>

<file path=ppt/slides/_rels/slide28.xml.rels><?xml version="1.0" encoding="UTF-8" standalone="yes"?>
<Relationships xmlns="http://schemas.openxmlformats.org/package/2006/relationships"><Relationship Id="rId3" Type="http://schemas.openxmlformats.org/officeDocument/2006/relationships/image" Target="../media/image117.jpe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NULL"/><Relationship Id="rId4" Type="http://schemas.openxmlformats.org/officeDocument/2006/relationships/image" Target="../media/image118.png"/></Relationships>
</file>

<file path=ppt/slides/_rels/slide2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9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Freeform 2"/>
          <p:cNvSpPr/>
          <p:nvPr/>
        </p:nvSpPr>
        <p:spPr>
          <a:xfrm>
            <a:off x="-5631"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txBody>
          <a:bodyPr/>
          <a:lstStyle/>
          <a:p>
            <a:endParaRPr lang="fr-MA" dirty="0"/>
          </a:p>
        </p:txBody>
      </p:sp>
      <p:sp>
        <p:nvSpPr>
          <p:cNvPr id="12" name="Rectangle: Rounded Corners 12">
            <a:extLst>
              <a:ext uri="{FF2B5EF4-FFF2-40B4-BE49-F238E27FC236}">
                <a16:creationId xmlns:a16="http://schemas.microsoft.com/office/drawing/2014/main" id="{D1F38B93-F6C8-42FB-B3F6-77737E0C478C}"/>
              </a:ext>
            </a:extLst>
          </p:cNvPr>
          <p:cNvSpPr/>
          <p:nvPr/>
        </p:nvSpPr>
        <p:spPr>
          <a:xfrm>
            <a:off x="3191530" y="3238500"/>
            <a:ext cx="11904939" cy="1676400"/>
          </a:xfrm>
          <a:prstGeom prst="roundRect">
            <a:avLst>
              <a:gd name="adj" fmla="val 399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800" b="1" dirty="0" smtClean="0">
                <a:solidFill>
                  <a:schemeClr val="bg1"/>
                </a:solidFill>
              </a:rPr>
              <a:t>Infrastructure </a:t>
            </a:r>
            <a:r>
              <a:rPr lang="fr-FR" sz="2800" b="1" dirty="0">
                <a:solidFill>
                  <a:schemeClr val="bg1"/>
                </a:solidFill>
              </a:rPr>
              <a:t>Hyper-Convergée Cloud Privé Multi-Tenant Sécurisée </a:t>
            </a:r>
          </a:p>
          <a:p>
            <a:pPr algn="ctr"/>
            <a:r>
              <a:rPr lang="fr-FR" sz="2800" b="1" dirty="0">
                <a:solidFill>
                  <a:schemeClr val="bg1"/>
                </a:solidFill>
              </a:rPr>
              <a:t>par </a:t>
            </a:r>
            <a:r>
              <a:rPr lang="fr-FR" sz="2800" b="1" dirty="0" err="1">
                <a:solidFill>
                  <a:schemeClr val="bg1"/>
                </a:solidFill>
              </a:rPr>
              <a:t>Zero</a:t>
            </a:r>
            <a:r>
              <a:rPr lang="fr-FR" sz="2800" b="1" dirty="0">
                <a:solidFill>
                  <a:schemeClr val="bg1"/>
                </a:solidFill>
              </a:rPr>
              <a:t>-Trust et Pilotée par </a:t>
            </a:r>
            <a:r>
              <a:rPr lang="fr-FR" sz="2800" b="1" dirty="0" err="1" smtClean="0">
                <a:solidFill>
                  <a:schemeClr val="bg1"/>
                </a:solidFill>
              </a:rPr>
              <a:t>IaC</a:t>
            </a:r>
            <a:endParaRPr lang="fr-FR" sz="2800" b="1" dirty="0">
              <a:solidFill>
                <a:schemeClr val="bg1"/>
              </a:solidFill>
            </a:endParaRPr>
          </a:p>
        </p:txBody>
      </p:sp>
      <p:sp>
        <p:nvSpPr>
          <p:cNvPr id="14" name="Rectangle 4">
            <a:extLst>
              <a:ext uri="{FF2B5EF4-FFF2-40B4-BE49-F238E27FC236}">
                <a16:creationId xmlns:a16="http://schemas.microsoft.com/office/drawing/2014/main" id="{CEE85B82-FC3B-422F-9E7F-9923AA37998E}"/>
              </a:ext>
            </a:extLst>
          </p:cNvPr>
          <p:cNvSpPr>
            <a:spLocks noChangeArrowheads="1"/>
          </p:cNvSpPr>
          <p:nvPr/>
        </p:nvSpPr>
        <p:spPr bwMode="auto">
          <a:xfrm>
            <a:off x="3456660" y="305395"/>
            <a:ext cx="9868855" cy="1323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152352" rIns="0" bIns="152352" numCol="1" anchor="ctr" anchorCtr="0" compatLnSpc="1">
            <a:prstTxWarp prst="textNoShape">
              <a:avLst/>
            </a:prstTxWarp>
            <a:spAutoFit/>
          </a:bodyPr>
          <a:lstStyle/>
          <a:p>
            <a:pPr lvl="0" algn="ctr" eaLnBrk="0" fontAlgn="base" hangingPunct="0">
              <a:spcBef>
                <a:spcPct val="0"/>
              </a:spcBef>
              <a:spcAft>
                <a:spcPct val="0"/>
              </a:spcAft>
            </a:pPr>
            <a:r>
              <a:rPr lang="fr-FR" altLang="fr-FR" sz="2200" b="1" dirty="0" smtClean="0">
                <a:solidFill>
                  <a:srgbClr val="000000"/>
                </a:solidFill>
                <a:latin typeface="Calibri Light" panose="020F0302020204030204" pitchFamily="34" charset="0"/>
                <a:ea typeface="Times New Roman" panose="02020603050405020304" pitchFamily="18" charset="0"/>
                <a:cs typeface="Times New Roman" panose="02020603050405020304" pitchFamily="18" charset="0"/>
              </a:rPr>
              <a:t>Université </a:t>
            </a:r>
            <a:r>
              <a:rPr lang="fr-FR" altLang="fr-FR" sz="2200" b="1" dirty="0">
                <a:solidFill>
                  <a:srgbClr val="000000"/>
                </a:solidFill>
                <a:latin typeface="Calibri Light" panose="020F0302020204030204" pitchFamily="34" charset="0"/>
                <a:ea typeface="Times New Roman" panose="02020603050405020304" pitchFamily="18" charset="0"/>
                <a:cs typeface="Times New Roman" panose="02020603050405020304" pitchFamily="18" charset="0"/>
              </a:rPr>
              <a:t>Hassan 1er</a:t>
            </a:r>
          </a:p>
          <a:p>
            <a:pPr lvl="0" algn="ctr" eaLnBrk="0" fontAlgn="base" hangingPunct="0">
              <a:spcBef>
                <a:spcPct val="0"/>
              </a:spcBef>
              <a:spcAft>
                <a:spcPct val="0"/>
              </a:spcAft>
            </a:pPr>
            <a:r>
              <a:rPr lang="fr-FR" altLang="fr-FR" sz="2200" b="1" dirty="0">
                <a:solidFill>
                  <a:srgbClr val="000000"/>
                </a:solidFill>
                <a:latin typeface="Calibri Light" panose="020F0302020204030204" pitchFamily="34" charset="0"/>
                <a:ea typeface="Times New Roman" panose="02020603050405020304" pitchFamily="18" charset="0"/>
                <a:cs typeface="Times New Roman" panose="02020603050405020304" pitchFamily="18" charset="0"/>
              </a:rPr>
              <a:t>Faculté des Sciences et Techniques de Settat</a:t>
            </a:r>
          </a:p>
          <a:p>
            <a:pPr lvl="0" algn="ctr" eaLnBrk="0" fontAlgn="base" hangingPunct="0">
              <a:spcBef>
                <a:spcPct val="0"/>
              </a:spcBef>
              <a:spcAft>
                <a:spcPct val="0"/>
              </a:spcAft>
            </a:pPr>
            <a:r>
              <a:rPr lang="fr-FR" altLang="fr-FR" sz="2200" b="1" dirty="0" smtClean="0">
                <a:solidFill>
                  <a:srgbClr val="000000"/>
                </a:solidFill>
                <a:latin typeface="Calibri Light" panose="020F0302020204030204" pitchFamily="34" charset="0"/>
                <a:ea typeface="Times New Roman" panose="02020603050405020304" pitchFamily="18" charset="0"/>
                <a:cs typeface="Times New Roman" panose="02020603050405020304" pitchFamily="18" charset="0"/>
              </a:rPr>
              <a:t>Master </a:t>
            </a:r>
            <a:r>
              <a:rPr lang="fr-FR" altLang="fr-FR" sz="2200" b="1" dirty="0">
                <a:solidFill>
                  <a:srgbClr val="000000"/>
                </a:solidFill>
                <a:latin typeface="Calibri Light" panose="020F0302020204030204" pitchFamily="34" charset="0"/>
                <a:ea typeface="Times New Roman" panose="02020603050405020304" pitchFamily="18" charset="0"/>
                <a:cs typeface="Times New Roman" panose="02020603050405020304" pitchFamily="18" charset="0"/>
              </a:rPr>
              <a:t>en Ingénierie des Réseaux Informatiques et des Systèmes de Télécommunications</a:t>
            </a:r>
            <a:endParaRPr kumimoji="0" lang="fr-FR" altLang="fr-FR" sz="2200" b="1" i="0" u="none" strike="noStrike" cap="none" normalizeH="0" baseline="0" dirty="0">
              <a:ln>
                <a:noFill/>
              </a:ln>
              <a:solidFill>
                <a:srgbClr val="000000"/>
              </a:solidFill>
              <a:effectLst/>
              <a:latin typeface="Calibri Light" panose="020F0302020204030204" pitchFamily="34" charset="0"/>
              <a:ea typeface="Times New Roman" panose="02020603050405020304" pitchFamily="18" charset="0"/>
              <a:cs typeface="Times New Roman" panose="02020603050405020304" pitchFamily="18" charset="0"/>
            </a:endParaRPr>
          </a:p>
        </p:txBody>
      </p:sp>
      <p:sp>
        <p:nvSpPr>
          <p:cNvPr id="15" name="ZoneTexte 17">
            <a:extLst>
              <a:ext uri="{FF2B5EF4-FFF2-40B4-BE49-F238E27FC236}">
                <a16:creationId xmlns:a16="http://schemas.microsoft.com/office/drawing/2014/main" id="{52B516E5-D3D6-452B-A1D8-EB328AB3F14B}"/>
              </a:ext>
            </a:extLst>
          </p:cNvPr>
          <p:cNvSpPr txBox="1"/>
          <p:nvPr/>
        </p:nvSpPr>
        <p:spPr>
          <a:xfrm>
            <a:off x="8305800" y="8219441"/>
            <a:ext cx="9989269" cy="1815882"/>
          </a:xfrm>
          <a:prstGeom prst="rect">
            <a:avLst/>
          </a:prstGeom>
          <a:noFill/>
        </p:spPr>
        <p:txBody>
          <a:bodyPr wrap="square" rtlCol="0">
            <a:spAutoFit/>
          </a:bodyPr>
          <a:lstStyle/>
          <a:p>
            <a:r>
              <a:rPr lang="fr-FR" sz="2800" dirty="0" smtClean="0">
                <a:latin typeface="Algerian" pitchFamily="82" charset="0"/>
                <a:cs typeface="Calibri" pitchFamily="34" charset="0"/>
              </a:rPr>
              <a:t>Encadrant</a:t>
            </a:r>
            <a:r>
              <a:rPr lang="en-US" sz="2800" dirty="0">
                <a:cs typeface="Calibri" pitchFamily="34" charset="0"/>
              </a:rPr>
              <a:t> </a:t>
            </a:r>
            <a:r>
              <a:rPr lang="en-US" sz="2800" dirty="0" smtClean="0">
                <a:cs typeface="Calibri" pitchFamily="34" charset="0"/>
              </a:rPr>
              <a:t> :</a:t>
            </a:r>
            <a:r>
              <a:rPr lang="fr-FR" sz="2800" dirty="0" smtClean="0">
                <a:latin typeface="Algerian" pitchFamily="82" charset="0"/>
                <a:cs typeface="Calibri" pitchFamily="34" charset="0"/>
              </a:rPr>
              <a:t> </a:t>
            </a:r>
            <a:r>
              <a:rPr lang="fr-FR" sz="2800" dirty="0" smtClean="0">
                <a:cs typeface="Calibri" pitchFamily="34" charset="0"/>
              </a:rPr>
              <a:t>Pr. Youssef </a:t>
            </a:r>
            <a:r>
              <a:rPr lang="fr-FR" sz="2800" dirty="0">
                <a:cs typeface="Calibri" pitchFamily="34" charset="0"/>
              </a:rPr>
              <a:t>NOUR-EL AINE: Faculté des Sciences et Techniques de Settat </a:t>
            </a:r>
          </a:p>
          <a:p>
            <a:r>
              <a:rPr lang="fr-FR" sz="2800" dirty="0">
                <a:latin typeface="Algerian" pitchFamily="82" charset="0"/>
                <a:cs typeface="Calibri" pitchFamily="34" charset="0"/>
              </a:rPr>
              <a:t>Encadrant</a:t>
            </a:r>
            <a:r>
              <a:rPr lang="en-US" sz="2800" dirty="0">
                <a:cs typeface="Calibri" pitchFamily="34" charset="0"/>
              </a:rPr>
              <a:t>  :</a:t>
            </a:r>
            <a:r>
              <a:rPr lang="fr-FR" sz="2800" dirty="0">
                <a:latin typeface="Algerian" pitchFamily="82" charset="0"/>
                <a:cs typeface="Calibri" pitchFamily="34" charset="0"/>
              </a:rPr>
              <a:t> </a:t>
            </a:r>
            <a:r>
              <a:rPr lang="en-US" sz="2800" dirty="0" smtClean="0">
                <a:cs typeface="Calibri" pitchFamily="34" charset="0"/>
              </a:rPr>
              <a:t>M</a:t>
            </a:r>
            <a:r>
              <a:rPr lang="en-US" sz="2800" dirty="0">
                <a:cs typeface="Calibri" pitchFamily="34" charset="0"/>
              </a:rPr>
              <a:t>. </a:t>
            </a:r>
            <a:r>
              <a:rPr lang="en-US" sz="2800" dirty="0" err="1">
                <a:cs typeface="Calibri" pitchFamily="34" charset="0"/>
              </a:rPr>
              <a:t>Abdellah</a:t>
            </a:r>
            <a:r>
              <a:rPr lang="en-US" sz="2800" dirty="0">
                <a:cs typeface="Calibri" pitchFamily="34" charset="0"/>
              </a:rPr>
              <a:t> </a:t>
            </a:r>
            <a:r>
              <a:rPr lang="en-US" sz="2800" dirty="0" err="1">
                <a:cs typeface="Calibri" pitchFamily="34" charset="0"/>
              </a:rPr>
              <a:t>Boujida</a:t>
            </a:r>
            <a:r>
              <a:rPr lang="en-US" sz="2800" dirty="0">
                <a:cs typeface="Calibri" pitchFamily="34" charset="0"/>
              </a:rPr>
              <a:t> : </a:t>
            </a:r>
            <a:r>
              <a:rPr lang="en-US" sz="2800" dirty="0" err="1">
                <a:cs typeface="Calibri" pitchFamily="34" charset="0"/>
              </a:rPr>
              <a:t>Tanger</a:t>
            </a:r>
            <a:r>
              <a:rPr lang="en-US" sz="2800" dirty="0">
                <a:cs typeface="Calibri" pitchFamily="34" charset="0"/>
              </a:rPr>
              <a:t> Med Port Authority</a:t>
            </a:r>
            <a:endParaRPr lang="fr-FR" sz="2800" dirty="0">
              <a:cs typeface="Calibri" pitchFamily="34" charset="0"/>
            </a:endParaRPr>
          </a:p>
          <a:p>
            <a:r>
              <a:rPr lang="en-US" sz="2800" dirty="0" smtClean="0">
                <a:cs typeface="Calibri" pitchFamily="34" charset="0"/>
              </a:rPr>
              <a:t>                             M</a:t>
            </a:r>
            <a:r>
              <a:rPr lang="en-US" sz="2800" dirty="0">
                <a:cs typeface="Calibri" pitchFamily="34" charset="0"/>
              </a:rPr>
              <a:t>. </a:t>
            </a:r>
            <a:r>
              <a:rPr lang="en-US" sz="2800" dirty="0" err="1">
                <a:cs typeface="Calibri" pitchFamily="34" charset="0"/>
              </a:rPr>
              <a:t>Yassine</a:t>
            </a:r>
            <a:r>
              <a:rPr lang="en-US" sz="2800" dirty="0">
                <a:cs typeface="Calibri" pitchFamily="34" charset="0"/>
              </a:rPr>
              <a:t> DRIOUCH : </a:t>
            </a:r>
            <a:r>
              <a:rPr lang="en-US" sz="2800" dirty="0" err="1">
                <a:cs typeface="Calibri" pitchFamily="34" charset="0"/>
              </a:rPr>
              <a:t>Tanger</a:t>
            </a:r>
            <a:r>
              <a:rPr lang="en-US" sz="2800" dirty="0">
                <a:cs typeface="Calibri" pitchFamily="34" charset="0"/>
              </a:rPr>
              <a:t> Med Port </a:t>
            </a:r>
            <a:r>
              <a:rPr lang="en-US" sz="2800" dirty="0" smtClean="0">
                <a:cs typeface="Calibri" pitchFamily="34" charset="0"/>
              </a:rPr>
              <a:t>Authority</a:t>
            </a:r>
            <a:endParaRPr lang="fr-FR" sz="2800" dirty="0">
              <a:cs typeface="Calibri" pitchFamily="34" charset="0"/>
            </a:endParaRPr>
          </a:p>
        </p:txBody>
      </p:sp>
      <p:sp>
        <p:nvSpPr>
          <p:cNvPr id="16" name="ZoneTexte 8">
            <a:extLst>
              <a:ext uri="{FF2B5EF4-FFF2-40B4-BE49-F238E27FC236}">
                <a16:creationId xmlns:a16="http://schemas.microsoft.com/office/drawing/2014/main" id="{5A5EA113-CC41-43D3-BB4B-F7464AD6C531}"/>
              </a:ext>
            </a:extLst>
          </p:cNvPr>
          <p:cNvSpPr txBox="1"/>
          <p:nvPr/>
        </p:nvSpPr>
        <p:spPr>
          <a:xfrm>
            <a:off x="1676400" y="5003557"/>
            <a:ext cx="13857138" cy="2089546"/>
          </a:xfrm>
          <a:prstGeom prst="rect">
            <a:avLst/>
          </a:prstGeom>
          <a:noFill/>
        </p:spPr>
        <p:txBody>
          <a:bodyPr wrap="square" rtlCol="0">
            <a:spAutoFit/>
          </a:bodyPr>
          <a:lstStyle/>
          <a:p>
            <a:pPr algn="ctr">
              <a:lnSpc>
                <a:spcPct val="150000"/>
              </a:lnSpc>
            </a:pPr>
            <a:r>
              <a:rPr lang="fr-FR" sz="3000" u="sng" dirty="0">
                <a:solidFill>
                  <a:schemeClr val="accent1">
                    <a:lumMod val="75000"/>
                  </a:schemeClr>
                </a:solidFill>
                <a:latin typeface="Algerian" pitchFamily="82" charset="0"/>
                <a:cs typeface="Calibri" pitchFamily="34" charset="0"/>
              </a:rPr>
              <a:t>SOUTENUE ET PRESENTEE PUBLIQUEMENT </a:t>
            </a:r>
          </a:p>
          <a:p>
            <a:pPr algn="ctr">
              <a:lnSpc>
                <a:spcPct val="150000"/>
              </a:lnSpc>
            </a:pPr>
            <a:r>
              <a:rPr lang="fr-FR" sz="3000" u="sng" dirty="0" smtClean="0">
                <a:solidFill>
                  <a:schemeClr val="accent1">
                    <a:lumMod val="75000"/>
                  </a:schemeClr>
                </a:solidFill>
                <a:latin typeface="Algerian" pitchFamily="82" charset="0"/>
                <a:cs typeface="Calibri" pitchFamily="34" charset="0"/>
              </a:rPr>
              <a:t>LE </a:t>
            </a:r>
            <a:r>
              <a:rPr lang="fr-FR" sz="3000" u="sng" dirty="0" smtClean="0">
                <a:latin typeface="Algerian" pitchFamily="82" charset="0"/>
                <a:cs typeface="Calibri" pitchFamily="34" charset="0"/>
              </a:rPr>
              <a:t>15/06/2026</a:t>
            </a:r>
            <a:r>
              <a:rPr lang="fr-MA" sz="3000" u="sng" dirty="0" smtClean="0">
                <a:solidFill>
                  <a:schemeClr val="accent1">
                    <a:lumMod val="75000"/>
                  </a:schemeClr>
                </a:solidFill>
                <a:latin typeface="Algerian" pitchFamily="82" charset="0"/>
                <a:cs typeface="Calibri" pitchFamily="34" charset="0"/>
              </a:rPr>
              <a:t>                                 </a:t>
            </a:r>
          </a:p>
          <a:p>
            <a:pPr algn="ctr">
              <a:lnSpc>
                <a:spcPct val="150000"/>
              </a:lnSpc>
            </a:pPr>
            <a:r>
              <a:rPr lang="fr-MA" sz="3000" u="sng" dirty="0" smtClean="0">
                <a:solidFill>
                  <a:schemeClr val="accent1">
                    <a:lumMod val="75000"/>
                  </a:schemeClr>
                </a:solidFill>
                <a:latin typeface="Algerian" pitchFamily="82" charset="0"/>
                <a:cs typeface="Calibri" pitchFamily="34" charset="0"/>
              </a:rPr>
              <a:t>Par</a:t>
            </a:r>
            <a:r>
              <a:rPr lang="fr-MA" sz="3000" u="sng" dirty="0">
                <a:solidFill>
                  <a:schemeClr val="accent1">
                    <a:lumMod val="75000"/>
                  </a:schemeClr>
                </a:solidFill>
                <a:latin typeface="Algerian" pitchFamily="82" charset="0"/>
                <a:cs typeface="Calibri" pitchFamily="34" charset="0"/>
              </a:rPr>
              <a:t>:</a:t>
            </a:r>
            <a:r>
              <a:rPr lang="fr-MA" sz="3000" dirty="0">
                <a:solidFill>
                  <a:srgbClr val="00518E"/>
                </a:solidFill>
                <a:latin typeface="Algerian" pitchFamily="82" charset="0"/>
                <a:cs typeface="Calibri" pitchFamily="34" charset="0"/>
              </a:rPr>
              <a:t> </a:t>
            </a:r>
            <a:r>
              <a:rPr lang="fr-MA" sz="3000" dirty="0" err="1" smtClean="0">
                <a:latin typeface="Algerian" pitchFamily="82" charset="0"/>
                <a:cs typeface="Calibri" pitchFamily="34" charset="0"/>
              </a:rPr>
              <a:t>benmoussa</a:t>
            </a:r>
            <a:r>
              <a:rPr lang="fr-MA" sz="3000" dirty="0" smtClean="0">
                <a:latin typeface="Algerian" pitchFamily="82" charset="0"/>
                <a:cs typeface="Calibri" pitchFamily="34" charset="0"/>
              </a:rPr>
              <a:t> </a:t>
            </a:r>
            <a:r>
              <a:rPr lang="fr-MA" sz="3000" dirty="0" err="1" smtClean="0">
                <a:latin typeface="Algerian" pitchFamily="82" charset="0"/>
                <a:cs typeface="Calibri" pitchFamily="34" charset="0"/>
              </a:rPr>
              <a:t>ayoub</a:t>
            </a:r>
            <a:endParaRPr lang="fr-MA" sz="3000" dirty="0">
              <a:latin typeface="Algerian" pitchFamily="82" charset="0"/>
              <a:cs typeface="Calibri" pitchFamily="34" charset="0"/>
            </a:endParaRPr>
          </a:p>
        </p:txBody>
      </p:sp>
      <p:sp>
        <p:nvSpPr>
          <p:cNvPr id="17" name="ZoneTexte 17">
            <a:extLst>
              <a:ext uri="{FF2B5EF4-FFF2-40B4-BE49-F238E27FC236}">
                <a16:creationId xmlns:a16="http://schemas.microsoft.com/office/drawing/2014/main" id="{52B516E5-D3D6-452B-A1D8-EB328AB3F14B}"/>
              </a:ext>
            </a:extLst>
          </p:cNvPr>
          <p:cNvSpPr txBox="1"/>
          <p:nvPr/>
        </p:nvSpPr>
        <p:spPr>
          <a:xfrm>
            <a:off x="457200" y="7112909"/>
            <a:ext cx="9525000" cy="704552"/>
          </a:xfrm>
          <a:prstGeom prst="rect">
            <a:avLst/>
          </a:prstGeom>
          <a:noFill/>
        </p:spPr>
        <p:txBody>
          <a:bodyPr wrap="square" rtlCol="0">
            <a:spAutoFit/>
          </a:bodyPr>
          <a:lstStyle/>
          <a:p>
            <a:pPr>
              <a:lnSpc>
                <a:spcPct val="150000"/>
              </a:lnSpc>
            </a:pPr>
            <a:r>
              <a:rPr lang="fr-FR" sz="3000" u="sng" dirty="0" smtClean="0">
                <a:solidFill>
                  <a:schemeClr val="accent1">
                    <a:lumMod val="75000"/>
                  </a:schemeClr>
                </a:solidFill>
                <a:latin typeface="Algerian" pitchFamily="82" charset="0"/>
                <a:cs typeface="Calibri" pitchFamily="34" charset="0"/>
              </a:rPr>
              <a:t>Jury </a:t>
            </a:r>
            <a:r>
              <a:rPr lang="fr-FR" sz="3000" u="sng" dirty="0">
                <a:solidFill>
                  <a:schemeClr val="accent1">
                    <a:lumMod val="75000"/>
                  </a:schemeClr>
                </a:solidFill>
                <a:latin typeface="Algerian" pitchFamily="82" charset="0"/>
                <a:cs typeface="Calibri" pitchFamily="34" charset="0"/>
              </a:rPr>
              <a:t>: </a:t>
            </a:r>
          </a:p>
        </p:txBody>
      </p:sp>
      <p:pic>
        <p:nvPicPr>
          <p:cNvPr id="18" name="Picture 101"/>
          <p:cNvPicPr/>
          <p:nvPr/>
        </p:nvPicPr>
        <p:blipFill>
          <a:blip r:embed="rId4">
            <a:extLst>
              <a:ext uri="{28A0092B-C50C-407E-A947-70E740481C1C}">
                <a14:useLocalDpi xmlns:a14="http://schemas.microsoft.com/office/drawing/2010/main" val="0"/>
              </a:ext>
            </a:extLst>
          </a:blip>
          <a:srcRect/>
          <a:stretch>
            <a:fillRect/>
          </a:stretch>
        </p:blipFill>
        <p:spPr>
          <a:xfrm>
            <a:off x="457200" y="147207"/>
            <a:ext cx="1600200" cy="1186293"/>
          </a:xfrm>
          <a:prstGeom prst="rect">
            <a:avLst/>
          </a:prstGeom>
          <a:noFill/>
        </p:spPr>
      </p:pic>
      <p:pic>
        <p:nvPicPr>
          <p:cNvPr id="19" name="Image 1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097000" y="368651"/>
            <a:ext cx="3781604" cy="1267032"/>
          </a:xfrm>
          <a:prstGeom prst="rect">
            <a:avLst/>
          </a:prstGeom>
        </p:spPr>
      </p:pic>
      <p:sp>
        <p:nvSpPr>
          <p:cNvPr id="4" name="Espace réservé du numéro de diapositive 3"/>
          <p:cNvSpPr>
            <a:spLocks noGrp="1"/>
          </p:cNvSpPr>
          <p:nvPr>
            <p:ph type="sldNum" sz="quarter" idx="12"/>
          </p:nvPr>
        </p:nvSpPr>
        <p:spPr/>
        <p:txBody>
          <a:bodyPr/>
          <a:lstStyle/>
          <a:p>
            <a:fld id="{B6F15528-21DE-4FAA-801E-634DDDAF4B2B}" type="slidenum">
              <a:rPr lang="en-US" smtClean="0"/>
              <a:pPr/>
              <a:t>1</a:t>
            </a:fld>
            <a:endParaRPr lang="en-US"/>
          </a:p>
        </p:txBody>
      </p:sp>
      <p:sp>
        <p:nvSpPr>
          <p:cNvPr id="22" name="ZoneTexte 17">
            <a:extLst>
              <a:ext uri="{FF2B5EF4-FFF2-40B4-BE49-F238E27FC236}">
                <a16:creationId xmlns:a16="http://schemas.microsoft.com/office/drawing/2014/main" id="{52B516E5-D3D6-452B-A1D8-EB328AB3F14B}"/>
              </a:ext>
            </a:extLst>
          </p:cNvPr>
          <p:cNvSpPr txBox="1"/>
          <p:nvPr/>
        </p:nvSpPr>
        <p:spPr>
          <a:xfrm>
            <a:off x="8563015" y="7395286"/>
            <a:ext cx="9525000" cy="706091"/>
          </a:xfrm>
          <a:prstGeom prst="rect">
            <a:avLst/>
          </a:prstGeom>
          <a:noFill/>
        </p:spPr>
        <p:txBody>
          <a:bodyPr wrap="square" rtlCol="0">
            <a:spAutoFit/>
          </a:bodyPr>
          <a:lstStyle/>
          <a:p>
            <a:pPr>
              <a:lnSpc>
                <a:spcPct val="150000"/>
              </a:lnSpc>
            </a:pPr>
            <a:r>
              <a:rPr lang="fr-FR" sz="3000" u="sng" dirty="0">
                <a:solidFill>
                  <a:schemeClr val="accent1">
                    <a:lumMod val="75000"/>
                  </a:schemeClr>
                </a:solidFill>
                <a:latin typeface="Algerian" pitchFamily="82" charset="0"/>
                <a:cs typeface="Calibri" pitchFamily="34" charset="0"/>
              </a:rPr>
              <a:t>Sous</a:t>
            </a:r>
            <a:r>
              <a:rPr lang="fr-FR" sz="2800" b="1" dirty="0"/>
              <a:t> </a:t>
            </a:r>
            <a:r>
              <a:rPr lang="fr-FR" sz="3000" u="sng" dirty="0">
                <a:solidFill>
                  <a:schemeClr val="accent1">
                    <a:lumMod val="75000"/>
                  </a:schemeClr>
                </a:solidFill>
                <a:latin typeface="Algerian" pitchFamily="82" charset="0"/>
                <a:cs typeface="Calibri" pitchFamily="34" charset="0"/>
              </a:rPr>
              <a:t>l’encadrement</a:t>
            </a:r>
            <a:r>
              <a:rPr lang="fr-FR" sz="2800" b="1" dirty="0"/>
              <a:t> </a:t>
            </a:r>
            <a:r>
              <a:rPr lang="fr-FR" sz="3000" u="sng" dirty="0">
                <a:solidFill>
                  <a:schemeClr val="accent1">
                    <a:lumMod val="75000"/>
                  </a:schemeClr>
                </a:solidFill>
                <a:latin typeface="Algerian" pitchFamily="82" charset="0"/>
                <a:cs typeface="Calibri" pitchFamily="34" charset="0"/>
              </a:rPr>
              <a:t>de </a:t>
            </a:r>
            <a:r>
              <a:rPr lang="fr-FR" sz="3000" u="sng" dirty="0" smtClean="0">
                <a:solidFill>
                  <a:schemeClr val="accent1">
                    <a:lumMod val="75000"/>
                  </a:schemeClr>
                </a:solidFill>
                <a:latin typeface="Algerian" pitchFamily="82" charset="0"/>
                <a:cs typeface="Calibri" pitchFamily="34" charset="0"/>
              </a:rPr>
              <a:t>:</a:t>
            </a:r>
            <a:endParaRPr lang="fr-FR" sz="3000" u="sng" dirty="0">
              <a:solidFill>
                <a:schemeClr val="accent1">
                  <a:lumMod val="75000"/>
                </a:schemeClr>
              </a:solidFill>
              <a:latin typeface="Algerian" pitchFamily="82" charset="0"/>
              <a:cs typeface="Calibri" pitchFamily="34" charset="0"/>
            </a:endParaRPr>
          </a:p>
        </p:txBody>
      </p:sp>
      <p:sp>
        <p:nvSpPr>
          <p:cNvPr id="23" name="ZoneTexte 17">
            <a:extLst>
              <a:ext uri="{FF2B5EF4-FFF2-40B4-BE49-F238E27FC236}">
                <a16:creationId xmlns:a16="http://schemas.microsoft.com/office/drawing/2014/main" id="{52B516E5-D3D6-452B-A1D8-EB328AB3F14B}"/>
              </a:ext>
            </a:extLst>
          </p:cNvPr>
          <p:cNvSpPr txBox="1"/>
          <p:nvPr/>
        </p:nvSpPr>
        <p:spPr>
          <a:xfrm>
            <a:off x="444500" y="8280491"/>
            <a:ext cx="6946900" cy="1384995"/>
          </a:xfrm>
          <a:prstGeom prst="rect">
            <a:avLst/>
          </a:prstGeom>
          <a:noFill/>
        </p:spPr>
        <p:txBody>
          <a:bodyPr wrap="square" rtlCol="0">
            <a:spAutoFit/>
          </a:bodyPr>
          <a:lstStyle/>
          <a:p>
            <a:r>
              <a:rPr lang="fr-FR" sz="2800" dirty="0" smtClean="0">
                <a:latin typeface="Algerian" pitchFamily="82" charset="0"/>
                <a:cs typeface="Calibri" pitchFamily="34" charset="0"/>
              </a:rPr>
              <a:t>Examinateur</a:t>
            </a:r>
            <a:r>
              <a:rPr lang="fr-FR" sz="2800" dirty="0">
                <a:latin typeface="Algerian" pitchFamily="82" charset="0"/>
                <a:cs typeface="Calibri" pitchFamily="34" charset="0"/>
              </a:rPr>
              <a:t> </a:t>
            </a:r>
            <a:r>
              <a:rPr lang="en-US" sz="2800" dirty="0">
                <a:latin typeface="Algerian" pitchFamily="82" charset="0"/>
                <a:cs typeface="Calibri" pitchFamily="34" charset="0"/>
              </a:rPr>
              <a:t>: </a:t>
            </a:r>
            <a:r>
              <a:rPr lang="fr-FR" sz="2800" dirty="0" smtClean="0">
                <a:latin typeface="+mj-lt"/>
                <a:cs typeface="Calibri" pitchFamily="34" charset="0"/>
              </a:rPr>
              <a:t>Pr</a:t>
            </a:r>
            <a:r>
              <a:rPr lang="fr-FR" sz="2800" dirty="0">
                <a:latin typeface="+mj-lt"/>
                <a:cs typeface="Calibri" pitchFamily="34" charset="0"/>
              </a:rPr>
              <a:t>. HAJAMI </a:t>
            </a:r>
            <a:r>
              <a:rPr lang="fr-FR" sz="2800" dirty="0" err="1">
                <a:latin typeface="+mj-lt"/>
                <a:cs typeface="Calibri" pitchFamily="34" charset="0"/>
              </a:rPr>
              <a:t>Abdelmajid</a:t>
            </a:r>
            <a:r>
              <a:rPr lang="fr-FR" sz="2800" dirty="0">
                <a:latin typeface="+mj-lt"/>
                <a:cs typeface="Calibri" pitchFamily="34" charset="0"/>
              </a:rPr>
              <a:t> &amp;  </a:t>
            </a:r>
          </a:p>
          <a:p>
            <a:r>
              <a:rPr lang="fr-FR" sz="2800" dirty="0" smtClean="0">
                <a:latin typeface="+mj-lt"/>
                <a:cs typeface="Calibri" pitchFamily="34" charset="0"/>
              </a:rPr>
              <a:t>                                  Pr </a:t>
            </a:r>
            <a:r>
              <a:rPr lang="fr-FR" sz="2800" dirty="0">
                <a:latin typeface="+mj-lt"/>
                <a:cs typeface="Calibri" pitchFamily="34" charset="0"/>
              </a:rPr>
              <a:t>.MACHHOUR </a:t>
            </a:r>
            <a:r>
              <a:rPr lang="fr-FR" sz="2800" dirty="0" smtClean="0">
                <a:latin typeface="+mj-lt"/>
                <a:cs typeface="Calibri" pitchFamily="34" charset="0"/>
              </a:rPr>
              <a:t>Hamid</a:t>
            </a:r>
          </a:p>
          <a:p>
            <a:r>
              <a:rPr lang="fr-FR" sz="2800" dirty="0">
                <a:latin typeface="Algerian" pitchFamily="82" charset="0"/>
                <a:cs typeface="Calibri" pitchFamily="34" charset="0"/>
              </a:rPr>
              <a:t>Président	 </a:t>
            </a:r>
            <a:r>
              <a:rPr lang="en-US" sz="2800" dirty="0">
                <a:latin typeface="Algerian" pitchFamily="82" charset="0"/>
                <a:cs typeface="Calibri" pitchFamily="34" charset="0"/>
              </a:rPr>
              <a:t>: </a:t>
            </a:r>
            <a:r>
              <a:rPr lang="fr-FR" sz="2800" dirty="0" smtClean="0">
                <a:latin typeface="+mj-lt"/>
                <a:cs typeface="Calibri" pitchFamily="34" charset="0"/>
              </a:rPr>
              <a:t>Pr</a:t>
            </a:r>
            <a:r>
              <a:rPr lang="fr-FR" sz="2800" dirty="0">
                <a:latin typeface="+mj-lt"/>
                <a:cs typeface="Calibri" pitchFamily="34" charset="0"/>
              </a:rPr>
              <a:t>. </a:t>
            </a:r>
            <a:r>
              <a:rPr lang="fr-FR" sz="2800" dirty="0" smtClean="0">
                <a:latin typeface="+mj-lt"/>
                <a:cs typeface="Calibri" pitchFamily="34" charset="0"/>
              </a:rPr>
              <a:t>ANAJJAR </a:t>
            </a:r>
            <a:r>
              <a:rPr lang="fr-FR" sz="2800" dirty="0" err="1" smtClean="0">
                <a:latin typeface="+mj-lt"/>
                <a:cs typeface="Calibri" pitchFamily="34" charset="0"/>
              </a:rPr>
              <a:t>Abdehak</a:t>
            </a:r>
            <a:endParaRPr lang="fr-FR" sz="2800" dirty="0">
              <a:latin typeface="+mj-lt"/>
              <a:cs typeface="Calibri" pitchFamily="34"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8AE5A9E8-C04E-49E7-A448-355827A5AB0D}"/>
              </a:ext>
            </a:extLst>
          </p:cNvPr>
          <p:cNvSpPr/>
          <p:nvPr/>
        </p:nvSpPr>
        <p:spPr>
          <a:xfrm>
            <a:off x="-24929"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txBody>
          <a:bodyPr/>
          <a:lstStyle/>
          <a:p>
            <a:endParaRPr lang="fr-MA" dirty="0"/>
          </a:p>
        </p:txBody>
      </p:sp>
      <p:sp>
        <p:nvSpPr>
          <p:cNvPr id="31" name="Rectangle 30">
            <a:extLst>
              <a:ext uri="{FF2B5EF4-FFF2-40B4-BE49-F238E27FC236}">
                <a16:creationId xmlns:a16="http://schemas.microsoft.com/office/drawing/2014/main" id="{77ACD6F2-3862-46E8-88B1-661CD8F84FCD}"/>
              </a:ext>
            </a:extLst>
          </p:cNvPr>
          <p:cNvSpPr/>
          <p:nvPr/>
        </p:nvSpPr>
        <p:spPr>
          <a:xfrm>
            <a:off x="0" y="0"/>
            <a:ext cx="18288000" cy="10079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0" name="TextBox 39">
            <a:extLst>
              <a:ext uri="{FF2B5EF4-FFF2-40B4-BE49-F238E27FC236}">
                <a16:creationId xmlns:a16="http://schemas.microsoft.com/office/drawing/2014/main" id="{0B9869F9-3CAF-48E7-A52E-FF56CF4690F9}"/>
              </a:ext>
            </a:extLst>
          </p:cNvPr>
          <p:cNvSpPr txBox="1"/>
          <p:nvPr/>
        </p:nvSpPr>
        <p:spPr>
          <a:xfrm>
            <a:off x="4340599" y="483993"/>
            <a:ext cx="10823201" cy="1015663"/>
          </a:xfrm>
          <a:prstGeom prst="rect">
            <a:avLst/>
          </a:prstGeom>
          <a:noFill/>
        </p:spPr>
        <p:txBody>
          <a:bodyPr wrap="square" rtlCol="0">
            <a:spAutoFit/>
          </a:bodyPr>
          <a:lstStyle/>
          <a:p>
            <a:pPr algn="ctr"/>
            <a:r>
              <a:rPr lang="en-GB" sz="6000" b="1" dirty="0">
                <a:solidFill>
                  <a:srgbClr val="20409A"/>
                </a:solidFill>
                <a:latin typeface="Marine-Bold"/>
              </a:rPr>
              <a:t>PLAN DE LA PRÉSENTATION</a:t>
            </a:r>
            <a:endParaRPr lang="fr-FR" sz="6000" b="1" dirty="0">
              <a:solidFill>
                <a:srgbClr val="002060"/>
              </a:solidFill>
            </a:endParaRPr>
          </a:p>
        </p:txBody>
      </p:sp>
      <p:sp>
        <p:nvSpPr>
          <p:cNvPr id="32" name="Isosceles Triangle 31">
            <a:extLst>
              <a:ext uri="{FF2B5EF4-FFF2-40B4-BE49-F238E27FC236}">
                <a16:creationId xmlns:a16="http://schemas.microsoft.com/office/drawing/2014/main" id="{10D9E829-240F-4DED-9A95-AA305DDC4267}"/>
              </a:ext>
            </a:extLst>
          </p:cNvPr>
          <p:cNvSpPr/>
          <p:nvPr/>
        </p:nvSpPr>
        <p:spPr>
          <a:xfrm>
            <a:off x="-1957223" y="503990"/>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grpSp>
        <p:nvGrpSpPr>
          <p:cNvPr id="22" name="Group 2">
            <a:extLst>
              <a:ext uri="{FF2B5EF4-FFF2-40B4-BE49-F238E27FC236}">
                <a16:creationId xmlns:a16="http://schemas.microsoft.com/office/drawing/2014/main" id="{3FCA8EDC-3717-4B9A-B5D6-D1DAA1B02352}"/>
              </a:ext>
            </a:extLst>
          </p:cNvPr>
          <p:cNvGrpSpPr/>
          <p:nvPr/>
        </p:nvGrpSpPr>
        <p:grpSpPr>
          <a:xfrm>
            <a:off x="1802190" y="3017738"/>
            <a:ext cx="1238171" cy="1238171"/>
            <a:chOff x="0" y="0"/>
            <a:chExt cx="812800" cy="812800"/>
          </a:xfrm>
        </p:grpSpPr>
        <p:sp>
          <p:nvSpPr>
            <p:cNvPr id="23" name="Freeform 3">
              <a:extLst>
                <a:ext uri="{FF2B5EF4-FFF2-40B4-BE49-F238E27FC236}">
                  <a16:creationId xmlns:a16="http://schemas.microsoft.com/office/drawing/2014/main" id="{E370C1D1-DC2F-4D12-A716-B3B1BED2B98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D5E"/>
            </a:solidFill>
          </p:spPr>
        </p:sp>
        <p:sp>
          <p:nvSpPr>
            <p:cNvPr id="24" name="TextBox 4">
              <a:extLst>
                <a:ext uri="{FF2B5EF4-FFF2-40B4-BE49-F238E27FC236}">
                  <a16:creationId xmlns:a16="http://schemas.microsoft.com/office/drawing/2014/main" id="{67F2EF6D-A7DB-4F4F-88D4-38861C52BBF2}"/>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700" b="1" dirty="0">
                  <a:solidFill>
                    <a:srgbClr val="F6F6F6"/>
                  </a:solidFill>
                  <a:latin typeface="TT Fors Bold"/>
                  <a:ea typeface="TT Fors Bold"/>
                  <a:cs typeface="TT Fors Bold"/>
                  <a:sym typeface="TT Fors Bold"/>
                </a:rPr>
                <a:t>01</a:t>
              </a:r>
            </a:p>
          </p:txBody>
        </p:sp>
      </p:grpSp>
      <p:grpSp>
        <p:nvGrpSpPr>
          <p:cNvPr id="25" name="Group 5">
            <a:extLst>
              <a:ext uri="{FF2B5EF4-FFF2-40B4-BE49-F238E27FC236}">
                <a16:creationId xmlns:a16="http://schemas.microsoft.com/office/drawing/2014/main" id="{4CF852BF-F21B-4B86-98D7-AC61CE100464}"/>
              </a:ext>
            </a:extLst>
          </p:cNvPr>
          <p:cNvGrpSpPr/>
          <p:nvPr/>
        </p:nvGrpSpPr>
        <p:grpSpPr>
          <a:xfrm>
            <a:off x="9429750" y="3017738"/>
            <a:ext cx="1238171" cy="1238171"/>
            <a:chOff x="0" y="0"/>
            <a:chExt cx="812800" cy="812800"/>
          </a:xfrm>
        </p:grpSpPr>
        <p:sp>
          <p:nvSpPr>
            <p:cNvPr id="26" name="Freeform 6">
              <a:extLst>
                <a:ext uri="{FF2B5EF4-FFF2-40B4-BE49-F238E27FC236}">
                  <a16:creationId xmlns:a16="http://schemas.microsoft.com/office/drawing/2014/main" id="{8378AB9E-38BB-4675-ACA9-0FD0548D2C2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D5E"/>
            </a:solidFill>
          </p:spPr>
        </p:sp>
        <p:sp>
          <p:nvSpPr>
            <p:cNvPr id="28" name="TextBox 7">
              <a:extLst>
                <a:ext uri="{FF2B5EF4-FFF2-40B4-BE49-F238E27FC236}">
                  <a16:creationId xmlns:a16="http://schemas.microsoft.com/office/drawing/2014/main" id="{77D06DC0-00EA-488A-B4C7-7137900AF4A7}"/>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700" b="1" u="none" strike="noStrike">
                  <a:solidFill>
                    <a:srgbClr val="F6F6F6"/>
                  </a:solidFill>
                  <a:latin typeface="TT Fors Bold"/>
                  <a:ea typeface="TT Fors Bold"/>
                  <a:cs typeface="TT Fors Bold"/>
                  <a:sym typeface="TT Fors Bold"/>
                </a:rPr>
                <a:t>04</a:t>
              </a:r>
            </a:p>
          </p:txBody>
        </p:sp>
      </p:grpSp>
      <p:grpSp>
        <p:nvGrpSpPr>
          <p:cNvPr id="34" name="Group 8">
            <a:extLst>
              <a:ext uri="{FF2B5EF4-FFF2-40B4-BE49-F238E27FC236}">
                <a16:creationId xmlns:a16="http://schemas.microsoft.com/office/drawing/2014/main" id="{EE68DC22-5AD9-406F-A7A4-DFC3C9723E89}"/>
              </a:ext>
            </a:extLst>
          </p:cNvPr>
          <p:cNvGrpSpPr/>
          <p:nvPr/>
        </p:nvGrpSpPr>
        <p:grpSpPr>
          <a:xfrm>
            <a:off x="1802190" y="5230400"/>
            <a:ext cx="1238171" cy="1238171"/>
            <a:chOff x="0" y="0"/>
            <a:chExt cx="812800" cy="812800"/>
          </a:xfrm>
        </p:grpSpPr>
        <p:sp>
          <p:nvSpPr>
            <p:cNvPr id="35" name="Freeform 9">
              <a:extLst>
                <a:ext uri="{FF2B5EF4-FFF2-40B4-BE49-F238E27FC236}">
                  <a16:creationId xmlns:a16="http://schemas.microsoft.com/office/drawing/2014/main" id="{79CCD8AB-4CD7-471D-A5EA-C91870A9D77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4577"/>
            </a:solidFill>
          </p:spPr>
        </p:sp>
        <p:sp>
          <p:nvSpPr>
            <p:cNvPr id="36" name="TextBox 10">
              <a:extLst>
                <a:ext uri="{FF2B5EF4-FFF2-40B4-BE49-F238E27FC236}">
                  <a16:creationId xmlns:a16="http://schemas.microsoft.com/office/drawing/2014/main" id="{6A245E18-5C2F-498D-8096-65C9550A5E24}"/>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700" b="1">
                  <a:solidFill>
                    <a:srgbClr val="F6F6F6"/>
                  </a:solidFill>
                  <a:latin typeface="TT Fors Bold"/>
                  <a:ea typeface="TT Fors Bold"/>
                  <a:cs typeface="TT Fors Bold"/>
                  <a:sym typeface="TT Fors Bold"/>
                </a:rPr>
                <a:t>02</a:t>
              </a:r>
            </a:p>
          </p:txBody>
        </p:sp>
      </p:grpSp>
      <p:grpSp>
        <p:nvGrpSpPr>
          <p:cNvPr id="37" name="Group 11">
            <a:extLst>
              <a:ext uri="{FF2B5EF4-FFF2-40B4-BE49-F238E27FC236}">
                <a16:creationId xmlns:a16="http://schemas.microsoft.com/office/drawing/2014/main" id="{69756BF0-C736-48B9-A151-71471A72F362}"/>
              </a:ext>
            </a:extLst>
          </p:cNvPr>
          <p:cNvGrpSpPr/>
          <p:nvPr/>
        </p:nvGrpSpPr>
        <p:grpSpPr>
          <a:xfrm>
            <a:off x="9429750" y="5230400"/>
            <a:ext cx="1238171" cy="1238171"/>
            <a:chOff x="0" y="0"/>
            <a:chExt cx="812800" cy="812800"/>
          </a:xfrm>
        </p:grpSpPr>
        <p:sp>
          <p:nvSpPr>
            <p:cNvPr id="38" name="Freeform 12">
              <a:extLst>
                <a:ext uri="{FF2B5EF4-FFF2-40B4-BE49-F238E27FC236}">
                  <a16:creationId xmlns:a16="http://schemas.microsoft.com/office/drawing/2014/main" id="{1E3D64FE-08B5-4EEC-BA52-545ABE9E72C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4577"/>
            </a:solidFill>
          </p:spPr>
        </p:sp>
        <p:sp>
          <p:nvSpPr>
            <p:cNvPr id="39" name="TextBox 13">
              <a:extLst>
                <a:ext uri="{FF2B5EF4-FFF2-40B4-BE49-F238E27FC236}">
                  <a16:creationId xmlns:a16="http://schemas.microsoft.com/office/drawing/2014/main" id="{17E3335B-DAF7-463D-B7C5-9743D224C0AC}"/>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700" b="1" u="none" strike="noStrike" dirty="0">
                  <a:solidFill>
                    <a:srgbClr val="F6F6F6"/>
                  </a:solidFill>
                  <a:latin typeface="TT Fors Bold"/>
                  <a:ea typeface="TT Fors Bold"/>
                  <a:cs typeface="TT Fors Bold"/>
                  <a:sym typeface="TT Fors Bold"/>
                </a:rPr>
                <a:t>05</a:t>
              </a:r>
            </a:p>
          </p:txBody>
        </p:sp>
      </p:grpSp>
      <p:grpSp>
        <p:nvGrpSpPr>
          <p:cNvPr id="41" name="Group 14">
            <a:extLst>
              <a:ext uri="{FF2B5EF4-FFF2-40B4-BE49-F238E27FC236}">
                <a16:creationId xmlns:a16="http://schemas.microsoft.com/office/drawing/2014/main" id="{BBE435A9-24D1-40B6-BD9A-8028F91DF6F5}"/>
              </a:ext>
            </a:extLst>
          </p:cNvPr>
          <p:cNvGrpSpPr/>
          <p:nvPr/>
        </p:nvGrpSpPr>
        <p:grpSpPr>
          <a:xfrm>
            <a:off x="1818779" y="7448086"/>
            <a:ext cx="1238171" cy="1238171"/>
            <a:chOff x="0" y="0"/>
            <a:chExt cx="812800" cy="812800"/>
          </a:xfrm>
        </p:grpSpPr>
        <p:sp>
          <p:nvSpPr>
            <p:cNvPr id="42" name="Freeform 15">
              <a:extLst>
                <a:ext uri="{FF2B5EF4-FFF2-40B4-BE49-F238E27FC236}">
                  <a16:creationId xmlns:a16="http://schemas.microsoft.com/office/drawing/2014/main" id="{87352676-0F6C-48A3-BDB8-93BE8281D01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D80A4"/>
            </a:solidFill>
          </p:spPr>
        </p:sp>
        <p:sp>
          <p:nvSpPr>
            <p:cNvPr id="43" name="TextBox 16">
              <a:extLst>
                <a:ext uri="{FF2B5EF4-FFF2-40B4-BE49-F238E27FC236}">
                  <a16:creationId xmlns:a16="http://schemas.microsoft.com/office/drawing/2014/main" id="{F3FD9713-5308-44E1-8706-A6CA5C6CB453}"/>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700" b="1">
                  <a:solidFill>
                    <a:srgbClr val="F6F6F6"/>
                  </a:solidFill>
                  <a:latin typeface="TT Fors Bold"/>
                  <a:ea typeface="TT Fors Bold"/>
                  <a:cs typeface="TT Fors Bold"/>
                  <a:sym typeface="TT Fors Bold"/>
                </a:rPr>
                <a:t>03</a:t>
              </a:r>
            </a:p>
          </p:txBody>
        </p:sp>
      </p:grpSp>
      <p:sp>
        <p:nvSpPr>
          <p:cNvPr id="47" name="Freeform 20">
            <a:extLst>
              <a:ext uri="{FF2B5EF4-FFF2-40B4-BE49-F238E27FC236}">
                <a16:creationId xmlns:a16="http://schemas.microsoft.com/office/drawing/2014/main" id="{0B675178-9F1F-4FF6-9342-E6E17655E3BA}"/>
              </a:ext>
            </a:extLst>
          </p:cNvPr>
          <p:cNvSpPr/>
          <p:nvPr/>
        </p:nvSpPr>
        <p:spPr>
          <a:xfrm>
            <a:off x="4395869" y="3823252"/>
            <a:ext cx="4462381" cy="884363"/>
          </a:xfrm>
          <a:custGeom>
            <a:avLst/>
            <a:gdLst/>
            <a:ahLst/>
            <a:cxnLst/>
            <a:rect l="l" t="t" r="r" b="b"/>
            <a:pathLst>
              <a:path w="4462381" h="884363">
                <a:moveTo>
                  <a:pt x="0" y="0"/>
                </a:moveTo>
                <a:lnTo>
                  <a:pt x="4462381" y="0"/>
                </a:lnTo>
                <a:lnTo>
                  <a:pt x="4462381" y="884363"/>
                </a:lnTo>
                <a:lnTo>
                  <a:pt x="0" y="884363"/>
                </a:lnTo>
                <a:lnTo>
                  <a:pt x="0" y="0"/>
                </a:lnTo>
                <a:close/>
              </a:path>
            </a:pathLst>
          </a:custGeom>
          <a:blipFill>
            <a:blip r:embed="rId4">
              <a:alphaModFix amt="53000"/>
            </a:blip>
            <a:stretch>
              <a:fillRect/>
            </a:stretch>
          </a:blipFill>
        </p:spPr>
      </p:sp>
      <p:sp>
        <p:nvSpPr>
          <p:cNvPr id="48" name="Freeform 21">
            <a:extLst>
              <a:ext uri="{FF2B5EF4-FFF2-40B4-BE49-F238E27FC236}">
                <a16:creationId xmlns:a16="http://schemas.microsoft.com/office/drawing/2014/main" id="{25AEA78C-7E2D-4CDB-9E4B-B40C27D93920}"/>
              </a:ext>
            </a:extLst>
          </p:cNvPr>
          <p:cNvSpPr/>
          <p:nvPr/>
        </p:nvSpPr>
        <p:spPr>
          <a:xfrm>
            <a:off x="12023429" y="3823252"/>
            <a:ext cx="4462381" cy="884363"/>
          </a:xfrm>
          <a:custGeom>
            <a:avLst/>
            <a:gdLst/>
            <a:ahLst/>
            <a:cxnLst/>
            <a:rect l="l" t="t" r="r" b="b"/>
            <a:pathLst>
              <a:path w="4462381" h="884363">
                <a:moveTo>
                  <a:pt x="0" y="0"/>
                </a:moveTo>
                <a:lnTo>
                  <a:pt x="4462381" y="0"/>
                </a:lnTo>
                <a:lnTo>
                  <a:pt x="4462381" y="884363"/>
                </a:lnTo>
                <a:lnTo>
                  <a:pt x="0" y="884363"/>
                </a:lnTo>
                <a:lnTo>
                  <a:pt x="0" y="0"/>
                </a:lnTo>
                <a:close/>
              </a:path>
            </a:pathLst>
          </a:custGeom>
          <a:blipFill>
            <a:blip r:embed="rId4">
              <a:alphaModFix amt="53000"/>
            </a:blip>
            <a:stretch>
              <a:fillRect/>
            </a:stretch>
          </a:blipFill>
        </p:spPr>
      </p:sp>
      <p:sp>
        <p:nvSpPr>
          <p:cNvPr id="49" name="Freeform 22">
            <a:extLst>
              <a:ext uri="{FF2B5EF4-FFF2-40B4-BE49-F238E27FC236}">
                <a16:creationId xmlns:a16="http://schemas.microsoft.com/office/drawing/2014/main" id="{A4619681-13EE-4725-8FB9-A5CDAF5E92AD}"/>
              </a:ext>
            </a:extLst>
          </p:cNvPr>
          <p:cNvSpPr/>
          <p:nvPr/>
        </p:nvSpPr>
        <p:spPr>
          <a:xfrm>
            <a:off x="4395869" y="6040938"/>
            <a:ext cx="4462381" cy="884363"/>
          </a:xfrm>
          <a:custGeom>
            <a:avLst/>
            <a:gdLst/>
            <a:ahLst/>
            <a:cxnLst/>
            <a:rect l="l" t="t" r="r" b="b"/>
            <a:pathLst>
              <a:path w="4462381" h="884363">
                <a:moveTo>
                  <a:pt x="0" y="0"/>
                </a:moveTo>
                <a:lnTo>
                  <a:pt x="4462381" y="0"/>
                </a:lnTo>
                <a:lnTo>
                  <a:pt x="4462381" y="884363"/>
                </a:lnTo>
                <a:lnTo>
                  <a:pt x="0" y="884363"/>
                </a:lnTo>
                <a:lnTo>
                  <a:pt x="0" y="0"/>
                </a:lnTo>
                <a:close/>
              </a:path>
            </a:pathLst>
          </a:custGeom>
          <a:blipFill>
            <a:blip r:embed="rId4">
              <a:alphaModFix amt="53000"/>
            </a:blip>
            <a:stretch>
              <a:fillRect/>
            </a:stretch>
          </a:blipFill>
        </p:spPr>
      </p:sp>
      <p:sp>
        <p:nvSpPr>
          <p:cNvPr id="50" name="Freeform 23">
            <a:extLst>
              <a:ext uri="{FF2B5EF4-FFF2-40B4-BE49-F238E27FC236}">
                <a16:creationId xmlns:a16="http://schemas.microsoft.com/office/drawing/2014/main" id="{591D53E9-E5B8-49A8-817E-BE171EE53053}"/>
              </a:ext>
            </a:extLst>
          </p:cNvPr>
          <p:cNvSpPr/>
          <p:nvPr/>
        </p:nvSpPr>
        <p:spPr>
          <a:xfrm>
            <a:off x="12023429" y="6040938"/>
            <a:ext cx="4462381" cy="884363"/>
          </a:xfrm>
          <a:custGeom>
            <a:avLst/>
            <a:gdLst/>
            <a:ahLst/>
            <a:cxnLst/>
            <a:rect l="l" t="t" r="r" b="b"/>
            <a:pathLst>
              <a:path w="4462381" h="884363">
                <a:moveTo>
                  <a:pt x="0" y="0"/>
                </a:moveTo>
                <a:lnTo>
                  <a:pt x="4462381" y="0"/>
                </a:lnTo>
                <a:lnTo>
                  <a:pt x="4462381" y="884363"/>
                </a:lnTo>
                <a:lnTo>
                  <a:pt x="0" y="884363"/>
                </a:lnTo>
                <a:lnTo>
                  <a:pt x="0" y="0"/>
                </a:lnTo>
                <a:close/>
              </a:path>
            </a:pathLst>
          </a:custGeom>
          <a:blipFill>
            <a:blip r:embed="rId4">
              <a:alphaModFix amt="53000"/>
            </a:blip>
            <a:stretch>
              <a:fillRect/>
            </a:stretch>
          </a:blipFill>
        </p:spPr>
      </p:sp>
      <p:grpSp>
        <p:nvGrpSpPr>
          <p:cNvPr id="51" name="Group 24">
            <a:extLst>
              <a:ext uri="{FF2B5EF4-FFF2-40B4-BE49-F238E27FC236}">
                <a16:creationId xmlns:a16="http://schemas.microsoft.com/office/drawing/2014/main" id="{C5D7361B-83CD-4C6D-AF61-8BAFF99D296D}"/>
              </a:ext>
            </a:extLst>
          </p:cNvPr>
          <p:cNvGrpSpPr/>
          <p:nvPr/>
        </p:nvGrpSpPr>
        <p:grpSpPr>
          <a:xfrm>
            <a:off x="4399015" y="2774549"/>
            <a:ext cx="4459235" cy="1714500"/>
            <a:chOff x="0" y="0"/>
            <a:chExt cx="1174449" cy="451556"/>
          </a:xfrm>
        </p:grpSpPr>
        <p:sp>
          <p:nvSpPr>
            <p:cNvPr id="52" name="Freeform 25">
              <a:extLst>
                <a:ext uri="{FF2B5EF4-FFF2-40B4-BE49-F238E27FC236}">
                  <a16:creationId xmlns:a16="http://schemas.microsoft.com/office/drawing/2014/main" id="{09909172-29FA-4F72-80A1-F7AD9B58B7F2}"/>
                </a:ext>
              </a:extLst>
            </p:cNvPr>
            <p:cNvSpPr/>
            <p:nvPr/>
          </p:nvSpPr>
          <p:spPr>
            <a:xfrm>
              <a:off x="0" y="0"/>
              <a:ext cx="1174449" cy="451556"/>
            </a:xfrm>
            <a:custGeom>
              <a:avLst/>
              <a:gdLst/>
              <a:ahLst/>
              <a:cxnLst/>
              <a:rect l="l" t="t" r="r" b="b"/>
              <a:pathLst>
                <a:path w="1174449" h="451556">
                  <a:moveTo>
                    <a:pt x="34723" y="0"/>
                  </a:moveTo>
                  <a:lnTo>
                    <a:pt x="1139726" y="0"/>
                  </a:lnTo>
                  <a:cubicBezTo>
                    <a:pt x="1158903" y="0"/>
                    <a:pt x="1174449" y="15546"/>
                    <a:pt x="1174449" y="34723"/>
                  </a:cubicBezTo>
                  <a:lnTo>
                    <a:pt x="1174449" y="416833"/>
                  </a:lnTo>
                  <a:cubicBezTo>
                    <a:pt x="1174449" y="426042"/>
                    <a:pt x="1170791" y="434874"/>
                    <a:pt x="1164279" y="441385"/>
                  </a:cubicBezTo>
                  <a:cubicBezTo>
                    <a:pt x="1157767" y="447897"/>
                    <a:pt x="1148935" y="451556"/>
                    <a:pt x="1139726" y="451556"/>
                  </a:cubicBezTo>
                  <a:lnTo>
                    <a:pt x="34723" y="451556"/>
                  </a:lnTo>
                  <a:cubicBezTo>
                    <a:pt x="25514" y="451556"/>
                    <a:pt x="16682" y="447897"/>
                    <a:pt x="10170" y="441385"/>
                  </a:cubicBezTo>
                  <a:cubicBezTo>
                    <a:pt x="3658" y="434874"/>
                    <a:pt x="0" y="426042"/>
                    <a:pt x="0" y="416833"/>
                  </a:cubicBezTo>
                  <a:lnTo>
                    <a:pt x="0" y="34723"/>
                  </a:lnTo>
                  <a:cubicBezTo>
                    <a:pt x="0" y="25514"/>
                    <a:pt x="3658" y="16682"/>
                    <a:pt x="10170" y="10170"/>
                  </a:cubicBezTo>
                  <a:cubicBezTo>
                    <a:pt x="16682" y="3658"/>
                    <a:pt x="25514" y="0"/>
                    <a:pt x="34723" y="0"/>
                  </a:cubicBezTo>
                  <a:close/>
                </a:path>
              </a:pathLst>
            </a:custGeom>
            <a:solidFill>
              <a:srgbClr val="F6F6F6"/>
            </a:solidFill>
          </p:spPr>
        </p:sp>
        <p:sp>
          <p:nvSpPr>
            <p:cNvPr id="53" name="TextBox 26">
              <a:extLst>
                <a:ext uri="{FF2B5EF4-FFF2-40B4-BE49-F238E27FC236}">
                  <a16:creationId xmlns:a16="http://schemas.microsoft.com/office/drawing/2014/main" id="{19BCC3CF-1AC4-4B34-9A48-288566156096}"/>
                </a:ext>
              </a:extLst>
            </p:cNvPr>
            <p:cNvSpPr txBox="1"/>
            <p:nvPr/>
          </p:nvSpPr>
          <p:spPr>
            <a:xfrm>
              <a:off x="0" y="-38100"/>
              <a:ext cx="1174449" cy="489656"/>
            </a:xfrm>
            <a:prstGeom prst="rect">
              <a:avLst/>
            </a:prstGeom>
          </p:spPr>
          <p:txBody>
            <a:bodyPr lIns="50800" tIns="50800" rIns="50800" bIns="50800" rtlCol="0" anchor="ctr"/>
            <a:lstStyle/>
            <a:p>
              <a:pPr algn="ctr">
                <a:lnSpc>
                  <a:spcPts val="2520"/>
                </a:lnSpc>
              </a:pPr>
              <a:endParaRPr/>
            </a:p>
          </p:txBody>
        </p:sp>
      </p:grpSp>
      <p:grpSp>
        <p:nvGrpSpPr>
          <p:cNvPr id="54" name="Group 27">
            <a:extLst>
              <a:ext uri="{FF2B5EF4-FFF2-40B4-BE49-F238E27FC236}">
                <a16:creationId xmlns:a16="http://schemas.microsoft.com/office/drawing/2014/main" id="{33B46741-D177-4A6E-9018-6A54C8C3F2CF}"/>
              </a:ext>
            </a:extLst>
          </p:cNvPr>
          <p:cNvGrpSpPr/>
          <p:nvPr/>
        </p:nvGrpSpPr>
        <p:grpSpPr>
          <a:xfrm>
            <a:off x="12026574" y="2774549"/>
            <a:ext cx="4459235" cy="1714500"/>
            <a:chOff x="0" y="0"/>
            <a:chExt cx="1174449" cy="451556"/>
          </a:xfrm>
        </p:grpSpPr>
        <p:sp>
          <p:nvSpPr>
            <p:cNvPr id="55" name="Freeform 28">
              <a:extLst>
                <a:ext uri="{FF2B5EF4-FFF2-40B4-BE49-F238E27FC236}">
                  <a16:creationId xmlns:a16="http://schemas.microsoft.com/office/drawing/2014/main" id="{830058D8-F634-47BA-A47A-E6726C2736D4}"/>
                </a:ext>
              </a:extLst>
            </p:cNvPr>
            <p:cNvSpPr/>
            <p:nvPr/>
          </p:nvSpPr>
          <p:spPr>
            <a:xfrm>
              <a:off x="0" y="0"/>
              <a:ext cx="1174449" cy="451556"/>
            </a:xfrm>
            <a:custGeom>
              <a:avLst/>
              <a:gdLst/>
              <a:ahLst/>
              <a:cxnLst/>
              <a:rect l="l" t="t" r="r" b="b"/>
              <a:pathLst>
                <a:path w="1174449" h="451556">
                  <a:moveTo>
                    <a:pt x="34723" y="0"/>
                  </a:moveTo>
                  <a:lnTo>
                    <a:pt x="1139726" y="0"/>
                  </a:lnTo>
                  <a:cubicBezTo>
                    <a:pt x="1158903" y="0"/>
                    <a:pt x="1174449" y="15546"/>
                    <a:pt x="1174449" y="34723"/>
                  </a:cubicBezTo>
                  <a:lnTo>
                    <a:pt x="1174449" y="416833"/>
                  </a:lnTo>
                  <a:cubicBezTo>
                    <a:pt x="1174449" y="426042"/>
                    <a:pt x="1170791" y="434874"/>
                    <a:pt x="1164279" y="441385"/>
                  </a:cubicBezTo>
                  <a:cubicBezTo>
                    <a:pt x="1157767" y="447897"/>
                    <a:pt x="1148935" y="451556"/>
                    <a:pt x="1139726" y="451556"/>
                  </a:cubicBezTo>
                  <a:lnTo>
                    <a:pt x="34723" y="451556"/>
                  </a:lnTo>
                  <a:cubicBezTo>
                    <a:pt x="25514" y="451556"/>
                    <a:pt x="16682" y="447897"/>
                    <a:pt x="10170" y="441385"/>
                  </a:cubicBezTo>
                  <a:cubicBezTo>
                    <a:pt x="3658" y="434874"/>
                    <a:pt x="0" y="426042"/>
                    <a:pt x="0" y="416833"/>
                  </a:cubicBezTo>
                  <a:lnTo>
                    <a:pt x="0" y="34723"/>
                  </a:lnTo>
                  <a:cubicBezTo>
                    <a:pt x="0" y="25514"/>
                    <a:pt x="3658" y="16682"/>
                    <a:pt x="10170" y="10170"/>
                  </a:cubicBezTo>
                  <a:cubicBezTo>
                    <a:pt x="16682" y="3658"/>
                    <a:pt x="25514" y="0"/>
                    <a:pt x="34723" y="0"/>
                  </a:cubicBezTo>
                  <a:close/>
                </a:path>
              </a:pathLst>
            </a:custGeom>
            <a:solidFill>
              <a:srgbClr val="F6F6F6"/>
            </a:solidFill>
          </p:spPr>
        </p:sp>
        <p:sp>
          <p:nvSpPr>
            <p:cNvPr id="56" name="TextBox 29">
              <a:extLst>
                <a:ext uri="{FF2B5EF4-FFF2-40B4-BE49-F238E27FC236}">
                  <a16:creationId xmlns:a16="http://schemas.microsoft.com/office/drawing/2014/main" id="{43C8DC0A-76E9-45C2-9C0A-2810CD6E8F3A}"/>
                </a:ext>
              </a:extLst>
            </p:cNvPr>
            <p:cNvSpPr txBox="1"/>
            <p:nvPr/>
          </p:nvSpPr>
          <p:spPr>
            <a:xfrm>
              <a:off x="0" y="-38100"/>
              <a:ext cx="1174449" cy="489656"/>
            </a:xfrm>
            <a:prstGeom prst="rect">
              <a:avLst/>
            </a:prstGeom>
          </p:spPr>
          <p:txBody>
            <a:bodyPr lIns="50800" tIns="50800" rIns="50800" bIns="50800" rtlCol="0" anchor="ctr"/>
            <a:lstStyle/>
            <a:p>
              <a:pPr algn="ctr">
                <a:lnSpc>
                  <a:spcPts val="2520"/>
                </a:lnSpc>
              </a:pPr>
              <a:endParaRPr/>
            </a:p>
          </p:txBody>
        </p:sp>
      </p:grpSp>
      <p:grpSp>
        <p:nvGrpSpPr>
          <p:cNvPr id="57" name="Group 30">
            <a:extLst>
              <a:ext uri="{FF2B5EF4-FFF2-40B4-BE49-F238E27FC236}">
                <a16:creationId xmlns:a16="http://schemas.microsoft.com/office/drawing/2014/main" id="{38DFE440-5B4A-4BDD-BE2B-6B7D89C9400A}"/>
              </a:ext>
            </a:extLst>
          </p:cNvPr>
          <p:cNvGrpSpPr/>
          <p:nvPr/>
        </p:nvGrpSpPr>
        <p:grpSpPr>
          <a:xfrm>
            <a:off x="4397441" y="4974421"/>
            <a:ext cx="4459235" cy="1714500"/>
            <a:chOff x="0" y="0"/>
            <a:chExt cx="1174449" cy="451556"/>
          </a:xfrm>
        </p:grpSpPr>
        <p:sp>
          <p:nvSpPr>
            <p:cNvPr id="58" name="Freeform 31">
              <a:extLst>
                <a:ext uri="{FF2B5EF4-FFF2-40B4-BE49-F238E27FC236}">
                  <a16:creationId xmlns:a16="http://schemas.microsoft.com/office/drawing/2014/main" id="{421DACCB-EEBF-473D-9042-487FB24E8E2C}"/>
                </a:ext>
              </a:extLst>
            </p:cNvPr>
            <p:cNvSpPr/>
            <p:nvPr/>
          </p:nvSpPr>
          <p:spPr>
            <a:xfrm>
              <a:off x="0" y="0"/>
              <a:ext cx="1174449" cy="451556"/>
            </a:xfrm>
            <a:custGeom>
              <a:avLst/>
              <a:gdLst/>
              <a:ahLst/>
              <a:cxnLst/>
              <a:rect l="l" t="t" r="r" b="b"/>
              <a:pathLst>
                <a:path w="1174449" h="451556">
                  <a:moveTo>
                    <a:pt x="34723" y="0"/>
                  </a:moveTo>
                  <a:lnTo>
                    <a:pt x="1139726" y="0"/>
                  </a:lnTo>
                  <a:cubicBezTo>
                    <a:pt x="1158903" y="0"/>
                    <a:pt x="1174449" y="15546"/>
                    <a:pt x="1174449" y="34723"/>
                  </a:cubicBezTo>
                  <a:lnTo>
                    <a:pt x="1174449" y="416833"/>
                  </a:lnTo>
                  <a:cubicBezTo>
                    <a:pt x="1174449" y="426042"/>
                    <a:pt x="1170791" y="434874"/>
                    <a:pt x="1164279" y="441385"/>
                  </a:cubicBezTo>
                  <a:cubicBezTo>
                    <a:pt x="1157767" y="447897"/>
                    <a:pt x="1148935" y="451556"/>
                    <a:pt x="1139726" y="451556"/>
                  </a:cubicBezTo>
                  <a:lnTo>
                    <a:pt x="34723" y="451556"/>
                  </a:lnTo>
                  <a:cubicBezTo>
                    <a:pt x="25514" y="451556"/>
                    <a:pt x="16682" y="447897"/>
                    <a:pt x="10170" y="441385"/>
                  </a:cubicBezTo>
                  <a:cubicBezTo>
                    <a:pt x="3658" y="434874"/>
                    <a:pt x="0" y="426042"/>
                    <a:pt x="0" y="416833"/>
                  </a:cubicBezTo>
                  <a:lnTo>
                    <a:pt x="0" y="34723"/>
                  </a:lnTo>
                  <a:cubicBezTo>
                    <a:pt x="0" y="25514"/>
                    <a:pt x="3658" y="16682"/>
                    <a:pt x="10170" y="10170"/>
                  </a:cubicBezTo>
                  <a:cubicBezTo>
                    <a:pt x="16682" y="3658"/>
                    <a:pt x="25514" y="0"/>
                    <a:pt x="34723" y="0"/>
                  </a:cubicBezTo>
                  <a:close/>
                </a:path>
              </a:pathLst>
            </a:custGeom>
            <a:solidFill>
              <a:srgbClr val="F6F6F6"/>
            </a:solidFill>
          </p:spPr>
        </p:sp>
        <p:sp>
          <p:nvSpPr>
            <p:cNvPr id="59" name="TextBox 32">
              <a:extLst>
                <a:ext uri="{FF2B5EF4-FFF2-40B4-BE49-F238E27FC236}">
                  <a16:creationId xmlns:a16="http://schemas.microsoft.com/office/drawing/2014/main" id="{CAA8D0CE-AAA5-43BB-8BCA-A438CCFFBA8F}"/>
                </a:ext>
              </a:extLst>
            </p:cNvPr>
            <p:cNvSpPr txBox="1"/>
            <p:nvPr/>
          </p:nvSpPr>
          <p:spPr>
            <a:xfrm>
              <a:off x="0" y="-38100"/>
              <a:ext cx="1174449" cy="489656"/>
            </a:xfrm>
            <a:prstGeom prst="rect">
              <a:avLst/>
            </a:prstGeom>
          </p:spPr>
          <p:txBody>
            <a:bodyPr lIns="50800" tIns="50800" rIns="50800" bIns="50800" rtlCol="0" anchor="ctr"/>
            <a:lstStyle/>
            <a:p>
              <a:pPr algn="ctr">
                <a:lnSpc>
                  <a:spcPts val="2520"/>
                </a:lnSpc>
              </a:pPr>
              <a:endParaRPr/>
            </a:p>
          </p:txBody>
        </p:sp>
      </p:grpSp>
      <p:grpSp>
        <p:nvGrpSpPr>
          <p:cNvPr id="60" name="Group 33">
            <a:extLst>
              <a:ext uri="{FF2B5EF4-FFF2-40B4-BE49-F238E27FC236}">
                <a16:creationId xmlns:a16="http://schemas.microsoft.com/office/drawing/2014/main" id="{B526FCC1-F019-4656-84D1-548BA96B93BF}"/>
              </a:ext>
            </a:extLst>
          </p:cNvPr>
          <p:cNvGrpSpPr/>
          <p:nvPr/>
        </p:nvGrpSpPr>
        <p:grpSpPr>
          <a:xfrm>
            <a:off x="12026574" y="4992235"/>
            <a:ext cx="4459235" cy="1714500"/>
            <a:chOff x="0" y="0"/>
            <a:chExt cx="1174449" cy="451556"/>
          </a:xfrm>
        </p:grpSpPr>
        <p:sp>
          <p:nvSpPr>
            <p:cNvPr id="61" name="Freeform 34">
              <a:extLst>
                <a:ext uri="{FF2B5EF4-FFF2-40B4-BE49-F238E27FC236}">
                  <a16:creationId xmlns:a16="http://schemas.microsoft.com/office/drawing/2014/main" id="{E35012F0-530C-47B4-B166-D357975F594A}"/>
                </a:ext>
              </a:extLst>
            </p:cNvPr>
            <p:cNvSpPr/>
            <p:nvPr/>
          </p:nvSpPr>
          <p:spPr>
            <a:xfrm>
              <a:off x="0" y="0"/>
              <a:ext cx="1174449" cy="451556"/>
            </a:xfrm>
            <a:custGeom>
              <a:avLst/>
              <a:gdLst/>
              <a:ahLst/>
              <a:cxnLst/>
              <a:rect l="l" t="t" r="r" b="b"/>
              <a:pathLst>
                <a:path w="1174449" h="451556">
                  <a:moveTo>
                    <a:pt x="34723" y="0"/>
                  </a:moveTo>
                  <a:lnTo>
                    <a:pt x="1139726" y="0"/>
                  </a:lnTo>
                  <a:cubicBezTo>
                    <a:pt x="1158903" y="0"/>
                    <a:pt x="1174449" y="15546"/>
                    <a:pt x="1174449" y="34723"/>
                  </a:cubicBezTo>
                  <a:lnTo>
                    <a:pt x="1174449" y="416833"/>
                  </a:lnTo>
                  <a:cubicBezTo>
                    <a:pt x="1174449" y="426042"/>
                    <a:pt x="1170791" y="434874"/>
                    <a:pt x="1164279" y="441385"/>
                  </a:cubicBezTo>
                  <a:cubicBezTo>
                    <a:pt x="1157767" y="447897"/>
                    <a:pt x="1148935" y="451556"/>
                    <a:pt x="1139726" y="451556"/>
                  </a:cubicBezTo>
                  <a:lnTo>
                    <a:pt x="34723" y="451556"/>
                  </a:lnTo>
                  <a:cubicBezTo>
                    <a:pt x="25514" y="451556"/>
                    <a:pt x="16682" y="447897"/>
                    <a:pt x="10170" y="441385"/>
                  </a:cubicBezTo>
                  <a:cubicBezTo>
                    <a:pt x="3658" y="434874"/>
                    <a:pt x="0" y="426042"/>
                    <a:pt x="0" y="416833"/>
                  </a:cubicBezTo>
                  <a:lnTo>
                    <a:pt x="0" y="34723"/>
                  </a:lnTo>
                  <a:cubicBezTo>
                    <a:pt x="0" y="25514"/>
                    <a:pt x="3658" y="16682"/>
                    <a:pt x="10170" y="10170"/>
                  </a:cubicBezTo>
                  <a:cubicBezTo>
                    <a:pt x="16682" y="3658"/>
                    <a:pt x="25514" y="0"/>
                    <a:pt x="34723" y="0"/>
                  </a:cubicBezTo>
                  <a:close/>
                </a:path>
              </a:pathLst>
            </a:custGeom>
            <a:solidFill>
              <a:srgbClr val="F6F6F6"/>
            </a:solidFill>
          </p:spPr>
        </p:sp>
        <p:sp>
          <p:nvSpPr>
            <p:cNvPr id="62" name="TextBox 35">
              <a:extLst>
                <a:ext uri="{FF2B5EF4-FFF2-40B4-BE49-F238E27FC236}">
                  <a16:creationId xmlns:a16="http://schemas.microsoft.com/office/drawing/2014/main" id="{08D52DD5-6C9A-402B-B02D-72FED9699BBE}"/>
                </a:ext>
              </a:extLst>
            </p:cNvPr>
            <p:cNvSpPr txBox="1"/>
            <p:nvPr/>
          </p:nvSpPr>
          <p:spPr>
            <a:xfrm>
              <a:off x="0" y="-38100"/>
              <a:ext cx="1174449" cy="489656"/>
            </a:xfrm>
            <a:prstGeom prst="rect">
              <a:avLst/>
            </a:prstGeom>
          </p:spPr>
          <p:txBody>
            <a:bodyPr lIns="50800" tIns="50800" rIns="50800" bIns="50800" rtlCol="0" anchor="ctr"/>
            <a:lstStyle/>
            <a:p>
              <a:pPr algn="ctr">
                <a:lnSpc>
                  <a:spcPts val="2520"/>
                </a:lnSpc>
              </a:pPr>
              <a:endParaRPr/>
            </a:p>
          </p:txBody>
        </p:sp>
      </p:grpSp>
      <p:sp>
        <p:nvSpPr>
          <p:cNvPr id="63" name="Freeform 36">
            <a:extLst>
              <a:ext uri="{FF2B5EF4-FFF2-40B4-BE49-F238E27FC236}">
                <a16:creationId xmlns:a16="http://schemas.microsoft.com/office/drawing/2014/main" id="{F16A613D-D77D-45D4-9883-F711E513F297}"/>
              </a:ext>
            </a:extLst>
          </p:cNvPr>
          <p:cNvSpPr/>
          <p:nvPr/>
        </p:nvSpPr>
        <p:spPr>
          <a:xfrm>
            <a:off x="4395869" y="8258624"/>
            <a:ext cx="4462381" cy="884363"/>
          </a:xfrm>
          <a:custGeom>
            <a:avLst/>
            <a:gdLst/>
            <a:ahLst/>
            <a:cxnLst/>
            <a:rect l="l" t="t" r="r" b="b"/>
            <a:pathLst>
              <a:path w="4462381" h="884363">
                <a:moveTo>
                  <a:pt x="0" y="0"/>
                </a:moveTo>
                <a:lnTo>
                  <a:pt x="4462381" y="0"/>
                </a:lnTo>
                <a:lnTo>
                  <a:pt x="4462381" y="884363"/>
                </a:lnTo>
                <a:lnTo>
                  <a:pt x="0" y="884363"/>
                </a:lnTo>
                <a:lnTo>
                  <a:pt x="0" y="0"/>
                </a:lnTo>
                <a:close/>
              </a:path>
            </a:pathLst>
          </a:custGeom>
          <a:blipFill>
            <a:blip r:embed="rId4">
              <a:alphaModFix amt="53000"/>
            </a:blip>
            <a:stretch>
              <a:fillRect/>
            </a:stretch>
          </a:blipFill>
        </p:spPr>
      </p:sp>
      <p:grpSp>
        <p:nvGrpSpPr>
          <p:cNvPr id="65" name="Group 38">
            <a:extLst>
              <a:ext uri="{FF2B5EF4-FFF2-40B4-BE49-F238E27FC236}">
                <a16:creationId xmlns:a16="http://schemas.microsoft.com/office/drawing/2014/main" id="{C0C9AA38-CCC6-4D8C-8BBB-C70A4083B3A9}"/>
              </a:ext>
            </a:extLst>
          </p:cNvPr>
          <p:cNvGrpSpPr/>
          <p:nvPr/>
        </p:nvGrpSpPr>
        <p:grpSpPr>
          <a:xfrm>
            <a:off x="4399015" y="7209921"/>
            <a:ext cx="4459235" cy="1714500"/>
            <a:chOff x="0" y="0"/>
            <a:chExt cx="1174449" cy="451556"/>
          </a:xfrm>
        </p:grpSpPr>
        <p:sp>
          <p:nvSpPr>
            <p:cNvPr id="66" name="Freeform 39">
              <a:extLst>
                <a:ext uri="{FF2B5EF4-FFF2-40B4-BE49-F238E27FC236}">
                  <a16:creationId xmlns:a16="http://schemas.microsoft.com/office/drawing/2014/main" id="{62CE3EFA-568E-4349-8520-CC2182EC6A7C}"/>
                </a:ext>
              </a:extLst>
            </p:cNvPr>
            <p:cNvSpPr/>
            <p:nvPr/>
          </p:nvSpPr>
          <p:spPr>
            <a:xfrm>
              <a:off x="0" y="0"/>
              <a:ext cx="1174449" cy="451556"/>
            </a:xfrm>
            <a:custGeom>
              <a:avLst/>
              <a:gdLst/>
              <a:ahLst/>
              <a:cxnLst/>
              <a:rect l="l" t="t" r="r" b="b"/>
              <a:pathLst>
                <a:path w="1174449" h="451556">
                  <a:moveTo>
                    <a:pt x="34723" y="0"/>
                  </a:moveTo>
                  <a:lnTo>
                    <a:pt x="1139726" y="0"/>
                  </a:lnTo>
                  <a:cubicBezTo>
                    <a:pt x="1158903" y="0"/>
                    <a:pt x="1174449" y="15546"/>
                    <a:pt x="1174449" y="34723"/>
                  </a:cubicBezTo>
                  <a:lnTo>
                    <a:pt x="1174449" y="416833"/>
                  </a:lnTo>
                  <a:cubicBezTo>
                    <a:pt x="1174449" y="426042"/>
                    <a:pt x="1170791" y="434874"/>
                    <a:pt x="1164279" y="441385"/>
                  </a:cubicBezTo>
                  <a:cubicBezTo>
                    <a:pt x="1157767" y="447897"/>
                    <a:pt x="1148935" y="451556"/>
                    <a:pt x="1139726" y="451556"/>
                  </a:cubicBezTo>
                  <a:lnTo>
                    <a:pt x="34723" y="451556"/>
                  </a:lnTo>
                  <a:cubicBezTo>
                    <a:pt x="25514" y="451556"/>
                    <a:pt x="16682" y="447897"/>
                    <a:pt x="10170" y="441385"/>
                  </a:cubicBezTo>
                  <a:cubicBezTo>
                    <a:pt x="3658" y="434874"/>
                    <a:pt x="0" y="426042"/>
                    <a:pt x="0" y="416833"/>
                  </a:cubicBezTo>
                  <a:lnTo>
                    <a:pt x="0" y="34723"/>
                  </a:lnTo>
                  <a:cubicBezTo>
                    <a:pt x="0" y="25514"/>
                    <a:pt x="3658" y="16682"/>
                    <a:pt x="10170" y="10170"/>
                  </a:cubicBezTo>
                  <a:cubicBezTo>
                    <a:pt x="16682" y="3658"/>
                    <a:pt x="25514" y="0"/>
                    <a:pt x="34723" y="0"/>
                  </a:cubicBezTo>
                  <a:close/>
                </a:path>
              </a:pathLst>
            </a:custGeom>
            <a:solidFill>
              <a:srgbClr val="F6F6F6"/>
            </a:solidFill>
          </p:spPr>
        </p:sp>
        <p:sp>
          <p:nvSpPr>
            <p:cNvPr id="67" name="TextBox 40">
              <a:extLst>
                <a:ext uri="{FF2B5EF4-FFF2-40B4-BE49-F238E27FC236}">
                  <a16:creationId xmlns:a16="http://schemas.microsoft.com/office/drawing/2014/main" id="{FA09BB6D-46B4-4A20-9043-D7D40B32AFA9}"/>
                </a:ext>
              </a:extLst>
            </p:cNvPr>
            <p:cNvSpPr txBox="1"/>
            <p:nvPr/>
          </p:nvSpPr>
          <p:spPr>
            <a:xfrm>
              <a:off x="0" y="-38100"/>
              <a:ext cx="1174449" cy="489656"/>
            </a:xfrm>
            <a:prstGeom prst="rect">
              <a:avLst/>
            </a:prstGeom>
          </p:spPr>
          <p:txBody>
            <a:bodyPr lIns="50800" tIns="50800" rIns="50800" bIns="50800" rtlCol="0" anchor="ctr"/>
            <a:lstStyle/>
            <a:p>
              <a:pPr algn="ctr">
                <a:lnSpc>
                  <a:spcPts val="2520"/>
                </a:lnSpc>
              </a:pPr>
              <a:endParaRPr/>
            </a:p>
          </p:txBody>
        </p:sp>
      </p:grpSp>
      <p:grpSp>
        <p:nvGrpSpPr>
          <p:cNvPr id="71" name="Group 44">
            <a:extLst>
              <a:ext uri="{FF2B5EF4-FFF2-40B4-BE49-F238E27FC236}">
                <a16:creationId xmlns:a16="http://schemas.microsoft.com/office/drawing/2014/main" id="{3DBA8C9B-F5FD-49A4-9451-A68614B5BE30}"/>
              </a:ext>
            </a:extLst>
          </p:cNvPr>
          <p:cNvGrpSpPr/>
          <p:nvPr/>
        </p:nvGrpSpPr>
        <p:grpSpPr>
          <a:xfrm>
            <a:off x="4291298" y="3527228"/>
            <a:ext cx="209142" cy="209142"/>
            <a:chOff x="0" y="0"/>
            <a:chExt cx="812800" cy="812800"/>
          </a:xfrm>
        </p:grpSpPr>
        <p:sp>
          <p:nvSpPr>
            <p:cNvPr id="72" name="Freeform 45">
              <a:extLst>
                <a:ext uri="{FF2B5EF4-FFF2-40B4-BE49-F238E27FC236}">
                  <a16:creationId xmlns:a16="http://schemas.microsoft.com/office/drawing/2014/main" id="{DAE09D1E-0AAB-4E02-8A05-4912841DB43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D5E"/>
            </a:solidFill>
          </p:spPr>
        </p:sp>
        <p:sp>
          <p:nvSpPr>
            <p:cNvPr id="73" name="TextBox 46">
              <a:extLst>
                <a:ext uri="{FF2B5EF4-FFF2-40B4-BE49-F238E27FC236}">
                  <a16:creationId xmlns:a16="http://schemas.microsoft.com/office/drawing/2014/main" id="{BE6AAAF6-C7A1-4826-8AF5-0AE738D3E807}"/>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74" name="Group 47">
            <a:extLst>
              <a:ext uri="{FF2B5EF4-FFF2-40B4-BE49-F238E27FC236}">
                <a16:creationId xmlns:a16="http://schemas.microsoft.com/office/drawing/2014/main" id="{00C0B956-3C43-431D-B0D0-C51A988A24BA}"/>
              </a:ext>
            </a:extLst>
          </p:cNvPr>
          <p:cNvGrpSpPr/>
          <p:nvPr/>
        </p:nvGrpSpPr>
        <p:grpSpPr>
          <a:xfrm>
            <a:off x="11918858" y="3527228"/>
            <a:ext cx="209142" cy="209142"/>
            <a:chOff x="0" y="0"/>
            <a:chExt cx="812800" cy="812800"/>
          </a:xfrm>
        </p:grpSpPr>
        <p:sp>
          <p:nvSpPr>
            <p:cNvPr id="75" name="Freeform 48">
              <a:extLst>
                <a:ext uri="{FF2B5EF4-FFF2-40B4-BE49-F238E27FC236}">
                  <a16:creationId xmlns:a16="http://schemas.microsoft.com/office/drawing/2014/main" id="{C0831AC0-6F54-498B-957C-588D81A1F33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D5E"/>
            </a:solidFill>
          </p:spPr>
        </p:sp>
        <p:sp>
          <p:nvSpPr>
            <p:cNvPr id="76" name="TextBox 49">
              <a:extLst>
                <a:ext uri="{FF2B5EF4-FFF2-40B4-BE49-F238E27FC236}">
                  <a16:creationId xmlns:a16="http://schemas.microsoft.com/office/drawing/2014/main" id="{0A63F3ED-D418-4B4F-A27E-75DBF0FAAABA}"/>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endParaRPr/>
            </a:p>
          </p:txBody>
        </p:sp>
      </p:grpSp>
      <p:grpSp>
        <p:nvGrpSpPr>
          <p:cNvPr id="80" name="Group 50">
            <a:extLst>
              <a:ext uri="{FF2B5EF4-FFF2-40B4-BE49-F238E27FC236}">
                <a16:creationId xmlns:a16="http://schemas.microsoft.com/office/drawing/2014/main" id="{D4296A78-7238-4C32-8EB1-A79B77FBC8CF}"/>
              </a:ext>
            </a:extLst>
          </p:cNvPr>
          <p:cNvGrpSpPr/>
          <p:nvPr/>
        </p:nvGrpSpPr>
        <p:grpSpPr>
          <a:xfrm>
            <a:off x="4291298" y="5744914"/>
            <a:ext cx="209142" cy="209142"/>
            <a:chOff x="0" y="0"/>
            <a:chExt cx="812800" cy="812800"/>
          </a:xfrm>
        </p:grpSpPr>
        <p:sp>
          <p:nvSpPr>
            <p:cNvPr id="84" name="Freeform 51">
              <a:extLst>
                <a:ext uri="{FF2B5EF4-FFF2-40B4-BE49-F238E27FC236}">
                  <a16:creationId xmlns:a16="http://schemas.microsoft.com/office/drawing/2014/main" id="{59D87B30-1106-4720-8014-46BF8E50E21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4577"/>
            </a:solidFill>
          </p:spPr>
        </p:sp>
        <p:sp>
          <p:nvSpPr>
            <p:cNvPr id="89" name="TextBox 52">
              <a:extLst>
                <a:ext uri="{FF2B5EF4-FFF2-40B4-BE49-F238E27FC236}">
                  <a16:creationId xmlns:a16="http://schemas.microsoft.com/office/drawing/2014/main" id="{712B32F7-03D2-4EE4-B498-1F1FB3C83CC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90" name="Group 53">
            <a:extLst>
              <a:ext uri="{FF2B5EF4-FFF2-40B4-BE49-F238E27FC236}">
                <a16:creationId xmlns:a16="http://schemas.microsoft.com/office/drawing/2014/main" id="{6FDAE2ED-C688-4D68-A8D5-AFA3B9D06006}"/>
              </a:ext>
            </a:extLst>
          </p:cNvPr>
          <p:cNvGrpSpPr/>
          <p:nvPr/>
        </p:nvGrpSpPr>
        <p:grpSpPr>
          <a:xfrm>
            <a:off x="11918858" y="5744914"/>
            <a:ext cx="209142" cy="209142"/>
            <a:chOff x="0" y="0"/>
            <a:chExt cx="812800" cy="812800"/>
          </a:xfrm>
        </p:grpSpPr>
        <p:sp>
          <p:nvSpPr>
            <p:cNvPr id="92" name="Freeform 54">
              <a:extLst>
                <a:ext uri="{FF2B5EF4-FFF2-40B4-BE49-F238E27FC236}">
                  <a16:creationId xmlns:a16="http://schemas.microsoft.com/office/drawing/2014/main" id="{403CBC99-A66D-4B5B-B9AD-EFE34FD4A20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4577"/>
            </a:solidFill>
          </p:spPr>
        </p:sp>
        <p:sp>
          <p:nvSpPr>
            <p:cNvPr id="93" name="TextBox 55">
              <a:extLst>
                <a:ext uri="{FF2B5EF4-FFF2-40B4-BE49-F238E27FC236}">
                  <a16:creationId xmlns:a16="http://schemas.microsoft.com/office/drawing/2014/main" id="{6884DAB2-1EEA-4BA5-B141-B2AD26BAFACA}"/>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endParaRPr/>
            </a:p>
          </p:txBody>
        </p:sp>
      </p:grpSp>
      <p:grpSp>
        <p:nvGrpSpPr>
          <p:cNvPr id="94" name="Group 56">
            <a:extLst>
              <a:ext uri="{FF2B5EF4-FFF2-40B4-BE49-F238E27FC236}">
                <a16:creationId xmlns:a16="http://schemas.microsoft.com/office/drawing/2014/main" id="{11B23E44-BB3F-46B3-BE89-D5D70668F313}"/>
              </a:ext>
            </a:extLst>
          </p:cNvPr>
          <p:cNvGrpSpPr/>
          <p:nvPr/>
        </p:nvGrpSpPr>
        <p:grpSpPr>
          <a:xfrm>
            <a:off x="4291298" y="7962600"/>
            <a:ext cx="209142" cy="209142"/>
            <a:chOff x="0" y="0"/>
            <a:chExt cx="812800" cy="812800"/>
          </a:xfrm>
        </p:grpSpPr>
        <p:sp>
          <p:nvSpPr>
            <p:cNvPr id="95" name="Freeform 57">
              <a:extLst>
                <a:ext uri="{FF2B5EF4-FFF2-40B4-BE49-F238E27FC236}">
                  <a16:creationId xmlns:a16="http://schemas.microsoft.com/office/drawing/2014/main" id="{C8F17065-15C5-4773-A72D-C744D0B1A81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D80A4"/>
            </a:solidFill>
          </p:spPr>
        </p:sp>
        <p:sp>
          <p:nvSpPr>
            <p:cNvPr id="96" name="TextBox 58">
              <a:extLst>
                <a:ext uri="{FF2B5EF4-FFF2-40B4-BE49-F238E27FC236}">
                  <a16:creationId xmlns:a16="http://schemas.microsoft.com/office/drawing/2014/main" id="{6E7F3453-F3A6-4878-8AED-570EB817756C}"/>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00" name="AutoShape 62">
            <a:extLst>
              <a:ext uri="{FF2B5EF4-FFF2-40B4-BE49-F238E27FC236}">
                <a16:creationId xmlns:a16="http://schemas.microsoft.com/office/drawing/2014/main" id="{73BDDD29-5F77-4D63-82C1-758E0BC52486}"/>
              </a:ext>
            </a:extLst>
          </p:cNvPr>
          <p:cNvSpPr/>
          <p:nvPr/>
        </p:nvSpPr>
        <p:spPr>
          <a:xfrm flipV="1">
            <a:off x="3040361" y="3631799"/>
            <a:ext cx="1250937" cy="5024"/>
          </a:xfrm>
          <a:prstGeom prst="line">
            <a:avLst/>
          </a:prstGeom>
          <a:ln w="38100" cap="flat">
            <a:solidFill>
              <a:srgbClr val="6D80A4"/>
            </a:solidFill>
            <a:prstDash val="solid"/>
            <a:headEnd type="none" w="sm" len="sm"/>
            <a:tailEnd type="none" w="sm" len="sm"/>
          </a:ln>
        </p:spPr>
      </p:sp>
      <p:sp>
        <p:nvSpPr>
          <p:cNvPr id="101" name="AutoShape 63">
            <a:extLst>
              <a:ext uri="{FF2B5EF4-FFF2-40B4-BE49-F238E27FC236}">
                <a16:creationId xmlns:a16="http://schemas.microsoft.com/office/drawing/2014/main" id="{6F915076-D7A7-400C-A9BF-588BCB7F01E4}"/>
              </a:ext>
            </a:extLst>
          </p:cNvPr>
          <p:cNvSpPr/>
          <p:nvPr/>
        </p:nvSpPr>
        <p:spPr>
          <a:xfrm flipV="1">
            <a:off x="10667921" y="3631799"/>
            <a:ext cx="1250937" cy="5024"/>
          </a:xfrm>
          <a:prstGeom prst="line">
            <a:avLst/>
          </a:prstGeom>
          <a:ln w="38100" cap="flat">
            <a:solidFill>
              <a:srgbClr val="6D80A4"/>
            </a:solidFill>
            <a:prstDash val="solid"/>
            <a:headEnd type="none" w="sm" len="sm"/>
            <a:tailEnd type="none" w="sm" len="sm"/>
          </a:ln>
        </p:spPr>
      </p:sp>
      <p:sp>
        <p:nvSpPr>
          <p:cNvPr id="102" name="AutoShape 64">
            <a:extLst>
              <a:ext uri="{FF2B5EF4-FFF2-40B4-BE49-F238E27FC236}">
                <a16:creationId xmlns:a16="http://schemas.microsoft.com/office/drawing/2014/main" id="{F9FFA4B8-FBDE-4EEB-B509-6FB58E264DD0}"/>
              </a:ext>
            </a:extLst>
          </p:cNvPr>
          <p:cNvSpPr/>
          <p:nvPr/>
        </p:nvSpPr>
        <p:spPr>
          <a:xfrm flipV="1">
            <a:off x="3040361" y="5849485"/>
            <a:ext cx="1250937" cy="0"/>
          </a:xfrm>
          <a:prstGeom prst="line">
            <a:avLst/>
          </a:prstGeom>
          <a:ln w="38100" cap="flat">
            <a:solidFill>
              <a:srgbClr val="6D80A4"/>
            </a:solidFill>
            <a:prstDash val="solid"/>
            <a:headEnd type="none" w="sm" len="sm"/>
            <a:tailEnd type="none" w="sm" len="sm"/>
          </a:ln>
        </p:spPr>
        <p:txBody>
          <a:bodyPr/>
          <a:lstStyle/>
          <a:p>
            <a:endParaRPr lang="fr-MA" dirty="0"/>
          </a:p>
        </p:txBody>
      </p:sp>
      <p:sp>
        <p:nvSpPr>
          <p:cNvPr id="103" name="AutoShape 65">
            <a:extLst>
              <a:ext uri="{FF2B5EF4-FFF2-40B4-BE49-F238E27FC236}">
                <a16:creationId xmlns:a16="http://schemas.microsoft.com/office/drawing/2014/main" id="{AF3F6BCB-4643-471C-95DD-5304E3289496}"/>
              </a:ext>
            </a:extLst>
          </p:cNvPr>
          <p:cNvSpPr/>
          <p:nvPr/>
        </p:nvSpPr>
        <p:spPr>
          <a:xfrm flipV="1">
            <a:off x="10667921" y="5849485"/>
            <a:ext cx="1250937" cy="0"/>
          </a:xfrm>
          <a:prstGeom prst="line">
            <a:avLst/>
          </a:prstGeom>
          <a:ln w="38100" cap="flat">
            <a:solidFill>
              <a:srgbClr val="6D80A4"/>
            </a:solidFill>
            <a:prstDash val="solid"/>
            <a:headEnd type="none" w="sm" len="sm"/>
            <a:tailEnd type="none" w="sm" len="sm"/>
          </a:ln>
        </p:spPr>
      </p:sp>
      <p:sp>
        <p:nvSpPr>
          <p:cNvPr id="104" name="AutoShape 66">
            <a:extLst>
              <a:ext uri="{FF2B5EF4-FFF2-40B4-BE49-F238E27FC236}">
                <a16:creationId xmlns:a16="http://schemas.microsoft.com/office/drawing/2014/main" id="{35D70CF2-BCBB-43F7-9DD6-EC179B00F2EF}"/>
              </a:ext>
            </a:extLst>
          </p:cNvPr>
          <p:cNvSpPr/>
          <p:nvPr/>
        </p:nvSpPr>
        <p:spPr>
          <a:xfrm>
            <a:off x="3056950" y="8067171"/>
            <a:ext cx="1234348" cy="0"/>
          </a:xfrm>
          <a:prstGeom prst="line">
            <a:avLst/>
          </a:prstGeom>
          <a:ln w="38100" cap="flat">
            <a:solidFill>
              <a:srgbClr val="6D80A4"/>
            </a:solidFill>
            <a:prstDash val="solid"/>
            <a:headEnd type="none" w="sm" len="sm"/>
            <a:tailEnd type="none" w="sm" len="sm"/>
          </a:ln>
        </p:spPr>
      </p:sp>
      <p:grpSp>
        <p:nvGrpSpPr>
          <p:cNvPr id="106" name="Group 68">
            <a:extLst>
              <a:ext uri="{FF2B5EF4-FFF2-40B4-BE49-F238E27FC236}">
                <a16:creationId xmlns:a16="http://schemas.microsoft.com/office/drawing/2014/main" id="{FFCEB85B-CC4D-4C2C-9217-B3A7C0C6582A}"/>
              </a:ext>
            </a:extLst>
          </p:cNvPr>
          <p:cNvGrpSpPr/>
          <p:nvPr/>
        </p:nvGrpSpPr>
        <p:grpSpPr>
          <a:xfrm>
            <a:off x="3466416" y="2476500"/>
            <a:ext cx="361099" cy="2610091"/>
            <a:chOff x="0" y="0"/>
            <a:chExt cx="95104" cy="687431"/>
          </a:xfrm>
        </p:grpSpPr>
        <p:sp>
          <p:nvSpPr>
            <p:cNvPr id="107" name="Freeform 69">
              <a:extLst>
                <a:ext uri="{FF2B5EF4-FFF2-40B4-BE49-F238E27FC236}">
                  <a16:creationId xmlns:a16="http://schemas.microsoft.com/office/drawing/2014/main" id="{662150BB-67CC-4B62-8554-254ADFDF76B6}"/>
                </a:ext>
              </a:extLst>
            </p:cNvPr>
            <p:cNvSpPr/>
            <p:nvPr/>
          </p:nvSpPr>
          <p:spPr>
            <a:xfrm>
              <a:off x="0" y="0"/>
              <a:ext cx="95104" cy="687431"/>
            </a:xfrm>
            <a:custGeom>
              <a:avLst/>
              <a:gdLst/>
              <a:ahLst/>
              <a:cxnLst/>
              <a:rect l="l" t="t" r="r" b="b"/>
              <a:pathLst>
                <a:path w="95104" h="687431">
                  <a:moveTo>
                    <a:pt x="47552" y="0"/>
                  </a:moveTo>
                  <a:lnTo>
                    <a:pt x="47552" y="0"/>
                  </a:lnTo>
                  <a:cubicBezTo>
                    <a:pt x="73814" y="0"/>
                    <a:pt x="95104" y="21290"/>
                    <a:pt x="95104" y="47552"/>
                  </a:cubicBezTo>
                  <a:lnTo>
                    <a:pt x="95104" y="639879"/>
                  </a:lnTo>
                  <a:cubicBezTo>
                    <a:pt x="95104" y="666142"/>
                    <a:pt x="73814" y="687431"/>
                    <a:pt x="47552" y="687431"/>
                  </a:cubicBezTo>
                  <a:lnTo>
                    <a:pt x="47552" y="687431"/>
                  </a:lnTo>
                  <a:cubicBezTo>
                    <a:pt x="21290" y="687431"/>
                    <a:pt x="0" y="666142"/>
                    <a:pt x="0" y="639879"/>
                  </a:cubicBezTo>
                  <a:lnTo>
                    <a:pt x="0" y="47552"/>
                  </a:lnTo>
                  <a:cubicBezTo>
                    <a:pt x="0" y="21290"/>
                    <a:pt x="21290" y="0"/>
                    <a:pt x="47552" y="0"/>
                  </a:cubicBezTo>
                  <a:close/>
                </a:path>
              </a:pathLst>
            </a:custGeom>
            <a:solidFill>
              <a:srgbClr val="001D5E"/>
            </a:solidFill>
          </p:spPr>
        </p:sp>
        <p:sp>
          <p:nvSpPr>
            <p:cNvPr id="108" name="TextBox 70">
              <a:extLst>
                <a:ext uri="{FF2B5EF4-FFF2-40B4-BE49-F238E27FC236}">
                  <a16:creationId xmlns:a16="http://schemas.microsoft.com/office/drawing/2014/main" id="{8A340799-5AF2-4409-A4F8-8E09B934170A}"/>
                </a:ext>
              </a:extLst>
            </p:cNvPr>
            <p:cNvSpPr txBox="1"/>
            <p:nvPr/>
          </p:nvSpPr>
          <p:spPr>
            <a:xfrm>
              <a:off x="0" y="-38100"/>
              <a:ext cx="95104" cy="725531"/>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09" name="Group 71">
            <a:extLst>
              <a:ext uri="{FF2B5EF4-FFF2-40B4-BE49-F238E27FC236}">
                <a16:creationId xmlns:a16="http://schemas.microsoft.com/office/drawing/2014/main" id="{18739315-77E7-4891-8B45-91F9E754A367}"/>
              </a:ext>
            </a:extLst>
          </p:cNvPr>
          <p:cNvGrpSpPr/>
          <p:nvPr/>
        </p:nvGrpSpPr>
        <p:grpSpPr>
          <a:xfrm>
            <a:off x="11093976" y="2476500"/>
            <a:ext cx="361099" cy="2610091"/>
            <a:chOff x="0" y="0"/>
            <a:chExt cx="95104" cy="687431"/>
          </a:xfrm>
        </p:grpSpPr>
        <p:sp>
          <p:nvSpPr>
            <p:cNvPr id="110" name="Freeform 72">
              <a:extLst>
                <a:ext uri="{FF2B5EF4-FFF2-40B4-BE49-F238E27FC236}">
                  <a16:creationId xmlns:a16="http://schemas.microsoft.com/office/drawing/2014/main" id="{913DAFB0-5AAC-4627-8008-9C507E1E57A4}"/>
                </a:ext>
              </a:extLst>
            </p:cNvPr>
            <p:cNvSpPr/>
            <p:nvPr/>
          </p:nvSpPr>
          <p:spPr>
            <a:xfrm>
              <a:off x="0" y="0"/>
              <a:ext cx="95104" cy="687431"/>
            </a:xfrm>
            <a:custGeom>
              <a:avLst/>
              <a:gdLst/>
              <a:ahLst/>
              <a:cxnLst/>
              <a:rect l="l" t="t" r="r" b="b"/>
              <a:pathLst>
                <a:path w="95104" h="687431">
                  <a:moveTo>
                    <a:pt x="47552" y="0"/>
                  </a:moveTo>
                  <a:lnTo>
                    <a:pt x="47552" y="0"/>
                  </a:lnTo>
                  <a:cubicBezTo>
                    <a:pt x="73814" y="0"/>
                    <a:pt x="95104" y="21290"/>
                    <a:pt x="95104" y="47552"/>
                  </a:cubicBezTo>
                  <a:lnTo>
                    <a:pt x="95104" y="639879"/>
                  </a:lnTo>
                  <a:cubicBezTo>
                    <a:pt x="95104" y="666142"/>
                    <a:pt x="73814" y="687431"/>
                    <a:pt x="47552" y="687431"/>
                  </a:cubicBezTo>
                  <a:lnTo>
                    <a:pt x="47552" y="687431"/>
                  </a:lnTo>
                  <a:cubicBezTo>
                    <a:pt x="21290" y="687431"/>
                    <a:pt x="0" y="666142"/>
                    <a:pt x="0" y="639879"/>
                  </a:cubicBezTo>
                  <a:lnTo>
                    <a:pt x="0" y="47552"/>
                  </a:lnTo>
                  <a:cubicBezTo>
                    <a:pt x="0" y="21290"/>
                    <a:pt x="21290" y="0"/>
                    <a:pt x="47552" y="0"/>
                  </a:cubicBezTo>
                  <a:close/>
                </a:path>
              </a:pathLst>
            </a:custGeom>
            <a:solidFill>
              <a:srgbClr val="001D5E"/>
            </a:solidFill>
          </p:spPr>
        </p:sp>
        <p:sp>
          <p:nvSpPr>
            <p:cNvPr id="111" name="TextBox 73">
              <a:extLst>
                <a:ext uri="{FF2B5EF4-FFF2-40B4-BE49-F238E27FC236}">
                  <a16:creationId xmlns:a16="http://schemas.microsoft.com/office/drawing/2014/main" id="{661B4685-058E-44B5-9A7F-1AED08332AC7}"/>
                </a:ext>
              </a:extLst>
            </p:cNvPr>
            <p:cNvSpPr txBox="1"/>
            <p:nvPr/>
          </p:nvSpPr>
          <p:spPr>
            <a:xfrm>
              <a:off x="0" y="-38100"/>
              <a:ext cx="95104" cy="725531"/>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12" name="Group 74">
            <a:extLst>
              <a:ext uri="{FF2B5EF4-FFF2-40B4-BE49-F238E27FC236}">
                <a16:creationId xmlns:a16="http://schemas.microsoft.com/office/drawing/2014/main" id="{59FC4ADC-3F8E-4574-804C-1674ADE5EA65}"/>
              </a:ext>
            </a:extLst>
          </p:cNvPr>
          <p:cNvGrpSpPr/>
          <p:nvPr/>
        </p:nvGrpSpPr>
        <p:grpSpPr>
          <a:xfrm>
            <a:off x="3466416" y="4707615"/>
            <a:ext cx="361099" cy="2502306"/>
            <a:chOff x="0" y="0"/>
            <a:chExt cx="95104" cy="659044"/>
          </a:xfrm>
        </p:grpSpPr>
        <p:sp>
          <p:nvSpPr>
            <p:cNvPr id="113" name="Freeform 75">
              <a:extLst>
                <a:ext uri="{FF2B5EF4-FFF2-40B4-BE49-F238E27FC236}">
                  <a16:creationId xmlns:a16="http://schemas.microsoft.com/office/drawing/2014/main" id="{15DE3D41-76C6-4B3A-9A63-CB5D9A35B76E}"/>
                </a:ext>
              </a:extLst>
            </p:cNvPr>
            <p:cNvSpPr/>
            <p:nvPr/>
          </p:nvSpPr>
          <p:spPr>
            <a:xfrm>
              <a:off x="0" y="0"/>
              <a:ext cx="95104" cy="659044"/>
            </a:xfrm>
            <a:custGeom>
              <a:avLst/>
              <a:gdLst/>
              <a:ahLst/>
              <a:cxnLst/>
              <a:rect l="l" t="t" r="r" b="b"/>
              <a:pathLst>
                <a:path w="95104" h="659044">
                  <a:moveTo>
                    <a:pt x="47552" y="0"/>
                  </a:moveTo>
                  <a:lnTo>
                    <a:pt x="47552" y="0"/>
                  </a:lnTo>
                  <a:cubicBezTo>
                    <a:pt x="73814" y="0"/>
                    <a:pt x="95104" y="21290"/>
                    <a:pt x="95104" y="47552"/>
                  </a:cubicBezTo>
                  <a:lnTo>
                    <a:pt x="95104" y="611492"/>
                  </a:lnTo>
                  <a:cubicBezTo>
                    <a:pt x="95104" y="637754"/>
                    <a:pt x="73814" y="659044"/>
                    <a:pt x="47552" y="659044"/>
                  </a:cubicBezTo>
                  <a:lnTo>
                    <a:pt x="47552" y="659044"/>
                  </a:lnTo>
                  <a:cubicBezTo>
                    <a:pt x="21290" y="659044"/>
                    <a:pt x="0" y="637754"/>
                    <a:pt x="0" y="611492"/>
                  </a:cubicBezTo>
                  <a:lnTo>
                    <a:pt x="0" y="47552"/>
                  </a:lnTo>
                  <a:cubicBezTo>
                    <a:pt x="0" y="21290"/>
                    <a:pt x="21290" y="0"/>
                    <a:pt x="47552" y="0"/>
                  </a:cubicBezTo>
                  <a:close/>
                </a:path>
              </a:pathLst>
            </a:custGeom>
            <a:solidFill>
              <a:srgbClr val="2D4577"/>
            </a:solidFill>
          </p:spPr>
        </p:sp>
        <p:sp>
          <p:nvSpPr>
            <p:cNvPr id="114" name="TextBox 76">
              <a:extLst>
                <a:ext uri="{FF2B5EF4-FFF2-40B4-BE49-F238E27FC236}">
                  <a16:creationId xmlns:a16="http://schemas.microsoft.com/office/drawing/2014/main" id="{0E0C32F1-8CD1-4C4D-94DC-696EC48C12DB}"/>
                </a:ext>
              </a:extLst>
            </p:cNvPr>
            <p:cNvSpPr txBox="1"/>
            <p:nvPr/>
          </p:nvSpPr>
          <p:spPr>
            <a:xfrm>
              <a:off x="0" y="-38100"/>
              <a:ext cx="95104" cy="697144"/>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15" name="Group 77">
            <a:extLst>
              <a:ext uri="{FF2B5EF4-FFF2-40B4-BE49-F238E27FC236}">
                <a16:creationId xmlns:a16="http://schemas.microsoft.com/office/drawing/2014/main" id="{B9543E6A-09A6-4280-8929-14FD3FAADFE6}"/>
              </a:ext>
            </a:extLst>
          </p:cNvPr>
          <p:cNvGrpSpPr/>
          <p:nvPr/>
        </p:nvGrpSpPr>
        <p:grpSpPr>
          <a:xfrm>
            <a:off x="11093976" y="4707615"/>
            <a:ext cx="361099" cy="2502306"/>
            <a:chOff x="0" y="0"/>
            <a:chExt cx="95104" cy="659044"/>
          </a:xfrm>
        </p:grpSpPr>
        <p:sp>
          <p:nvSpPr>
            <p:cNvPr id="116" name="Freeform 78">
              <a:extLst>
                <a:ext uri="{FF2B5EF4-FFF2-40B4-BE49-F238E27FC236}">
                  <a16:creationId xmlns:a16="http://schemas.microsoft.com/office/drawing/2014/main" id="{8351859B-8CB5-45C6-BA8A-95FE9297ADBF}"/>
                </a:ext>
              </a:extLst>
            </p:cNvPr>
            <p:cNvSpPr/>
            <p:nvPr/>
          </p:nvSpPr>
          <p:spPr>
            <a:xfrm>
              <a:off x="0" y="0"/>
              <a:ext cx="95104" cy="659044"/>
            </a:xfrm>
            <a:custGeom>
              <a:avLst/>
              <a:gdLst/>
              <a:ahLst/>
              <a:cxnLst/>
              <a:rect l="l" t="t" r="r" b="b"/>
              <a:pathLst>
                <a:path w="95104" h="659044">
                  <a:moveTo>
                    <a:pt x="47552" y="0"/>
                  </a:moveTo>
                  <a:lnTo>
                    <a:pt x="47552" y="0"/>
                  </a:lnTo>
                  <a:cubicBezTo>
                    <a:pt x="73814" y="0"/>
                    <a:pt x="95104" y="21290"/>
                    <a:pt x="95104" y="47552"/>
                  </a:cubicBezTo>
                  <a:lnTo>
                    <a:pt x="95104" y="611492"/>
                  </a:lnTo>
                  <a:cubicBezTo>
                    <a:pt x="95104" y="637754"/>
                    <a:pt x="73814" y="659044"/>
                    <a:pt x="47552" y="659044"/>
                  </a:cubicBezTo>
                  <a:lnTo>
                    <a:pt x="47552" y="659044"/>
                  </a:lnTo>
                  <a:cubicBezTo>
                    <a:pt x="21290" y="659044"/>
                    <a:pt x="0" y="637754"/>
                    <a:pt x="0" y="611492"/>
                  </a:cubicBezTo>
                  <a:lnTo>
                    <a:pt x="0" y="47552"/>
                  </a:lnTo>
                  <a:cubicBezTo>
                    <a:pt x="0" y="21290"/>
                    <a:pt x="21290" y="0"/>
                    <a:pt x="47552" y="0"/>
                  </a:cubicBezTo>
                  <a:close/>
                </a:path>
              </a:pathLst>
            </a:custGeom>
            <a:solidFill>
              <a:srgbClr val="2D4577"/>
            </a:solidFill>
          </p:spPr>
        </p:sp>
        <p:sp>
          <p:nvSpPr>
            <p:cNvPr id="117" name="TextBox 79">
              <a:extLst>
                <a:ext uri="{FF2B5EF4-FFF2-40B4-BE49-F238E27FC236}">
                  <a16:creationId xmlns:a16="http://schemas.microsoft.com/office/drawing/2014/main" id="{C5592EBD-54D5-418C-A54E-9EA6FD653F08}"/>
                </a:ext>
              </a:extLst>
            </p:cNvPr>
            <p:cNvSpPr txBox="1"/>
            <p:nvPr/>
          </p:nvSpPr>
          <p:spPr>
            <a:xfrm>
              <a:off x="0" y="-38100"/>
              <a:ext cx="95104" cy="697144"/>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18" name="Group 80">
            <a:extLst>
              <a:ext uri="{FF2B5EF4-FFF2-40B4-BE49-F238E27FC236}">
                <a16:creationId xmlns:a16="http://schemas.microsoft.com/office/drawing/2014/main" id="{56C10701-BAC6-4914-8570-2865DCF24C51}"/>
              </a:ext>
            </a:extLst>
          </p:cNvPr>
          <p:cNvGrpSpPr/>
          <p:nvPr/>
        </p:nvGrpSpPr>
        <p:grpSpPr>
          <a:xfrm>
            <a:off x="3466416" y="6992705"/>
            <a:ext cx="361099" cy="2148932"/>
            <a:chOff x="0" y="0"/>
            <a:chExt cx="95104" cy="565974"/>
          </a:xfrm>
        </p:grpSpPr>
        <p:sp>
          <p:nvSpPr>
            <p:cNvPr id="119" name="Freeform 81">
              <a:extLst>
                <a:ext uri="{FF2B5EF4-FFF2-40B4-BE49-F238E27FC236}">
                  <a16:creationId xmlns:a16="http://schemas.microsoft.com/office/drawing/2014/main" id="{A724A356-5270-4399-A29D-249389DA6515}"/>
                </a:ext>
              </a:extLst>
            </p:cNvPr>
            <p:cNvSpPr/>
            <p:nvPr/>
          </p:nvSpPr>
          <p:spPr>
            <a:xfrm>
              <a:off x="0" y="0"/>
              <a:ext cx="95104" cy="565974"/>
            </a:xfrm>
            <a:custGeom>
              <a:avLst/>
              <a:gdLst/>
              <a:ahLst/>
              <a:cxnLst/>
              <a:rect l="l" t="t" r="r" b="b"/>
              <a:pathLst>
                <a:path w="95104" h="565974">
                  <a:moveTo>
                    <a:pt x="47552" y="0"/>
                  </a:moveTo>
                  <a:lnTo>
                    <a:pt x="47552" y="0"/>
                  </a:lnTo>
                  <a:cubicBezTo>
                    <a:pt x="73814" y="0"/>
                    <a:pt x="95104" y="21290"/>
                    <a:pt x="95104" y="47552"/>
                  </a:cubicBezTo>
                  <a:lnTo>
                    <a:pt x="95104" y="518422"/>
                  </a:lnTo>
                  <a:cubicBezTo>
                    <a:pt x="95104" y="544684"/>
                    <a:pt x="73814" y="565974"/>
                    <a:pt x="47552" y="565974"/>
                  </a:cubicBezTo>
                  <a:lnTo>
                    <a:pt x="47552" y="565974"/>
                  </a:lnTo>
                  <a:cubicBezTo>
                    <a:pt x="21290" y="565974"/>
                    <a:pt x="0" y="544684"/>
                    <a:pt x="0" y="518422"/>
                  </a:cubicBezTo>
                  <a:lnTo>
                    <a:pt x="0" y="47552"/>
                  </a:lnTo>
                  <a:cubicBezTo>
                    <a:pt x="0" y="21290"/>
                    <a:pt x="21290" y="0"/>
                    <a:pt x="47552" y="0"/>
                  </a:cubicBezTo>
                  <a:close/>
                </a:path>
              </a:pathLst>
            </a:custGeom>
            <a:solidFill>
              <a:srgbClr val="6D80A4"/>
            </a:solidFill>
          </p:spPr>
        </p:sp>
        <p:sp>
          <p:nvSpPr>
            <p:cNvPr id="120" name="TextBox 82">
              <a:extLst>
                <a:ext uri="{FF2B5EF4-FFF2-40B4-BE49-F238E27FC236}">
                  <a16:creationId xmlns:a16="http://schemas.microsoft.com/office/drawing/2014/main" id="{3CA63328-7306-4E09-ADC0-EE504F745420}"/>
                </a:ext>
              </a:extLst>
            </p:cNvPr>
            <p:cNvSpPr txBox="1"/>
            <p:nvPr/>
          </p:nvSpPr>
          <p:spPr>
            <a:xfrm>
              <a:off x="0" y="-38100"/>
              <a:ext cx="95104" cy="604074"/>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29" name="TextBox 91">
            <a:extLst>
              <a:ext uri="{FF2B5EF4-FFF2-40B4-BE49-F238E27FC236}">
                <a16:creationId xmlns:a16="http://schemas.microsoft.com/office/drawing/2014/main" id="{F52FDE64-C8EC-415D-912C-2CDFC771F55C}"/>
              </a:ext>
            </a:extLst>
          </p:cNvPr>
          <p:cNvSpPr txBox="1"/>
          <p:nvPr/>
        </p:nvSpPr>
        <p:spPr>
          <a:xfrm>
            <a:off x="12402005" y="3449267"/>
            <a:ext cx="4083805" cy="299569"/>
          </a:xfrm>
          <a:prstGeom prst="rect">
            <a:avLst/>
          </a:prstGeom>
        </p:spPr>
        <p:txBody>
          <a:bodyPr lIns="0" tIns="0" rIns="0" bIns="0" rtlCol="0" anchor="t">
            <a:spAutoFit/>
          </a:bodyPr>
          <a:lstStyle/>
          <a:p>
            <a:pPr>
              <a:lnSpc>
                <a:spcPts val="2519"/>
              </a:lnSpc>
              <a:spcBef>
                <a:spcPct val="0"/>
              </a:spcBef>
            </a:pPr>
            <a:r>
              <a:rPr lang="fr-FR" sz="1799" b="1" dirty="0" smtClean="0">
                <a:solidFill>
                  <a:srgbClr val="001D5E"/>
                </a:solidFill>
                <a:latin typeface="TT Fors Bold"/>
                <a:ea typeface="TT Fors Bold"/>
                <a:cs typeface="TT Fors Bold"/>
              </a:rPr>
              <a:t>Automatisation</a:t>
            </a:r>
            <a:r>
              <a:rPr lang="fr-FR" dirty="0" smtClean="0"/>
              <a:t> </a:t>
            </a:r>
            <a:r>
              <a:rPr lang="fr-FR" sz="1799" b="1" dirty="0" err="1">
                <a:solidFill>
                  <a:srgbClr val="001D5E"/>
                </a:solidFill>
                <a:latin typeface="TT Fors Bold"/>
                <a:ea typeface="TT Fors Bold"/>
                <a:cs typeface="TT Fors Bold"/>
              </a:rPr>
              <a:t>IaC</a:t>
            </a:r>
            <a:endParaRPr lang="en-US" sz="1799" b="1" dirty="0">
              <a:solidFill>
                <a:srgbClr val="001D5E"/>
              </a:solidFill>
              <a:latin typeface="TT Fors Bold"/>
              <a:ea typeface="TT Fors Bold"/>
              <a:cs typeface="TT Fors Bold"/>
              <a:sym typeface="TT Fors Bold"/>
            </a:endParaRPr>
          </a:p>
        </p:txBody>
      </p:sp>
      <p:sp>
        <p:nvSpPr>
          <p:cNvPr id="130" name="TextBox 92">
            <a:extLst>
              <a:ext uri="{FF2B5EF4-FFF2-40B4-BE49-F238E27FC236}">
                <a16:creationId xmlns:a16="http://schemas.microsoft.com/office/drawing/2014/main" id="{E7F7CABB-3F82-41DF-AFB2-1BCDD7DB9A32}"/>
              </a:ext>
            </a:extLst>
          </p:cNvPr>
          <p:cNvSpPr txBox="1"/>
          <p:nvPr/>
        </p:nvSpPr>
        <p:spPr>
          <a:xfrm>
            <a:off x="4774445" y="5688671"/>
            <a:ext cx="4083805" cy="292965"/>
          </a:xfrm>
          <a:prstGeom prst="rect">
            <a:avLst/>
          </a:prstGeom>
        </p:spPr>
        <p:txBody>
          <a:bodyPr lIns="0" tIns="0" rIns="0" bIns="0" rtlCol="0" anchor="t">
            <a:spAutoFit/>
          </a:bodyPr>
          <a:lstStyle/>
          <a:p>
            <a:pPr>
              <a:lnSpc>
                <a:spcPts val="2519"/>
              </a:lnSpc>
              <a:spcBef>
                <a:spcPct val="0"/>
              </a:spcBef>
            </a:pPr>
            <a:r>
              <a:rPr lang="fr-FR" sz="1799" b="1" dirty="0" smtClean="0">
                <a:solidFill>
                  <a:srgbClr val="001D5E"/>
                </a:solidFill>
                <a:latin typeface="TT Fors Bold"/>
                <a:ea typeface="TT Fors Bold"/>
                <a:cs typeface="TT Fors Bold"/>
              </a:rPr>
              <a:t>Architecture </a:t>
            </a:r>
            <a:r>
              <a:rPr lang="fr-FR" sz="1799" b="1" dirty="0">
                <a:solidFill>
                  <a:srgbClr val="001D5E"/>
                </a:solidFill>
                <a:latin typeface="TT Fors Bold"/>
                <a:ea typeface="TT Fors Bold"/>
                <a:cs typeface="TT Fors Bold"/>
              </a:rPr>
              <a:t>&amp; Déploiement</a:t>
            </a:r>
            <a:endParaRPr lang="en-US" sz="1799" b="1" dirty="0">
              <a:solidFill>
                <a:srgbClr val="001D5E"/>
              </a:solidFill>
              <a:latin typeface="TT Fors Bold"/>
              <a:ea typeface="TT Fors Bold"/>
              <a:cs typeface="TT Fors Bold"/>
              <a:sym typeface="TT Fors Bold"/>
            </a:endParaRPr>
          </a:p>
        </p:txBody>
      </p:sp>
      <p:sp>
        <p:nvSpPr>
          <p:cNvPr id="131" name="TextBox 93">
            <a:extLst>
              <a:ext uri="{FF2B5EF4-FFF2-40B4-BE49-F238E27FC236}">
                <a16:creationId xmlns:a16="http://schemas.microsoft.com/office/drawing/2014/main" id="{2CC7913D-317E-4157-BB50-6D744E14F906}"/>
              </a:ext>
            </a:extLst>
          </p:cNvPr>
          <p:cNvSpPr txBox="1"/>
          <p:nvPr/>
        </p:nvSpPr>
        <p:spPr>
          <a:xfrm>
            <a:off x="12402005" y="5676900"/>
            <a:ext cx="4083805" cy="299569"/>
          </a:xfrm>
          <a:prstGeom prst="rect">
            <a:avLst/>
          </a:prstGeom>
        </p:spPr>
        <p:txBody>
          <a:bodyPr lIns="0" tIns="0" rIns="0" bIns="0" rtlCol="0" anchor="t">
            <a:spAutoFit/>
          </a:bodyPr>
          <a:lstStyle/>
          <a:p>
            <a:pPr>
              <a:lnSpc>
                <a:spcPts val="2519"/>
              </a:lnSpc>
              <a:spcBef>
                <a:spcPct val="0"/>
              </a:spcBef>
            </a:pPr>
            <a:r>
              <a:rPr lang="fr-FR" sz="1799" b="1" dirty="0">
                <a:solidFill>
                  <a:srgbClr val="001D5E"/>
                </a:solidFill>
                <a:latin typeface="TT Fors Bold"/>
                <a:ea typeface="TT Fors Bold"/>
                <a:cs typeface="TT Fors Bold"/>
              </a:rPr>
              <a:t>Backup</a:t>
            </a:r>
            <a:r>
              <a:rPr lang="fr-FR" dirty="0"/>
              <a:t> </a:t>
            </a:r>
            <a:r>
              <a:rPr lang="fr-FR" sz="1799" b="1" dirty="0">
                <a:solidFill>
                  <a:srgbClr val="001D5E"/>
                </a:solidFill>
                <a:latin typeface="TT Fors Bold"/>
                <a:ea typeface="TT Fors Bold"/>
                <a:cs typeface="TT Fors Bold"/>
              </a:rPr>
              <a:t>&amp; </a:t>
            </a:r>
            <a:r>
              <a:rPr lang="fr-FR" sz="1799" b="1" dirty="0" err="1">
                <a:solidFill>
                  <a:srgbClr val="001D5E"/>
                </a:solidFill>
                <a:latin typeface="TT Fors Bold"/>
                <a:ea typeface="TT Fors Bold"/>
                <a:cs typeface="TT Fors Bold"/>
              </a:rPr>
              <a:t>Disaster</a:t>
            </a:r>
            <a:r>
              <a:rPr lang="fr-FR" dirty="0"/>
              <a:t> </a:t>
            </a:r>
            <a:r>
              <a:rPr lang="fr-FR" sz="1799" b="1" dirty="0" err="1">
                <a:solidFill>
                  <a:srgbClr val="001D5E"/>
                </a:solidFill>
                <a:latin typeface="TT Fors Bold"/>
                <a:ea typeface="TT Fors Bold"/>
                <a:cs typeface="TT Fors Bold"/>
              </a:rPr>
              <a:t>Recovery</a:t>
            </a:r>
            <a:endParaRPr lang="en-US" sz="1799" b="1" dirty="0">
              <a:solidFill>
                <a:srgbClr val="001D5E"/>
              </a:solidFill>
              <a:latin typeface="TT Fors Bold"/>
              <a:ea typeface="TT Fors Bold"/>
              <a:cs typeface="TT Fors Bold"/>
              <a:sym typeface="TT Fors Bold"/>
            </a:endParaRPr>
          </a:p>
        </p:txBody>
      </p:sp>
      <p:sp>
        <p:nvSpPr>
          <p:cNvPr id="134" name="TextBox 96">
            <a:extLst>
              <a:ext uri="{FF2B5EF4-FFF2-40B4-BE49-F238E27FC236}">
                <a16:creationId xmlns:a16="http://schemas.microsoft.com/office/drawing/2014/main" id="{D4A72835-C4BB-4808-9333-82B324268473}"/>
              </a:ext>
            </a:extLst>
          </p:cNvPr>
          <p:cNvSpPr txBox="1"/>
          <p:nvPr/>
        </p:nvSpPr>
        <p:spPr>
          <a:xfrm>
            <a:off x="4774445" y="7898471"/>
            <a:ext cx="4083805" cy="299569"/>
          </a:xfrm>
          <a:prstGeom prst="rect">
            <a:avLst/>
          </a:prstGeom>
        </p:spPr>
        <p:txBody>
          <a:bodyPr lIns="0" tIns="0" rIns="0" bIns="0" rtlCol="0" anchor="t">
            <a:spAutoFit/>
          </a:bodyPr>
          <a:lstStyle/>
          <a:p>
            <a:pPr>
              <a:lnSpc>
                <a:spcPts val="2519"/>
              </a:lnSpc>
              <a:spcBef>
                <a:spcPct val="0"/>
              </a:spcBef>
            </a:pPr>
            <a:r>
              <a:rPr lang="fr-FR" sz="1799" b="1" dirty="0" smtClean="0">
                <a:solidFill>
                  <a:srgbClr val="001D5E"/>
                </a:solidFill>
                <a:latin typeface="TT Fors Bold"/>
                <a:ea typeface="TT Fors Bold"/>
                <a:cs typeface="TT Fors Bold"/>
              </a:rPr>
              <a:t>Sécurité</a:t>
            </a:r>
            <a:r>
              <a:rPr lang="fr-FR" dirty="0" smtClean="0"/>
              <a:t> </a:t>
            </a:r>
            <a:r>
              <a:rPr lang="fr-FR" sz="1799" b="1" dirty="0" err="1">
                <a:solidFill>
                  <a:srgbClr val="001D5E"/>
                </a:solidFill>
                <a:latin typeface="TT Fors Bold"/>
                <a:ea typeface="TT Fors Bold"/>
                <a:cs typeface="TT Fors Bold"/>
              </a:rPr>
              <a:t>Zero</a:t>
            </a:r>
            <a:r>
              <a:rPr lang="fr-FR" sz="1799" b="1" dirty="0">
                <a:solidFill>
                  <a:srgbClr val="001D5E"/>
                </a:solidFill>
                <a:latin typeface="TT Fors Bold"/>
                <a:ea typeface="TT Fors Bold"/>
                <a:cs typeface="TT Fors Bold"/>
              </a:rPr>
              <a:t>-Trust</a:t>
            </a:r>
            <a:endParaRPr lang="en-US" sz="1799" b="1" dirty="0">
              <a:solidFill>
                <a:srgbClr val="001D5E"/>
              </a:solidFill>
              <a:latin typeface="TT Fors Bold"/>
              <a:ea typeface="TT Fors Bold"/>
              <a:cs typeface="TT Fors Bold"/>
              <a:sym typeface="TT Fors Bold"/>
            </a:endParaRPr>
          </a:p>
        </p:txBody>
      </p:sp>
      <p:grpSp>
        <p:nvGrpSpPr>
          <p:cNvPr id="175" name="Group 14">
            <a:extLst>
              <a:ext uri="{FF2B5EF4-FFF2-40B4-BE49-F238E27FC236}">
                <a16:creationId xmlns:a16="http://schemas.microsoft.com/office/drawing/2014/main" id="{BBE435A9-24D1-40B6-BD9A-8028F91DF6F5}"/>
              </a:ext>
            </a:extLst>
          </p:cNvPr>
          <p:cNvGrpSpPr/>
          <p:nvPr/>
        </p:nvGrpSpPr>
        <p:grpSpPr>
          <a:xfrm>
            <a:off x="9445654" y="7430649"/>
            <a:ext cx="1238171" cy="1238171"/>
            <a:chOff x="0" y="0"/>
            <a:chExt cx="812800" cy="812800"/>
          </a:xfrm>
        </p:grpSpPr>
        <p:sp>
          <p:nvSpPr>
            <p:cNvPr id="176" name="Freeform 15">
              <a:extLst>
                <a:ext uri="{FF2B5EF4-FFF2-40B4-BE49-F238E27FC236}">
                  <a16:creationId xmlns:a16="http://schemas.microsoft.com/office/drawing/2014/main" id="{87352676-0F6C-48A3-BDB8-93BE8281D01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D80A4"/>
            </a:solidFill>
          </p:spPr>
        </p:sp>
        <p:sp>
          <p:nvSpPr>
            <p:cNvPr id="177" name="TextBox 16">
              <a:extLst>
                <a:ext uri="{FF2B5EF4-FFF2-40B4-BE49-F238E27FC236}">
                  <a16:creationId xmlns:a16="http://schemas.microsoft.com/office/drawing/2014/main" id="{F3FD9713-5308-44E1-8706-A6CA5C6CB453}"/>
                </a:ext>
              </a:extLst>
            </p:cNvPr>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700" b="1" dirty="0" smtClean="0">
                  <a:solidFill>
                    <a:srgbClr val="F6F6F6"/>
                  </a:solidFill>
                  <a:latin typeface="TT Fors Bold"/>
                  <a:ea typeface="TT Fors Bold"/>
                  <a:cs typeface="TT Fors Bold"/>
                  <a:sym typeface="TT Fors Bold"/>
                </a:rPr>
                <a:t>06</a:t>
              </a:r>
              <a:endParaRPr lang="en-US" sz="2700" b="1" dirty="0">
                <a:solidFill>
                  <a:srgbClr val="F6F6F6"/>
                </a:solidFill>
                <a:latin typeface="TT Fors Bold"/>
                <a:ea typeface="TT Fors Bold"/>
                <a:cs typeface="TT Fors Bold"/>
                <a:sym typeface="TT Fors Bold"/>
              </a:endParaRPr>
            </a:p>
          </p:txBody>
        </p:sp>
      </p:grpSp>
      <p:sp>
        <p:nvSpPr>
          <p:cNvPr id="178" name="Freeform 36">
            <a:extLst>
              <a:ext uri="{FF2B5EF4-FFF2-40B4-BE49-F238E27FC236}">
                <a16:creationId xmlns:a16="http://schemas.microsoft.com/office/drawing/2014/main" id="{F16A613D-D77D-45D4-9883-F711E513F297}"/>
              </a:ext>
            </a:extLst>
          </p:cNvPr>
          <p:cNvSpPr/>
          <p:nvPr/>
        </p:nvSpPr>
        <p:spPr>
          <a:xfrm>
            <a:off x="12022744" y="8241187"/>
            <a:ext cx="4462381" cy="884363"/>
          </a:xfrm>
          <a:custGeom>
            <a:avLst/>
            <a:gdLst/>
            <a:ahLst/>
            <a:cxnLst/>
            <a:rect l="l" t="t" r="r" b="b"/>
            <a:pathLst>
              <a:path w="4462381" h="884363">
                <a:moveTo>
                  <a:pt x="0" y="0"/>
                </a:moveTo>
                <a:lnTo>
                  <a:pt x="4462381" y="0"/>
                </a:lnTo>
                <a:lnTo>
                  <a:pt x="4462381" y="884363"/>
                </a:lnTo>
                <a:lnTo>
                  <a:pt x="0" y="884363"/>
                </a:lnTo>
                <a:lnTo>
                  <a:pt x="0" y="0"/>
                </a:lnTo>
                <a:close/>
              </a:path>
            </a:pathLst>
          </a:custGeom>
          <a:blipFill>
            <a:blip r:embed="rId4">
              <a:alphaModFix amt="53000"/>
            </a:blip>
            <a:stretch>
              <a:fillRect/>
            </a:stretch>
          </a:blipFill>
        </p:spPr>
      </p:sp>
      <p:grpSp>
        <p:nvGrpSpPr>
          <p:cNvPr id="179" name="Group 38">
            <a:extLst>
              <a:ext uri="{FF2B5EF4-FFF2-40B4-BE49-F238E27FC236}">
                <a16:creationId xmlns:a16="http://schemas.microsoft.com/office/drawing/2014/main" id="{C0C9AA38-CCC6-4D8C-8BBB-C70A4083B3A9}"/>
              </a:ext>
            </a:extLst>
          </p:cNvPr>
          <p:cNvGrpSpPr/>
          <p:nvPr/>
        </p:nvGrpSpPr>
        <p:grpSpPr>
          <a:xfrm>
            <a:off x="12025890" y="7192484"/>
            <a:ext cx="4459235" cy="1714500"/>
            <a:chOff x="0" y="0"/>
            <a:chExt cx="1174449" cy="451556"/>
          </a:xfrm>
        </p:grpSpPr>
        <p:sp>
          <p:nvSpPr>
            <p:cNvPr id="180" name="Freeform 39">
              <a:extLst>
                <a:ext uri="{FF2B5EF4-FFF2-40B4-BE49-F238E27FC236}">
                  <a16:creationId xmlns:a16="http://schemas.microsoft.com/office/drawing/2014/main" id="{62CE3EFA-568E-4349-8520-CC2182EC6A7C}"/>
                </a:ext>
              </a:extLst>
            </p:cNvPr>
            <p:cNvSpPr/>
            <p:nvPr/>
          </p:nvSpPr>
          <p:spPr>
            <a:xfrm>
              <a:off x="0" y="0"/>
              <a:ext cx="1174449" cy="451556"/>
            </a:xfrm>
            <a:custGeom>
              <a:avLst/>
              <a:gdLst/>
              <a:ahLst/>
              <a:cxnLst/>
              <a:rect l="l" t="t" r="r" b="b"/>
              <a:pathLst>
                <a:path w="1174449" h="451556">
                  <a:moveTo>
                    <a:pt x="34723" y="0"/>
                  </a:moveTo>
                  <a:lnTo>
                    <a:pt x="1139726" y="0"/>
                  </a:lnTo>
                  <a:cubicBezTo>
                    <a:pt x="1158903" y="0"/>
                    <a:pt x="1174449" y="15546"/>
                    <a:pt x="1174449" y="34723"/>
                  </a:cubicBezTo>
                  <a:lnTo>
                    <a:pt x="1174449" y="416833"/>
                  </a:lnTo>
                  <a:cubicBezTo>
                    <a:pt x="1174449" y="426042"/>
                    <a:pt x="1170791" y="434874"/>
                    <a:pt x="1164279" y="441385"/>
                  </a:cubicBezTo>
                  <a:cubicBezTo>
                    <a:pt x="1157767" y="447897"/>
                    <a:pt x="1148935" y="451556"/>
                    <a:pt x="1139726" y="451556"/>
                  </a:cubicBezTo>
                  <a:lnTo>
                    <a:pt x="34723" y="451556"/>
                  </a:lnTo>
                  <a:cubicBezTo>
                    <a:pt x="25514" y="451556"/>
                    <a:pt x="16682" y="447897"/>
                    <a:pt x="10170" y="441385"/>
                  </a:cubicBezTo>
                  <a:cubicBezTo>
                    <a:pt x="3658" y="434874"/>
                    <a:pt x="0" y="426042"/>
                    <a:pt x="0" y="416833"/>
                  </a:cubicBezTo>
                  <a:lnTo>
                    <a:pt x="0" y="34723"/>
                  </a:lnTo>
                  <a:cubicBezTo>
                    <a:pt x="0" y="25514"/>
                    <a:pt x="3658" y="16682"/>
                    <a:pt x="10170" y="10170"/>
                  </a:cubicBezTo>
                  <a:cubicBezTo>
                    <a:pt x="16682" y="3658"/>
                    <a:pt x="25514" y="0"/>
                    <a:pt x="34723" y="0"/>
                  </a:cubicBezTo>
                  <a:close/>
                </a:path>
              </a:pathLst>
            </a:custGeom>
            <a:solidFill>
              <a:srgbClr val="F6F6F6"/>
            </a:solidFill>
          </p:spPr>
        </p:sp>
        <p:sp>
          <p:nvSpPr>
            <p:cNvPr id="181" name="TextBox 40">
              <a:extLst>
                <a:ext uri="{FF2B5EF4-FFF2-40B4-BE49-F238E27FC236}">
                  <a16:creationId xmlns:a16="http://schemas.microsoft.com/office/drawing/2014/main" id="{FA09BB6D-46B4-4A20-9043-D7D40B32AFA9}"/>
                </a:ext>
              </a:extLst>
            </p:cNvPr>
            <p:cNvSpPr txBox="1"/>
            <p:nvPr/>
          </p:nvSpPr>
          <p:spPr>
            <a:xfrm>
              <a:off x="0" y="-38100"/>
              <a:ext cx="1174449" cy="489656"/>
            </a:xfrm>
            <a:prstGeom prst="rect">
              <a:avLst/>
            </a:prstGeom>
          </p:spPr>
          <p:txBody>
            <a:bodyPr lIns="50800" tIns="50800" rIns="50800" bIns="50800" rtlCol="0" anchor="ctr"/>
            <a:lstStyle/>
            <a:p>
              <a:pPr algn="ctr">
                <a:lnSpc>
                  <a:spcPts val="2520"/>
                </a:lnSpc>
              </a:pPr>
              <a:endParaRPr/>
            </a:p>
          </p:txBody>
        </p:sp>
      </p:grpSp>
      <p:grpSp>
        <p:nvGrpSpPr>
          <p:cNvPr id="182" name="Group 56">
            <a:extLst>
              <a:ext uri="{FF2B5EF4-FFF2-40B4-BE49-F238E27FC236}">
                <a16:creationId xmlns:a16="http://schemas.microsoft.com/office/drawing/2014/main" id="{11B23E44-BB3F-46B3-BE89-D5D70668F313}"/>
              </a:ext>
            </a:extLst>
          </p:cNvPr>
          <p:cNvGrpSpPr/>
          <p:nvPr/>
        </p:nvGrpSpPr>
        <p:grpSpPr>
          <a:xfrm>
            <a:off x="11918173" y="7945163"/>
            <a:ext cx="209142" cy="209142"/>
            <a:chOff x="0" y="0"/>
            <a:chExt cx="812800" cy="812800"/>
          </a:xfrm>
        </p:grpSpPr>
        <p:sp>
          <p:nvSpPr>
            <p:cNvPr id="183" name="Freeform 57">
              <a:extLst>
                <a:ext uri="{FF2B5EF4-FFF2-40B4-BE49-F238E27FC236}">
                  <a16:creationId xmlns:a16="http://schemas.microsoft.com/office/drawing/2014/main" id="{C8F17065-15C5-4773-A72D-C744D0B1A81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D80A4"/>
            </a:solidFill>
          </p:spPr>
        </p:sp>
        <p:sp>
          <p:nvSpPr>
            <p:cNvPr id="184" name="TextBox 58">
              <a:extLst>
                <a:ext uri="{FF2B5EF4-FFF2-40B4-BE49-F238E27FC236}">
                  <a16:creationId xmlns:a16="http://schemas.microsoft.com/office/drawing/2014/main" id="{6E7F3453-F3A6-4878-8AED-570EB817756C}"/>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85" name="AutoShape 66">
            <a:extLst>
              <a:ext uri="{FF2B5EF4-FFF2-40B4-BE49-F238E27FC236}">
                <a16:creationId xmlns:a16="http://schemas.microsoft.com/office/drawing/2014/main" id="{35D70CF2-BCBB-43F7-9DD6-EC179B00F2EF}"/>
              </a:ext>
            </a:extLst>
          </p:cNvPr>
          <p:cNvSpPr/>
          <p:nvPr/>
        </p:nvSpPr>
        <p:spPr>
          <a:xfrm>
            <a:off x="10683825" y="8049734"/>
            <a:ext cx="1234348" cy="0"/>
          </a:xfrm>
          <a:prstGeom prst="line">
            <a:avLst/>
          </a:prstGeom>
          <a:ln w="38100" cap="flat">
            <a:solidFill>
              <a:srgbClr val="6D80A4"/>
            </a:solidFill>
            <a:prstDash val="solid"/>
            <a:headEnd type="none" w="sm" len="sm"/>
            <a:tailEnd type="none" w="sm" len="sm"/>
          </a:ln>
        </p:spPr>
      </p:sp>
      <p:grpSp>
        <p:nvGrpSpPr>
          <p:cNvPr id="186" name="Group 80">
            <a:extLst>
              <a:ext uri="{FF2B5EF4-FFF2-40B4-BE49-F238E27FC236}">
                <a16:creationId xmlns:a16="http://schemas.microsoft.com/office/drawing/2014/main" id="{56C10701-BAC6-4914-8570-2865DCF24C51}"/>
              </a:ext>
            </a:extLst>
          </p:cNvPr>
          <p:cNvGrpSpPr/>
          <p:nvPr/>
        </p:nvGrpSpPr>
        <p:grpSpPr>
          <a:xfrm>
            <a:off x="11093291" y="6975268"/>
            <a:ext cx="361099" cy="2148932"/>
            <a:chOff x="0" y="0"/>
            <a:chExt cx="95104" cy="565974"/>
          </a:xfrm>
        </p:grpSpPr>
        <p:sp>
          <p:nvSpPr>
            <p:cNvPr id="187" name="Freeform 81">
              <a:extLst>
                <a:ext uri="{FF2B5EF4-FFF2-40B4-BE49-F238E27FC236}">
                  <a16:creationId xmlns:a16="http://schemas.microsoft.com/office/drawing/2014/main" id="{A724A356-5270-4399-A29D-249389DA6515}"/>
                </a:ext>
              </a:extLst>
            </p:cNvPr>
            <p:cNvSpPr/>
            <p:nvPr/>
          </p:nvSpPr>
          <p:spPr>
            <a:xfrm>
              <a:off x="0" y="0"/>
              <a:ext cx="95104" cy="565974"/>
            </a:xfrm>
            <a:custGeom>
              <a:avLst/>
              <a:gdLst/>
              <a:ahLst/>
              <a:cxnLst/>
              <a:rect l="l" t="t" r="r" b="b"/>
              <a:pathLst>
                <a:path w="95104" h="565974">
                  <a:moveTo>
                    <a:pt x="47552" y="0"/>
                  </a:moveTo>
                  <a:lnTo>
                    <a:pt x="47552" y="0"/>
                  </a:lnTo>
                  <a:cubicBezTo>
                    <a:pt x="73814" y="0"/>
                    <a:pt x="95104" y="21290"/>
                    <a:pt x="95104" y="47552"/>
                  </a:cubicBezTo>
                  <a:lnTo>
                    <a:pt x="95104" y="518422"/>
                  </a:lnTo>
                  <a:cubicBezTo>
                    <a:pt x="95104" y="544684"/>
                    <a:pt x="73814" y="565974"/>
                    <a:pt x="47552" y="565974"/>
                  </a:cubicBezTo>
                  <a:lnTo>
                    <a:pt x="47552" y="565974"/>
                  </a:lnTo>
                  <a:cubicBezTo>
                    <a:pt x="21290" y="565974"/>
                    <a:pt x="0" y="544684"/>
                    <a:pt x="0" y="518422"/>
                  </a:cubicBezTo>
                  <a:lnTo>
                    <a:pt x="0" y="47552"/>
                  </a:lnTo>
                  <a:cubicBezTo>
                    <a:pt x="0" y="21290"/>
                    <a:pt x="21290" y="0"/>
                    <a:pt x="47552" y="0"/>
                  </a:cubicBezTo>
                  <a:close/>
                </a:path>
              </a:pathLst>
            </a:custGeom>
            <a:solidFill>
              <a:srgbClr val="6D80A4"/>
            </a:solidFill>
          </p:spPr>
        </p:sp>
        <p:sp>
          <p:nvSpPr>
            <p:cNvPr id="188" name="TextBox 82">
              <a:extLst>
                <a:ext uri="{FF2B5EF4-FFF2-40B4-BE49-F238E27FC236}">
                  <a16:creationId xmlns:a16="http://schemas.microsoft.com/office/drawing/2014/main" id="{3CA63328-7306-4E09-ADC0-EE504F745420}"/>
                </a:ext>
              </a:extLst>
            </p:cNvPr>
            <p:cNvSpPr txBox="1"/>
            <p:nvPr/>
          </p:nvSpPr>
          <p:spPr>
            <a:xfrm>
              <a:off x="0" y="-38100"/>
              <a:ext cx="95104" cy="604074"/>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89" name="TextBox 96">
            <a:extLst>
              <a:ext uri="{FF2B5EF4-FFF2-40B4-BE49-F238E27FC236}">
                <a16:creationId xmlns:a16="http://schemas.microsoft.com/office/drawing/2014/main" id="{D4A72835-C4BB-4808-9333-82B324268473}"/>
              </a:ext>
            </a:extLst>
          </p:cNvPr>
          <p:cNvSpPr txBox="1"/>
          <p:nvPr/>
        </p:nvSpPr>
        <p:spPr>
          <a:xfrm>
            <a:off x="12401320" y="7881034"/>
            <a:ext cx="4083805" cy="299569"/>
          </a:xfrm>
          <a:prstGeom prst="rect">
            <a:avLst/>
          </a:prstGeom>
        </p:spPr>
        <p:txBody>
          <a:bodyPr lIns="0" tIns="0" rIns="0" bIns="0" rtlCol="0" anchor="t">
            <a:spAutoFit/>
          </a:bodyPr>
          <a:lstStyle/>
          <a:p>
            <a:pPr>
              <a:lnSpc>
                <a:spcPts val="2519"/>
              </a:lnSpc>
              <a:spcBef>
                <a:spcPct val="0"/>
              </a:spcBef>
            </a:pPr>
            <a:r>
              <a:rPr lang="fr-FR" sz="1799" b="1" dirty="0">
                <a:solidFill>
                  <a:srgbClr val="001D5E"/>
                </a:solidFill>
                <a:latin typeface="TT Fors Bold"/>
                <a:ea typeface="TT Fors Bold"/>
                <a:cs typeface="TT Fors Bold"/>
              </a:rPr>
              <a:t>Supervision</a:t>
            </a:r>
            <a:r>
              <a:rPr lang="fr-FR" dirty="0"/>
              <a:t> </a:t>
            </a:r>
            <a:r>
              <a:rPr lang="fr-FR" sz="1799" b="1" dirty="0">
                <a:solidFill>
                  <a:srgbClr val="001D5E"/>
                </a:solidFill>
                <a:latin typeface="TT Fors Bold"/>
                <a:ea typeface="TT Fors Bold"/>
                <a:cs typeface="TT Fors Bold"/>
              </a:rPr>
              <a:t>&amp;</a:t>
            </a:r>
            <a:r>
              <a:rPr lang="fr-FR" dirty="0"/>
              <a:t> </a:t>
            </a:r>
            <a:r>
              <a:rPr lang="fr-FR" sz="1799" b="1" dirty="0" smtClean="0">
                <a:solidFill>
                  <a:srgbClr val="001D5E"/>
                </a:solidFill>
                <a:latin typeface="TT Fors Bold"/>
                <a:ea typeface="TT Fors Bold"/>
                <a:cs typeface="TT Fors Bold"/>
              </a:rPr>
              <a:t>Résultats</a:t>
            </a:r>
            <a:endParaRPr lang="en-US" sz="1799" b="1" dirty="0">
              <a:solidFill>
                <a:srgbClr val="001D5E"/>
              </a:solidFill>
              <a:latin typeface="TT Fors Bold"/>
              <a:ea typeface="TT Fors Bold"/>
              <a:cs typeface="TT Fors Bold"/>
              <a:sym typeface="TT Fors Bold"/>
            </a:endParaRPr>
          </a:p>
        </p:txBody>
      </p:sp>
      <p:sp>
        <p:nvSpPr>
          <p:cNvPr id="3" name="Rectangle 2"/>
          <p:cNvSpPr>
            <a:spLocks noChangeArrowheads="1"/>
          </p:cNvSpPr>
          <p:nvPr/>
        </p:nvSpPr>
        <p:spPr bwMode="auto">
          <a:xfrm>
            <a:off x="4596911" y="3440670"/>
            <a:ext cx="3134191" cy="3852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fontAlgn="base">
              <a:lnSpc>
                <a:spcPts val="2519"/>
              </a:lnSpc>
              <a:spcBef>
                <a:spcPct val="0"/>
              </a:spcBef>
              <a:spcAft>
                <a:spcPct val="0"/>
              </a:spcAft>
            </a:pPr>
            <a:r>
              <a:rPr lang="fr-FR" altLang="fr-FR" sz="1799" b="1" dirty="0" smtClean="0">
                <a:solidFill>
                  <a:srgbClr val="001D5E"/>
                </a:solidFill>
                <a:latin typeface="TT Fors Bold"/>
                <a:ea typeface="TT Fors Bold"/>
                <a:cs typeface="TT Fors Bold"/>
              </a:rPr>
              <a:t>Contexte &amp; Problématique </a:t>
            </a:r>
            <a:endParaRPr lang="fr-FR" altLang="fr-FR" sz="1799" b="1" dirty="0">
              <a:solidFill>
                <a:srgbClr val="001D5E"/>
              </a:solidFill>
              <a:latin typeface="TT Fors Bold"/>
              <a:ea typeface="TT Fors Bold"/>
              <a:cs typeface="TT Fors Bold"/>
            </a:endParaRPr>
          </a:p>
        </p:txBody>
      </p:sp>
      <p:sp>
        <p:nvSpPr>
          <p:cNvPr id="5" name="Espace réservé du numéro de diapositive 4"/>
          <p:cNvSpPr>
            <a:spLocks noGrp="1"/>
          </p:cNvSpPr>
          <p:nvPr>
            <p:ph type="sldNum" sz="quarter" idx="12"/>
          </p:nvPr>
        </p:nvSpPr>
        <p:spPr/>
        <p:txBody>
          <a:bodyPr/>
          <a:lstStyle/>
          <a:p>
            <a:fld id="{B6F15528-21DE-4FAA-801E-634DDDAF4B2B}" type="slidenum">
              <a:rPr lang="en-US" smtClean="0"/>
              <a:pPr/>
              <a:t>2</a:t>
            </a:fld>
            <a:endParaRPr lang="en-US"/>
          </a:p>
        </p:txBody>
      </p:sp>
    </p:spTree>
    <p:extLst>
      <p:ext uri="{BB962C8B-B14F-4D97-AF65-F5344CB8AC3E}">
        <p14:creationId xmlns:p14="http://schemas.microsoft.com/office/powerpoint/2010/main" val="25986236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fill="hold"/>
                                        <p:tgtEl>
                                          <p:spTgt spid="22"/>
                                        </p:tgtEl>
                                        <p:attrNameLst>
                                          <p:attrName>ppt_x</p:attrName>
                                        </p:attrNameLst>
                                      </p:cBhvr>
                                      <p:tavLst>
                                        <p:tav tm="0">
                                          <p:val>
                                            <p:strVal val="#ppt_x"/>
                                          </p:val>
                                        </p:tav>
                                        <p:tav tm="100000">
                                          <p:val>
                                            <p:strVal val="#ppt_x"/>
                                          </p:val>
                                        </p:tav>
                                      </p:tavLst>
                                    </p:anim>
                                    <p:anim calcmode="lin" valueType="num">
                                      <p:cBhvr additive="base">
                                        <p:cTn id="8" dur="500" fill="hold"/>
                                        <p:tgtEl>
                                          <p:spTgt spid="2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7"/>
                                        </p:tgtEl>
                                        <p:attrNameLst>
                                          <p:attrName>style.visibility</p:attrName>
                                        </p:attrNameLst>
                                      </p:cBhvr>
                                      <p:to>
                                        <p:strVal val="visible"/>
                                      </p:to>
                                    </p:set>
                                    <p:anim calcmode="lin" valueType="num">
                                      <p:cBhvr additive="base">
                                        <p:cTn id="11" dur="500" fill="hold"/>
                                        <p:tgtEl>
                                          <p:spTgt spid="47"/>
                                        </p:tgtEl>
                                        <p:attrNameLst>
                                          <p:attrName>ppt_x</p:attrName>
                                        </p:attrNameLst>
                                      </p:cBhvr>
                                      <p:tavLst>
                                        <p:tav tm="0">
                                          <p:val>
                                            <p:strVal val="#ppt_x"/>
                                          </p:val>
                                        </p:tav>
                                        <p:tav tm="100000">
                                          <p:val>
                                            <p:strVal val="#ppt_x"/>
                                          </p:val>
                                        </p:tav>
                                      </p:tavLst>
                                    </p:anim>
                                    <p:anim calcmode="lin" valueType="num">
                                      <p:cBhvr additive="base">
                                        <p:cTn id="12" dur="500" fill="hold"/>
                                        <p:tgtEl>
                                          <p:spTgt spid="47"/>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51"/>
                                        </p:tgtEl>
                                        <p:attrNameLst>
                                          <p:attrName>style.visibility</p:attrName>
                                        </p:attrNameLst>
                                      </p:cBhvr>
                                      <p:to>
                                        <p:strVal val="visible"/>
                                      </p:to>
                                    </p:set>
                                    <p:anim calcmode="lin" valueType="num">
                                      <p:cBhvr additive="base">
                                        <p:cTn id="15" dur="500" fill="hold"/>
                                        <p:tgtEl>
                                          <p:spTgt spid="51"/>
                                        </p:tgtEl>
                                        <p:attrNameLst>
                                          <p:attrName>ppt_x</p:attrName>
                                        </p:attrNameLst>
                                      </p:cBhvr>
                                      <p:tavLst>
                                        <p:tav tm="0">
                                          <p:val>
                                            <p:strVal val="#ppt_x"/>
                                          </p:val>
                                        </p:tav>
                                        <p:tav tm="100000">
                                          <p:val>
                                            <p:strVal val="#ppt_x"/>
                                          </p:val>
                                        </p:tav>
                                      </p:tavLst>
                                    </p:anim>
                                    <p:anim calcmode="lin" valueType="num">
                                      <p:cBhvr additive="base">
                                        <p:cTn id="16" dur="500" fill="hold"/>
                                        <p:tgtEl>
                                          <p:spTgt spid="5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71"/>
                                        </p:tgtEl>
                                        <p:attrNameLst>
                                          <p:attrName>style.visibility</p:attrName>
                                        </p:attrNameLst>
                                      </p:cBhvr>
                                      <p:to>
                                        <p:strVal val="visible"/>
                                      </p:to>
                                    </p:set>
                                    <p:anim calcmode="lin" valueType="num">
                                      <p:cBhvr additive="base">
                                        <p:cTn id="19" dur="500" fill="hold"/>
                                        <p:tgtEl>
                                          <p:spTgt spid="71"/>
                                        </p:tgtEl>
                                        <p:attrNameLst>
                                          <p:attrName>ppt_x</p:attrName>
                                        </p:attrNameLst>
                                      </p:cBhvr>
                                      <p:tavLst>
                                        <p:tav tm="0">
                                          <p:val>
                                            <p:strVal val="#ppt_x"/>
                                          </p:val>
                                        </p:tav>
                                        <p:tav tm="100000">
                                          <p:val>
                                            <p:strVal val="#ppt_x"/>
                                          </p:val>
                                        </p:tav>
                                      </p:tavLst>
                                    </p:anim>
                                    <p:anim calcmode="lin" valueType="num">
                                      <p:cBhvr additive="base">
                                        <p:cTn id="20" dur="500" fill="hold"/>
                                        <p:tgtEl>
                                          <p:spTgt spid="71"/>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00"/>
                                        </p:tgtEl>
                                        <p:attrNameLst>
                                          <p:attrName>style.visibility</p:attrName>
                                        </p:attrNameLst>
                                      </p:cBhvr>
                                      <p:to>
                                        <p:strVal val="visible"/>
                                      </p:to>
                                    </p:set>
                                    <p:anim calcmode="lin" valueType="num">
                                      <p:cBhvr additive="base">
                                        <p:cTn id="23" dur="500" fill="hold"/>
                                        <p:tgtEl>
                                          <p:spTgt spid="100"/>
                                        </p:tgtEl>
                                        <p:attrNameLst>
                                          <p:attrName>ppt_x</p:attrName>
                                        </p:attrNameLst>
                                      </p:cBhvr>
                                      <p:tavLst>
                                        <p:tav tm="0">
                                          <p:val>
                                            <p:strVal val="#ppt_x"/>
                                          </p:val>
                                        </p:tav>
                                        <p:tav tm="100000">
                                          <p:val>
                                            <p:strVal val="#ppt_x"/>
                                          </p:val>
                                        </p:tav>
                                      </p:tavLst>
                                    </p:anim>
                                    <p:anim calcmode="lin" valueType="num">
                                      <p:cBhvr additive="base">
                                        <p:cTn id="24" dur="500" fill="hold"/>
                                        <p:tgtEl>
                                          <p:spTgt spid="100"/>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 calcmode="lin" valueType="num">
                                      <p:cBhvr additive="base">
                                        <p:cTn id="27" dur="500" fill="hold"/>
                                        <p:tgtEl>
                                          <p:spTgt spid="106"/>
                                        </p:tgtEl>
                                        <p:attrNameLst>
                                          <p:attrName>ppt_x</p:attrName>
                                        </p:attrNameLst>
                                      </p:cBhvr>
                                      <p:tavLst>
                                        <p:tav tm="0">
                                          <p:val>
                                            <p:strVal val="#ppt_x"/>
                                          </p:val>
                                        </p:tav>
                                        <p:tav tm="100000">
                                          <p:val>
                                            <p:strVal val="#ppt_x"/>
                                          </p:val>
                                        </p:tav>
                                      </p:tavLst>
                                    </p:anim>
                                    <p:anim calcmode="lin" valueType="num">
                                      <p:cBhvr additive="base">
                                        <p:cTn id="28" dur="500" fill="hold"/>
                                        <p:tgtEl>
                                          <p:spTgt spid="106"/>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anim calcmode="lin" valueType="num">
                                      <p:cBhvr additive="base">
                                        <p:cTn id="31" dur="500" fill="hold"/>
                                        <p:tgtEl>
                                          <p:spTgt spid="3"/>
                                        </p:tgtEl>
                                        <p:attrNameLst>
                                          <p:attrName>ppt_x</p:attrName>
                                        </p:attrNameLst>
                                      </p:cBhvr>
                                      <p:tavLst>
                                        <p:tav tm="0">
                                          <p:val>
                                            <p:strVal val="#ppt_x"/>
                                          </p:val>
                                        </p:tav>
                                        <p:tav tm="100000">
                                          <p:val>
                                            <p:strVal val="#ppt_x"/>
                                          </p:val>
                                        </p:tav>
                                      </p:tavLst>
                                    </p:anim>
                                    <p:anim calcmode="lin" valueType="num">
                                      <p:cBhvr additive="base">
                                        <p:cTn id="3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 calcmode="lin" valueType="num">
                                      <p:cBhvr additive="base">
                                        <p:cTn id="37" dur="500" fill="hold"/>
                                        <p:tgtEl>
                                          <p:spTgt spid="34"/>
                                        </p:tgtEl>
                                        <p:attrNameLst>
                                          <p:attrName>ppt_x</p:attrName>
                                        </p:attrNameLst>
                                      </p:cBhvr>
                                      <p:tavLst>
                                        <p:tav tm="0">
                                          <p:val>
                                            <p:strVal val="#ppt_x"/>
                                          </p:val>
                                        </p:tav>
                                        <p:tav tm="100000">
                                          <p:val>
                                            <p:strVal val="#ppt_x"/>
                                          </p:val>
                                        </p:tav>
                                      </p:tavLst>
                                    </p:anim>
                                    <p:anim calcmode="lin" valueType="num">
                                      <p:cBhvr additive="base">
                                        <p:cTn id="38" dur="500" fill="hold"/>
                                        <p:tgtEl>
                                          <p:spTgt spid="34"/>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49"/>
                                        </p:tgtEl>
                                        <p:attrNameLst>
                                          <p:attrName>style.visibility</p:attrName>
                                        </p:attrNameLst>
                                      </p:cBhvr>
                                      <p:to>
                                        <p:strVal val="visible"/>
                                      </p:to>
                                    </p:set>
                                    <p:anim calcmode="lin" valueType="num">
                                      <p:cBhvr additive="base">
                                        <p:cTn id="41" dur="500" fill="hold"/>
                                        <p:tgtEl>
                                          <p:spTgt spid="49"/>
                                        </p:tgtEl>
                                        <p:attrNameLst>
                                          <p:attrName>ppt_x</p:attrName>
                                        </p:attrNameLst>
                                      </p:cBhvr>
                                      <p:tavLst>
                                        <p:tav tm="0">
                                          <p:val>
                                            <p:strVal val="#ppt_x"/>
                                          </p:val>
                                        </p:tav>
                                        <p:tav tm="100000">
                                          <p:val>
                                            <p:strVal val="#ppt_x"/>
                                          </p:val>
                                        </p:tav>
                                      </p:tavLst>
                                    </p:anim>
                                    <p:anim calcmode="lin" valueType="num">
                                      <p:cBhvr additive="base">
                                        <p:cTn id="42" dur="500" fill="hold"/>
                                        <p:tgtEl>
                                          <p:spTgt spid="49"/>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stCondLst>
                                    <p:cond delay="0"/>
                                  </p:stCondLst>
                                  <p:childTnLst>
                                    <p:set>
                                      <p:cBhvr>
                                        <p:cTn id="44" dur="1" fill="hold">
                                          <p:stCondLst>
                                            <p:cond delay="0"/>
                                          </p:stCondLst>
                                        </p:cTn>
                                        <p:tgtEl>
                                          <p:spTgt spid="57"/>
                                        </p:tgtEl>
                                        <p:attrNameLst>
                                          <p:attrName>style.visibility</p:attrName>
                                        </p:attrNameLst>
                                      </p:cBhvr>
                                      <p:to>
                                        <p:strVal val="visible"/>
                                      </p:to>
                                    </p:set>
                                    <p:anim calcmode="lin" valueType="num">
                                      <p:cBhvr additive="base">
                                        <p:cTn id="45" dur="500" fill="hold"/>
                                        <p:tgtEl>
                                          <p:spTgt spid="57"/>
                                        </p:tgtEl>
                                        <p:attrNameLst>
                                          <p:attrName>ppt_x</p:attrName>
                                        </p:attrNameLst>
                                      </p:cBhvr>
                                      <p:tavLst>
                                        <p:tav tm="0">
                                          <p:val>
                                            <p:strVal val="#ppt_x"/>
                                          </p:val>
                                        </p:tav>
                                        <p:tav tm="100000">
                                          <p:val>
                                            <p:strVal val="#ppt_x"/>
                                          </p:val>
                                        </p:tav>
                                      </p:tavLst>
                                    </p:anim>
                                    <p:anim calcmode="lin" valueType="num">
                                      <p:cBhvr additive="base">
                                        <p:cTn id="46" dur="500" fill="hold"/>
                                        <p:tgtEl>
                                          <p:spTgt spid="57"/>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80"/>
                                        </p:tgtEl>
                                        <p:attrNameLst>
                                          <p:attrName>style.visibility</p:attrName>
                                        </p:attrNameLst>
                                      </p:cBhvr>
                                      <p:to>
                                        <p:strVal val="visible"/>
                                      </p:to>
                                    </p:set>
                                    <p:anim calcmode="lin" valueType="num">
                                      <p:cBhvr additive="base">
                                        <p:cTn id="49" dur="500" fill="hold"/>
                                        <p:tgtEl>
                                          <p:spTgt spid="80"/>
                                        </p:tgtEl>
                                        <p:attrNameLst>
                                          <p:attrName>ppt_x</p:attrName>
                                        </p:attrNameLst>
                                      </p:cBhvr>
                                      <p:tavLst>
                                        <p:tav tm="0">
                                          <p:val>
                                            <p:strVal val="#ppt_x"/>
                                          </p:val>
                                        </p:tav>
                                        <p:tav tm="100000">
                                          <p:val>
                                            <p:strVal val="#ppt_x"/>
                                          </p:val>
                                        </p:tav>
                                      </p:tavLst>
                                    </p:anim>
                                    <p:anim calcmode="lin" valueType="num">
                                      <p:cBhvr additive="base">
                                        <p:cTn id="50" dur="500" fill="hold"/>
                                        <p:tgtEl>
                                          <p:spTgt spid="80"/>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02"/>
                                        </p:tgtEl>
                                        <p:attrNameLst>
                                          <p:attrName>style.visibility</p:attrName>
                                        </p:attrNameLst>
                                      </p:cBhvr>
                                      <p:to>
                                        <p:strVal val="visible"/>
                                      </p:to>
                                    </p:set>
                                    <p:anim calcmode="lin" valueType="num">
                                      <p:cBhvr additive="base">
                                        <p:cTn id="53" dur="500" fill="hold"/>
                                        <p:tgtEl>
                                          <p:spTgt spid="102"/>
                                        </p:tgtEl>
                                        <p:attrNameLst>
                                          <p:attrName>ppt_x</p:attrName>
                                        </p:attrNameLst>
                                      </p:cBhvr>
                                      <p:tavLst>
                                        <p:tav tm="0">
                                          <p:val>
                                            <p:strVal val="#ppt_x"/>
                                          </p:val>
                                        </p:tav>
                                        <p:tav tm="100000">
                                          <p:val>
                                            <p:strVal val="#ppt_x"/>
                                          </p:val>
                                        </p:tav>
                                      </p:tavLst>
                                    </p:anim>
                                    <p:anim calcmode="lin" valueType="num">
                                      <p:cBhvr additive="base">
                                        <p:cTn id="54" dur="500" fill="hold"/>
                                        <p:tgtEl>
                                          <p:spTgt spid="102"/>
                                        </p:tgtEl>
                                        <p:attrNameLst>
                                          <p:attrName>ppt_y</p:attrName>
                                        </p:attrNameLst>
                                      </p:cBhvr>
                                      <p:tavLst>
                                        <p:tav tm="0">
                                          <p:val>
                                            <p:strVal val="1+#ppt_h/2"/>
                                          </p:val>
                                        </p:tav>
                                        <p:tav tm="100000">
                                          <p:val>
                                            <p:strVal val="#ppt_y"/>
                                          </p:val>
                                        </p:tav>
                                      </p:tavLst>
                                    </p:anim>
                                  </p:childTnLst>
                                </p:cTn>
                              </p:par>
                              <p:par>
                                <p:cTn id="55" presetID="2" presetClass="entr" presetSubtype="4" fill="hold" grpId="0" nodeType="withEffect">
                                  <p:stCondLst>
                                    <p:cond delay="0"/>
                                  </p:stCondLst>
                                  <p:childTnLst>
                                    <p:set>
                                      <p:cBhvr>
                                        <p:cTn id="56" dur="1" fill="hold">
                                          <p:stCondLst>
                                            <p:cond delay="0"/>
                                          </p:stCondLst>
                                        </p:cTn>
                                        <p:tgtEl>
                                          <p:spTgt spid="130"/>
                                        </p:tgtEl>
                                        <p:attrNameLst>
                                          <p:attrName>style.visibility</p:attrName>
                                        </p:attrNameLst>
                                      </p:cBhvr>
                                      <p:to>
                                        <p:strVal val="visible"/>
                                      </p:to>
                                    </p:set>
                                    <p:anim calcmode="lin" valueType="num">
                                      <p:cBhvr additive="base">
                                        <p:cTn id="57" dur="500" fill="hold"/>
                                        <p:tgtEl>
                                          <p:spTgt spid="130"/>
                                        </p:tgtEl>
                                        <p:attrNameLst>
                                          <p:attrName>ppt_x</p:attrName>
                                        </p:attrNameLst>
                                      </p:cBhvr>
                                      <p:tavLst>
                                        <p:tav tm="0">
                                          <p:val>
                                            <p:strVal val="#ppt_x"/>
                                          </p:val>
                                        </p:tav>
                                        <p:tav tm="100000">
                                          <p:val>
                                            <p:strVal val="#ppt_x"/>
                                          </p:val>
                                        </p:tav>
                                      </p:tavLst>
                                    </p:anim>
                                    <p:anim calcmode="lin" valueType="num">
                                      <p:cBhvr additive="base">
                                        <p:cTn id="58" dur="500" fill="hold"/>
                                        <p:tgtEl>
                                          <p:spTgt spid="130"/>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112"/>
                                        </p:tgtEl>
                                        <p:attrNameLst>
                                          <p:attrName>style.visibility</p:attrName>
                                        </p:attrNameLst>
                                      </p:cBhvr>
                                      <p:to>
                                        <p:strVal val="visible"/>
                                      </p:to>
                                    </p:set>
                                    <p:anim calcmode="lin" valueType="num">
                                      <p:cBhvr additive="base">
                                        <p:cTn id="61" dur="500" fill="hold"/>
                                        <p:tgtEl>
                                          <p:spTgt spid="112"/>
                                        </p:tgtEl>
                                        <p:attrNameLst>
                                          <p:attrName>ppt_x</p:attrName>
                                        </p:attrNameLst>
                                      </p:cBhvr>
                                      <p:tavLst>
                                        <p:tav tm="0">
                                          <p:val>
                                            <p:strVal val="#ppt_x"/>
                                          </p:val>
                                        </p:tav>
                                        <p:tav tm="100000">
                                          <p:val>
                                            <p:strVal val="#ppt_x"/>
                                          </p:val>
                                        </p:tav>
                                      </p:tavLst>
                                    </p:anim>
                                    <p:anim calcmode="lin" valueType="num">
                                      <p:cBhvr additive="base">
                                        <p:cTn id="62" dur="500" fill="hold"/>
                                        <p:tgtEl>
                                          <p:spTgt spid="112"/>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41"/>
                                        </p:tgtEl>
                                        <p:attrNameLst>
                                          <p:attrName>style.visibility</p:attrName>
                                        </p:attrNameLst>
                                      </p:cBhvr>
                                      <p:to>
                                        <p:strVal val="visible"/>
                                      </p:to>
                                    </p:set>
                                    <p:anim calcmode="lin" valueType="num">
                                      <p:cBhvr additive="base">
                                        <p:cTn id="67" dur="500" fill="hold"/>
                                        <p:tgtEl>
                                          <p:spTgt spid="41"/>
                                        </p:tgtEl>
                                        <p:attrNameLst>
                                          <p:attrName>ppt_x</p:attrName>
                                        </p:attrNameLst>
                                      </p:cBhvr>
                                      <p:tavLst>
                                        <p:tav tm="0">
                                          <p:val>
                                            <p:strVal val="#ppt_x"/>
                                          </p:val>
                                        </p:tav>
                                        <p:tav tm="100000">
                                          <p:val>
                                            <p:strVal val="#ppt_x"/>
                                          </p:val>
                                        </p:tav>
                                      </p:tavLst>
                                    </p:anim>
                                    <p:anim calcmode="lin" valueType="num">
                                      <p:cBhvr additive="base">
                                        <p:cTn id="68" dur="500" fill="hold"/>
                                        <p:tgtEl>
                                          <p:spTgt spid="41"/>
                                        </p:tgtEl>
                                        <p:attrNameLst>
                                          <p:attrName>ppt_y</p:attrName>
                                        </p:attrNameLst>
                                      </p:cBhvr>
                                      <p:tavLst>
                                        <p:tav tm="0">
                                          <p:val>
                                            <p:strVal val="1+#ppt_h/2"/>
                                          </p:val>
                                        </p:tav>
                                        <p:tav tm="100000">
                                          <p:val>
                                            <p:strVal val="#ppt_y"/>
                                          </p:val>
                                        </p:tav>
                                      </p:tavLst>
                                    </p:anim>
                                  </p:childTnLst>
                                </p:cTn>
                              </p:par>
                              <p:par>
                                <p:cTn id="69" presetID="2" presetClass="entr" presetSubtype="4" fill="hold" nodeType="withEffect">
                                  <p:stCondLst>
                                    <p:cond delay="0"/>
                                  </p:stCondLst>
                                  <p:childTnLst>
                                    <p:set>
                                      <p:cBhvr>
                                        <p:cTn id="70" dur="1" fill="hold">
                                          <p:stCondLst>
                                            <p:cond delay="0"/>
                                          </p:stCondLst>
                                        </p:cTn>
                                        <p:tgtEl>
                                          <p:spTgt spid="63"/>
                                        </p:tgtEl>
                                        <p:attrNameLst>
                                          <p:attrName>style.visibility</p:attrName>
                                        </p:attrNameLst>
                                      </p:cBhvr>
                                      <p:to>
                                        <p:strVal val="visible"/>
                                      </p:to>
                                    </p:set>
                                    <p:anim calcmode="lin" valueType="num">
                                      <p:cBhvr additive="base">
                                        <p:cTn id="71" dur="500" fill="hold"/>
                                        <p:tgtEl>
                                          <p:spTgt spid="63"/>
                                        </p:tgtEl>
                                        <p:attrNameLst>
                                          <p:attrName>ppt_x</p:attrName>
                                        </p:attrNameLst>
                                      </p:cBhvr>
                                      <p:tavLst>
                                        <p:tav tm="0">
                                          <p:val>
                                            <p:strVal val="#ppt_x"/>
                                          </p:val>
                                        </p:tav>
                                        <p:tav tm="100000">
                                          <p:val>
                                            <p:strVal val="#ppt_x"/>
                                          </p:val>
                                        </p:tav>
                                      </p:tavLst>
                                    </p:anim>
                                    <p:anim calcmode="lin" valueType="num">
                                      <p:cBhvr additive="base">
                                        <p:cTn id="72" dur="500" fill="hold"/>
                                        <p:tgtEl>
                                          <p:spTgt spid="63"/>
                                        </p:tgtEl>
                                        <p:attrNameLst>
                                          <p:attrName>ppt_y</p:attrName>
                                        </p:attrNameLst>
                                      </p:cBhvr>
                                      <p:tavLst>
                                        <p:tav tm="0">
                                          <p:val>
                                            <p:strVal val="1+#ppt_h/2"/>
                                          </p:val>
                                        </p:tav>
                                        <p:tav tm="100000">
                                          <p:val>
                                            <p:strVal val="#ppt_y"/>
                                          </p:val>
                                        </p:tav>
                                      </p:tavLst>
                                    </p:anim>
                                  </p:childTnLst>
                                </p:cTn>
                              </p:par>
                              <p:par>
                                <p:cTn id="73" presetID="2" presetClass="entr" presetSubtype="4" fill="hold" nodeType="withEffect">
                                  <p:stCondLst>
                                    <p:cond delay="0"/>
                                  </p:stCondLst>
                                  <p:childTnLst>
                                    <p:set>
                                      <p:cBhvr>
                                        <p:cTn id="74" dur="1" fill="hold">
                                          <p:stCondLst>
                                            <p:cond delay="0"/>
                                          </p:stCondLst>
                                        </p:cTn>
                                        <p:tgtEl>
                                          <p:spTgt spid="65"/>
                                        </p:tgtEl>
                                        <p:attrNameLst>
                                          <p:attrName>style.visibility</p:attrName>
                                        </p:attrNameLst>
                                      </p:cBhvr>
                                      <p:to>
                                        <p:strVal val="visible"/>
                                      </p:to>
                                    </p:set>
                                    <p:anim calcmode="lin" valueType="num">
                                      <p:cBhvr additive="base">
                                        <p:cTn id="75" dur="500" fill="hold"/>
                                        <p:tgtEl>
                                          <p:spTgt spid="65"/>
                                        </p:tgtEl>
                                        <p:attrNameLst>
                                          <p:attrName>ppt_x</p:attrName>
                                        </p:attrNameLst>
                                      </p:cBhvr>
                                      <p:tavLst>
                                        <p:tav tm="0">
                                          <p:val>
                                            <p:strVal val="#ppt_x"/>
                                          </p:val>
                                        </p:tav>
                                        <p:tav tm="100000">
                                          <p:val>
                                            <p:strVal val="#ppt_x"/>
                                          </p:val>
                                        </p:tav>
                                      </p:tavLst>
                                    </p:anim>
                                    <p:anim calcmode="lin" valueType="num">
                                      <p:cBhvr additive="base">
                                        <p:cTn id="76" dur="500" fill="hold"/>
                                        <p:tgtEl>
                                          <p:spTgt spid="65"/>
                                        </p:tgtEl>
                                        <p:attrNameLst>
                                          <p:attrName>ppt_y</p:attrName>
                                        </p:attrNameLst>
                                      </p:cBhvr>
                                      <p:tavLst>
                                        <p:tav tm="0">
                                          <p:val>
                                            <p:strVal val="1+#ppt_h/2"/>
                                          </p:val>
                                        </p:tav>
                                        <p:tav tm="100000">
                                          <p:val>
                                            <p:strVal val="#ppt_y"/>
                                          </p:val>
                                        </p:tav>
                                      </p:tavLst>
                                    </p:anim>
                                  </p:childTnLst>
                                </p:cTn>
                              </p:par>
                              <p:par>
                                <p:cTn id="77" presetID="2" presetClass="entr" presetSubtype="4" fill="hold" nodeType="withEffect">
                                  <p:stCondLst>
                                    <p:cond delay="0"/>
                                  </p:stCondLst>
                                  <p:childTnLst>
                                    <p:set>
                                      <p:cBhvr>
                                        <p:cTn id="78" dur="1" fill="hold">
                                          <p:stCondLst>
                                            <p:cond delay="0"/>
                                          </p:stCondLst>
                                        </p:cTn>
                                        <p:tgtEl>
                                          <p:spTgt spid="94"/>
                                        </p:tgtEl>
                                        <p:attrNameLst>
                                          <p:attrName>style.visibility</p:attrName>
                                        </p:attrNameLst>
                                      </p:cBhvr>
                                      <p:to>
                                        <p:strVal val="visible"/>
                                      </p:to>
                                    </p:set>
                                    <p:anim calcmode="lin" valueType="num">
                                      <p:cBhvr additive="base">
                                        <p:cTn id="79" dur="500" fill="hold"/>
                                        <p:tgtEl>
                                          <p:spTgt spid="94"/>
                                        </p:tgtEl>
                                        <p:attrNameLst>
                                          <p:attrName>ppt_x</p:attrName>
                                        </p:attrNameLst>
                                      </p:cBhvr>
                                      <p:tavLst>
                                        <p:tav tm="0">
                                          <p:val>
                                            <p:strVal val="#ppt_x"/>
                                          </p:val>
                                        </p:tav>
                                        <p:tav tm="100000">
                                          <p:val>
                                            <p:strVal val="#ppt_x"/>
                                          </p:val>
                                        </p:tav>
                                      </p:tavLst>
                                    </p:anim>
                                    <p:anim calcmode="lin" valueType="num">
                                      <p:cBhvr additive="base">
                                        <p:cTn id="80" dur="500" fill="hold"/>
                                        <p:tgtEl>
                                          <p:spTgt spid="94"/>
                                        </p:tgtEl>
                                        <p:attrNameLst>
                                          <p:attrName>ppt_y</p:attrName>
                                        </p:attrNameLst>
                                      </p:cBhvr>
                                      <p:tavLst>
                                        <p:tav tm="0">
                                          <p:val>
                                            <p:strVal val="1+#ppt_h/2"/>
                                          </p:val>
                                        </p:tav>
                                        <p:tav tm="100000">
                                          <p:val>
                                            <p:strVal val="#ppt_y"/>
                                          </p:val>
                                        </p:tav>
                                      </p:tavLst>
                                    </p:anim>
                                  </p:childTnLst>
                                </p:cTn>
                              </p:par>
                              <p:par>
                                <p:cTn id="81" presetID="2" presetClass="entr" presetSubtype="4" fill="hold" nodeType="withEffect">
                                  <p:stCondLst>
                                    <p:cond delay="0"/>
                                  </p:stCondLst>
                                  <p:childTnLst>
                                    <p:set>
                                      <p:cBhvr>
                                        <p:cTn id="82" dur="1" fill="hold">
                                          <p:stCondLst>
                                            <p:cond delay="0"/>
                                          </p:stCondLst>
                                        </p:cTn>
                                        <p:tgtEl>
                                          <p:spTgt spid="104"/>
                                        </p:tgtEl>
                                        <p:attrNameLst>
                                          <p:attrName>style.visibility</p:attrName>
                                        </p:attrNameLst>
                                      </p:cBhvr>
                                      <p:to>
                                        <p:strVal val="visible"/>
                                      </p:to>
                                    </p:set>
                                    <p:anim calcmode="lin" valueType="num">
                                      <p:cBhvr additive="base">
                                        <p:cTn id="83" dur="500" fill="hold"/>
                                        <p:tgtEl>
                                          <p:spTgt spid="104"/>
                                        </p:tgtEl>
                                        <p:attrNameLst>
                                          <p:attrName>ppt_x</p:attrName>
                                        </p:attrNameLst>
                                      </p:cBhvr>
                                      <p:tavLst>
                                        <p:tav tm="0">
                                          <p:val>
                                            <p:strVal val="#ppt_x"/>
                                          </p:val>
                                        </p:tav>
                                        <p:tav tm="100000">
                                          <p:val>
                                            <p:strVal val="#ppt_x"/>
                                          </p:val>
                                        </p:tav>
                                      </p:tavLst>
                                    </p:anim>
                                    <p:anim calcmode="lin" valueType="num">
                                      <p:cBhvr additive="base">
                                        <p:cTn id="84" dur="500" fill="hold"/>
                                        <p:tgtEl>
                                          <p:spTgt spid="104"/>
                                        </p:tgtEl>
                                        <p:attrNameLst>
                                          <p:attrName>ppt_y</p:attrName>
                                        </p:attrNameLst>
                                      </p:cBhvr>
                                      <p:tavLst>
                                        <p:tav tm="0">
                                          <p:val>
                                            <p:strVal val="1+#ppt_h/2"/>
                                          </p:val>
                                        </p:tav>
                                        <p:tav tm="100000">
                                          <p:val>
                                            <p:strVal val="#ppt_y"/>
                                          </p:val>
                                        </p:tav>
                                      </p:tavLst>
                                    </p:anim>
                                  </p:childTnLst>
                                </p:cTn>
                              </p:par>
                              <p:par>
                                <p:cTn id="85" presetID="2" presetClass="entr" presetSubtype="4" fill="hold" grpId="0" nodeType="withEffect">
                                  <p:stCondLst>
                                    <p:cond delay="0"/>
                                  </p:stCondLst>
                                  <p:childTnLst>
                                    <p:set>
                                      <p:cBhvr>
                                        <p:cTn id="86" dur="1" fill="hold">
                                          <p:stCondLst>
                                            <p:cond delay="0"/>
                                          </p:stCondLst>
                                        </p:cTn>
                                        <p:tgtEl>
                                          <p:spTgt spid="134"/>
                                        </p:tgtEl>
                                        <p:attrNameLst>
                                          <p:attrName>style.visibility</p:attrName>
                                        </p:attrNameLst>
                                      </p:cBhvr>
                                      <p:to>
                                        <p:strVal val="visible"/>
                                      </p:to>
                                    </p:set>
                                    <p:anim calcmode="lin" valueType="num">
                                      <p:cBhvr additive="base">
                                        <p:cTn id="87" dur="500" fill="hold"/>
                                        <p:tgtEl>
                                          <p:spTgt spid="134"/>
                                        </p:tgtEl>
                                        <p:attrNameLst>
                                          <p:attrName>ppt_x</p:attrName>
                                        </p:attrNameLst>
                                      </p:cBhvr>
                                      <p:tavLst>
                                        <p:tav tm="0">
                                          <p:val>
                                            <p:strVal val="#ppt_x"/>
                                          </p:val>
                                        </p:tav>
                                        <p:tav tm="100000">
                                          <p:val>
                                            <p:strVal val="#ppt_x"/>
                                          </p:val>
                                        </p:tav>
                                      </p:tavLst>
                                    </p:anim>
                                    <p:anim calcmode="lin" valueType="num">
                                      <p:cBhvr additive="base">
                                        <p:cTn id="88" dur="500" fill="hold"/>
                                        <p:tgtEl>
                                          <p:spTgt spid="134"/>
                                        </p:tgtEl>
                                        <p:attrNameLst>
                                          <p:attrName>ppt_y</p:attrName>
                                        </p:attrNameLst>
                                      </p:cBhvr>
                                      <p:tavLst>
                                        <p:tav tm="0">
                                          <p:val>
                                            <p:strVal val="1+#ppt_h/2"/>
                                          </p:val>
                                        </p:tav>
                                        <p:tav tm="100000">
                                          <p:val>
                                            <p:strVal val="#ppt_y"/>
                                          </p:val>
                                        </p:tav>
                                      </p:tavLst>
                                    </p:anim>
                                  </p:childTnLst>
                                </p:cTn>
                              </p:par>
                              <p:par>
                                <p:cTn id="89" presetID="2" presetClass="entr" presetSubtype="4" fill="hold" nodeType="withEffect">
                                  <p:stCondLst>
                                    <p:cond delay="0"/>
                                  </p:stCondLst>
                                  <p:childTnLst>
                                    <p:set>
                                      <p:cBhvr>
                                        <p:cTn id="90" dur="1" fill="hold">
                                          <p:stCondLst>
                                            <p:cond delay="0"/>
                                          </p:stCondLst>
                                        </p:cTn>
                                        <p:tgtEl>
                                          <p:spTgt spid="118"/>
                                        </p:tgtEl>
                                        <p:attrNameLst>
                                          <p:attrName>style.visibility</p:attrName>
                                        </p:attrNameLst>
                                      </p:cBhvr>
                                      <p:to>
                                        <p:strVal val="visible"/>
                                      </p:to>
                                    </p:set>
                                    <p:anim calcmode="lin" valueType="num">
                                      <p:cBhvr additive="base">
                                        <p:cTn id="91" dur="500" fill="hold"/>
                                        <p:tgtEl>
                                          <p:spTgt spid="118"/>
                                        </p:tgtEl>
                                        <p:attrNameLst>
                                          <p:attrName>ppt_x</p:attrName>
                                        </p:attrNameLst>
                                      </p:cBhvr>
                                      <p:tavLst>
                                        <p:tav tm="0">
                                          <p:val>
                                            <p:strVal val="#ppt_x"/>
                                          </p:val>
                                        </p:tav>
                                        <p:tav tm="100000">
                                          <p:val>
                                            <p:strVal val="#ppt_x"/>
                                          </p:val>
                                        </p:tav>
                                      </p:tavLst>
                                    </p:anim>
                                    <p:anim calcmode="lin" valueType="num">
                                      <p:cBhvr additive="base">
                                        <p:cTn id="92" dur="500" fill="hold"/>
                                        <p:tgtEl>
                                          <p:spTgt spid="118"/>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nodeType="clickEffect">
                                  <p:stCondLst>
                                    <p:cond delay="0"/>
                                  </p:stCondLst>
                                  <p:childTnLst>
                                    <p:set>
                                      <p:cBhvr>
                                        <p:cTn id="96" dur="1" fill="hold">
                                          <p:stCondLst>
                                            <p:cond delay="0"/>
                                          </p:stCondLst>
                                        </p:cTn>
                                        <p:tgtEl>
                                          <p:spTgt spid="25"/>
                                        </p:tgtEl>
                                        <p:attrNameLst>
                                          <p:attrName>style.visibility</p:attrName>
                                        </p:attrNameLst>
                                      </p:cBhvr>
                                      <p:to>
                                        <p:strVal val="visible"/>
                                      </p:to>
                                    </p:set>
                                    <p:anim calcmode="lin" valueType="num">
                                      <p:cBhvr additive="base">
                                        <p:cTn id="97" dur="500" fill="hold"/>
                                        <p:tgtEl>
                                          <p:spTgt spid="25"/>
                                        </p:tgtEl>
                                        <p:attrNameLst>
                                          <p:attrName>ppt_x</p:attrName>
                                        </p:attrNameLst>
                                      </p:cBhvr>
                                      <p:tavLst>
                                        <p:tav tm="0">
                                          <p:val>
                                            <p:strVal val="#ppt_x"/>
                                          </p:val>
                                        </p:tav>
                                        <p:tav tm="100000">
                                          <p:val>
                                            <p:strVal val="#ppt_x"/>
                                          </p:val>
                                        </p:tav>
                                      </p:tavLst>
                                    </p:anim>
                                    <p:anim calcmode="lin" valueType="num">
                                      <p:cBhvr additive="base">
                                        <p:cTn id="98" dur="500" fill="hold"/>
                                        <p:tgtEl>
                                          <p:spTgt spid="25"/>
                                        </p:tgtEl>
                                        <p:attrNameLst>
                                          <p:attrName>ppt_y</p:attrName>
                                        </p:attrNameLst>
                                      </p:cBhvr>
                                      <p:tavLst>
                                        <p:tav tm="0">
                                          <p:val>
                                            <p:strVal val="1+#ppt_h/2"/>
                                          </p:val>
                                        </p:tav>
                                        <p:tav tm="100000">
                                          <p:val>
                                            <p:strVal val="#ppt_y"/>
                                          </p:val>
                                        </p:tav>
                                      </p:tavLst>
                                    </p:anim>
                                  </p:childTnLst>
                                </p:cTn>
                              </p:par>
                              <p:par>
                                <p:cTn id="99" presetID="2" presetClass="entr" presetSubtype="4" fill="hold" nodeType="withEffect">
                                  <p:stCondLst>
                                    <p:cond delay="0"/>
                                  </p:stCondLst>
                                  <p:childTnLst>
                                    <p:set>
                                      <p:cBhvr>
                                        <p:cTn id="100" dur="1" fill="hold">
                                          <p:stCondLst>
                                            <p:cond delay="0"/>
                                          </p:stCondLst>
                                        </p:cTn>
                                        <p:tgtEl>
                                          <p:spTgt spid="48"/>
                                        </p:tgtEl>
                                        <p:attrNameLst>
                                          <p:attrName>style.visibility</p:attrName>
                                        </p:attrNameLst>
                                      </p:cBhvr>
                                      <p:to>
                                        <p:strVal val="visible"/>
                                      </p:to>
                                    </p:set>
                                    <p:anim calcmode="lin" valueType="num">
                                      <p:cBhvr additive="base">
                                        <p:cTn id="101" dur="500" fill="hold"/>
                                        <p:tgtEl>
                                          <p:spTgt spid="48"/>
                                        </p:tgtEl>
                                        <p:attrNameLst>
                                          <p:attrName>ppt_x</p:attrName>
                                        </p:attrNameLst>
                                      </p:cBhvr>
                                      <p:tavLst>
                                        <p:tav tm="0">
                                          <p:val>
                                            <p:strVal val="#ppt_x"/>
                                          </p:val>
                                        </p:tav>
                                        <p:tav tm="100000">
                                          <p:val>
                                            <p:strVal val="#ppt_x"/>
                                          </p:val>
                                        </p:tav>
                                      </p:tavLst>
                                    </p:anim>
                                    <p:anim calcmode="lin" valueType="num">
                                      <p:cBhvr additive="base">
                                        <p:cTn id="102" dur="500" fill="hold"/>
                                        <p:tgtEl>
                                          <p:spTgt spid="48"/>
                                        </p:tgtEl>
                                        <p:attrNameLst>
                                          <p:attrName>ppt_y</p:attrName>
                                        </p:attrNameLst>
                                      </p:cBhvr>
                                      <p:tavLst>
                                        <p:tav tm="0">
                                          <p:val>
                                            <p:strVal val="1+#ppt_h/2"/>
                                          </p:val>
                                        </p:tav>
                                        <p:tav tm="100000">
                                          <p:val>
                                            <p:strVal val="#ppt_y"/>
                                          </p:val>
                                        </p:tav>
                                      </p:tavLst>
                                    </p:anim>
                                  </p:childTnLst>
                                </p:cTn>
                              </p:par>
                              <p:par>
                                <p:cTn id="103" presetID="2" presetClass="entr" presetSubtype="4" fill="hold" nodeType="withEffect">
                                  <p:stCondLst>
                                    <p:cond delay="0"/>
                                  </p:stCondLst>
                                  <p:childTnLst>
                                    <p:set>
                                      <p:cBhvr>
                                        <p:cTn id="104" dur="1" fill="hold">
                                          <p:stCondLst>
                                            <p:cond delay="0"/>
                                          </p:stCondLst>
                                        </p:cTn>
                                        <p:tgtEl>
                                          <p:spTgt spid="54"/>
                                        </p:tgtEl>
                                        <p:attrNameLst>
                                          <p:attrName>style.visibility</p:attrName>
                                        </p:attrNameLst>
                                      </p:cBhvr>
                                      <p:to>
                                        <p:strVal val="visible"/>
                                      </p:to>
                                    </p:set>
                                    <p:anim calcmode="lin" valueType="num">
                                      <p:cBhvr additive="base">
                                        <p:cTn id="105" dur="500" fill="hold"/>
                                        <p:tgtEl>
                                          <p:spTgt spid="54"/>
                                        </p:tgtEl>
                                        <p:attrNameLst>
                                          <p:attrName>ppt_x</p:attrName>
                                        </p:attrNameLst>
                                      </p:cBhvr>
                                      <p:tavLst>
                                        <p:tav tm="0">
                                          <p:val>
                                            <p:strVal val="#ppt_x"/>
                                          </p:val>
                                        </p:tav>
                                        <p:tav tm="100000">
                                          <p:val>
                                            <p:strVal val="#ppt_x"/>
                                          </p:val>
                                        </p:tav>
                                      </p:tavLst>
                                    </p:anim>
                                    <p:anim calcmode="lin" valueType="num">
                                      <p:cBhvr additive="base">
                                        <p:cTn id="106" dur="500" fill="hold"/>
                                        <p:tgtEl>
                                          <p:spTgt spid="54"/>
                                        </p:tgtEl>
                                        <p:attrNameLst>
                                          <p:attrName>ppt_y</p:attrName>
                                        </p:attrNameLst>
                                      </p:cBhvr>
                                      <p:tavLst>
                                        <p:tav tm="0">
                                          <p:val>
                                            <p:strVal val="1+#ppt_h/2"/>
                                          </p:val>
                                        </p:tav>
                                        <p:tav tm="100000">
                                          <p:val>
                                            <p:strVal val="#ppt_y"/>
                                          </p:val>
                                        </p:tav>
                                      </p:tavLst>
                                    </p:anim>
                                  </p:childTnLst>
                                </p:cTn>
                              </p:par>
                              <p:par>
                                <p:cTn id="107" presetID="2" presetClass="entr" presetSubtype="4" fill="hold" nodeType="withEffect">
                                  <p:stCondLst>
                                    <p:cond delay="0"/>
                                  </p:stCondLst>
                                  <p:childTnLst>
                                    <p:set>
                                      <p:cBhvr>
                                        <p:cTn id="108" dur="1" fill="hold">
                                          <p:stCondLst>
                                            <p:cond delay="0"/>
                                          </p:stCondLst>
                                        </p:cTn>
                                        <p:tgtEl>
                                          <p:spTgt spid="74"/>
                                        </p:tgtEl>
                                        <p:attrNameLst>
                                          <p:attrName>style.visibility</p:attrName>
                                        </p:attrNameLst>
                                      </p:cBhvr>
                                      <p:to>
                                        <p:strVal val="visible"/>
                                      </p:to>
                                    </p:set>
                                    <p:anim calcmode="lin" valueType="num">
                                      <p:cBhvr additive="base">
                                        <p:cTn id="109" dur="500" fill="hold"/>
                                        <p:tgtEl>
                                          <p:spTgt spid="74"/>
                                        </p:tgtEl>
                                        <p:attrNameLst>
                                          <p:attrName>ppt_x</p:attrName>
                                        </p:attrNameLst>
                                      </p:cBhvr>
                                      <p:tavLst>
                                        <p:tav tm="0">
                                          <p:val>
                                            <p:strVal val="#ppt_x"/>
                                          </p:val>
                                        </p:tav>
                                        <p:tav tm="100000">
                                          <p:val>
                                            <p:strVal val="#ppt_x"/>
                                          </p:val>
                                        </p:tav>
                                      </p:tavLst>
                                    </p:anim>
                                    <p:anim calcmode="lin" valueType="num">
                                      <p:cBhvr additive="base">
                                        <p:cTn id="110" dur="500" fill="hold"/>
                                        <p:tgtEl>
                                          <p:spTgt spid="74"/>
                                        </p:tgtEl>
                                        <p:attrNameLst>
                                          <p:attrName>ppt_y</p:attrName>
                                        </p:attrNameLst>
                                      </p:cBhvr>
                                      <p:tavLst>
                                        <p:tav tm="0">
                                          <p:val>
                                            <p:strVal val="1+#ppt_h/2"/>
                                          </p:val>
                                        </p:tav>
                                        <p:tav tm="100000">
                                          <p:val>
                                            <p:strVal val="#ppt_y"/>
                                          </p:val>
                                        </p:tav>
                                      </p:tavLst>
                                    </p:anim>
                                  </p:childTnLst>
                                </p:cTn>
                              </p:par>
                              <p:par>
                                <p:cTn id="111" presetID="2" presetClass="entr" presetSubtype="4" fill="hold" nodeType="withEffect">
                                  <p:stCondLst>
                                    <p:cond delay="0"/>
                                  </p:stCondLst>
                                  <p:childTnLst>
                                    <p:set>
                                      <p:cBhvr>
                                        <p:cTn id="112" dur="1" fill="hold">
                                          <p:stCondLst>
                                            <p:cond delay="0"/>
                                          </p:stCondLst>
                                        </p:cTn>
                                        <p:tgtEl>
                                          <p:spTgt spid="101"/>
                                        </p:tgtEl>
                                        <p:attrNameLst>
                                          <p:attrName>style.visibility</p:attrName>
                                        </p:attrNameLst>
                                      </p:cBhvr>
                                      <p:to>
                                        <p:strVal val="visible"/>
                                      </p:to>
                                    </p:set>
                                    <p:anim calcmode="lin" valueType="num">
                                      <p:cBhvr additive="base">
                                        <p:cTn id="113" dur="500" fill="hold"/>
                                        <p:tgtEl>
                                          <p:spTgt spid="101"/>
                                        </p:tgtEl>
                                        <p:attrNameLst>
                                          <p:attrName>ppt_x</p:attrName>
                                        </p:attrNameLst>
                                      </p:cBhvr>
                                      <p:tavLst>
                                        <p:tav tm="0">
                                          <p:val>
                                            <p:strVal val="#ppt_x"/>
                                          </p:val>
                                        </p:tav>
                                        <p:tav tm="100000">
                                          <p:val>
                                            <p:strVal val="#ppt_x"/>
                                          </p:val>
                                        </p:tav>
                                      </p:tavLst>
                                    </p:anim>
                                    <p:anim calcmode="lin" valueType="num">
                                      <p:cBhvr additive="base">
                                        <p:cTn id="114" dur="500" fill="hold"/>
                                        <p:tgtEl>
                                          <p:spTgt spid="101"/>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129"/>
                                        </p:tgtEl>
                                        <p:attrNameLst>
                                          <p:attrName>style.visibility</p:attrName>
                                        </p:attrNameLst>
                                      </p:cBhvr>
                                      <p:to>
                                        <p:strVal val="visible"/>
                                      </p:to>
                                    </p:set>
                                    <p:anim calcmode="lin" valueType="num">
                                      <p:cBhvr additive="base">
                                        <p:cTn id="117" dur="500" fill="hold"/>
                                        <p:tgtEl>
                                          <p:spTgt spid="129"/>
                                        </p:tgtEl>
                                        <p:attrNameLst>
                                          <p:attrName>ppt_x</p:attrName>
                                        </p:attrNameLst>
                                      </p:cBhvr>
                                      <p:tavLst>
                                        <p:tav tm="0">
                                          <p:val>
                                            <p:strVal val="#ppt_x"/>
                                          </p:val>
                                        </p:tav>
                                        <p:tav tm="100000">
                                          <p:val>
                                            <p:strVal val="#ppt_x"/>
                                          </p:val>
                                        </p:tav>
                                      </p:tavLst>
                                    </p:anim>
                                    <p:anim calcmode="lin" valueType="num">
                                      <p:cBhvr additive="base">
                                        <p:cTn id="118" dur="500" fill="hold"/>
                                        <p:tgtEl>
                                          <p:spTgt spid="129"/>
                                        </p:tgtEl>
                                        <p:attrNameLst>
                                          <p:attrName>ppt_y</p:attrName>
                                        </p:attrNameLst>
                                      </p:cBhvr>
                                      <p:tavLst>
                                        <p:tav tm="0">
                                          <p:val>
                                            <p:strVal val="1+#ppt_h/2"/>
                                          </p:val>
                                        </p:tav>
                                        <p:tav tm="100000">
                                          <p:val>
                                            <p:strVal val="#ppt_y"/>
                                          </p:val>
                                        </p:tav>
                                      </p:tavLst>
                                    </p:anim>
                                  </p:childTnLst>
                                </p:cTn>
                              </p:par>
                              <p:par>
                                <p:cTn id="119" presetID="2" presetClass="entr" presetSubtype="4" fill="hold" nodeType="withEffect">
                                  <p:stCondLst>
                                    <p:cond delay="0"/>
                                  </p:stCondLst>
                                  <p:childTnLst>
                                    <p:set>
                                      <p:cBhvr>
                                        <p:cTn id="120" dur="1" fill="hold">
                                          <p:stCondLst>
                                            <p:cond delay="0"/>
                                          </p:stCondLst>
                                        </p:cTn>
                                        <p:tgtEl>
                                          <p:spTgt spid="109"/>
                                        </p:tgtEl>
                                        <p:attrNameLst>
                                          <p:attrName>style.visibility</p:attrName>
                                        </p:attrNameLst>
                                      </p:cBhvr>
                                      <p:to>
                                        <p:strVal val="visible"/>
                                      </p:to>
                                    </p:set>
                                    <p:anim calcmode="lin" valueType="num">
                                      <p:cBhvr additive="base">
                                        <p:cTn id="121" dur="500" fill="hold"/>
                                        <p:tgtEl>
                                          <p:spTgt spid="109"/>
                                        </p:tgtEl>
                                        <p:attrNameLst>
                                          <p:attrName>ppt_x</p:attrName>
                                        </p:attrNameLst>
                                      </p:cBhvr>
                                      <p:tavLst>
                                        <p:tav tm="0">
                                          <p:val>
                                            <p:strVal val="#ppt_x"/>
                                          </p:val>
                                        </p:tav>
                                        <p:tav tm="100000">
                                          <p:val>
                                            <p:strVal val="#ppt_x"/>
                                          </p:val>
                                        </p:tav>
                                      </p:tavLst>
                                    </p:anim>
                                    <p:anim calcmode="lin" valueType="num">
                                      <p:cBhvr additive="base">
                                        <p:cTn id="122" dur="500" fill="hold"/>
                                        <p:tgtEl>
                                          <p:spTgt spid="109"/>
                                        </p:tgtEl>
                                        <p:attrNameLst>
                                          <p:attrName>ppt_y</p:attrName>
                                        </p:attrNameLst>
                                      </p:cBhvr>
                                      <p:tavLst>
                                        <p:tav tm="0">
                                          <p:val>
                                            <p:strVal val="1+#ppt_h/2"/>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2" presetClass="entr" presetSubtype="4" fill="hold" nodeType="clickEffect">
                                  <p:stCondLst>
                                    <p:cond delay="0"/>
                                  </p:stCondLst>
                                  <p:childTnLst>
                                    <p:set>
                                      <p:cBhvr>
                                        <p:cTn id="126" dur="1" fill="hold">
                                          <p:stCondLst>
                                            <p:cond delay="0"/>
                                          </p:stCondLst>
                                        </p:cTn>
                                        <p:tgtEl>
                                          <p:spTgt spid="37"/>
                                        </p:tgtEl>
                                        <p:attrNameLst>
                                          <p:attrName>style.visibility</p:attrName>
                                        </p:attrNameLst>
                                      </p:cBhvr>
                                      <p:to>
                                        <p:strVal val="visible"/>
                                      </p:to>
                                    </p:set>
                                    <p:anim calcmode="lin" valueType="num">
                                      <p:cBhvr additive="base">
                                        <p:cTn id="127" dur="500" fill="hold"/>
                                        <p:tgtEl>
                                          <p:spTgt spid="37"/>
                                        </p:tgtEl>
                                        <p:attrNameLst>
                                          <p:attrName>ppt_x</p:attrName>
                                        </p:attrNameLst>
                                      </p:cBhvr>
                                      <p:tavLst>
                                        <p:tav tm="0">
                                          <p:val>
                                            <p:strVal val="#ppt_x"/>
                                          </p:val>
                                        </p:tav>
                                        <p:tav tm="100000">
                                          <p:val>
                                            <p:strVal val="#ppt_x"/>
                                          </p:val>
                                        </p:tav>
                                      </p:tavLst>
                                    </p:anim>
                                    <p:anim calcmode="lin" valueType="num">
                                      <p:cBhvr additive="base">
                                        <p:cTn id="128" dur="500" fill="hold"/>
                                        <p:tgtEl>
                                          <p:spTgt spid="37"/>
                                        </p:tgtEl>
                                        <p:attrNameLst>
                                          <p:attrName>ppt_y</p:attrName>
                                        </p:attrNameLst>
                                      </p:cBhvr>
                                      <p:tavLst>
                                        <p:tav tm="0">
                                          <p:val>
                                            <p:strVal val="1+#ppt_h/2"/>
                                          </p:val>
                                        </p:tav>
                                        <p:tav tm="100000">
                                          <p:val>
                                            <p:strVal val="#ppt_y"/>
                                          </p:val>
                                        </p:tav>
                                      </p:tavLst>
                                    </p:anim>
                                  </p:childTnLst>
                                </p:cTn>
                              </p:par>
                              <p:par>
                                <p:cTn id="129" presetID="2" presetClass="entr" presetSubtype="4" fill="hold" nodeType="withEffect">
                                  <p:stCondLst>
                                    <p:cond delay="0"/>
                                  </p:stCondLst>
                                  <p:childTnLst>
                                    <p:set>
                                      <p:cBhvr>
                                        <p:cTn id="130" dur="1" fill="hold">
                                          <p:stCondLst>
                                            <p:cond delay="0"/>
                                          </p:stCondLst>
                                        </p:cTn>
                                        <p:tgtEl>
                                          <p:spTgt spid="50"/>
                                        </p:tgtEl>
                                        <p:attrNameLst>
                                          <p:attrName>style.visibility</p:attrName>
                                        </p:attrNameLst>
                                      </p:cBhvr>
                                      <p:to>
                                        <p:strVal val="visible"/>
                                      </p:to>
                                    </p:set>
                                    <p:anim calcmode="lin" valueType="num">
                                      <p:cBhvr additive="base">
                                        <p:cTn id="131" dur="500" fill="hold"/>
                                        <p:tgtEl>
                                          <p:spTgt spid="50"/>
                                        </p:tgtEl>
                                        <p:attrNameLst>
                                          <p:attrName>ppt_x</p:attrName>
                                        </p:attrNameLst>
                                      </p:cBhvr>
                                      <p:tavLst>
                                        <p:tav tm="0">
                                          <p:val>
                                            <p:strVal val="#ppt_x"/>
                                          </p:val>
                                        </p:tav>
                                        <p:tav tm="100000">
                                          <p:val>
                                            <p:strVal val="#ppt_x"/>
                                          </p:val>
                                        </p:tav>
                                      </p:tavLst>
                                    </p:anim>
                                    <p:anim calcmode="lin" valueType="num">
                                      <p:cBhvr additive="base">
                                        <p:cTn id="132" dur="500" fill="hold"/>
                                        <p:tgtEl>
                                          <p:spTgt spid="50"/>
                                        </p:tgtEl>
                                        <p:attrNameLst>
                                          <p:attrName>ppt_y</p:attrName>
                                        </p:attrNameLst>
                                      </p:cBhvr>
                                      <p:tavLst>
                                        <p:tav tm="0">
                                          <p:val>
                                            <p:strVal val="1+#ppt_h/2"/>
                                          </p:val>
                                        </p:tav>
                                        <p:tav tm="100000">
                                          <p:val>
                                            <p:strVal val="#ppt_y"/>
                                          </p:val>
                                        </p:tav>
                                      </p:tavLst>
                                    </p:anim>
                                  </p:childTnLst>
                                </p:cTn>
                              </p:par>
                              <p:par>
                                <p:cTn id="133" presetID="2" presetClass="entr" presetSubtype="4" fill="hold" nodeType="withEffect">
                                  <p:stCondLst>
                                    <p:cond delay="0"/>
                                  </p:stCondLst>
                                  <p:childTnLst>
                                    <p:set>
                                      <p:cBhvr>
                                        <p:cTn id="134" dur="1" fill="hold">
                                          <p:stCondLst>
                                            <p:cond delay="0"/>
                                          </p:stCondLst>
                                        </p:cTn>
                                        <p:tgtEl>
                                          <p:spTgt spid="60"/>
                                        </p:tgtEl>
                                        <p:attrNameLst>
                                          <p:attrName>style.visibility</p:attrName>
                                        </p:attrNameLst>
                                      </p:cBhvr>
                                      <p:to>
                                        <p:strVal val="visible"/>
                                      </p:to>
                                    </p:set>
                                    <p:anim calcmode="lin" valueType="num">
                                      <p:cBhvr additive="base">
                                        <p:cTn id="135" dur="500" fill="hold"/>
                                        <p:tgtEl>
                                          <p:spTgt spid="60"/>
                                        </p:tgtEl>
                                        <p:attrNameLst>
                                          <p:attrName>ppt_x</p:attrName>
                                        </p:attrNameLst>
                                      </p:cBhvr>
                                      <p:tavLst>
                                        <p:tav tm="0">
                                          <p:val>
                                            <p:strVal val="#ppt_x"/>
                                          </p:val>
                                        </p:tav>
                                        <p:tav tm="100000">
                                          <p:val>
                                            <p:strVal val="#ppt_x"/>
                                          </p:val>
                                        </p:tav>
                                      </p:tavLst>
                                    </p:anim>
                                    <p:anim calcmode="lin" valueType="num">
                                      <p:cBhvr additive="base">
                                        <p:cTn id="136" dur="500" fill="hold"/>
                                        <p:tgtEl>
                                          <p:spTgt spid="60"/>
                                        </p:tgtEl>
                                        <p:attrNameLst>
                                          <p:attrName>ppt_y</p:attrName>
                                        </p:attrNameLst>
                                      </p:cBhvr>
                                      <p:tavLst>
                                        <p:tav tm="0">
                                          <p:val>
                                            <p:strVal val="1+#ppt_h/2"/>
                                          </p:val>
                                        </p:tav>
                                        <p:tav tm="100000">
                                          <p:val>
                                            <p:strVal val="#ppt_y"/>
                                          </p:val>
                                        </p:tav>
                                      </p:tavLst>
                                    </p:anim>
                                  </p:childTnLst>
                                </p:cTn>
                              </p:par>
                              <p:par>
                                <p:cTn id="137" presetID="2" presetClass="entr" presetSubtype="4" fill="hold" nodeType="withEffect">
                                  <p:stCondLst>
                                    <p:cond delay="0"/>
                                  </p:stCondLst>
                                  <p:childTnLst>
                                    <p:set>
                                      <p:cBhvr>
                                        <p:cTn id="138" dur="1" fill="hold">
                                          <p:stCondLst>
                                            <p:cond delay="0"/>
                                          </p:stCondLst>
                                        </p:cTn>
                                        <p:tgtEl>
                                          <p:spTgt spid="90"/>
                                        </p:tgtEl>
                                        <p:attrNameLst>
                                          <p:attrName>style.visibility</p:attrName>
                                        </p:attrNameLst>
                                      </p:cBhvr>
                                      <p:to>
                                        <p:strVal val="visible"/>
                                      </p:to>
                                    </p:set>
                                    <p:anim calcmode="lin" valueType="num">
                                      <p:cBhvr additive="base">
                                        <p:cTn id="139" dur="500" fill="hold"/>
                                        <p:tgtEl>
                                          <p:spTgt spid="90"/>
                                        </p:tgtEl>
                                        <p:attrNameLst>
                                          <p:attrName>ppt_x</p:attrName>
                                        </p:attrNameLst>
                                      </p:cBhvr>
                                      <p:tavLst>
                                        <p:tav tm="0">
                                          <p:val>
                                            <p:strVal val="#ppt_x"/>
                                          </p:val>
                                        </p:tav>
                                        <p:tav tm="100000">
                                          <p:val>
                                            <p:strVal val="#ppt_x"/>
                                          </p:val>
                                        </p:tav>
                                      </p:tavLst>
                                    </p:anim>
                                    <p:anim calcmode="lin" valueType="num">
                                      <p:cBhvr additive="base">
                                        <p:cTn id="140" dur="500" fill="hold"/>
                                        <p:tgtEl>
                                          <p:spTgt spid="90"/>
                                        </p:tgtEl>
                                        <p:attrNameLst>
                                          <p:attrName>ppt_y</p:attrName>
                                        </p:attrNameLst>
                                      </p:cBhvr>
                                      <p:tavLst>
                                        <p:tav tm="0">
                                          <p:val>
                                            <p:strVal val="1+#ppt_h/2"/>
                                          </p:val>
                                        </p:tav>
                                        <p:tav tm="100000">
                                          <p:val>
                                            <p:strVal val="#ppt_y"/>
                                          </p:val>
                                        </p:tav>
                                      </p:tavLst>
                                    </p:anim>
                                  </p:childTnLst>
                                </p:cTn>
                              </p:par>
                              <p:par>
                                <p:cTn id="141" presetID="2" presetClass="entr" presetSubtype="4" fill="hold" nodeType="withEffect">
                                  <p:stCondLst>
                                    <p:cond delay="0"/>
                                  </p:stCondLst>
                                  <p:childTnLst>
                                    <p:set>
                                      <p:cBhvr>
                                        <p:cTn id="142" dur="1" fill="hold">
                                          <p:stCondLst>
                                            <p:cond delay="0"/>
                                          </p:stCondLst>
                                        </p:cTn>
                                        <p:tgtEl>
                                          <p:spTgt spid="103"/>
                                        </p:tgtEl>
                                        <p:attrNameLst>
                                          <p:attrName>style.visibility</p:attrName>
                                        </p:attrNameLst>
                                      </p:cBhvr>
                                      <p:to>
                                        <p:strVal val="visible"/>
                                      </p:to>
                                    </p:set>
                                    <p:anim calcmode="lin" valueType="num">
                                      <p:cBhvr additive="base">
                                        <p:cTn id="143" dur="500" fill="hold"/>
                                        <p:tgtEl>
                                          <p:spTgt spid="103"/>
                                        </p:tgtEl>
                                        <p:attrNameLst>
                                          <p:attrName>ppt_x</p:attrName>
                                        </p:attrNameLst>
                                      </p:cBhvr>
                                      <p:tavLst>
                                        <p:tav tm="0">
                                          <p:val>
                                            <p:strVal val="#ppt_x"/>
                                          </p:val>
                                        </p:tav>
                                        <p:tav tm="100000">
                                          <p:val>
                                            <p:strVal val="#ppt_x"/>
                                          </p:val>
                                        </p:tav>
                                      </p:tavLst>
                                    </p:anim>
                                    <p:anim calcmode="lin" valueType="num">
                                      <p:cBhvr additive="base">
                                        <p:cTn id="144" dur="500" fill="hold"/>
                                        <p:tgtEl>
                                          <p:spTgt spid="103"/>
                                        </p:tgtEl>
                                        <p:attrNameLst>
                                          <p:attrName>ppt_y</p:attrName>
                                        </p:attrNameLst>
                                      </p:cBhvr>
                                      <p:tavLst>
                                        <p:tav tm="0">
                                          <p:val>
                                            <p:strVal val="1+#ppt_h/2"/>
                                          </p:val>
                                        </p:tav>
                                        <p:tav tm="100000">
                                          <p:val>
                                            <p:strVal val="#ppt_y"/>
                                          </p:val>
                                        </p:tav>
                                      </p:tavLst>
                                    </p:anim>
                                  </p:childTnLst>
                                </p:cTn>
                              </p:par>
                              <p:par>
                                <p:cTn id="145" presetID="2" presetClass="entr" presetSubtype="4" fill="hold" nodeType="withEffect">
                                  <p:stCondLst>
                                    <p:cond delay="0"/>
                                  </p:stCondLst>
                                  <p:childTnLst>
                                    <p:set>
                                      <p:cBhvr>
                                        <p:cTn id="146" dur="1" fill="hold">
                                          <p:stCondLst>
                                            <p:cond delay="0"/>
                                          </p:stCondLst>
                                        </p:cTn>
                                        <p:tgtEl>
                                          <p:spTgt spid="115"/>
                                        </p:tgtEl>
                                        <p:attrNameLst>
                                          <p:attrName>style.visibility</p:attrName>
                                        </p:attrNameLst>
                                      </p:cBhvr>
                                      <p:to>
                                        <p:strVal val="visible"/>
                                      </p:to>
                                    </p:set>
                                    <p:anim calcmode="lin" valueType="num">
                                      <p:cBhvr additive="base">
                                        <p:cTn id="147" dur="500" fill="hold"/>
                                        <p:tgtEl>
                                          <p:spTgt spid="115"/>
                                        </p:tgtEl>
                                        <p:attrNameLst>
                                          <p:attrName>ppt_x</p:attrName>
                                        </p:attrNameLst>
                                      </p:cBhvr>
                                      <p:tavLst>
                                        <p:tav tm="0">
                                          <p:val>
                                            <p:strVal val="#ppt_x"/>
                                          </p:val>
                                        </p:tav>
                                        <p:tav tm="100000">
                                          <p:val>
                                            <p:strVal val="#ppt_x"/>
                                          </p:val>
                                        </p:tav>
                                      </p:tavLst>
                                    </p:anim>
                                    <p:anim calcmode="lin" valueType="num">
                                      <p:cBhvr additive="base">
                                        <p:cTn id="148" dur="500" fill="hold"/>
                                        <p:tgtEl>
                                          <p:spTgt spid="115"/>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131"/>
                                        </p:tgtEl>
                                        <p:attrNameLst>
                                          <p:attrName>style.visibility</p:attrName>
                                        </p:attrNameLst>
                                      </p:cBhvr>
                                      <p:to>
                                        <p:strVal val="visible"/>
                                      </p:to>
                                    </p:set>
                                    <p:anim calcmode="lin" valueType="num">
                                      <p:cBhvr additive="base">
                                        <p:cTn id="151" dur="500" fill="hold"/>
                                        <p:tgtEl>
                                          <p:spTgt spid="131"/>
                                        </p:tgtEl>
                                        <p:attrNameLst>
                                          <p:attrName>ppt_x</p:attrName>
                                        </p:attrNameLst>
                                      </p:cBhvr>
                                      <p:tavLst>
                                        <p:tav tm="0">
                                          <p:val>
                                            <p:strVal val="#ppt_x"/>
                                          </p:val>
                                        </p:tav>
                                        <p:tav tm="100000">
                                          <p:val>
                                            <p:strVal val="#ppt_x"/>
                                          </p:val>
                                        </p:tav>
                                      </p:tavLst>
                                    </p:anim>
                                    <p:anim calcmode="lin" valueType="num">
                                      <p:cBhvr additive="base">
                                        <p:cTn id="152" dur="500" fill="hold"/>
                                        <p:tgtEl>
                                          <p:spTgt spid="131"/>
                                        </p:tgtEl>
                                        <p:attrNameLst>
                                          <p:attrName>ppt_y</p:attrName>
                                        </p:attrNameLst>
                                      </p:cBhvr>
                                      <p:tavLst>
                                        <p:tav tm="0">
                                          <p:val>
                                            <p:strVal val="1+#ppt_h/2"/>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2" presetClass="entr" presetSubtype="4" fill="hold" nodeType="clickEffect">
                                  <p:stCondLst>
                                    <p:cond delay="0"/>
                                  </p:stCondLst>
                                  <p:childTnLst>
                                    <p:set>
                                      <p:cBhvr>
                                        <p:cTn id="156" dur="1" fill="hold">
                                          <p:stCondLst>
                                            <p:cond delay="0"/>
                                          </p:stCondLst>
                                        </p:cTn>
                                        <p:tgtEl>
                                          <p:spTgt spid="175"/>
                                        </p:tgtEl>
                                        <p:attrNameLst>
                                          <p:attrName>style.visibility</p:attrName>
                                        </p:attrNameLst>
                                      </p:cBhvr>
                                      <p:to>
                                        <p:strVal val="visible"/>
                                      </p:to>
                                    </p:set>
                                    <p:anim calcmode="lin" valueType="num">
                                      <p:cBhvr additive="base">
                                        <p:cTn id="157" dur="500" fill="hold"/>
                                        <p:tgtEl>
                                          <p:spTgt spid="175"/>
                                        </p:tgtEl>
                                        <p:attrNameLst>
                                          <p:attrName>ppt_x</p:attrName>
                                        </p:attrNameLst>
                                      </p:cBhvr>
                                      <p:tavLst>
                                        <p:tav tm="0">
                                          <p:val>
                                            <p:strVal val="#ppt_x"/>
                                          </p:val>
                                        </p:tav>
                                        <p:tav tm="100000">
                                          <p:val>
                                            <p:strVal val="#ppt_x"/>
                                          </p:val>
                                        </p:tav>
                                      </p:tavLst>
                                    </p:anim>
                                    <p:anim calcmode="lin" valueType="num">
                                      <p:cBhvr additive="base">
                                        <p:cTn id="158" dur="500" fill="hold"/>
                                        <p:tgtEl>
                                          <p:spTgt spid="175"/>
                                        </p:tgtEl>
                                        <p:attrNameLst>
                                          <p:attrName>ppt_y</p:attrName>
                                        </p:attrNameLst>
                                      </p:cBhvr>
                                      <p:tavLst>
                                        <p:tav tm="0">
                                          <p:val>
                                            <p:strVal val="1+#ppt_h/2"/>
                                          </p:val>
                                        </p:tav>
                                        <p:tav tm="100000">
                                          <p:val>
                                            <p:strVal val="#ppt_y"/>
                                          </p:val>
                                        </p:tav>
                                      </p:tavLst>
                                    </p:anim>
                                  </p:childTnLst>
                                </p:cTn>
                              </p:par>
                              <p:par>
                                <p:cTn id="159" presetID="2" presetClass="entr" presetSubtype="4" fill="hold" nodeType="withEffect">
                                  <p:stCondLst>
                                    <p:cond delay="0"/>
                                  </p:stCondLst>
                                  <p:childTnLst>
                                    <p:set>
                                      <p:cBhvr>
                                        <p:cTn id="160" dur="1" fill="hold">
                                          <p:stCondLst>
                                            <p:cond delay="0"/>
                                          </p:stCondLst>
                                        </p:cTn>
                                        <p:tgtEl>
                                          <p:spTgt spid="178"/>
                                        </p:tgtEl>
                                        <p:attrNameLst>
                                          <p:attrName>style.visibility</p:attrName>
                                        </p:attrNameLst>
                                      </p:cBhvr>
                                      <p:to>
                                        <p:strVal val="visible"/>
                                      </p:to>
                                    </p:set>
                                    <p:anim calcmode="lin" valueType="num">
                                      <p:cBhvr additive="base">
                                        <p:cTn id="161" dur="500" fill="hold"/>
                                        <p:tgtEl>
                                          <p:spTgt spid="178"/>
                                        </p:tgtEl>
                                        <p:attrNameLst>
                                          <p:attrName>ppt_x</p:attrName>
                                        </p:attrNameLst>
                                      </p:cBhvr>
                                      <p:tavLst>
                                        <p:tav tm="0">
                                          <p:val>
                                            <p:strVal val="#ppt_x"/>
                                          </p:val>
                                        </p:tav>
                                        <p:tav tm="100000">
                                          <p:val>
                                            <p:strVal val="#ppt_x"/>
                                          </p:val>
                                        </p:tav>
                                      </p:tavLst>
                                    </p:anim>
                                    <p:anim calcmode="lin" valueType="num">
                                      <p:cBhvr additive="base">
                                        <p:cTn id="162" dur="500" fill="hold"/>
                                        <p:tgtEl>
                                          <p:spTgt spid="178"/>
                                        </p:tgtEl>
                                        <p:attrNameLst>
                                          <p:attrName>ppt_y</p:attrName>
                                        </p:attrNameLst>
                                      </p:cBhvr>
                                      <p:tavLst>
                                        <p:tav tm="0">
                                          <p:val>
                                            <p:strVal val="1+#ppt_h/2"/>
                                          </p:val>
                                        </p:tav>
                                        <p:tav tm="100000">
                                          <p:val>
                                            <p:strVal val="#ppt_y"/>
                                          </p:val>
                                        </p:tav>
                                      </p:tavLst>
                                    </p:anim>
                                  </p:childTnLst>
                                </p:cTn>
                              </p:par>
                              <p:par>
                                <p:cTn id="163" presetID="2" presetClass="entr" presetSubtype="4" fill="hold" nodeType="withEffect">
                                  <p:stCondLst>
                                    <p:cond delay="0"/>
                                  </p:stCondLst>
                                  <p:childTnLst>
                                    <p:set>
                                      <p:cBhvr>
                                        <p:cTn id="164" dur="1" fill="hold">
                                          <p:stCondLst>
                                            <p:cond delay="0"/>
                                          </p:stCondLst>
                                        </p:cTn>
                                        <p:tgtEl>
                                          <p:spTgt spid="179"/>
                                        </p:tgtEl>
                                        <p:attrNameLst>
                                          <p:attrName>style.visibility</p:attrName>
                                        </p:attrNameLst>
                                      </p:cBhvr>
                                      <p:to>
                                        <p:strVal val="visible"/>
                                      </p:to>
                                    </p:set>
                                    <p:anim calcmode="lin" valueType="num">
                                      <p:cBhvr additive="base">
                                        <p:cTn id="165" dur="500" fill="hold"/>
                                        <p:tgtEl>
                                          <p:spTgt spid="179"/>
                                        </p:tgtEl>
                                        <p:attrNameLst>
                                          <p:attrName>ppt_x</p:attrName>
                                        </p:attrNameLst>
                                      </p:cBhvr>
                                      <p:tavLst>
                                        <p:tav tm="0">
                                          <p:val>
                                            <p:strVal val="#ppt_x"/>
                                          </p:val>
                                        </p:tav>
                                        <p:tav tm="100000">
                                          <p:val>
                                            <p:strVal val="#ppt_x"/>
                                          </p:val>
                                        </p:tav>
                                      </p:tavLst>
                                    </p:anim>
                                    <p:anim calcmode="lin" valueType="num">
                                      <p:cBhvr additive="base">
                                        <p:cTn id="166" dur="500" fill="hold"/>
                                        <p:tgtEl>
                                          <p:spTgt spid="179"/>
                                        </p:tgtEl>
                                        <p:attrNameLst>
                                          <p:attrName>ppt_y</p:attrName>
                                        </p:attrNameLst>
                                      </p:cBhvr>
                                      <p:tavLst>
                                        <p:tav tm="0">
                                          <p:val>
                                            <p:strVal val="1+#ppt_h/2"/>
                                          </p:val>
                                        </p:tav>
                                        <p:tav tm="100000">
                                          <p:val>
                                            <p:strVal val="#ppt_y"/>
                                          </p:val>
                                        </p:tav>
                                      </p:tavLst>
                                    </p:anim>
                                  </p:childTnLst>
                                </p:cTn>
                              </p:par>
                              <p:par>
                                <p:cTn id="167" presetID="2" presetClass="entr" presetSubtype="4" fill="hold" nodeType="withEffect">
                                  <p:stCondLst>
                                    <p:cond delay="0"/>
                                  </p:stCondLst>
                                  <p:childTnLst>
                                    <p:set>
                                      <p:cBhvr>
                                        <p:cTn id="168" dur="1" fill="hold">
                                          <p:stCondLst>
                                            <p:cond delay="0"/>
                                          </p:stCondLst>
                                        </p:cTn>
                                        <p:tgtEl>
                                          <p:spTgt spid="182"/>
                                        </p:tgtEl>
                                        <p:attrNameLst>
                                          <p:attrName>style.visibility</p:attrName>
                                        </p:attrNameLst>
                                      </p:cBhvr>
                                      <p:to>
                                        <p:strVal val="visible"/>
                                      </p:to>
                                    </p:set>
                                    <p:anim calcmode="lin" valueType="num">
                                      <p:cBhvr additive="base">
                                        <p:cTn id="169" dur="500" fill="hold"/>
                                        <p:tgtEl>
                                          <p:spTgt spid="182"/>
                                        </p:tgtEl>
                                        <p:attrNameLst>
                                          <p:attrName>ppt_x</p:attrName>
                                        </p:attrNameLst>
                                      </p:cBhvr>
                                      <p:tavLst>
                                        <p:tav tm="0">
                                          <p:val>
                                            <p:strVal val="#ppt_x"/>
                                          </p:val>
                                        </p:tav>
                                        <p:tav tm="100000">
                                          <p:val>
                                            <p:strVal val="#ppt_x"/>
                                          </p:val>
                                        </p:tav>
                                      </p:tavLst>
                                    </p:anim>
                                    <p:anim calcmode="lin" valueType="num">
                                      <p:cBhvr additive="base">
                                        <p:cTn id="170" dur="500" fill="hold"/>
                                        <p:tgtEl>
                                          <p:spTgt spid="182"/>
                                        </p:tgtEl>
                                        <p:attrNameLst>
                                          <p:attrName>ppt_y</p:attrName>
                                        </p:attrNameLst>
                                      </p:cBhvr>
                                      <p:tavLst>
                                        <p:tav tm="0">
                                          <p:val>
                                            <p:strVal val="1+#ppt_h/2"/>
                                          </p:val>
                                        </p:tav>
                                        <p:tav tm="100000">
                                          <p:val>
                                            <p:strVal val="#ppt_y"/>
                                          </p:val>
                                        </p:tav>
                                      </p:tavLst>
                                    </p:anim>
                                  </p:childTnLst>
                                </p:cTn>
                              </p:par>
                              <p:par>
                                <p:cTn id="171" presetID="2" presetClass="entr" presetSubtype="4" fill="hold" nodeType="withEffect">
                                  <p:stCondLst>
                                    <p:cond delay="0"/>
                                  </p:stCondLst>
                                  <p:childTnLst>
                                    <p:set>
                                      <p:cBhvr>
                                        <p:cTn id="172" dur="1" fill="hold">
                                          <p:stCondLst>
                                            <p:cond delay="0"/>
                                          </p:stCondLst>
                                        </p:cTn>
                                        <p:tgtEl>
                                          <p:spTgt spid="185"/>
                                        </p:tgtEl>
                                        <p:attrNameLst>
                                          <p:attrName>style.visibility</p:attrName>
                                        </p:attrNameLst>
                                      </p:cBhvr>
                                      <p:to>
                                        <p:strVal val="visible"/>
                                      </p:to>
                                    </p:set>
                                    <p:anim calcmode="lin" valueType="num">
                                      <p:cBhvr additive="base">
                                        <p:cTn id="173" dur="500" fill="hold"/>
                                        <p:tgtEl>
                                          <p:spTgt spid="185"/>
                                        </p:tgtEl>
                                        <p:attrNameLst>
                                          <p:attrName>ppt_x</p:attrName>
                                        </p:attrNameLst>
                                      </p:cBhvr>
                                      <p:tavLst>
                                        <p:tav tm="0">
                                          <p:val>
                                            <p:strVal val="#ppt_x"/>
                                          </p:val>
                                        </p:tav>
                                        <p:tav tm="100000">
                                          <p:val>
                                            <p:strVal val="#ppt_x"/>
                                          </p:val>
                                        </p:tav>
                                      </p:tavLst>
                                    </p:anim>
                                    <p:anim calcmode="lin" valueType="num">
                                      <p:cBhvr additive="base">
                                        <p:cTn id="174" dur="500" fill="hold"/>
                                        <p:tgtEl>
                                          <p:spTgt spid="185"/>
                                        </p:tgtEl>
                                        <p:attrNameLst>
                                          <p:attrName>ppt_y</p:attrName>
                                        </p:attrNameLst>
                                      </p:cBhvr>
                                      <p:tavLst>
                                        <p:tav tm="0">
                                          <p:val>
                                            <p:strVal val="1+#ppt_h/2"/>
                                          </p:val>
                                        </p:tav>
                                        <p:tav tm="100000">
                                          <p:val>
                                            <p:strVal val="#ppt_y"/>
                                          </p:val>
                                        </p:tav>
                                      </p:tavLst>
                                    </p:anim>
                                  </p:childTnLst>
                                </p:cTn>
                              </p:par>
                              <p:par>
                                <p:cTn id="175" presetID="2" presetClass="entr" presetSubtype="4" fill="hold" grpId="0" nodeType="withEffect">
                                  <p:stCondLst>
                                    <p:cond delay="0"/>
                                  </p:stCondLst>
                                  <p:childTnLst>
                                    <p:set>
                                      <p:cBhvr>
                                        <p:cTn id="176" dur="1" fill="hold">
                                          <p:stCondLst>
                                            <p:cond delay="0"/>
                                          </p:stCondLst>
                                        </p:cTn>
                                        <p:tgtEl>
                                          <p:spTgt spid="189"/>
                                        </p:tgtEl>
                                        <p:attrNameLst>
                                          <p:attrName>style.visibility</p:attrName>
                                        </p:attrNameLst>
                                      </p:cBhvr>
                                      <p:to>
                                        <p:strVal val="visible"/>
                                      </p:to>
                                    </p:set>
                                    <p:anim calcmode="lin" valueType="num">
                                      <p:cBhvr additive="base">
                                        <p:cTn id="177" dur="500" fill="hold"/>
                                        <p:tgtEl>
                                          <p:spTgt spid="189"/>
                                        </p:tgtEl>
                                        <p:attrNameLst>
                                          <p:attrName>ppt_x</p:attrName>
                                        </p:attrNameLst>
                                      </p:cBhvr>
                                      <p:tavLst>
                                        <p:tav tm="0">
                                          <p:val>
                                            <p:strVal val="#ppt_x"/>
                                          </p:val>
                                        </p:tav>
                                        <p:tav tm="100000">
                                          <p:val>
                                            <p:strVal val="#ppt_x"/>
                                          </p:val>
                                        </p:tav>
                                      </p:tavLst>
                                    </p:anim>
                                    <p:anim calcmode="lin" valueType="num">
                                      <p:cBhvr additive="base">
                                        <p:cTn id="178" dur="500" fill="hold"/>
                                        <p:tgtEl>
                                          <p:spTgt spid="189"/>
                                        </p:tgtEl>
                                        <p:attrNameLst>
                                          <p:attrName>ppt_y</p:attrName>
                                        </p:attrNameLst>
                                      </p:cBhvr>
                                      <p:tavLst>
                                        <p:tav tm="0">
                                          <p:val>
                                            <p:strVal val="1+#ppt_h/2"/>
                                          </p:val>
                                        </p:tav>
                                        <p:tav tm="100000">
                                          <p:val>
                                            <p:strVal val="#ppt_y"/>
                                          </p:val>
                                        </p:tav>
                                      </p:tavLst>
                                    </p:anim>
                                  </p:childTnLst>
                                </p:cTn>
                              </p:par>
                              <p:par>
                                <p:cTn id="179" presetID="2" presetClass="entr" presetSubtype="4" fill="hold" nodeType="withEffect">
                                  <p:stCondLst>
                                    <p:cond delay="0"/>
                                  </p:stCondLst>
                                  <p:childTnLst>
                                    <p:set>
                                      <p:cBhvr>
                                        <p:cTn id="180" dur="1" fill="hold">
                                          <p:stCondLst>
                                            <p:cond delay="0"/>
                                          </p:stCondLst>
                                        </p:cTn>
                                        <p:tgtEl>
                                          <p:spTgt spid="186"/>
                                        </p:tgtEl>
                                        <p:attrNameLst>
                                          <p:attrName>style.visibility</p:attrName>
                                        </p:attrNameLst>
                                      </p:cBhvr>
                                      <p:to>
                                        <p:strVal val="visible"/>
                                      </p:to>
                                    </p:set>
                                    <p:anim calcmode="lin" valueType="num">
                                      <p:cBhvr additive="base">
                                        <p:cTn id="181" dur="500" fill="hold"/>
                                        <p:tgtEl>
                                          <p:spTgt spid="186"/>
                                        </p:tgtEl>
                                        <p:attrNameLst>
                                          <p:attrName>ppt_x</p:attrName>
                                        </p:attrNameLst>
                                      </p:cBhvr>
                                      <p:tavLst>
                                        <p:tav tm="0">
                                          <p:val>
                                            <p:strVal val="#ppt_x"/>
                                          </p:val>
                                        </p:tav>
                                        <p:tav tm="100000">
                                          <p:val>
                                            <p:strVal val="#ppt_x"/>
                                          </p:val>
                                        </p:tav>
                                      </p:tavLst>
                                    </p:anim>
                                    <p:anim calcmode="lin" valueType="num">
                                      <p:cBhvr additive="base">
                                        <p:cTn id="182" dur="500" fill="hold"/>
                                        <p:tgtEl>
                                          <p:spTgt spid="18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animBg="1"/>
      <p:bldP spid="129" grpId="0"/>
      <p:bldP spid="130" grpId="0"/>
      <p:bldP spid="131" grpId="0"/>
      <p:bldP spid="134" grpId="0"/>
      <p:bldP spid="189" grpId="0"/>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2" name="Slide Number Placeholder 1">
            <a:extLst>
              <a:ext uri="{FF2B5EF4-FFF2-40B4-BE49-F238E27FC236}">
                <a16:creationId xmlns:a16="http://schemas.microsoft.com/office/drawing/2014/main" id="{08A3DC21-C014-4815-8C63-C5A04B3B72FA}"/>
              </a:ext>
            </a:extLst>
          </p:cNvPr>
          <p:cNvSpPr>
            <a:spLocks noGrp="1"/>
          </p:cNvSpPr>
          <p:nvPr>
            <p:ph type="sldNum" sz="quarter" idx="12"/>
          </p:nvPr>
        </p:nvSpPr>
        <p:spPr/>
        <p:txBody>
          <a:bodyPr/>
          <a:lstStyle/>
          <a:p>
            <a:fld id="{F87B1DA3-02B2-4660-AE41-A9466C261DDF}" type="slidenum">
              <a:rPr lang="fr-FR" smtClean="0"/>
              <a:t>3</a:t>
            </a:fld>
            <a:endParaRPr lang="fr-FR"/>
          </a:p>
        </p:txBody>
      </p:sp>
      <p:sp>
        <p:nvSpPr>
          <p:cNvPr id="63" name="Rectangle 62">
            <a:extLst>
              <a:ext uri="{FF2B5EF4-FFF2-40B4-BE49-F238E27FC236}">
                <a16:creationId xmlns:a16="http://schemas.microsoft.com/office/drawing/2014/main" id="{E5EFDD41-F387-414F-A36C-B50B06B5BB1F}"/>
              </a:ext>
            </a:extLst>
          </p:cNvPr>
          <p:cNvSpPr/>
          <p:nvPr/>
        </p:nvSpPr>
        <p:spPr>
          <a:xfrm>
            <a:off x="19168823" y="0"/>
            <a:ext cx="18288000" cy="10079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64" name="TextBox 63">
            <a:extLst>
              <a:ext uri="{FF2B5EF4-FFF2-40B4-BE49-F238E27FC236}">
                <a16:creationId xmlns:a16="http://schemas.microsoft.com/office/drawing/2014/main" id="{17EDCAF9-5C5C-4007-94C4-FB6B27CB0DDE}"/>
              </a:ext>
            </a:extLst>
          </p:cNvPr>
          <p:cNvSpPr txBox="1"/>
          <p:nvPr/>
        </p:nvSpPr>
        <p:spPr>
          <a:xfrm>
            <a:off x="28198024" y="211607"/>
            <a:ext cx="2094986" cy="553998"/>
          </a:xfrm>
          <a:prstGeom prst="rect">
            <a:avLst/>
          </a:prstGeom>
          <a:noFill/>
        </p:spPr>
        <p:txBody>
          <a:bodyPr wrap="square" rtlCol="0">
            <a:spAutoFit/>
          </a:bodyPr>
          <a:lstStyle/>
          <a:p>
            <a:r>
              <a:rPr lang="en-US" sz="3000" b="1" dirty="0">
                <a:solidFill>
                  <a:schemeClr val="bg1">
                    <a:lumMod val="50000"/>
                  </a:schemeClr>
                </a:solidFill>
                <a:sym typeface="TT Fors Bold"/>
              </a:rPr>
              <a:t>RESULTATS</a:t>
            </a:r>
            <a:endParaRPr lang="fr-FR" sz="3000" b="1" dirty="0">
              <a:solidFill>
                <a:schemeClr val="bg1">
                  <a:lumMod val="50000"/>
                </a:schemeClr>
              </a:solidFill>
            </a:endParaRPr>
          </a:p>
        </p:txBody>
      </p:sp>
      <p:sp>
        <p:nvSpPr>
          <p:cNvPr id="65" name="TextBox 64">
            <a:extLst>
              <a:ext uri="{FF2B5EF4-FFF2-40B4-BE49-F238E27FC236}">
                <a16:creationId xmlns:a16="http://schemas.microsoft.com/office/drawing/2014/main" id="{2834F604-FD98-4FD2-B4C9-F23F48226CCF}"/>
              </a:ext>
            </a:extLst>
          </p:cNvPr>
          <p:cNvSpPr txBox="1"/>
          <p:nvPr/>
        </p:nvSpPr>
        <p:spPr>
          <a:xfrm>
            <a:off x="22828364" y="329965"/>
            <a:ext cx="6385223" cy="432683"/>
          </a:xfrm>
          <a:prstGeom prst="rect">
            <a:avLst/>
          </a:prstGeom>
          <a:noFill/>
        </p:spPr>
        <p:txBody>
          <a:bodyPr wrap="square" rtlCol="0">
            <a:spAutoFit/>
          </a:bodyPr>
          <a:lstStyle/>
          <a:p>
            <a:pPr algn="l">
              <a:lnSpc>
                <a:spcPts val="2519"/>
              </a:lnSpc>
              <a:spcBef>
                <a:spcPct val="0"/>
              </a:spcBef>
            </a:pPr>
            <a:r>
              <a:rPr lang="en-US" sz="3000" b="1" dirty="0">
                <a:solidFill>
                  <a:schemeClr val="bg1">
                    <a:lumMod val="50000"/>
                  </a:schemeClr>
                </a:solidFill>
                <a:sym typeface="TT Fors Bold"/>
              </a:rPr>
              <a:t>MATERIELS ET METHODES</a:t>
            </a:r>
          </a:p>
        </p:txBody>
      </p:sp>
      <p:sp>
        <p:nvSpPr>
          <p:cNvPr id="66" name="TextBox 65">
            <a:extLst>
              <a:ext uri="{FF2B5EF4-FFF2-40B4-BE49-F238E27FC236}">
                <a16:creationId xmlns:a16="http://schemas.microsoft.com/office/drawing/2014/main" id="{35217187-1BE3-4E9D-8FA4-D5B3266EF9EF}"/>
              </a:ext>
            </a:extLst>
          </p:cNvPr>
          <p:cNvSpPr txBox="1"/>
          <p:nvPr/>
        </p:nvSpPr>
        <p:spPr>
          <a:xfrm>
            <a:off x="34610377" y="208650"/>
            <a:ext cx="6385223" cy="553998"/>
          </a:xfrm>
          <a:prstGeom prst="rect">
            <a:avLst/>
          </a:prstGeom>
          <a:noFill/>
        </p:spPr>
        <p:txBody>
          <a:bodyPr wrap="square" rtlCol="0">
            <a:spAutoFit/>
          </a:bodyPr>
          <a:lstStyle/>
          <a:p>
            <a:r>
              <a:rPr lang="fr-MA" sz="3000" b="1" dirty="0">
                <a:solidFill>
                  <a:schemeClr val="bg1">
                    <a:lumMod val="50000"/>
                  </a:schemeClr>
                </a:solidFill>
              </a:rPr>
              <a:t>CONCLUSION</a:t>
            </a:r>
          </a:p>
        </p:txBody>
      </p:sp>
      <p:sp>
        <p:nvSpPr>
          <p:cNvPr id="67" name="Isosceles Triangle 66">
            <a:extLst>
              <a:ext uri="{FF2B5EF4-FFF2-40B4-BE49-F238E27FC236}">
                <a16:creationId xmlns:a16="http://schemas.microsoft.com/office/drawing/2014/main" id="{F19BC7F8-8895-4B6D-B49E-C004233A5A38}"/>
              </a:ext>
            </a:extLst>
          </p:cNvPr>
          <p:cNvSpPr/>
          <p:nvPr/>
        </p:nvSpPr>
        <p:spPr>
          <a:xfrm>
            <a:off x="19545227" y="748225"/>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68" name="TextBox 67">
            <a:extLst>
              <a:ext uri="{FF2B5EF4-FFF2-40B4-BE49-F238E27FC236}">
                <a16:creationId xmlns:a16="http://schemas.microsoft.com/office/drawing/2014/main" id="{9EFE48F3-382C-4582-9536-DE62FF735959}"/>
              </a:ext>
            </a:extLst>
          </p:cNvPr>
          <p:cNvSpPr txBox="1"/>
          <p:nvPr/>
        </p:nvSpPr>
        <p:spPr>
          <a:xfrm>
            <a:off x="19263989" y="208650"/>
            <a:ext cx="6756986" cy="553998"/>
          </a:xfrm>
          <a:prstGeom prst="rect">
            <a:avLst/>
          </a:prstGeom>
          <a:noFill/>
        </p:spPr>
        <p:txBody>
          <a:bodyPr wrap="square">
            <a:spAutoFit/>
          </a:bodyPr>
          <a:lstStyle>
            <a:defPPr>
              <a:defRPr lang="en-US"/>
            </a:defPPr>
            <a:lvl1pPr>
              <a:defRPr sz="3000" b="1">
                <a:solidFill>
                  <a:schemeClr val="bg1"/>
                </a:solidFill>
              </a:defRPr>
            </a:lvl1pPr>
          </a:lstStyle>
          <a:p>
            <a:r>
              <a:rPr lang="fr-FR" dirty="0"/>
              <a:t>INTRODUCTION</a:t>
            </a:r>
            <a:endParaRPr lang="fr-MA" dirty="0"/>
          </a:p>
        </p:txBody>
      </p:sp>
      <p:sp>
        <p:nvSpPr>
          <p:cNvPr id="69" name="TextBox 68">
            <a:extLst>
              <a:ext uri="{FF2B5EF4-FFF2-40B4-BE49-F238E27FC236}">
                <a16:creationId xmlns:a16="http://schemas.microsoft.com/office/drawing/2014/main" id="{9EFC1A62-F3CB-4E80-A29E-0F0FBBBD49A1}"/>
              </a:ext>
            </a:extLst>
          </p:cNvPr>
          <p:cNvSpPr txBox="1"/>
          <p:nvPr/>
        </p:nvSpPr>
        <p:spPr>
          <a:xfrm>
            <a:off x="31490652" y="226587"/>
            <a:ext cx="2723384" cy="553998"/>
          </a:xfrm>
          <a:prstGeom prst="rect">
            <a:avLst/>
          </a:prstGeom>
          <a:noFill/>
        </p:spPr>
        <p:txBody>
          <a:bodyPr wrap="square" rtlCol="0">
            <a:spAutoFit/>
          </a:bodyPr>
          <a:lstStyle/>
          <a:p>
            <a:r>
              <a:rPr lang="en-US" sz="3000" b="1" dirty="0">
                <a:solidFill>
                  <a:schemeClr val="bg1">
                    <a:lumMod val="50000"/>
                  </a:schemeClr>
                </a:solidFill>
                <a:sym typeface="TT Fors Bold"/>
              </a:rPr>
              <a:t>DISCUSSION</a:t>
            </a:r>
            <a:endParaRPr lang="fr-MA" sz="3000" b="1" dirty="0">
              <a:solidFill>
                <a:schemeClr val="bg1">
                  <a:lumMod val="50000"/>
                </a:schemeClr>
              </a:solidFill>
            </a:endParaRPr>
          </a:p>
        </p:txBody>
      </p:sp>
      <p:sp>
        <p:nvSpPr>
          <p:cNvPr id="85" name="TextBox 15">
            <a:extLst>
              <a:ext uri="{FF2B5EF4-FFF2-40B4-BE49-F238E27FC236}">
                <a16:creationId xmlns:a16="http://schemas.microsoft.com/office/drawing/2014/main" id="{50175263-314D-46F8-A8A9-EB118C4C376E}"/>
              </a:ext>
            </a:extLst>
          </p:cNvPr>
          <p:cNvSpPr txBox="1"/>
          <p:nvPr/>
        </p:nvSpPr>
        <p:spPr>
          <a:xfrm>
            <a:off x="1242080" y="3189106"/>
            <a:ext cx="8560093" cy="1060451"/>
          </a:xfrm>
          <a:prstGeom prst="rect">
            <a:avLst/>
          </a:prstGeom>
        </p:spPr>
        <p:txBody>
          <a:bodyPr lIns="0" tIns="0" rIns="0" bIns="0" rtlCol="0" anchor="t">
            <a:spAutoFit/>
          </a:bodyPr>
          <a:lstStyle/>
          <a:p>
            <a:pPr algn="l">
              <a:lnSpc>
                <a:spcPts val="8000"/>
              </a:lnSpc>
            </a:pPr>
            <a:r>
              <a:rPr lang="en-US" sz="8000" b="1" dirty="0" smtClean="0">
                <a:solidFill>
                  <a:srgbClr val="101010"/>
                </a:solidFill>
                <a:latin typeface="Montserrat Ultra-Bold"/>
                <a:ea typeface="Montserrat Ultra-Bold"/>
                <a:cs typeface="Montserrat Ultra-Bold"/>
                <a:sym typeface="Montserrat Ultra-Bold"/>
              </a:rPr>
              <a:t>INTRODUCTION</a:t>
            </a:r>
            <a:endParaRPr lang="en-US" sz="8000" b="1" dirty="0">
              <a:solidFill>
                <a:srgbClr val="101010"/>
              </a:solidFill>
              <a:latin typeface="Montserrat Ultra-Bold"/>
              <a:ea typeface="Montserrat Ultra-Bold"/>
              <a:cs typeface="Montserrat Ultra-Bold"/>
              <a:sym typeface="Montserrat Ultra-Bold"/>
            </a:endParaRPr>
          </a:p>
        </p:txBody>
      </p:sp>
      <p:grpSp>
        <p:nvGrpSpPr>
          <p:cNvPr id="90" name="Group 3"/>
          <p:cNvGrpSpPr/>
          <p:nvPr/>
        </p:nvGrpSpPr>
        <p:grpSpPr>
          <a:xfrm rot="-476095">
            <a:off x="16483652" y="4432449"/>
            <a:ext cx="5332697" cy="5011986"/>
            <a:chOff x="0" y="0"/>
            <a:chExt cx="1404496" cy="1320029"/>
          </a:xfrm>
        </p:grpSpPr>
        <p:sp>
          <p:nvSpPr>
            <p:cNvPr id="91" name="Freeform 4"/>
            <p:cNvSpPr/>
            <p:nvPr/>
          </p:nvSpPr>
          <p:spPr>
            <a:xfrm>
              <a:off x="0" y="0"/>
              <a:ext cx="1404496" cy="1320029"/>
            </a:xfrm>
            <a:custGeom>
              <a:avLst/>
              <a:gdLst/>
              <a:ahLst/>
              <a:cxnLst/>
              <a:rect l="l" t="t" r="r" b="b"/>
              <a:pathLst>
                <a:path w="1404496" h="1320029">
                  <a:moveTo>
                    <a:pt x="37746" y="0"/>
                  </a:moveTo>
                  <a:lnTo>
                    <a:pt x="1366750" y="0"/>
                  </a:lnTo>
                  <a:cubicBezTo>
                    <a:pt x="1387597" y="0"/>
                    <a:pt x="1404496" y="16900"/>
                    <a:pt x="1404496" y="37746"/>
                  </a:cubicBezTo>
                  <a:lnTo>
                    <a:pt x="1404496" y="1282283"/>
                  </a:lnTo>
                  <a:cubicBezTo>
                    <a:pt x="1404496" y="1303130"/>
                    <a:pt x="1387597" y="1320029"/>
                    <a:pt x="1366750" y="1320029"/>
                  </a:cubicBezTo>
                  <a:lnTo>
                    <a:pt x="37746" y="1320029"/>
                  </a:lnTo>
                  <a:cubicBezTo>
                    <a:pt x="16900" y="1320029"/>
                    <a:pt x="0" y="1303130"/>
                    <a:pt x="0" y="1282283"/>
                  </a:cubicBezTo>
                  <a:lnTo>
                    <a:pt x="0" y="37746"/>
                  </a:lnTo>
                  <a:cubicBezTo>
                    <a:pt x="0" y="16900"/>
                    <a:pt x="16900" y="0"/>
                    <a:pt x="37746" y="0"/>
                  </a:cubicBezTo>
                  <a:close/>
                </a:path>
              </a:pathLst>
            </a:custGeom>
            <a:solidFill>
              <a:srgbClr val="345CA4"/>
            </a:solidFill>
          </p:spPr>
        </p:sp>
        <p:sp>
          <p:nvSpPr>
            <p:cNvPr id="92" name="TextBox 5"/>
            <p:cNvSpPr txBox="1"/>
            <p:nvPr/>
          </p:nvSpPr>
          <p:spPr>
            <a:xfrm>
              <a:off x="0" y="-47625"/>
              <a:ext cx="1404496" cy="1367654"/>
            </a:xfrm>
            <a:prstGeom prst="rect">
              <a:avLst/>
            </a:prstGeom>
          </p:spPr>
          <p:txBody>
            <a:bodyPr lIns="50800" tIns="50800" rIns="50800" bIns="50800" rtlCol="0" anchor="ctr"/>
            <a:lstStyle/>
            <a:p>
              <a:pPr algn="ctr">
                <a:lnSpc>
                  <a:spcPts val="3254"/>
                </a:lnSpc>
              </a:pPr>
              <a:endParaRPr/>
            </a:p>
          </p:txBody>
        </p:sp>
      </p:grpSp>
      <p:grpSp>
        <p:nvGrpSpPr>
          <p:cNvPr id="93" name="Group 6"/>
          <p:cNvGrpSpPr/>
          <p:nvPr/>
        </p:nvGrpSpPr>
        <p:grpSpPr>
          <a:xfrm rot="185766">
            <a:off x="13515084" y="3837815"/>
            <a:ext cx="5246370" cy="5246370"/>
            <a:chOff x="0" y="0"/>
            <a:chExt cx="812800" cy="812800"/>
          </a:xfrm>
        </p:grpSpPr>
        <p:sp>
          <p:nvSpPr>
            <p:cNvPr id="94" name="Freeform 7"/>
            <p:cNvSpPr/>
            <p:nvPr/>
          </p:nvSpPr>
          <p:spPr>
            <a:xfrm rot="510297">
              <a:off x="-51397" y="-51397"/>
              <a:ext cx="915594" cy="915594"/>
            </a:xfrm>
            <a:custGeom>
              <a:avLst/>
              <a:gdLst/>
              <a:ahLst/>
              <a:cxnLst/>
              <a:rect l="l" t="t" r="r" b="b"/>
              <a:pathLst>
                <a:path w="915594" h="915594">
                  <a:moveTo>
                    <a:pt x="26410" y="111387"/>
                  </a:moveTo>
                  <a:lnTo>
                    <a:pt x="768975" y="345"/>
                  </a:lnTo>
                  <a:cubicBezTo>
                    <a:pt x="785902" y="-2186"/>
                    <a:pt x="801675" y="9483"/>
                    <a:pt x="804207" y="26410"/>
                  </a:cubicBezTo>
                  <a:lnTo>
                    <a:pt x="915249" y="768975"/>
                  </a:lnTo>
                  <a:cubicBezTo>
                    <a:pt x="917780" y="785902"/>
                    <a:pt x="906111" y="801675"/>
                    <a:pt x="889184" y="804207"/>
                  </a:cubicBezTo>
                  <a:lnTo>
                    <a:pt x="146619" y="915249"/>
                  </a:lnTo>
                  <a:cubicBezTo>
                    <a:pt x="129692" y="917780"/>
                    <a:pt x="113919" y="906111"/>
                    <a:pt x="111387" y="889184"/>
                  </a:cubicBezTo>
                  <a:lnTo>
                    <a:pt x="345" y="146619"/>
                  </a:lnTo>
                  <a:cubicBezTo>
                    <a:pt x="-2186" y="129692"/>
                    <a:pt x="9483" y="113919"/>
                    <a:pt x="26410" y="111387"/>
                  </a:cubicBezTo>
                  <a:close/>
                </a:path>
              </a:pathLst>
            </a:custGeom>
            <a:blipFill>
              <a:blip r:embed="rId4"/>
              <a:stretch>
                <a:fillRect l="-17735" t="-462" r="-17735" b="-462"/>
              </a:stretch>
            </a:blipFill>
          </p:spPr>
        </p:sp>
      </p:grpSp>
      <p:grpSp>
        <p:nvGrpSpPr>
          <p:cNvPr id="95" name="Group 8"/>
          <p:cNvGrpSpPr/>
          <p:nvPr/>
        </p:nvGrpSpPr>
        <p:grpSpPr>
          <a:xfrm>
            <a:off x="819761" y="705768"/>
            <a:ext cx="16648478" cy="645864"/>
            <a:chOff x="0" y="0"/>
            <a:chExt cx="10475806" cy="406400"/>
          </a:xfrm>
        </p:grpSpPr>
        <p:sp>
          <p:nvSpPr>
            <p:cNvPr id="96" name="Freeform 9"/>
            <p:cNvSpPr/>
            <p:nvPr/>
          </p:nvSpPr>
          <p:spPr>
            <a:xfrm>
              <a:off x="0" y="0"/>
              <a:ext cx="10475806" cy="406400"/>
            </a:xfrm>
            <a:custGeom>
              <a:avLst/>
              <a:gdLst/>
              <a:ahLst/>
              <a:cxnLst/>
              <a:rect l="l" t="t" r="r" b="b"/>
              <a:pathLst>
                <a:path w="10475806" h="406400">
                  <a:moveTo>
                    <a:pt x="10272606" y="0"/>
                  </a:moveTo>
                  <a:cubicBezTo>
                    <a:pt x="10384830" y="0"/>
                    <a:pt x="10475806" y="90976"/>
                    <a:pt x="10475806" y="203200"/>
                  </a:cubicBezTo>
                  <a:cubicBezTo>
                    <a:pt x="10475806" y="315424"/>
                    <a:pt x="10384830" y="406400"/>
                    <a:pt x="10272606" y="406400"/>
                  </a:cubicBezTo>
                  <a:lnTo>
                    <a:pt x="203200" y="406400"/>
                  </a:lnTo>
                  <a:cubicBezTo>
                    <a:pt x="90976" y="406400"/>
                    <a:pt x="0" y="315424"/>
                    <a:pt x="0" y="203200"/>
                  </a:cubicBezTo>
                  <a:cubicBezTo>
                    <a:pt x="0" y="90976"/>
                    <a:pt x="90976" y="0"/>
                    <a:pt x="203200" y="0"/>
                  </a:cubicBezTo>
                  <a:close/>
                </a:path>
              </a:pathLst>
            </a:custGeom>
            <a:solidFill>
              <a:srgbClr val="DDDEE4"/>
            </a:solidFill>
          </p:spPr>
        </p:sp>
        <p:sp>
          <p:nvSpPr>
            <p:cNvPr id="97" name="TextBox 10"/>
            <p:cNvSpPr txBox="1"/>
            <p:nvPr/>
          </p:nvSpPr>
          <p:spPr>
            <a:xfrm>
              <a:off x="0" y="-47625"/>
              <a:ext cx="10475806" cy="454025"/>
            </a:xfrm>
            <a:prstGeom prst="rect">
              <a:avLst/>
            </a:prstGeom>
          </p:spPr>
          <p:txBody>
            <a:bodyPr lIns="50800" tIns="50800" rIns="50800" bIns="50800" rtlCol="0" anchor="ctr"/>
            <a:lstStyle/>
            <a:p>
              <a:pPr algn="ctr">
                <a:lnSpc>
                  <a:spcPts val="3254"/>
                </a:lnSpc>
              </a:pPr>
              <a:endParaRPr/>
            </a:p>
          </p:txBody>
        </p:sp>
      </p:grpSp>
      <p:grpSp>
        <p:nvGrpSpPr>
          <p:cNvPr id="98" name="Group 11"/>
          <p:cNvGrpSpPr/>
          <p:nvPr/>
        </p:nvGrpSpPr>
        <p:grpSpPr>
          <a:xfrm>
            <a:off x="1028700" y="9222036"/>
            <a:ext cx="3136633" cy="645864"/>
            <a:chOff x="0" y="0"/>
            <a:chExt cx="1973680" cy="406400"/>
          </a:xfrm>
        </p:grpSpPr>
        <p:sp>
          <p:nvSpPr>
            <p:cNvPr id="99" name="Freeform 12"/>
            <p:cNvSpPr/>
            <p:nvPr/>
          </p:nvSpPr>
          <p:spPr>
            <a:xfrm>
              <a:off x="0" y="0"/>
              <a:ext cx="1973680" cy="406400"/>
            </a:xfrm>
            <a:custGeom>
              <a:avLst/>
              <a:gdLst/>
              <a:ahLst/>
              <a:cxnLst/>
              <a:rect l="l" t="t" r="r" b="b"/>
              <a:pathLst>
                <a:path w="1973680" h="406400">
                  <a:moveTo>
                    <a:pt x="1770480" y="0"/>
                  </a:moveTo>
                  <a:cubicBezTo>
                    <a:pt x="1882704" y="0"/>
                    <a:pt x="1973680" y="90976"/>
                    <a:pt x="1973680" y="203200"/>
                  </a:cubicBezTo>
                  <a:cubicBezTo>
                    <a:pt x="1973680" y="315424"/>
                    <a:pt x="1882704" y="406400"/>
                    <a:pt x="1770480" y="406400"/>
                  </a:cubicBezTo>
                  <a:lnTo>
                    <a:pt x="203200" y="406400"/>
                  </a:lnTo>
                  <a:cubicBezTo>
                    <a:pt x="90976" y="406400"/>
                    <a:pt x="0" y="315424"/>
                    <a:pt x="0" y="203200"/>
                  </a:cubicBezTo>
                  <a:cubicBezTo>
                    <a:pt x="0" y="90976"/>
                    <a:pt x="90976" y="0"/>
                    <a:pt x="203200" y="0"/>
                  </a:cubicBezTo>
                  <a:close/>
                </a:path>
              </a:pathLst>
            </a:custGeom>
            <a:solidFill>
              <a:srgbClr val="EFEFEF"/>
            </a:solidFill>
          </p:spPr>
        </p:sp>
        <p:sp>
          <p:nvSpPr>
            <p:cNvPr id="100" name="TextBox 13"/>
            <p:cNvSpPr txBox="1"/>
            <p:nvPr/>
          </p:nvSpPr>
          <p:spPr>
            <a:xfrm>
              <a:off x="0" y="-47625"/>
              <a:ext cx="1973680" cy="454025"/>
            </a:xfrm>
            <a:prstGeom prst="rect">
              <a:avLst/>
            </a:prstGeom>
          </p:spPr>
          <p:txBody>
            <a:bodyPr lIns="50800" tIns="50800" rIns="50800" bIns="50800" rtlCol="0" anchor="ctr"/>
            <a:lstStyle/>
            <a:p>
              <a:pPr algn="ctr">
                <a:lnSpc>
                  <a:spcPts val="3254"/>
                </a:lnSpc>
              </a:pPr>
              <a:endParaRPr/>
            </a:p>
          </p:txBody>
        </p:sp>
      </p:grpSp>
      <p:grpSp>
        <p:nvGrpSpPr>
          <p:cNvPr id="101" name="Group 14"/>
          <p:cNvGrpSpPr/>
          <p:nvPr/>
        </p:nvGrpSpPr>
        <p:grpSpPr>
          <a:xfrm>
            <a:off x="1205344" y="9349042"/>
            <a:ext cx="391852" cy="391852"/>
            <a:chOff x="0" y="0"/>
            <a:chExt cx="812800" cy="812800"/>
          </a:xfrm>
        </p:grpSpPr>
        <p:sp>
          <p:nvSpPr>
            <p:cNvPr id="102"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B95FD"/>
            </a:solidFill>
          </p:spPr>
        </p:sp>
        <p:sp>
          <p:nvSpPr>
            <p:cNvPr id="103" name="TextBox 16"/>
            <p:cNvSpPr txBox="1"/>
            <p:nvPr/>
          </p:nvSpPr>
          <p:spPr>
            <a:xfrm>
              <a:off x="76200" y="28575"/>
              <a:ext cx="660400" cy="708025"/>
            </a:xfrm>
            <a:prstGeom prst="rect">
              <a:avLst/>
            </a:prstGeom>
          </p:spPr>
          <p:txBody>
            <a:bodyPr lIns="50800" tIns="50800" rIns="50800" bIns="50800" rtlCol="0" anchor="ctr"/>
            <a:lstStyle/>
            <a:p>
              <a:pPr algn="ctr">
                <a:lnSpc>
                  <a:spcPts val="3254"/>
                </a:lnSpc>
              </a:pPr>
              <a:endParaRPr/>
            </a:p>
          </p:txBody>
        </p:sp>
      </p:grpSp>
      <p:sp>
        <p:nvSpPr>
          <p:cNvPr id="104" name="Freeform 17"/>
          <p:cNvSpPr/>
          <p:nvPr/>
        </p:nvSpPr>
        <p:spPr>
          <a:xfrm>
            <a:off x="1329206" y="9437232"/>
            <a:ext cx="144126" cy="190663"/>
          </a:xfrm>
          <a:custGeom>
            <a:avLst/>
            <a:gdLst/>
            <a:ahLst/>
            <a:cxnLst/>
            <a:rect l="l" t="t" r="r" b="b"/>
            <a:pathLst>
              <a:path w="144126" h="215473">
                <a:moveTo>
                  <a:pt x="0" y="0"/>
                </a:moveTo>
                <a:lnTo>
                  <a:pt x="144126" y="0"/>
                </a:lnTo>
                <a:lnTo>
                  <a:pt x="144126" y="215473"/>
                </a:lnTo>
                <a:lnTo>
                  <a:pt x="0" y="215473"/>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05" name="Freeform 18"/>
          <p:cNvSpPr/>
          <p:nvPr/>
        </p:nvSpPr>
        <p:spPr>
          <a:xfrm>
            <a:off x="1138461" y="2157163"/>
            <a:ext cx="917470" cy="756638"/>
          </a:xfrm>
          <a:custGeom>
            <a:avLst/>
            <a:gdLst/>
            <a:ahLst/>
            <a:cxnLst/>
            <a:rect l="l" t="t" r="r" b="b"/>
            <a:pathLst>
              <a:path w="917470" h="756638">
                <a:moveTo>
                  <a:pt x="0" y="0"/>
                </a:moveTo>
                <a:lnTo>
                  <a:pt x="917470" y="0"/>
                </a:lnTo>
                <a:lnTo>
                  <a:pt x="917470" y="756638"/>
                </a:lnTo>
                <a:lnTo>
                  <a:pt x="0" y="756638"/>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sp>
        <p:nvSpPr>
          <p:cNvPr id="106" name="Freeform 19"/>
          <p:cNvSpPr/>
          <p:nvPr/>
        </p:nvSpPr>
        <p:spPr>
          <a:xfrm>
            <a:off x="15224988" y="773112"/>
            <a:ext cx="2119267" cy="509838"/>
          </a:xfrm>
          <a:custGeom>
            <a:avLst/>
            <a:gdLst/>
            <a:ahLst/>
            <a:cxnLst/>
            <a:rect l="l" t="t" r="r" b="b"/>
            <a:pathLst>
              <a:path w="2119267" h="509838">
                <a:moveTo>
                  <a:pt x="0" y="0"/>
                </a:moveTo>
                <a:lnTo>
                  <a:pt x="2119266" y="0"/>
                </a:lnTo>
                <a:lnTo>
                  <a:pt x="2119266" y="509839"/>
                </a:lnTo>
                <a:lnTo>
                  <a:pt x="0" y="509839"/>
                </a:lnTo>
                <a:lnTo>
                  <a:pt x="0" y="0"/>
                </a:lnTo>
                <a:close/>
              </a:path>
            </a:pathLst>
          </a:custGeom>
          <a:blipFill>
            <a:blip r:embed="rId9"/>
            <a:stretch>
              <a:fillRect l="-3802" t="-174633" r="-3802" b="-172651"/>
            </a:stretch>
          </a:blipFill>
        </p:spPr>
      </p:sp>
      <p:sp>
        <p:nvSpPr>
          <p:cNvPr id="107" name="TextBox 21"/>
          <p:cNvSpPr txBox="1"/>
          <p:nvPr/>
        </p:nvSpPr>
        <p:spPr>
          <a:xfrm>
            <a:off x="1224394" y="812833"/>
            <a:ext cx="6841683" cy="470118"/>
          </a:xfrm>
          <a:prstGeom prst="rect">
            <a:avLst/>
          </a:prstGeom>
        </p:spPr>
        <p:txBody>
          <a:bodyPr lIns="0" tIns="0" rIns="0" bIns="0" rtlCol="0" anchor="t">
            <a:spAutoFit/>
          </a:bodyPr>
          <a:lstStyle/>
          <a:p>
            <a:pPr algn="l">
              <a:lnSpc>
                <a:spcPts val="3231"/>
              </a:lnSpc>
            </a:pPr>
            <a:r>
              <a:rPr lang="en-US" sz="2964">
                <a:solidFill>
                  <a:srgbClr val="000000"/>
                </a:solidFill>
                <a:latin typeface="Codec Pro"/>
                <a:ea typeface="Codec Pro"/>
                <a:cs typeface="Codec Pro"/>
                <a:sym typeface="Codec Pro"/>
              </a:rPr>
              <a:t>Tanger Med Port Authority (TMPA )</a:t>
            </a:r>
          </a:p>
        </p:txBody>
      </p:sp>
      <p:sp>
        <p:nvSpPr>
          <p:cNvPr id="108" name="TextBox 22"/>
          <p:cNvSpPr txBox="1"/>
          <p:nvPr/>
        </p:nvSpPr>
        <p:spPr>
          <a:xfrm>
            <a:off x="1890700" y="9329992"/>
            <a:ext cx="1304768" cy="470118"/>
          </a:xfrm>
          <a:prstGeom prst="rect">
            <a:avLst/>
          </a:prstGeom>
        </p:spPr>
        <p:txBody>
          <a:bodyPr lIns="0" tIns="0" rIns="0" bIns="0" rtlCol="0" anchor="t">
            <a:spAutoFit/>
          </a:bodyPr>
          <a:lstStyle/>
          <a:p>
            <a:pPr algn="l">
              <a:lnSpc>
                <a:spcPts val="3231"/>
              </a:lnSpc>
            </a:pPr>
            <a:r>
              <a:rPr lang="en-US" sz="2964" dirty="0">
                <a:solidFill>
                  <a:srgbClr val="000000"/>
                </a:solidFill>
                <a:latin typeface="Codec Pro"/>
                <a:ea typeface="Codec Pro"/>
                <a:cs typeface="Codec Pro"/>
                <a:sym typeface="Codec Pro"/>
              </a:rPr>
              <a:t>NEXT</a:t>
            </a:r>
          </a:p>
        </p:txBody>
      </p:sp>
      <p:sp>
        <p:nvSpPr>
          <p:cNvPr id="31" name="TextBox 44"/>
          <p:cNvSpPr txBox="1"/>
          <p:nvPr/>
        </p:nvSpPr>
        <p:spPr>
          <a:xfrm>
            <a:off x="1354333" y="4296167"/>
            <a:ext cx="11360953" cy="5170646"/>
          </a:xfrm>
          <a:prstGeom prst="rect">
            <a:avLst/>
          </a:prstGeom>
        </p:spPr>
        <p:txBody>
          <a:bodyPr wrap="square" lIns="0" tIns="0" rIns="0" bIns="0" rtlCol="0" anchor="t">
            <a:spAutoFit/>
          </a:bodyPr>
          <a:lstStyle/>
          <a:p>
            <a:r>
              <a:rPr lang="fr-FR" sz="2600" dirty="0"/>
              <a:t>Aujourd'hui, la plupart des entreprises s'orientent vers les technologies Cloud afin de centraliser leurs données, améliorer la disponibilité des services et simplifier l'administration de leur infrastructure.</a:t>
            </a:r>
          </a:p>
          <a:p>
            <a:endParaRPr lang="fr-FR" sz="2600" dirty="0"/>
          </a:p>
          <a:p>
            <a:r>
              <a:rPr lang="fr-FR" sz="2600" dirty="0"/>
              <a:t>Le Cloud permet également aux utilisateurs d'accéder à leurs ressources depuis n'importe où, tout en réduisant les coûts liés aux équipements physiques.</a:t>
            </a:r>
          </a:p>
          <a:p>
            <a:r>
              <a:rPr lang="fr-FR" sz="2600" dirty="0"/>
              <a:t>Cependant, avec l'augmentation du nombre d'utilisateurs et des données, les enjeux de sécurité, de disponibilité et d'automatisation deviennent de plus en plus importants.</a:t>
            </a:r>
          </a:p>
          <a:p>
            <a:endParaRPr lang="fr-FR" sz="2600" dirty="0"/>
          </a:p>
          <a:p>
            <a:r>
              <a:rPr lang="fr-FR" sz="2600" dirty="0"/>
              <a:t>C'est dans ce contexte que s'inscrit notre projet réalisé au sein de Tanger Med Port </a:t>
            </a:r>
            <a:r>
              <a:rPr lang="fr-FR" sz="2600" dirty="0" err="1"/>
              <a:t>Authority</a:t>
            </a:r>
            <a:r>
              <a:rPr lang="fr-FR" sz="2600" dirty="0"/>
              <a:t>.</a:t>
            </a:r>
          </a:p>
          <a:p>
            <a:endParaRPr lang="fr-FR" sz="2400" dirty="0"/>
          </a:p>
        </p:txBody>
      </p:sp>
    </p:spTree>
    <p:extLst>
      <p:ext uri="{BB962C8B-B14F-4D97-AF65-F5344CB8AC3E}">
        <p14:creationId xmlns:p14="http://schemas.microsoft.com/office/powerpoint/2010/main" val="16498146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fld id="{B6F15528-21DE-4FAA-801E-634DDDAF4B2B}" type="slidenum">
              <a:rPr lang="en-US" smtClean="0"/>
              <a:pPr/>
              <a:t>4</a:t>
            </a:fld>
            <a:endParaRPr lang="en-US"/>
          </a:p>
        </p:txBody>
      </p:sp>
      <p:sp>
        <p:nvSpPr>
          <p:cNvPr id="3" name="Freeform 2"/>
          <p:cNvSpPr/>
          <p:nvPr/>
        </p:nvSpPr>
        <p:spPr>
          <a:xfrm>
            <a:off x="20963" y="11792"/>
            <a:ext cx="18267037" cy="10275208"/>
          </a:xfrm>
          <a:custGeom>
            <a:avLst/>
            <a:gdLst/>
            <a:ahLst/>
            <a:cxnLst/>
            <a:rect l="l" t="t" r="r" b="b"/>
            <a:pathLst>
              <a:path w="18267037" h="10275208">
                <a:moveTo>
                  <a:pt x="0" y="0"/>
                </a:moveTo>
                <a:lnTo>
                  <a:pt x="18267037" y="0"/>
                </a:lnTo>
                <a:lnTo>
                  <a:pt x="18267037" y="10275208"/>
                </a:lnTo>
                <a:lnTo>
                  <a:pt x="0" y="10275208"/>
                </a:lnTo>
                <a:lnTo>
                  <a:pt x="0" y="0"/>
                </a:lnTo>
                <a:close/>
              </a:path>
            </a:pathLst>
          </a:custGeom>
          <a:blipFill>
            <a:blip r:embed="rId3"/>
            <a:stretch>
              <a:fillRect/>
            </a:stretch>
          </a:blipFill>
        </p:spPr>
      </p:sp>
      <p:grpSp>
        <p:nvGrpSpPr>
          <p:cNvPr id="4" name="Group 3"/>
          <p:cNvGrpSpPr/>
          <p:nvPr/>
        </p:nvGrpSpPr>
        <p:grpSpPr>
          <a:xfrm>
            <a:off x="1028700" y="1952418"/>
            <a:ext cx="9144000" cy="548640"/>
            <a:chOff x="0" y="0"/>
            <a:chExt cx="12192000" cy="731520"/>
          </a:xfrm>
        </p:grpSpPr>
        <p:sp>
          <p:nvSpPr>
            <p:cNvPr id="5" name="Freeform 4"/>
            <p:cNvSpPr/>
            <p:nvPr/>
          </p:nvSpPr>
          <p:spPr>
            <a:xfrm>
              <a:off x="0" y="0"/>
              <a:ext cx="12192000" cy="731520"/>
            </a:xfrm>
            <a:custGeom>
              <a:avLst/>
              <a:gdLst/>
              <a:ahLst/>
              <a:cxnLst/>
              <a:rect l="l" t="t" r="r" b="b"/>
              <a:pathLst>
                <a:path w="12192000" h="731520">
                  <a:moveTo>
                    <a:pt x="0" y="0"/>
                  </a:moveTo>
                  <a:lnTo>
                    <a:pt x="12192000" y="0"/>
                  </a:lnTo>
                  <a:lnTo>
                    <a:pt x="12192000" y="731520"/>
                  </a:lnTo>
                  <a:lnTo>
                    <a:pt x="0" y="731520"/>
                  </a:lnTo>
                  <a:close/>
                </a:path>
              </a:pathLst>
            </a:custGeom>
            <a:blipFill>
              <a:blip r:embed="rId4">
                <a:alphaModFix amt="0"/>
              </a:blip>
              <a:stretch>
                <a:fillRect t="-274750" b="-274750"/>
              </a:stretch>
            </a:blipFill>
          </p:spPr>
        </p:sp>
        <p:sp>
          <p:nvSpPr>
            <p:cNvPr id="6" name="TextBox 5"/>
            <p:cNvSpPr txBox="1"/>
            <p:nvPr/>
          </p:nvSpPr>
          <p:spPr>
            <a:xfrm>
              <a:off x="0" y="-47625"/>
              <a:ext cx="12192000" cy="779145"/>
            </a:xfrm>
            <a:prstGeom prst="rect">
              <a:avLst/>
            </a:prstGeom>
          </p:spPr>
          <p:txBody>
            <a:bodyPr lIns="0" tIns="0" rIns="0" bIns="0" rtlCol="0" anchor="ctr"/>
            <a:lstStyle/>
            <a:p>
              <a:pPr algn="l">
                <a:lnSpc>
                  <a:spcPts val="2399"/>
                </a:lnSpc>
              </a:pPr>
              <a:r>
                <a:rPr lang="en-US" sz="1999" b="1" spc="1111">
                  <a:solidFill>
                    <a:srgbClr val="4DA6FF"/>
                  </a:solidFill>
                  <a:latin typeface="Calibri (MS) Bold"/>
                  <a:ea typeface="Calibri (MS) Bold"/>
                  <a:cs typeface="Calibri (MS) Bold"/>
                  <a:sym typeface="Calibri (MS) Bold"/>
                </a:rPr>
                <a:t>SCAN &amp; DISCOVER</a:t>
              </a:r>
            </a:p>
          </p:txBody>
        </p:sp>
      </p:grpSp>
      <p:grpSp>
        <p:nvGrpSpPr>
          <p:cNvPr id="7" name="Group 6"/>
          <p:cNvGrpSpPr/>
          <p:nvPr/>
        </p:nvGrpSpPr>
        <p:grpSpPr>
          <a:xfrm>
            <a:off x="914400" y="2267712"/>
            <a:ext cx="9144000" cy="3291840"/>
            <a:chOff x="0" y="0"/>
            <a:chExt cx="12192000" cy="4389120"/>
          </a:xfrm>
        </p:grpSpPr>
        <p:sp>
          <p:nvSpPr>
            <p:cNvPr id="8" name="Freeform 7"/>
            <p:cNvSpPr/>
            <p:nvPr/>
          </p:nvSpPr>
          <p:spPr>
            <a:xfrm>
              <a:off x="0" y="0"/>
              <a:ext cx="12192000" cy="4389120"/>
            </a:xfrm>
            <a:custGeom>
              <a:avLst/>
              <a:gdLst/>
              <a:ahLst/>
              <a:cxnLst/>
              <a:rect l="l" t="t" r="r" b="b"/>
              <a:pathLst>
                <a:path w="12192000" h="4389120">
                  <a:moveTo>
                    <a:pt x="0" y="0"/>
                  </a:moveTo>
                  <a:lnTo>
                    <a:pt x="12192000" y="0"/>
                  </a:lnTo>
                  <a:lnTo>
                    <a:pt x="12192000" y="4389120"/>
                  </a:lnTo>
                  <a:lnTo>
                    <a:pt x="0" y="4389120"/>
                  </a:lnTo>
                  <a:close/>
                </a:path>
              </a:pathLst>
            </a:custGeom>
            <a:blipFill>
              <a:blip r:embed="rId4">
                <a:alphaModFix amt="0"/>
              </a:blip>
              <a:stretch>
                <a:fillRect t="-4125" b="-4125"/>
              </a:stretch>
            </a:blipFill>
          </p:spPr>
        </p:sp>
        <p:sp>
          <p:nvSpPr>
            <p:cNvPr id="9" name="TextBox 8"/>
            <p:cNvSpPr txBox="1"/>
            <p:nvPr/>
          </p:nvSpPr>
          <p:spPr>
            <a:xfrm>
              <a:off x="0" y="-152400"/>
              <a:ext cx="12192000" cy="4541520"/>
            </a:xfrm>
            <a:prstGeom prst="rect">
              <a:avLst/>
            </a:prstGeom>
          </p:spPr>
          <p:txBody>
            <a:bodyPr lIns="0" tIns="0" rIns="0" bIns="0" rtlCol="0" anchor="ctr"/>
            <a:lstStyle/>
            <a:p>
              <a:pPr algn="l">
                <a:lnSpc>
                  <a:spcPts val="9935"/>
                </a:lnSpc>
              </a:pPr>
              <a:r>
                <a:rPr lang="en-US" sz="7200" b="1" dirty="0">
                  <a:solidFill>
                    <a:srgbClr val="000000"/>
                  </a:solidFill>
                  <a:latin typeface="Arial Bold"/>
                  <a:ea typeface="Arial Bold"/>
                  <a:cs typeface="Arial Bold"/>
                  <a:sym typeface="Arial Bold"/>
                </a:rPr>
                <a:t>Notre </a:t>
              </a:r>
              <a:r>
                <a:rPr lang="en-US" sz="7200" b="1" dirty="0" err="1">
                  <a:solidFill>
                    <a:srgbClr val="000000"/>
                  </a:solidFill>
                  <a:latin typeface="Arial Bold"/>
                  <a:ea typeface="Arial Bold"/>
                  <a:cs typeface="Arial Bold"/>
                  <a:sym typeface="Arial Bold"/>
                </a:rPr>
                <a:t>Projet</a:t>
              </a:r>
              <a:endParaRPr lang="en-US" sz="7200" b="1" dirty="0">
                <a:solidFill>
                  <a:srgbClr val="000000"/>
                </a:solidFill>
                <a:latin typeface="Arial Bold"/>
                <a:ea typeface="Arial Bold"/>
                <a:cs typeface="Arial Bold"/>
                <a:sym typeface="Arial Bold"/>
              </a:endParaRPr>
            </a:p>
            <a:p>
              <a:pPr algn="l">
                <a:lnSpc>
                  <a:spcPts val="9935"/>
                </a:lnSpc>
              </a:pPr>
              <a:r>
                <a:rPr lang="en-US" sz="7200" b="1" dirty="0">
                  <a:solidFill>
                    <a:srgbClr val="000000"/>
                  </a:solidFill>
                  <a:latin typeface="Arial Bold"/>
                  <a:ea typeface="Arial Bold"/>
                  <a:cs typeface="Arial Bold"/>
                  <a:sym typeface="Arial Bold"/>
                </a:rPr>
                <a:t>de Fin </a:t>
              </a:r>
              <a:r>
                <a:rPr lang="en-US" sz="7200" b="1" dirty="0" err="1">
                  <a:solidFill>
                    <a:srgbClr val="000000"/>
                  </a:solidFill>
                  <a:latin typeface="Arial Bold"/>
                  <a:ea typeface="Arial Bold"/>
                  <a:cs typeface="Arial Bold"/>
                  <a:sym typeface="Arial Bold"/>
                </a:rPr>
                <a:t>d'Études</a:t>
              </a:r>
              <a:endParaRPr lang="en-US" sz="7200" b="1" dirty="0">
                <a:solidFill>
                  <a:srgbClr val="000000"/>
                </a:solidFill>
                <a:latin typeface="Arial Bold"/>
                <a:ea typeface="Arial Bold"/>
                <a:cs typeface="Arial Bold"/>
                <a:sym typeface="Arial Bold"/>
              </a:endParaRPr>
            </a:p>
          </p:txBody>
        </p:sp>
      </p:grpSp>
      <p:grpSp>
        <p:nvGrpSpPr>
          <p:cNvPr id="10" name="Group 9"/>
          <p:cNvGrpSpPr/>
          <p:nvPr/>
        </p:nvGrpSpPr>
        <p:grpSpPr>
          <a:xfrm>
            <a:off x="914400" y="5266944"/>
            <a:ext cx="9144000" cy="658368"/>
            <a:chOff x="0" y="0"/>
            <a:chExt cx="12192000" cy="877824"/>
          </a:xfrm>
        </p:grpSpPr>
        <p:sp>
          <p:nvSpPr>
            <p:cNvPr id="11" name="Freeform 10"/>
            <p:cNvSpPr/>
            <p:nvPr/>
          </p:nvSpPr>
          <p:spPr>
            <a:xfrm>
              <a:off x="0" y="0"/>
              <a:ext cx="12192000" cy="877824"/>
            </a:xfrm>
            <a:custGeom>
              <a:avLst/>
              <a:gdLst/>
              <a:ahLst/>
              <a:cxnLst/>
              <a:rect l="l" t="t" r="r" b="b"/>
              <a:pathLst>
                <a:path w="12192000" h="877824">
                  <a:moveTo>
                    <a:pt x="0" y="0"/>
                  </a:moveTo>
                  <a:lnTo>
                    <a:pt x="12192000" y="0"/>
                  </a:lnTo>
                  <a:lnTo>
                    <a:pt x="12192000" y="877824"/>
                  </a:lnTo>
                  <a:lnTo>
                    <a:pt x="0" y="877824"/>
                  </a:lnTo>
                  <a:close/>
                </a:path>
              </a:pathLst>
            </a:custGeom>
            <a:blipFill>
              <a:blip r:embed="rId4">
                <a:alphaModFix amt="0"/>
              </a:blip>
              <a:stretch>
                <a:fillRect t="-220625" b="-220625"/>
              </a:stretch>
            </a:blipFill>
          </p:spPr>
        </p:sp>
        <p:sp>
          <p:nvSpPr>
            <p:cNvPr id="12" name="TextBox 11"/>
            <p:cNvSpPr txBox="1"/>
            <p:nvPr/>
          </p:nvSpPr>
          <p:spPr>
            <a:xfrm>
              <a:off x="0" y="-47625"/>
              <a:ext cx="12192000" cy="925449"/>
            </a:xfrm>
            <a:prstGeom prst="rect">
              <a:avLst/>
            </a:prstGeom>
          </p:spPr>
          <p:txBody>
            <a:bodyPr lIns="0" tIns="0" rIns="0" bIns="0" rtlCol="0" anchor="ctr"/>
            <a:lstStyle/>
            <a:p>
              <a:pPr algn="l">
                <a:lnSpc>
                  <a:spcPts val="2640"/>
                </a:lnSpc>
              </a:pPr>
              <a:r>
                <a:rPr lang="en-US" sz="2200" i="1" dirty="0" err="1">
                  <a:solidFill>
                    <a:srgbClr val="345CA4"/>
                  </a:solidFill>
                  <a:latin typeface="Calibri (MS) Italics"/>
                  <a:ea typeface="Calibri (MS) Italics"/>
                  <a:cs typeface="Calibri (MS) Italics"/>
                  <a:sym typeface="Calibri (MS) Italics"/>
                </a:rPr>
                <a:t>Système</a:t>
              </a:r>
              <a:r>
                <a:rPr lang="en-US" sz="2200" i="1" dirty="0">
                  <a:solidFill>
                    <a:srgbClr val="345CA4"/>
                  </a:solidFill>
                  <a:latin typeface="Calibri (MS) Italics"/>
                  <a:ea typeface="Calibri (MS) Italics"/>
                  <a:cs typeface="Calibri (MS) Italics"/>
                  <a:sym typeface="Calibri (MS) Italics"/>
                </a:rPr>
                <a:t> </a:t>
              </a:r>
              <a:r>
                <a:rPr lang="en-US" sz="2200" i="1" dirty="0" err="1">
                  <a:solidFill>
                    <a:srgbClr val="345CA4"/>
                  </a:solidFill>
                  <a:latin typeface="Calibri (MS) Italics"/>
                  <a:ea typeface="Calibri (MS) Italics"/>
                  <a:cs typeface="Calibri (MS) Italics"/>
                  <a:sym typeface="Calibri (MS) Italics"/>
                </a:rPr>
                <a:t>d'Information</a:t>
              </a:r>
              <a:r>
                <a:rPr lang="en-US" sz="2200" i="1" dirty="0">
                  <a:solidFill>
                    <a:srgbClr val="345CA4"/>
                  </a:solidFill>
                  <a:latin typeface="Calibri (MS) Italics"/>
                  <a:ea typeface="Calibri (MS) Italics"/>
                  <a:cs typeface="Calibri (MS) Italics"/>
                  <a:sym typeface="Calibri (MS) Italics"/>
                </a:rPr>
                <a:t> </a:t>
              </a:r>
              <a:r>
                <a:rPr lang="en-US" sz="2200" i="1" dirty="0" err="1">
                  <a:solidFill>
                    <a:srgbClr val="345CA4"/>
                  </a:solidFill>
                  <a:latin typeface="Calibri (MS) Italics"/>
                  <a:ea typeface="Calibri (MS) Italics"/>
                  <a:cs typeface="Calibri (MS) Italics"/>
                  <a:sym typeface="Calibri (MS) Italics"/>
                </a:rPr>
                <a:t>Portuaire</a:t>
              </a:r>
              <a:r>
                <a:rPr lang="en-US" sz="2200" i="1" dirty="0">
                  <a:solidFill>
                    <a:srgbClr val="345CA4"/>
                  </a:solidFill>
                  <a:latin typeface="Calibri (MS) Italics"/>
                  <a:ea typeface="Calibri (MS) Italics"/>
                  <a:cs typeface="Calibri (MS) Italics"/>
                  <a:sym typeface="Calibri (MS) Italics"/>
                </a:rPr>
                <a:t> </a:t>
              </a:r>
              <a:r>
                <a:rPr lang="en-US" sz="2200" i="1" dirty="0" smtClean="0">
                  <a:solidFill>
                    <a:srgbClr val="345CA4"/>
                  </a:solidFill>
                  <a:latin typeface="Calibri (MS) Italics"/>
                  <a:ea typeface="Calibri (MS) Italics"/>
                  <a:cs typeface="Calibri (MS) Italics"/>
                  <a:sym typeface="Calibri (MS) Italics"/>
                </a:rPr>
                <a:t>- </a:t>
              </a:r>
              <a:r>
                <a:rPr lang="en-US" sz="2200" i="1" dirty="0">
                  <a:solidFill>
                    <a:srgbClr val="345CA4"/>
                  </a:solidFill>
                  <a:latin typeface="Calibri (MS) Italics"/>
                  <a:ea typeface="Calibri (MS) Italics"/>
                  <a:cs typeface="Calibri (MS) Italics"/>
                  <a:sym typeface="Calibri (MS) Italics"/>
                </a:rPr>
                <a:t>TMPA</a:t>
              </a:r>
            </a:p>
          </p:txBody>
        </p:sp>
      </p:grpSp>
      <p:grpSp>
        <p:nvGrpSpPr>
          <p:cNvPr id="13" name="Group 12"/>
          <p:cNvGrpSpPr/>
          <p:nvPr/>
        </p:nvGrpSpPr>
        <p:grpSpPr>
          <a:xfrm>
            <a:off x="901703" y="6095495"/>
            <a:ext cx="3683003" cy="98555"/>
            <a:chOff x="0" y="0"/>
            <a:chExt cx="4910671" cy="131407"/>
          </a:xfrm>
        </p:grpSpPr>
        <p:sp>
          <p:nvSpPr>
            <p:cNvPr id="14" name="Freeform 13"/>
            <p:cNvSpPr/>
            <p:nvPr/>
          </p:nvSpPr>
          <p:spPr>
            <a:xfrm>
              <a:off x="0" y="0"/>
              <a:ext cx="4910709" cy="131445"/>
            </a:xfrm>
            <a:custGeom>
              <a:avLst/>
              <a:gdLst/>
              <a:ahLst/>
              <a:cxnLst/>
              <a:rect l="l" t="t" r="r" b="b"/>
              <a:pathLst>
                <a:path w="4910709" h="131445">
                  <a:moveTo>
                    <a:pt x="0" y="0"/>
                  </a:moveTo>
                  <a:lnTo>
                    <a:pt x="4910709" y="0"/>
                  </a:lnTo>
                  <a:lnTo>
                    <a:pt x="4910709" y="131445"/>
                  </a:lnTo>
                  <a:lnTo>
                    <a:pt x="0" y="131445"/>
                  </a:lnTo>
                  <a:close/>
                </a:path>
              </a:pathLst>
            </a:custGeom>
            <a:solidFill>
              <a:srgbClr val="1A7DD4"/>
            </a:solidFill>
            <a:ln w="25400" cap="sq">
              <a:solidFill>
                <a:srgbClr val="1A7DD4"/>
              </a:solidFill>
              <a:prstDash val="solid"/>
              <a:miter/>
            </a:ln>
          </p:spPr>
        </p:sp>
      </p:grpSp>
      <p:grpSp>
        <p:nvGrpSpPr>
          <p:cNvPr id="15" name="Group 14"/>
          <p:cNvGrpSpPr/>
          <p:nvPr/>
        </p:nvGrpSpPr>
        <p:grpSpPr>
          <a:xfrm>
            <a:off x="914400" y="6400800"/>
            <a:ext cx="8778240" cy="1188720"/>
            <a:chOff x="0" y="0"/>
            <a:chExt cx="11704320" cy="1584960"/>
          </a:xfrm>
        </p:grpSpPr>
        <p:sp>
          <p:nvSpPr>
            <p:cNvPr id="16" name="Freeform 15"/>
            <p:cNvSpPr/>
            <p:nvPr/>
          </p:nvSpPr>
          <p:spPr>
            <a:xfrm>
              <a:off x="0" y="0"/>
              <a:ext cx="11704320" cy="1584960"/>
            </a:xfrm>
            <a:custGeom>
              <a:avLst/>
              <a:gdLst/>
              <a:ahLst/>
              <a:cxnLst/>
              <a:rect l="l" t="t" r="r" b="b"/>
              <a:pathLst>
                <a:path w="11704320" h="1584960">
                  <a:moveTo>
                    <a:pt x="0" y="0"/>
                  </a:moveTo>
                  <a:lnTo>
                    <a:pt x="11704320" y="0"/>
                  </a:lnTo>
                  <a:lnTo>
                    <a:pt x="11704320" y="1584960"/>
                  </a:lnTo>
                  <a:lnTo>
                    <a:pt x="0" y="1584960"/>
                  </a:lnTo>
                  <a:close/>
                </a:path>
              </a:pathLst>
            </a:custGeom>
            <a:blipFill>
              <a:blip r:embed="rId4">
                <a:alphaModFix amt="0"/>
              </a:blip>
              <a:stretch>
                <a:fillRect t="-93889" b="-93889"/>
              </a:stretch>
            </a:blipFill>
          </p:spPr>
        </p:sp>
        <p:sp>
          <p:nvSpPr>
            <p:cNvPr id="17" name="TextBox 16"/>
            <p:cNvSpPr txBox="1"/>
            <p:nvPr/>
          </p:nvSpPr>
          <p:spPr>
            <a:xfrm>
              <a:off x="0" y="-142875"/>
              <a:ext cx="11704320" cy="1727835"/>
            </a:xfrm>
            <a:prstGeom prst="rect">
              <a:avLst/>
            </a:prstGeom>
          </p:spPr>
          <p:txBody>
            <a:bodyPr lIns="0" tIns="0" rIns="0" bIns="0" rtlCol="0" anchor="ctr"/>
            <a:lstStyle/>
            <a:p>
              <a:pPr algn="l">
                <a:lnSpc>
                  <a:spcPts val="3726"/>
                </a:lnSpc>
              </a:pPr>
              <a:r>
                <a:rPr lang="en-US" sz="2300" dirty="0" err="1">
                  <a:solidFill>
                    <a:srgbClr val="363A3B"/>
                  </a:solidFill>
                  <a:latin typeface="Calibri (MS)"/>
                  <a:ea typeface="Calibri (MS)"/>
                  <a:cs typeface="Calibri (MS)"/>
                  <a:sym typeface="Calibri (MS)"/>
                </a:rPr>
                <a:t>Scannez</a:t>
              </a:r>
              <a:r>
                <a:rPr lang="en-US" sz="2300" dirty="0">
                  <a:solidFill>
                    <a:srgbClr val="363A3B"/>
                  </a:solidFill>
                  <a:latin typeface="Calibri (MS)"/>
                  <a:ea typeface="Calibri (MS)"/>
                  <a:cs typeface="Calibri (MS)"/>
                  <a:sym typeface="Calibri (MS)"/>
                </a:rPr>
                <a:t> le QR code pour </a:t>
              </a:r>
              <a:r>
                <a:rPr lang="en-US" sz="2300" dirty="0" err="1">
                  <a:solidFill>
                    <a:srgbClr val="363A3B"/>
                  </a:solidFill>
                  <a:latin typeface="Calibri (MS)"/>
                  <a:ea typeface="Calibri (MS)"/>
                  <a:cs typeface="Calibri (MS)"/>
                  <a:sym typeface="Calibri (MS)"/>
                </a:rPr>
                <a:t>accéder</a:t>
              </a:r>
              <a:endParaRPr lang="en-US" sz="2300" dirty="0">
                <a:solidFill>
                  <a:srgbClr val="363A3B"/>
                </a:solidFill>
                <a:latin typeface="Calibri (MS)"/>
                <a:ea typeface="Calibri (MS)"/>
                <a:cs typeface="Calibri (MS)"/>
                <a:sym typeface="Calibri (MS)"/>
              </a:endParaRPr>
            </a:p>
            <a:p>
              <a:pPr algn="l">
                <a:lnSpc>
                  <a:spcPts val="3726"/>
                </a:lnSpc>
              </a:pPr>
              <a:r>
                <a:rPr lang="en-US" sz="2300" dirty="0">
                  <a:solidFill>
                    <a:srgbClr val="363A3B"/>
                  </a:solidFill>
                  <a:latin typeface="Calibri (MS)"/>
                  <a:ea typeface="Calibri (MS)"/>
                  <a:cs typeface="Calibri (MS)"/>
                  <a:sym typeface="Calibri (MS)"/>
                </a:rPr>
                <a:t>au site de </a:t>
              </a:r>
              <a:r>
                <a:rPr lang="en-US" sz="2300" dirty="0" err="1">
                  <a:solidFill>
                    <a:srgbClr val="363A3B"/>
                  </a:solidFill>
                  <a:latin typeface="Calibri (MS)"/>
                  <a:ea typeface="Calibri (MS)"/>
                  <a:cs typeface="Calibri (MS)"/>
                  <a:sym typeface="Calibri (MS)"/>
                </a:rPr>
                <a:t>présentation</a:t>
              </a:r>
              <a:r>
                <a:rPr lang="en-US" sz="2300" dirty="0">
                  <a:solidFill>
                    <a:srgbClr val="363A3B"/>
                  </a:solidFill>
                  <a:latin typeface="Calibri (MS)"/>
                  <a:ea typeface="Calibri (MS)"/>
                  <a:cs typeface="Calibri (MS)"/>
                  <a:sym typeface="Calibri (MS)"/>
                </a:rPr>
                <a:t> </a:t>
              </a:r>
              <a:r>
                <a:rPr lang="en-US" sz="2300" dirty="0" err="1">
                  <a:solidFill>
                    <a:srgbClr val="363A3B"/>
                  </a:solidFill>
                  <a:latin typeface="Calibri (MS)"/>
                  <a:ea typeface="Calibri (MS)"/>
                  <a:cs typeface="Calibri (MS)"/>
                  <a:sym typeface="Calibri (MS)"/>
                </a:rPr>
                <a:t>complet</a:t>
              </a:r>
              <a:r>
                <a:rPr lang="en-US" sz="2300" dirty="0">
                  <a:solidFill>
                    <a:srgbClr val="363A3B"/>
                  </a:solidFill>
                  <a:latin typeface="Calibri (MS)"/>
                  <a:ea typeface="Calibri (MS)"/>
                  <a:cs typeface="Calibri (MS)"/>
                  <a:sym typeface="Calibri (MS)"/>
                </a:rPr>
                <a:t> du PFE.</a:t>
              </a:r>
            </a:p>
          </p:txBody>
        </p:sp>
      </p:grpSp>
      <p:grpSp>
        <p:nvGrpSpPr>
          <p:cNvPr id="18" name="Group 17"/>
          <p:cNvGrpSpPr/>
          <p:nvPr/>
        </p:nvGrpSpPr>
        <p:grpSpPr>
          <a:xfrm>
            <a:off x="819761" y="7706520"/>
            <a:ext cx="7315200" cy="595572"/>
            <a:chOff x="0" y="0"/>
            <a:chExt cx="9753600" cy="794096"/>
          </a:xfrm>
        </p:grpSpPr>
        <p:sp>
          <p:nvSpPr>
            <p:cNvPr id="19" name="Freeform 18"/>
            <p:cNvSpPr/>
            <p:nvPr/>
          </p:nvSpPr>
          <p:spPr>
            <a:xfrm>
              <a:off x="0" y="0"/>
              <a:ext cx="9753600" cy="794096"/>
            </a:xfrm>
            <a:custGeom>
              <a:avLst/>
              <a:gdLst/>
              <a:ahLst/>
              <a:cxnLst/>
              <a:rect l="l" t="t" r="r" b="b"/>
              <a:pathLst>
                <a:path w="9753600" h="794096">
                  <a:moveTo>
                    <a:pt x="0" y="0"/>
                  </a:moveTo>
                  <a:lnTo>
                    <a:pt x="9753600" y="0"/>
                  </a:lnTo>
                  <a:lnTo>
                    <a:pt x="9753600" y="794096"/>
                  </a:lnTo>
                  <a:lnTo>
                    <a:pt x="0" y="794096"/>
                  </a:lnTo>
                  <a:close/>
                </a:path>
              </a:pathLst>
            </a:custGeom>
            <a:blipFill>
              <a:blip r:embed="rId4">
                <a:alphaModFix amt="0"/>
              </a:blip>
              <a:stretch>
                <a:fillRect t="-190197" b="-188458"/>
              </a:stretch>
            </a:blipFill>
          </p:spPr>
        </p:sp>
        <p:sp>
          <p:nvSpPr>
            <p:cNvPr id="20" name="TextBox 19"/>
            <p:cNvSpPr txBox="1"/>
            <p:nvPr/>
          </p:nvSpPr>
          <p:spPr>
            <a:xfrm>
              <a:off x="0" y="-57150"/>
              <a:ext cx="9753600" cy="851246"/>
            </a:xfrm>
            <a:prstGeom prst="rect">
              <a:avLst/>
            </a:prstGeom>
          </p:spPr>
          <p:txBody>
            <a:bodyPr lIns="0" tIns="0" rIns="0" bIns="0" rtlCol="0" anchor="ctr"/>
            <a:lstStyle/>
            <a:p>
              <a:pPr algn="l">
                <a:lnSpc>
                  <a:spcPts val="3599"/>
                </a:lnSpc>
              </a:pPr>
              <a:r>
                <a:rPr lang="en-US" sz="2999" b="1" i="1" u="sng" dirty="0">
                  <a:solidFill>
                    <a:srgbClr val="4DA6FF"/>
                  </a:solidFill>
                  <a:latin typeface="Calibri (MS) Bold Italics"/>
                  <a:ea typeface="Calibri (MS) Bold Italics"/>
                  <a:cs typeface="Calibri (MS) Bold Italics"/>
                  <a:sym typeface="Calibri (MS) Bold Italics"/>
                  <a:hlinkClick r:id="rId5" tooltip="https://pfe-tmpa.ayoub-tmsa.org/"/>
                </a:rPr>
                <a:t>🔗  pfe-tmpa.ayoub-tmsa.org</a:t>
              </a:r>
            </a:p>
          </p:txBody>
        </p:sp>
      </p:grpSp>
      <p:grpSp>
        <p:nvGrpSpPr>
          <p:cNvPr id="23" name="Group 22"/>
          <p:cNvGrpSpPr/>
          <p:nvPr/>
        </p:nvGrpSpPr>
        <p:grpSpPr>
          <a:xfrm>
            <a:off x="10742719" y="2187738"/>
            <a:ext cx="6326081" cy="782821"/>
            <a:chOff x="-670557" y="-392461"/>
            <a:chExt cx="9083037" cy="1123981"/>
          </a:xfrm>
        </p:grpSpPr>
        <p:sp>
          <p:nvSpPr>
            <p:cNvPr id="24" name="Freeform 23"/>
            <p:cNvSpPr/>
            <p:nvPr/>
          </p:nvSpPr>
          <p:spPr>
            <a:xfrm>
              <a:off x="0" y="0"/>
              <a:ext cx="8412480" cy="731520"/>
            </a:xfrm>
            <a:custGeom>
              <a:avLst/>
              <a:gdLst/>
              <a:ahLst/>
              <a:cxnLst/>
              <a:rect l="l" t="t" r="r" b="b"/>
              <a:pathLst>
                <a:path w="8412480" h="731520">
                  <a:moveTo>
                    <a:pt x="0" y="0"/>
                  </a:moveTo>
                  <a:lnTo>
                    <a:pt x="8412480" y="0"/>
                  </a:lnTo>
                  <a:lnTo>
                    <a:pt x="8412480" y="731520"/>
                  </a:lnTo>
                  <a:lnTo>
                    <a:pt x="0" y="731520"/>
                  </a:lnTo>
                  <a:close/>
                </a:path>
              </a:pathLst>
            </a:custGeom>
            <a:blipFill>
              <a:blip r:embed="rId4">
                <a:alphaModFix amt="0"/>
              </a:blip>
              <a:stretch>
                <a:fillRect t="-174077" b="-174077"/>
              </a:stretch>
            </a:blipFill>
          </p:spPr>
        </p:sp>
        <p:sp>
          <p:nvSpPr>
            <p:cNvPr id="25" name="TextBox 24"/>
            <p:cNvSpPr txBox="1"/>
            <p:nvPr/>
          </p:nvSpPr>
          <p:spPr>
            <a:xfrm>
              <a:off x="-670557" y="-392461"/>
              <a:ext cx="8412480" cy="769621"/>
            </a:xfrm>
            <a:prstGeom prst="rect">
              <a:avLst/>
            </a:prstGeom>
          </p:spPr>
          <p:txBody>
            <a:bodyPr lIns="0" tIns="0" rIns="0" bIns="0" rtlCol="0" anchor="ctr"/>
            <a:lstStyle/>
            <a:p>
              <a:pPr algn="ctr">
                <a:lnSpc>
                  <a:spcPts val="2039"/>
                </a:lnSpc>
              </a:pPr>
              <a:r>
                <a:rPr lang="en-US" sz="2200" b="1" spc="600" dirty="0">
                  <a:latin typeface="Calibri (MS) Bold"/>
                  <a:ea typeface="Calibri (MS) Bold"/>
                  <a:cs typeface="Calibri (MS) Bold"/>
                  <a:sym typeface="Calibri (MS) Bold"/>
                </a:rPr>
                <a:t>ACCÈS DIRECT</a:t>
              </a:r>
            </a:p>
          </p:txBody>
        </p:sp>
      </p:grpSp>
      <p:sp>
        <p:nvSpPr>
          <p:cNvPr id="31" name="Freeform 30"/>
          <p:cNvSpPr/>
          <p:nvPr/>
        </p:nvSpPr>
        <p:spPr>
          <a:xfrm>
            <a:off x="11349410" y="8374585"/>
            <a:ext cx="5859057" cy="934053"/>
          </a:xfrm>
          <a:custGeom>
            <a:avLst/>
            <a:gdLst/>
            <a:ahLst/>
            <a:cxnLst/>
            <a:rect l="l" t="t" r="r" b="b"/>
            <a:pathLst>
              <a:path w="8412480" h="1341120">
                <a:moveTo>
                  <a:pt x="0" y="0"/>
                </a:moveTo>
                <a:lnTo>
                  <a:pt x="8412480" y="0"/>
                </a:lnTo>
                <a:lnTo>
                  <a:pt x="8412480" y="1341120"/>
                </a:lnTo>
                <a:lnTo>
                  <a:pt x="0" y="1341120"/>
                </a:lnTo>
                <a:close/>
              </a:path>
            </a:pathLst>
          </a:custGeom>
          <a:blipFill>
            <a:blip r:embed="rId4">
              <a:alphaModFix amt="0"/>
            </a:blip>
            <a:stretch>
              <a:fillRect t="-72224" b="-72224"/>
            </a:stretch>
          </a:blipFill>
        </p:spPr>
      </p:sp>
      <p:grpSp>
        <p:nvGrpSpPr>
          <p:cNvPr id="33" name="Group 32"/>
          <p:cNvGrpSpPr/>
          <p:nvPr/>
        </p:nvGrpSpPr>
        <p:grpSpPr>
          <a:xfrm>
            <a:off x="819761" y="705768"/>
            <a:ext cx="16648478" cy="645864"/>
            <a:chOff x="0" y="0"/>
            <a:chExt cx="10475806" cy="406400"/>
          </a:xfrm>
        </p:grpSpPr>
        <p:sp>
          <p:nvSpPr>
            <p:cNvPr id="34" name="Freeform 33"/>
            <p:cNvSpPr/>
            <p:nvPr/>
          </p:nvSpPr>
          <p:spPr>
            <a:xfrm>
              <a:off x="0" y="0"/>
              <a:ext cx="10475806" cy="406400"/>
            </a:xfrm>
            <a:custGeom>
              <a:avLst/>
              <a:gdLst/>
              <a:ahLst/>
              <a:cxnLst/>
              <a:rect l="l" t="t" r="r" b="b"/>
              <a:pathLst>
                <a:path w="10475806" h="406400">
                  <a:moveTo>
                    <a:pt x="10272606" y="0"/>
                  </a:moveTo>
                  <a:cubicBezTo>
                    <a:pt x="10384830" y="0"/>
                    <a:pt x="10475806" y="90976"/>
                    <a:pt x="10475806" y="203200"/>
                  </a:cubicBezTo>
                  <a:cubicBezTo>
                    <a:pt x="10475806" y="315424"/>
                    <a:pt x="10384830" y="406400"/>
                    <a:pt x="10272606" y="406400"/>
                  </a:cubicBezTo>
                  <a:lnTo>
                    <a:pt x="203200" y="406400"/>
                  </a:lnTo>
                  <a:cubicBezTo>
                    <a:pt x="90976" y="406400"/>
                    <a:pt x="0" y="315424"/>
                    <a:pt x="0" y="203200"/>
                  </a:cubicBezTo>
                  <a:cubicBezTo>
                    <a:pt x="0" y="90976"/>
                    <a:pt x="90976" y="0"/>
                    <a:pt x="203200" y="0"/>
                  </a:cubicBezTo>
                  <a:close/>
                </a:path>
              </a:pathLst>
            </a:custGeom>
            <a:solidFill>
              <a:srgbClr val="DDDEE4"/>
            </a:solidFill>
          </p:spPr>
        </p:sp>
        <p:sp>
          <p:nvSpPr>
            <p:cNvPr id="35" name="TextBox 34"/>
            <p:cNvSpPr txBox="1"/>
            <p:nvPr/>
          </p:nvSpPr>
          <p:spPr>
            <a:xfrm>
              <a:off x="0" y="-47625"/>
              <a:ext cx="10475806" cy="454025"/>
            </a:xfrm>
            <a:prstGeom prst="rect">
              <a:avLst/>
            </a:prstGeom>
          </p:spPr>
          <p:txBody>
            <a:bodyPr lIns="50800" tIns="50800" rIns="50800" bIns="50800" rtlCol="0" anchor="ctr"/>
            <a:lstStyle/>
            <a:p>
              <a:pPr algn="ctr">
                <a:lnSpc>
                  <a:spcPts val="3254"/>
                </a:lnSpc>
              </a:pPr>
              <a:endParaRPr/>
            </a:p>
          </p:txBody>
        </p:sp>
      </p:grpSp>
      <p:sp>
        <p:nvSpPr>
          <p:cNvPr id="36" name="Freeform 35"/>
          <p:cNvSpPr/>
          <p:nvPr/>
        </p:nvSpPr>
        <p:spPr>
          <a:xfrm>
            <a:off x="15224988" y="773112"/>
            <a:ext cx="2119267" cy="509838"/>
          </a:xfrm>
          <a:custGeom>
            <a:avLst/>
            <a:gdLst/>
            <a:ahLst/>
            <a:cxnLst/>
            <a:rect l="l" t="t" r="r" b="b"/>
            <a:pathLst>
              <a:path w="2119267" h="509838">
                <a:moveTo>
                  <a:pt x="0" y="0"/>
                </a:moveTo>
                <a:lnTo>
                  <a:pt x="2119266" y="0"/>
                </a:lnTo>
                <a:lnTo>
                  <a:pt x="2119266" y="509839"/>
                </a:lnTo>
                <a:lnTo>
                  <a:pt x="0" y="509839"/>
                </a:lnTo>
                <a:lnTo>
                  <a:pt x="0" y="0"/>
                </a:lnTo>
                <a:close/>
              </a:path>
            </a:pathLst>
          </a:custGeom>
          <a:blipFill>
            <a:blip r:embed="rId6"/>
            <a:stretch>
              <a:fillRect l="-3802" t="-174633" r="-3802" b="-172651"/>
            </a:stretch>
          </a:blipFill>
        </p:spPr>
      </p:sp>
      <p:sp>
        <p:nvSpPr>
          <p:cNvPr id="37" name="TextBox 36"/>
          <p:cNvSpPr txBox="1"/>
          <p:nvPr/>
        </p:nvSpPr>
        <p:spPr>
          <a:xfrm>
            <a:off x="1224394" y="812833"/>
            <a:ext cx="6841683" cy="470118"/>
          </a:xfrm>
          <a:prstGeom prst="rect">
            <a:avLst/>
          </a:prstGeom>
        </p:spPr>
        <p:txBody>
          <a:bodyPr lIns="0" tIns="0" rIns="0" bIns="0" rtlCol="0" anchor="t">
            <a:spAutoFit/>
          </a:bodyPr>
          <a:lstStyle/>
          <a:p>
            <a:pPr algn="l">
              <a:lnSpc>
                <a:spcPts val="3231"/>
              </a:lnSpc>
            </a:pPr>
            <a:r>
              <a:rPr lang="en-US" sz="2964">
                <a:solidFill>
                  <a:srgbClr val="000000"/>
                </a:solidFill>
                <a:latin typeface="Codec Pro"/>
                <a:ea typeface="Codec Pro"/>
                <a:cs typeface="Codec Pro"/>
                <a:sym typeface="Codec Pro"/>
              </a:rPr>
              <a:t>Tanger Med Port Authority (TMPA )</a:t>
            </a:r>
          </a:p>
        </p:txBody>
      </p:sp>
      <p:grpSp>
        <p:nvGrpSpPr>
          <p:cNvPr id="38" name="Group 8"/>
          <p:cNvGrpSpPr>
            <a:grpSpLocks noChangeAspect="1"/>
          </p:cNvGrpSpPr>
          <p:nvPr/>
        </p:nvGrpSpPr>
        <p:grpSpPr>
          <a:xfrm rot="-280445">
            <a:off x="11066497" y="3147041"/>
            <a:ext cx="5960103" cy="5954522"/>
            <a:chOff x="0" y="0"/>
            <a:chExt cx="3255264" cy="3252216"/>
          </a:xfrm>
        </p:grpSpPr>
        <p:sp>
          <p:nvSpPr>
            <p:cNvPr id="39" name="Freeform 9"/>
            <p:cNvSpPr/>
            <p:nvPr/>
          </p:nvSpPr>
          <p:spPr>
            <a:xfrm>
              <a:off x="0" y="0"/>
              <a:ext cx="3255264" cy="3252216"/>
            </a:xfrm>
            <a:custGeom>
              <a:avLst/>
              <a:gdLst/>
              <a:ahLst/>
              <a:cxnLst/>
              <a:rect l="l" t="t" r="r" b="b"/>
              <a:pathLst>
                <a:path w="3255264" h="3252216">
                  <a:moveTo>
                    <a:pt x="3255264" y="3252216"/>
                  </a:moveTo>
                  <a:lnTo>
                    <a:pt x="0" y="3252216"/>
                  </a:lnTo>
                  <a:lnTo>
                    <a:pt x="0" y="0"/>
                  </a:lnTo>
                  <a:lnTo>
                    <a:pt x="3255264" y="0"/>
                  </a:lnTo>
                  <a:lnTo>
                    <a:pt x="3255264" y="3252216"/>
                  </a:lnTo>
                  <a:close/>
                </a:path>
              </a:pathLst>
            </a:custGeom>
            <a:blipFill>
              <a:blip r:embed="rId7"/>
              <a:stretch>
                <a:fillRect l="-15" r="-15"/>
              </a:stretch>
            </a:blipFill>
          </p:spPr>
        </p:sp>
        <p:sp>
          <p:nvSpPr>
            <p:cNvPr id="40" name="Freeform 10"/>
            <p:cNvSpPr/>
            <p:nvPr/>
          </p:nvSpPr>
          <p:spPr>
            <a:xfrm rot="97697">
              <a:off x="179193" y="162453"/>
              <a:ext cx="2902913" cy="2867343"/>
            </a:xfrm>
            <a:custGeom>
              <a:avLst/>
              <a:gdLst/>
              <a:ahLst/>
              <a:cxnLst/>
              <a:rect l="l" t="t" r="r" b="b"/>
              <a:pathLst>
                <a:path w="2902913" h="2867343">
                  <a:moveTo>
                    <a:pt x="24912" y="48116"/>
                  </a:moveTo>
                  <a:lnTo>
                    <a:pt x="2837549" y="4"/>
                  </a:lnTo>
                  <a:cubicBezTo>
                    <a:pt x="2851574" y="-236"/>
                    <a:pt x="2863126" y="10960"/>
                    <a:pt x="2863326" y="24986"/>
                  </a:cubicBezTo>
                  <a:lnTo>
                    <a:pt x="2902910" y="2817389"/>
                  </a:lnTo>
                  <a:cubicBezTo>
                    <a:pt x="2903109" y="2831440"/>
                    <a:pt x="2891838" y="2842972"/>
                    <a:pt x="2877786" y="2843091"/>
                  </a:cubicBezTo>
                  <a:lnTo>
                    <a:pt x="64471" y="2867342"/>
                  </a:lnTo>
                  <a:cubicBezTo>
                    <a:pt x="50528" y="2867463"/>
                    <a:pt x="39106" y="2856297"/>
                    <a:pt x="38909" y="2842354"/>
                  </a:cubicBezTo>
                  <a:lnTo>
                    <a:pt x="3" y="73812"/>
                  </a:lnTo>
                  <a:cubicBezTo>
                    <a:pt x="-192" y="59847"/>
                    <a:pt x="10947" y="48355"/>
                    <a:pt x="24912" y="48116"/>
                  </a:cubicBezTo>
                  <a:close/>
                </a:path>
              </a:pathLst>
            </a:custGeom>
            <a:blipFill>
              <a:blip r:embed="rId8"/>
              <a:stretch>
                <a:fillRect l="-36485" t="-21291" r="-36345" b="-21532"/>
              </a:stretch>
            </a:blipFill>
          </p:spPr>
        </p:sp>
      </p:grpSp>
      <p:grpSp>
        <p:nvGrpSpPr>
          <p:cNvPr id="41" name="Group 11"/>
          <p:cNvGrpSpPr/>
          <p:nvPr/>
        </p:nvGrpSpPr>
        <p:grpSpPr>
          <a:xfrm rot="-280445">
            <a:off x="13531375" y="2884379"/>
            <a:ext cx="545127" cy="545127"/>
            <a:chOff x="0" y="0"/>
            <a:chExt cx="812800" cy="812800"/>
          </a:xfrm>
        </p:grpSpPr>
        <p:sp>
          <p:nvSpPr>
            <p:cNvPr id="4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91259"/>
            </a:solidFill>
          </p:spPr>
        </p:sp>
        <p:sp>
          <p:nvSpPr>
            <p:cNvPr id="43" name="TextBox 13"/>
            <p:cNvSpPr txBox="1"/>
            <p:nvPr/>
          </p:nvSpPr>
          <p:spPr>
            <a:xfrm>
              <a:off x="76200" y="57150"/>
              <a:ext cx="660400" cy="679450"/>
            </a:xfrm>
            <a:prstGeom prst="rect">
              <a:avLst/>
            </a:prstGeom>
          </p:spPr>
          <p:txBody>
            <a:bodyPr lIns="51505" tIns="51505" rIns="51505" bIns="51505" rtlCol="0" anchor="ctr"/>
            <a:lstStyle/>
            <a:p>
              <a:pPr algn="ctr">
                <a:lnSpc>
                  <a:spcPts val="1736"/>
                </a:lnSpc>
              </a:pPr>
              <a:endParaRPr/>
            </a:p>
          </p:txBody>
        </p:sp>
      </p:grpSp>
    </p:spTree>
    <p:extLst>
      <p:ext uri="{BB962C8B-B14F-4D97-AF65-F5344CB8AC3E}">
        <p14:creationId xmlns:p14="http://schemas.microsoft.com/office/powerpoint/2010/main" val="404762776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10" name="Isosceles Triangle 9">
            <a:extLst>
              <a:ext uri="{FF2B5EF4-FFF2-40B4-BE49-F238E27FC236}">
                <a16:creationId xmlns:a16="http://schemas.microsoft.com/office/drawing/2014/main" id="{709D209E-827B-4D05-AF40-9CDA368833AE}"/>
              </a:ext>
            </a:extLst>
          </p:cNvPr>
          <p:cNvSpPr/>
          <p:nvPr/>
        </p:nvSpPr>
        <p:spPr>
          <a:xfrm>
            <a:off x="376404" y="938725"/>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smtClean="0"/>
              <a:t>Contexte </a:t>
            </a:r>
            <a:r>
              <a:rPr lang="fr-FR" sz="2400" dirty="0"/>
              <a:t>&amp; Problématique</a:t>
            </a:r>
            <a:endParaRPr lang="fr-MA" sz="2400" dirty="0"/>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8" y="86450"/>
            <a:ext cx="2328501"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grpSp>
        <p:nvGrpSpPr>
          <p:cNvPr id="159" name="Group 3"/>
          <p:cNvGrpSpPr/>
          <p:nvPr/>
        </p:nvGrpSpPr>
        <p:grpSpPr>
          <a:xfrm>
            <a:off x="2609308" y="2476500"/>
            <a:ext cx="9724851" cy="1259167"/>
            <a:chOff x="0" y="0"/>
            <a:chExt cx="2732429" cy="353793"/>
          </a:xfrm>
        </p:grpSpPr>
        <p:sp>
          <p:nvSpPr>
            <p:cNvPr id="160" name="Freeform 4"/>
            <p:cNvSpPr/>
            <p:nvPr/>
          </p:nvSpPr>
          <p:spPr>
            <a:xfrm>
              <a:off x="0" y="0"/>
              <a:ext cx="2732429" cy="353793"/>
            </a:xfrm>
            <a:custGeom>
              <a:avLst/>
              <a:gdLst/>
              <a:ahLst/>
              <a:cxnLst/>
              <a:rect l="l" t="t" r="r" b="b"/>
              <a:pathLst>
                <a:path w="2732429" h="353793">
                  <a:moveTo>
                    <a:pt x="79610" y="0"/>
                  </a:moveTo>
                  <a:lnTo>
                    <a:pt x="2652819" y="0"/>
                  </a:lnTo>
                  <a:cubicBezTo>
                    <a:pt x="2673933" y="0"/>
                    <a:pt x="2694182" y="8387"/>
                    <a:pt x="2709112" y="23317"/>
                  </a:cubicBezTo>
                  <a:cubicBezTo>
                    <a:pt x="2724041" y="38247"/>
                    <a:pt x="2732429" y="58496"/>
                    <a:pt x="2732429" y="79610"/>
                  </a:cubicBezTo>
                  <a:lnTo>
                    <a:pt x="2732429" y="274183"/>
                  </a:lnTo>
                  <a:cubicBezTo>
                    <a:pt x="2732429" y="295297"/>
                    <a:pt x="2724041" y="315546"/>
                    <a:pt x="2709112" y="330476"/>
                  </a:cubicBezTo>
                  <a:cubicBezTo>
                    <a:pt x="2694182" y="345406"/>
                    <a:pt x="2673933" y="353793"/>
                    <a:pt x="2652819" y="353793"/>
                  </a:cubicBezTo>
                  <a:lnTo>
                    <a:pt x="79610" y="353793"/>
                  </a:lnTo>
                  <a:cubicBezTo>
                    <a:pt x="35642" y="353793"/>
                    <a:pt x="0" y="318151"/>
                    <a:pt x="0" y="274183"/>
                  </a:cubicBezTo>
                  <a:lnTo>
                    <a:pt x="0" y="79610"/>
                  </a:lnTo>
                  <a:cubicBezTo>
                    <a:pt x="0" y="58496"/>
                    <a:pt x="8387" y="38247"/>
                    <a:pt x="23317" y="23317"/>
                  </a:cubicBezTo>
                  <a:cubicBezTo>
                    <a:pt x="38247" y="8387"/>
                    <a:pt x="58496" y="0"/>
                    <a:pt x="79610" y="0"/>
                  </a:cubicBezTo>
                  <a:close/>
                </a:path>
              </a:pathLst>
            </a:custGeom>
            <a:solidFill>
              <a:srgbClr val="FFFFFF"/>
            </a:solidFill>
          </p:spPr>
        </p:sp>
        <p:sp>
          <p:nvSpPr>
            <p:cNvPr id="161" name="TextBox 5"/>
            <p:cNvSpPr txBox="1"/>
            <p:nvPr/>
          </p:nvSpPr>
          <p:spPr>
            <a:xfrm>
              <a:off x="0" y="-38100"/>
              <a:ext cx="2732429" cy="391893"/>
            </a:xfrm>
            <a:prstGeom prst="rect">
              <a:avLst/>
            </a:prstGeom>
          </p:spPr>
          <p:txBody>
            <a:bodyPr lIns="50800" tIns="50800" rIns="50800" bIns="50800" rtlCol="0" anchor="ctr"/>
            <a:lstStyle/>
            <a:p>
              <a:pPr algn="ctr">
                <a:lnSpc>
                  <a:spcPts val="2520"/>
                </a:lnSpc>
              </a:pPr>
              <a:endParaRPr/>
            </a:p>
          </p:txBody>
        </p:sp>
      </p:grpSp>
      <p:grpSp>
        <p:nvGrpSpPr>
          <p:cNvPr id="162" name="Group 6"/>
          <p:cNvGrpSpPr/>
          <p:nvPr/>
        </p:nvGrpSpPr>
        <p:grpSpPr>
          <a:xfrm>
            <a:off x="2609308" y="3745944"/>
            <a:ext cx="9724851" cy="1259167"/>
            <a:chOff x="0" y="0"/>
            <a:chExt cx="2732429" cy="353793"/>
          </a:xfrm>
        </p:grpSpPr>
        <p:sp>
          <p:nvSpPr>
            <p:cNvPr id="163" name="Freeform 7"/>
            <p:cNvSpPr/>
            <p:nvPr/>
          </p:nvSpPr>
          <p:spPr>
            <a:xfrm>
              <a:off x="0" y="0"/>
              <a:ext cx="2732429" cy="353793"/>
            </a:xfrm>
            <a:custGeom>
              <a:avLst/>
              <a:gdLst/>
              <a:ahLst/>
              <a:cxnLst/>
              <a:rect l="l" t="t" r="r" b="b"/>
              <a:pathLst>
                <a:path w="2732429" h="353793">
                  <a:moveTo>
                    <a:pt x="79610" y="0"/>
                  </a:moveTo>
                  <a:lnTo>
                    <a:pt x="2652819" y="0"/>
                  </a:lnTo>
                  <a:cubicBezTo>
                    <a:pt x="2673933" y="0"/>
                    <a:pt x="2694182" y="8387"/>
                    <a:pt x="2709112" y="23317"/>
                  </a:cubicBezTo>
                  <a:cubicBezTo>
                    <a:pt x="2724041" y="38247"/>
                    <a:pt x="2732429" y="58496"/>
                    <a:pt x="2732429" y="79610"/>
                  </a:cubicBezTo>
                  <a:lnTo>
                    <a:pt x="2732429" y="274183"/>
                  </a:lnTo>
                  <a:cubicBezTo>
                    <a:pt x="2732429" y="295297"/>
                    <a:pt x="2724041" y="315546"/>
                    <a:pt x="2709112" y="330476"/>
                  </a:cubicBezTo>
                  <a:cubicBezTo>
                    <a:pt x="2694182" y="345406"/>
                    <a:pt x="2673933" y="353793"/>
                    <a:pt x="2652819" y="353793"/>
                  </a:cubicBezTo>
                  <a:lnTo>
                    <a:pt x="79610" y="353793"/>
                  </a:lnTo>
                  <a:cubicBezTo>
                    <a:pt x="35642" y="353793"/>
                    <a:pt x="0" y="318151"/>
                    <a:pt x="0" y="274183"/>
                  </a:cubicBezTo>
                  <a:lnTo>
                    <a:pt x="0" y="79610"/>
                  </a:lnTo>
                  <a:cubicBezTo>
                    <a:pt x="0" y="58496"/>
                    <a:pt x="8387" y="38247"/>
                    <a:pt x="23317" y="23317"/>
                  </a:cubicBezTo>
                  <a:cubicBezTo>
                    <a:pt x="38247" y="8387"/>
                    <a:pt x="58496" y="0"/>
                    <a:pt x="79610" y="0"/>
                  </a:cubicBezTo>
                  <a:close/>
                </a:path>
              </a:pathLst>
            </a:custGeom>
            <a:solidFill>
              <a:srgbClr val="FFFFFF"/>
            </a:solidFill>
          </p:spPr>
        </p:sp>
        <p:sp>
          <p:nvSpPr>
            <p:cNvPr id="164" name="TextBox 8"/>
            <p:cNvSpPr txBox="1"/>
            <p:nvPr/>
          </p:nvSpPr>
          <p:spPr>
            <a:xfrm>
              <a:off x="0" y="-38100"/>
              <a:ext cx="2732429" cy="391893"/>
            </a:xfrm>
            <a:prstGeom prst="rect">
              <a:avLst/>
            </a:prstGeom>
          </p:spPr>
          <p:txBody>
            <a:bodyPr lIns="50800" tIns="50800" rIns="50800" bIns="50800" rtlCol="0" anchor="ctr"/>
            <a:lstStyle/>
            <a:p>
              <a:pPr algn="ctr">
                <a:lnSpc>
                  <a:spcPts val="2520"/>
                </a:lnSpc>
              </a:pPr>
              <a:endParaRPr/>
            </a:p>
          </p:txBody>
        </p:sp>
      </p:grpSp>
      <p:grpSp>
        <p:nvGrpSpPr>
          <p:cNvPr id="165" name="Group 9"/>
          <p:cNvGrpSpPr/>
          <p:nvPr/>
        </p:nvGrpSpPr>
        <p:grpSpPr>
          <a:xfrm>
            <a:off x="2609308" y="5014702"/>
            <a:ext cx="9724851" cy="1259167"/>
            <a:chOff x="0" y="0"/>
            <a:chExt cx="2732429" cy="353793"/>
          </a:xfrm>
        </p:grpSpPr>
        <p:sp>
          <p:nvSpPr>
            <p:cNvPr id="166" name="Freeform 10"/>
            <p:cNvSpPr/>
            <p:nvPr/>
          </p:nvSpPr>
          <p:spPr>
            <a:xfrm>
              <a:off x="0" y="0"/>
              <a:ext cx="2732429" cy="353793"/>
            </a:xfrm>
            <a:custGeom>
              <a:avLst/>
              <a:gdLst/>
              <a:ahLst/>
              <a:cxnLst/>
              <a:rect l="l" t="t" r="r" b="b"/>
              <a:pathLst>
                <a:path w="2732429" h="353793">
                  <a:moveTo>
                    <a:pt x="79610" y="0"/>
                  </a:moveTo>
                  <a:lnTo>
                    <a:pt x="2652819" y="0"/>
                  </a:lnTo>
                  <a:cubicBezTo>
                    <a:pt x="2673933" y="0"/>
                    <a:pt x="2694182" y="8387"/>
                    <a:pt x="2709112" y="23317"/>
                  </a:cubicBezTo>
                  <a:cubicBezTo>
                    <a:pt x="2724041" y="38247"/>
                    <a:pt x="2732429" y="58496"/>
                    <a:pt x="2732429" y="79610"/>
                  </a:cubicBezTo>
                  <a:lnTo>
                    <a:pt x="2732429" y="274183"/>
                  </a:lnTo>
                  <a:cubicBezTo>
                    <a:pt x="2732429" y="295297"/>
                    <a:pt x="2724041" y="315546"/>
                    <a:pt x="2709112" y="330476"/>
                  </a:cubicBezTo>
                  <a:cubicBezTo>
                    <a:pt x="2694182" y="345406"/>
                    <a:pt x="2673933" y="353793"/>
                    <a:pt x="2652819" y="353793"/>
                  </a:cubicBezTo>
                  <a:lnTo>
                    <a:pt x="79610" y="353793"/>
                  </a:lnTo>
                  <a:cubicBezTo>
                    <a:pt x="35642" y="353793"/>
                    <a:pt x="0" y="318151"/>
                    <a:pt x="0" y="274183"/>
                  </a:cubicBezTo>
                  <a:lnTo>
                    <a:pt x="0" y="79610"/>
                  </a:lnTo>
                  <a:cubicBezTo>
                    <a:pt x="0" y="58496"/>
                    <a:pt x="8387" y="38247"/>
                    <a:pt x="23317" y="23317"/>
                  </a:cubicBezTo>
                  <a:cubicBezTo>
                    <a:pt x="38247" y="8387"/>
                    <a:pt x="58496" y="0"/>
                    <a:pt x="79610" y="0"/>
                  </a:cubicBezTo>
                  <a:close/>
                </a:path>
              </a:pathLst>
            </a:custGeom>
            <a:solidFill>
              <a:srgbClr val="FFFFFF"/>
            </a:solidFill>
          </p:spPr>
        </p:sp>
        <p:sp>
          <p:nvSpPr>
            <p:cNvPr id="167" name="TextBox 11"/>
            <p:cNvSpPr txBox="1"/>
            <p:nvPr/>
          </p:nvSpPr>
          <p:spPr>
            <a:xfrm>
              <a:off x="0" y="-38100"/>
              <a:ext cx="2732429" cy="391893"/>
            </a:xfrm>
            <a:prstGeom prst="rect">
              <a:avLst/>
            </a:prstGeom>
          </p:spPr>
          <p:txBody>
            <a:bodyPr lIns="50800" tIns="50800" rIns="50800" bIns="50800" rtlCol="0" anchor="ctr"/>
            <a:lstStyle/>
            <a:p>
              <a:pPr algn="ctr">
                <a:lnSpc>
                  <a:spcPts val="2520"/>
                </a:lnSpc>
              </a:pPr>
              <a:endParaRPr/>
            </a:p>
          </p:txBody>
        </p:sp>
      </p:grpSp>
      <p:grpSp>
        <p:nvGrpSpPr>
          <p:cNvPr id="168" name="Group 12"/>
          <p:cNvGrpSpPr/>
          <p:nvPr/>
        </p:nvGrpSpPr>
        <p:grpSpPr>
          <a:xfrm>
            <a:off x="2609308" y="6283460"/>
            <a:ext cx="9724851" cy="1259167"/>
            <a:chOff x="0" y="0"/>
            <a:chExt cx="2732429" cy="353793"/>
          </a:xfrm>
        </p:grpSpPr>
        <p:sp>
          <p:nvSpPr>
            <p:cNvPr id="169" name="Freeform 13"/>
            <p:cNvSpPr/>
            <p:nvPr/>
          </p:nvSpPr>
          <p:spPr>
            <a:xfrm>
              <a:off x="0" y="0"/>
              <a:ext cx="2732429" cy="353793"/>
            </a:xfrm>
            <a:custGeom>
              <a:avLst/>
              <a:gdLst/>
              <a:ahLst/>
              <a:cxnLst/>
              <a:rect l="l" t="t" r="r" b="b"/>
              <a:pathLst>
                <a:path w="2732429" h="353793">
                  <a:moveTo>
                    <a:pt x="79610" y="0"/>
                  </a:moveTo>
                  <a:lnTo>
                    <a:pt x="2652819" y="0"/>
                  </a:lnTo>
                  <a:cubicBezTo>
                    <a:pt x="2673933" y="0"/>
                    <a:pt x="2694182" y="8387"/>
                    <a:pt x="2709112" y="23317"/>
                  </a:cubicBezTo>
                  <a:cubicBezTo>
                    <a:pt x="2724041" y="38247"/>
                    <a:pt x="2732429" y="58496"/>
                    <a:pt x="2732429" y="79610"/>
                  </a:cubicBezTo>
                  <a:lnTo>
                    <a:pt x="2732429" y="274183"/>
                  </a:lnTo>
                  <a:cubicBezTo>
                    <a:pt x="2732429" y="295297"/>
                    <a:pt x="2724041" y="315546"/>
                    <a:pt x="2709112" y="330476"/>
                  </a:cubicBezTo>
                  <a:cubicBezTo>
                    <a:pt x="2694182" y="345406"/>
                    <a:pt x="2673933" y="353793"/>
                    <a:pt x="2652819" y="353793"/>
                  </a:cubicBezTo>
                  <a:lnTo>
                    <a:pt x="79610" y="353793"/>
                  </a:lnTo>
                  <a:cubicBezTo>
                    <a:pt x="35642" y="353793"/>
                    <a:pt x="0" y="318151"/>
                    <a:pt x="0" y="274183"/>
                  </a:cubicBezTo>
                  <a:lnTo>
                    <a:pt x="0" y="79610"/>
                  </a:lnTo>
                  <a:cubicBezTo>
                    <a:pt x="0" y="58496"/>
                    <a:pt x="8387" y="38247"/>
                    <a:pt x="23317" y="23317"/>
                  </a:cubicBezTo>
                  <a:cubicBezTo>
                    <a:pt x="38247" y="8387"/>
                    <a:pt x="58496" y="0"/>
                    <a:pt x="79610" y="0"/>
                  </a:cubicBezTo>
                  <a:close/>
                </a:path>
              </a:pathLst>
            </a:custGeom>
            <a:solidFill>
              <a:srgbClr val="FFFFFF"/>
            </a:solidFill>
          </p:spPr>
        </p:sp>
        <p:sp>
          <p:nvSpPr>
            <p:cNvPr id="170" name="TextBox 14"/>
            <p:cNvSpPr txBox="1"/>
            <p:nvPr/>
          </p:nvSpPr>
          <p:spPr>
            <a:xfrm>
              <a:off x="0" y="-38100"/>
              <a:ext cx="2732429" cy="391893"/>
            </a:xfrm>
            <a:prstGeom prst="rect">
              <a:avLst/>
            </a:prstGeom>
          </p:spPr>
          <p:txBody>
            <a:bodyPr lIns="50800" tIns="50800" rIns="50800" bIns="50800" rtlCol="0" anchor="ctr"/>
            <a:lstStyle/>
            <a:p>
              <a:pPr algn="ctr">
                <a:lnSpc>
                  <a:spcPts val="2520"/>
                </a:lnSpc>
              </a:pPr>
              <a:endParaRPr/>
            </a:p>
          </p:txBody>
        </p:sp>
      </p:grpSp>
      <p:grpSp>
        <p:nvGrpSpPr>
          <p:cNvPr id="171" name="Group 15"/>
          <p:cNvGrpSpPr/>
          <p:nvPr/>
        </p:nvGrpSpPr>
        <p:grpSpPr>
          <a:xfrm>
            <a:off x="2609308" y="7585607"/>
            <a:ext cx="9724851" cy="1259167"/>
            <a:chOff x="0" y="0"/>
            <a:chExt cx="2732429" cy="353793"/>
          </a:xfrm>
        </p:grpSpPr>
        <p:sp>
          <p:nvSpPr>
            <p:cNvPr id="172" name="Freeform 16"/>
            <p:cNvSpPr/>
            <p:nvPr/>
          </p:nvSpPr>
          <p:spPr>
            <a:xfrm>
              <a:off x="0" y="0"/>
              <a:ext cx="2732429" cy="353793"/>
            </a:xfrm>
            <a:custGeom>
              <a:avLst/>
              <a:gdLst/>
              <a:ahLst/>
              <a:cxnLst/>
              <a:rect l="l" t="t" r="r" b="b"/>
              <a:pathLst>
                <a:path w="2732429" h="353793">
                  <a:moveTo>
                    <a:pt x="79610" y="0"/>
                  </a:moveTo>
                  <a:lnTo>
                    <a:pt x="2652819" y="0"/>
                  </a:lnTo>
                  <a:cubicBezTo>
                    <a:pt x="2673933" y="0"/>
                    <a:pt x="2694182" y="8387"/>
                    <a:pt x="2709112" y="23317"/>
                  </a:cubicBezTo>
                  <a:cubicBezTo>
                    <a:pt x="2724041" y="38247"/>
                    <a:pt x="2732429" y="58496"/>
                    <a:pt x="2732429" y="79610"/>
                  </a:cubicBezTo>
                  <a:lnTo>
                    <a:pt x="2732429" y="274183"/>
                  </a:lnTo>
                  <a:cubicBezTo>
                    <a:pt x="2732429" y="295297"/>
                    <a:pt x="2724041" y="315546"/>
                    <a:pt x="2709112" y="330476"/>
                  </a:cubicBezTo>
                  <a:cubicBezTo>
                    <a:pt x="2694182" y="345406"/>
                    <a:pt x="2673933" y="353793"/>
                    <a:pt x="2652819" y="353793"/>
                  </a:cubicBezTo>
                  <a:lnTo>
                    <a:pt x="79610" y="353793"/>
                  </a:lnTo>
                  <a:cubicBezTo>
                    <a:pt x="35642" y="353793"/>
                    <a:pt x="0" y="318151"/>
                    <a:pt x="0" y="274183"/>
                  </a:cubicBezTo>
                  <a:lnTo>
                    <a:pt x="0" y="79610"/>
                  </a:lnTo>
                  <a:cubicBezTo>
                    <a:pt x="0" y="58496"/>
                    <a:pt x="8387" y="38247"/>
                    <a:pt x="23317" y="23317"/>
                  </a:cubicBezTo>
                  <a:cubicBezTo>
                    <a:pt x="38247" y="8387"/>
                    <a:pt x="58496" y="0"/>
                    <a:pt x="79610" y="0"/>
                  </a:cubicBezTo>
                  <a:close/>
                </a:path>
              </a:pathLst>
            </a:custGeom>
            <a:solidFill>
              <a:srgbClr val="FFFFFF"/>
            </a:solidFill>
          </p:spPr>
        </p:sp>
        <p:sp>
          <p:nvSpPr>
            <p:cNvPr id="173" name="TextBox 17"/>
            <p:cNvSpPr txBox="1"/>
            <p:nvPr/>
          </p:nvSpPr>
          <p:spPr>
            <a:xfrm>
              <a:off x="0" y="-38100"/>
              <a:ext cx="2732429" cy="391893"/>
            </a:xfrm>
            <a:prstGeom prst="rect">
              <a:avLst/>
            </a:prstGeom>
          </p:spPr>
          <p:txBody>
            <a:bodyPr lIns="50800" tIns="50800" rIns="50800" bIns="50800" rtlCol="0" anchor="ctr"/>
            <a:lstStyle/>
            <a:p>
              <a:pPr algn="ctr">
                <a:lnSpc>
                  <a:spcPts val="2520"/>
                </a:lnSpc>
              </a:pPr>
              <a:endParaRPr/>
            </a:p>
          </p:txBody>
        </p:sp>
      </p:grpSp>
      <p:grpSp>
        <p:nvGrpSpPr>
          <p:cNvPr id="174" name="Group 18"/>
          <p:cNvGrpSpPr/>
          <p:nvPr/>
        </p:nvGrpSpPr>
        <p:grpSpPr>
          <a:xfrm>
            <a:off x="2712976" y="2570883"/>
            <a:ext cx="1070402" cy="1070402"/>
            <a:chOff x="0" y="0"/>
            <a:chExt cx="812800" cy="812800"/>
          </a:xfrm>
        </p:grpSpPr>
        <p:sp>
          <p:nvSpPr>
            <p:cNvPr id="175"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22359"/>
            </a:solidFill>
          </p:spPr>
        </p:sp>
        <p:sp>
          <p:nvSpPr>
            <p:cNvPr id="176" name="TextBox 20"/>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77" name="Group 21"/>
          <p:cNvGrpSpPr/>
          <p:nvPr/>
        </p:nvGrpSpPr>
        <p:grpSpPr>
          <a:xfrm>
            <a:off x="2712976" y="3840327"/>
            <a:ext cx="1070402" cy="1070402"/>
            <a:chOff x="0" y="0"/>
            <a:chExt cx="812800" cy="812800"/>
          </a:xfrm>
        </p:grpSpPr>
        <p:sp>
          <p:nvSpPr>
            <p:cNvPr id="178"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D6298"/>
            </a:solidFill>
          </p:spPr>
        </p:sp>
        <p:sp>
          <p:nvSpPr>
            <p:cNvPr id="179" name="TextBox 23"/>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80" name="Group 24"/>
          <p:cNvGrpSpPr/>
          <p:nvPr/>
        </p:nvGrpSpPr>
        <p:grpSpPr>
          <a:xfrm>
            <a:off x="2712976" y="5109771"/>
            <a:ext cx="1070402" cy="1070402"/>
            <a:chOff x="0" y="0"/>
            <a:chExt cx="812800" cy="812800"/>
          </a:xfrm>
        </p:grpSpPr>
        <p:sp>
          <p:nvSpPr>
            <p:cNvPr id="181" name="Freeform 2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EC8DA"/>
            </a:solidFill>
          </p:spPr>
        </p:sp>
        <p:sp>
          <p:nvSpPr>
            <p:cNvPr id="182" name="TextBox 26"/>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83" name="Group 27"/>
          <p:cNvGrpSpPr/>
          <p:nvPr/>
        </p:nvGrpSpPr>
        <p:grpSpPr>
          <a:xfrm>
            <a:off x="2712976" y="6379215"/>
            <a:ext cx="1070402" cy="1070402"/>
            <a:chOff x="0" y="0"/>
            <a:chExt cx="812800" cy="812800"/>
          </a:xfrm>
        </p:grpSpPr>
        <p:sp>
          <p:nvSpPr>
            <p:cNvPr id="184"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8D55"/>
            </a:solidFill>
          </p:spPr>
        </p:sp>
        <p:sp>
          <p:nvSpPr>
            <p:cNvPr id="185" name="TextBox 29"/>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86" name="Group 30"/>
          <p:cNvGrpSpPr/>
          <p:nvPr/>
        </p:nvGrpSpPr>
        <p:grpSpPr>
          <a:xfrm>
            <a:off x="2712976" y="7681362"/>
            <a:ext cx="1070402" cy="1070402"/>
            <a:chOff x="0" y="0"/>
            <a:chExt cx="812800" cy="812800"/>
          </a:xfrm>
        </p:grpSpPr>
        <p:sp>
          <p:nvSpPr>
            <p:cNvPr id="187"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C6198"/>
            </a:solidFill>
          </p:spPr>
        </p:sp>
        <p:sp>
          <p:nvSpPr>
            <p:cNvPr id="188" name="TextBox 32"/>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89" name="TextBox 33"/>
          <p:cNvSpPr txBox="1"/>
          <p:nvPr/>
        </p:nvSpPr>
        <p:spPr>
          <a:xfrm>
            <a:off x="3683028" y="1640904"/>
            <a:ext cx="5138903" cy="606705"/>
          </a:xfrm>
          <a:prstGeom prst="rect">
            <a:avLst/>
          </a:prstGeom>
        </p:spPr>
        <p:txBody>
          <a:bodyPr wrap="square" lIns="0" tIns="0" rIns="0" bIns="0" rtlCol="0" anchor="t">
            <a:spAutoFit/>
          </a:bodyPr>
          <a:lstStyle/>
          <a:p>
            <a:pPr algn="ctr">
              <a:lnSpc>
                <a:spcPts val="5040"/>
              </a:lnSpc>
              <a:spcBef>
                <a:spcPct val="0"/>
              </a:spcBef>
            </a:pPr>
            <a:r>
              <a:rPr lang="en-US" sz="3600" b="1" dirty="0" err="1">
                <a:solidFill>
                  <a:srgbClr val="000000"/>
                </a:solidFill>
                <a:latin typeface="Open Sauce Bold"/>
                <a:ea typeface="Open Sauce Bold"/>
                <a:cs typeface="Open Sauce Bold"/>
                <a:sym typeface="DM Sans Bold"/>
              </a:rPr>
              <a:t>Objectifs</a:t>
            </a:r>
            <a:r>
              <a:rPr lang="en-US" sz="3600" b="1" dirty="0">
                <a:solidFill>
                  <a:srgbClr val="112F8D"/>
                </a:solidFill>
                <a:latin typeface="DM Sans Bold"/>
                <a:ea typeface="DM Sans Bold"/>
                <a:cs typeface="DM Sans Bold"/>
                <a:sym typeface="DM Sans Bold"/>
              </a:rPr>
              <a:t> </a:t>
            </a:r>
            <a:r>
              <a:rPr lang="en-US" sz="3600" b="1" dirty="0">
                <a:solidFill>
                  <a:srgbClr val="000000"/>
                </a:solidFill>
                <a:latin typeface="Open Sauce Bold"/>
                <a:ea typeface="Open Sauce Bold"/>
                <a:cs typeface="Open Sauce Bold"/>
                <a:sym typeface="DM Sans Bold"/>
              </a:rPr>
              <a:t>du</a:t>
            </a:r>
            <a:r>
              <a:rPr lang="en-US" sz="3600" b="1" dirty="0">
                <a:solidFill>
                  <a:srgbClr val="112F8D"/>
                </a:solidFill>
                <a:latin typeface="DM Sans Bold"/>
                <a:ea typeface="DM Sans Bold"/>
                <a:cs typeface="DM Sans Bold"/>
                <a:sym typeface="DM Sans Bold"/>
              </a:rPr>
              <a:t> </a:t>
            </a:r>
            <a:r>
              <a:rPr lang="en-US" sz="3600" b="1" dirty="0" err="1">
                <a:solidFill>
                  <a:srgbClr val="000000"/>
                </a:solidFill>
                <a:latin typeface="Open Sauce Bold"/>
                <a:ea typeface="Open Sauce Bold"/>
                <a:cs typeface="Open Sauce Bold"/>
                <a:sym typeface="DM Sans Bold"/>
              </a:rPr>
              <a:t>Projet</a:t>
            </a:r>
            <a:endParaRPr lang="en-US" sz="3600" b="1" dirty="0">
              <a:solidFill>
                <a:srgbClr val="000000"/>
              </a:solidFill>
              <a:latin typeface="Open Sauce Bold"/>
              <a:ea typeface="Open Sauce Bold"/>
              <a:cs typeface="Open Sauce Bold"/>
              <a:sym typeface="DM Sans Bold"/>
            </a:endParaRPr>
          </a:p>
        </p:txBody>
      </p:sp>
      <p:grpSp>
        <p:nvGrpSpPr>
          <p:cNvPr id="190" name="Group 34"/>
          <p:cNvGrpSpPr/>
          <p:nvPr/>
        </p:nvGrpSpPr>
        <p:grpSpPr>
          <a:xfrm>
            <a:off x="2609308" y="8887754"/>
            <a:ext cx="9724851" cy="1259167"/>
            <a:chOff x="0" y="0"/>
            <a:chExt cx="2732429" cy="353793"/>
          </a:xfrm>
        </p:grpSpPr>
        <p:sp>
          <p:nvSpPr>
            <p:cNvPr id="191" name="Freeform 35"/>
            <p:cNvSpPr/>
            <p:nvPr/>
          </p:nvSpPr>
          <p:spPr>
            <a:xfrm>
              <a:off x="0" y="0"/>
              <a:ext cx="2732429" cy="353793"/>
            </a:xfrm>
            <a:custGeom>
              <a:avLst/>
              <a:gdLst/>
              <a:ahLst/>
              <a:cxnLst/>
              <a:rect l="l" t="t" r="r" b="b"/>
              <a:pathLst>
                <a:path w="2732429" h="353793">
                  <a:moveTo>
                    <a:pt x="79610" y="0"/>
                  </a:moveTo>
                  <a:lnTo>
                    <a:pt x="2652819" y="0"/>
                  </a:lnTo>
                  <a:cubicBezTo>
                    <a:pt x="2673933" y="0"/>
                    <a:pt x="2694182" y="8387"/>
                    <a:pt x="2709112" y="23317"/>
                  </a:cubicBezTo>
                  <a:cubicBezTo>
                    <a:pt x="2724041" y="38247"/>
                    <a:pt x="2732429" y="58496"/>
                    <a:pt x="2732429" y="79610"/>
                  </a:cubicBezTo>
                  <a:lnTo>
                    <a:pt x="2732429" y="274183"/>
                  </a:lnTo>
                  <a:cubicBezTo>
                    <a:pt x="2732429" y="295297"/>
                    <a:pt x="2724041" y="315546"/>
                    <a:pt x="2709112" y="330476"/>
                  </a:cubicBezTo>
                  <a:cubicBezTo>
                    <a:pt x="2694182" y="345406"/>
                    <a:pt x="2673933" y="353793"/>
                    <a:pt x="2652819" y="353793"/>
                  </a:cubicBezTo>
                  <a:lnTo>
                    <a:pt x="79610" y="353793"/>
                  </a:lnTo>
                  <a:cubicBezTo>
                    <a:pt x="35642" y="353793"/>
                    <a:pt x="0" y="318151"/>
                    <a:pt x="0" y="274183"/>
                  </a:cubicBezTo>
                  <a:lnTo>
                    <a:pt x="0" y="79610"/>
                  </a:lnTo>
                  <a:cubicBezTo>
                    <a:pt x="0" y="58496"/>
                    <a:pt x="8387" y="38247"/>
                    <a:pt x="23317" y="23317"/>
                  </a:cubicBezTo>
                  <a:cubicBezTo>
                    <a:pt x="38247" y="8387"/>
                    <a:pt x="58496" y="0"/>
                    <a:pt x="79610" y="0"/>
                  </a:cubicBezTo>
                  <a:close/>
                </a:path>
              </a:pathLst>
            </a:custGeom>
            <a:solidFill>
              <a:srgbClr val="FFFFFF"/>
            </a:solidFill>
          </p:spPr>
        </p:sp>
        <p:sp>
          <p:nvSpPr>
            <p:cNvPr id="192" name="TextBox 36"/>
            <p:cNvSpPr txBox="1"/>
            <p:nvPr/>
          </p:nvSpPr>
          <p:spPr>
            <a:xfrm>
              <a:off x="0" y="-38100"/>
              <a:ext cx="2732429" cy="391893"/>
            </a:xfrm>
            <a:prstGeom prst="rect">
              <a:avLst/>
            </a:prstGeom>
          </p:spPr>
          <p:txBody>
            <a:bodyPr lIns="50800" tIns="50800" rIns="50800" bIns="50800" rtlCol="0" anchor="ctr"/>
            <a:lstStyle/>
            <a:p>
              <a:pPr algn="ctr">
                <a:lnSpc>
                  <a:spcPts val="2520"/>
                </a:lnSpc>
              </a:pPr>
              <a:endParaRPr/>
            </a:p>
          </p:txBody>
        </p:sp>
      </p:grpSp>
      <p:grpSp>
        <p:nvGrpSpPr>
          <p:cNvPr id="193" name="Group 38"/>
          <p:cNvGrpSpPr/>
          <p:nvPr/>
        </p:nvGrpSpPr>
        <p:grpSpPr>
          <a:xfrm>
            <a:off x="2712976" y="8985853"/>
            <a:ext cx="1070402" cy="1070402"/>
            <a:chOff x="0" y="0"/>
            <a:chExt cx="812800" cy="812800"/>
          </a:xfrm>
        </p:grpSpPr>
        <p:sp>
          <p:nvSpPr>
            <p:cNvPr id="194" name="Freeform 3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EC8DB"/>
            </a:solidFill>
          </p:spPr>
        </p:sp>
        <p:sp>
          <p:nvSpPr>
            <p:cNvPr id="195" name="TextBox 40"/>
            <p:cNvSpPr txBox="1"/>
            <p:nvPr/>
          </p:nvSpPr>
          <p:spPr>
            <a:xfrm>
              <a:off x="76200" y="38100"/>
              <a:ext cx="660400" cy="6985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96" name="Freeform 41"/>
          <p:cNvSpPr/>
          <p:nvPr/>
        </p:nvSpPr>
        <p:spPr>
          <a:xfrm>
            <a:off x="2885956" y="2837479"/>
            <a:ext cx="724442" cy="547859"/>
          </a:xfrm>
          <a:custGeom>
            <a:avLst/>
            <a:gdLst/>
            <a:ahLst/>
            <a:cxnLst/>
            <a:rect l="l" t="t" r="r" b="b"/>
            <a:pathLst>
              <a:path w="724442" h="547859">
                <a:moveTo>
                  <a:pt x="0" y="0"/>
                </a:moveTo>
                <a:lnTo>
                  <a:pt x="724442" y="0"/>
                </a:lnTo>
                <a:lnTo>
                  <a:pt x="724442" y="547859"/>
                </a:lnTo>
                <a:lnTo>
                  <a:pt x="0" y="547859"/>
                </a:lnTo>
                <a:lnTo>
                  <a:pt x="0" y="0"/>
                </a:lnTo>
                <a:close/>
              </a:path>
            </a:pathLst>
          </a:custGeom>
          <a:blipFill>
            <a:blip r:embed="rId4">
              <a:extLst>
                <a:ext uri="{96DAC541-7B7A-43D3-8B79-37D633B846F1}">
                  <asvg:svgBlip xmlns:asvg="http://schemas.microsoft.com/office/drawing/2016/SVG/main" xmlns="" r:embed="rId6"/>
                </a:ext>
              </a:extLst>
            </a:blip>
            <a:stretch>
              <a:fillRect/>
            </a:stretch>
          </a:blipFill>
        </p:spPr>
      </p:sp>
      <p:sp>
        <p:nvSpPr>
          <p:cNvPr id="197" name="Freeform 42"/>
          <p:cNvSpPr/>
          <p:nvPr/>
        </p:nvSpPr>
        <p:spPr>
          <a:xfrm>
            <a:off x="2891396" y="4002656"/>
            <a:ext cx="713563" cy="812021"/>
          </a:xfrm>
          <a:custGeom>
            <a:avLst/>
            <a:gdLst/>
            <a:ahLst/>
            <a:cxnLst/>
            <a:rect l="l" t="t" r="r" b="b"/>
            <a:pathLst>
              <a:path w="713563" h="812021">
                <a:moveTo>
                  <a:pt x="0" y="0"/>
                </a:moveTo>
                <a:lnTo>
                  <a:pt x="713563" y="0"/>
                </a:lnTo>
                <a:lnTo>
                  <a:pt x="713563" y="812021"/>
                </a:lnTo>
                <a:lnTo>
                  <a:pt x="0" y="812021"/>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sp>
        <p:nvSpPr>
          <p:cNvPr id="198" name="Freeform 43"/>
          <p:cNvSpPr/>
          <p:nvPr/>
        </p:nvSpPr>
        <p:spPr>
          <a:xfrm>
            <a:off x="2878206" y="5276189"/>
            <a:ext cx="739944" cy="739944"/>
          </a:xfrm>
          <a:custGeom>
            <a:avLst/>
            <a:gdLst/>
            <a:ahLst/>
            <a:cxnLst/>
            <a:rect l="l" t="t" r="r" b="b"/>
            <a:pathLst>
              <a:path w="739944" h="739944">
                <a:moveTo>
                  <a:pt x="0" y="0"/>
                </a:moveTo>
                <a:lnTo>
                  <a:pt x="739943" y="0"/>
                </a:lnTo>
                <a:lnTo>
                  <a:pt x="739943" y="739943"/>
                </a:lnTo>
                <a:lnTo>
                  <a:pt x="0" y="739943"/>
                </a:lnTo>
                <a:lnTo>
                  <a:pt x="0" y="0"/>
                </a:lnTo>
                <a:close/>
              </a:path>
            </a:pathLst>
          </a:custGeom>
          <a:blipFill>
            <a:blip r:embed="rId9">
              <a:extLst>
                <a:ext uri="{96DAC541-7B7A-43D3-8B79-37D633B846F1}">
                  <asvg:svgBlip xmlns:asvg="http://schemas.microsoft.com/office/drawing/2016/SVG/main" xmlns="" r:embed="rId10"/>
                </a:ext>
              </a:extLst>
            </a:blip>
            <a:stretch>
              <a:fillRect/>
            </a:stretch>
          </a:blipFill>
        </p:spPr>
      </p:sp>
      <p:sp>
        <p:nvSpPr>
          <p:cNvPr id="199" name="Freeform 44"/>
          <p:cNvSpPr/>
          <p:nvPr/>
        </p:nvSpPr>
        <p:spPr>
          <a:xfrm>
            <a:off x="2920871" y="6602432"/>
            <a:ext cx="654612" cy="654612"/>
          </a:xfrm>
          <a:custGeom>
            <a:avLst/>
            <a:gdLst/>
            <a:ahLst/>
            <a:cxnLst/>
            <a:rect l="l" t="t" r="r" b="b"/>
            <a:pathLst>
              <a:path w="654612" h="654612">
                <a:moveTo>
                  <a:pt x="0" y="0"/>
                </a:moveTo>
                <a:lnTo>
                  <a:pt x="654612" y="0"/>
                </a:lnTo>
                <a:lnTo>
                  <a:pt x="654612" y="654612"/>
                </a:lnTo>
                <a:lnTo>
                  <a:pt x="0" y="654612"/>
                </a:lnTo>
                <a:lnTo>
                  <a:pt x="0" y="0"/>
                </a:lnTo>
                <a:close/>
              </a:path>
            </a:pathLst>
          </a:custGeom>
          <a:blipFill>
            <a:blip r:embed="rId11">
              <a:extLst>
                <a:ext uri="{96DAC541-7B7A-43D3-8B79-37D633B846F1}">
                  <asvg:svgBlip xmlns:asvg="http://schemas.microsoft.com/office/drawing/2016/SVG/main" xmlns="" r:embed="rId12"/>
                </a:ext>
              </a:extLst>
            </a:blip>
            <a:stretch>
              <a:fillRect/>
            </a:stretch>
          </a:blipFill>
        </p:spPr>
      </p:sp>
      <p:sp>
        <p:nvSpPr>
          <p:cNvPr id="200" name="Freeform 45"/>
          <p:cNvSpPr/>
          <p:nvPr/>
        </p:nvSpPr>
        <p:spPr>
          <a:xfrm>
            <a:off x="2966089" y="7961727"/>
            <a:ext cx="638870" cy="633279"/>
          </a:xfrm>
          <a:custGeom>
            <a:avLst/>
            <a:gdLst/>
            <a:ahLst/>
            <a:cxnLst/>
            <a:rect l="l" t="t" r="r" b="b"/>
            <a:pathLst>
              <a:path w="638870" h="633279">
                <a:moveTo>
                  <a:pt x="0" y="0"/>
                </a:moveTo>
                <a:lnTo>
                  <a:pt x="638870" y="0"/>
                </a:lnTo>
                <a:lnTo>
                  <a:pt x="638870" y="633280"/>
                </a:lnTo>
                <a:lnTo>
                  <a:pt x="0" y="633280"/>
                </a:lnTo>
                <a:lnTo>
                  <a:pt x="0" y="0"/>
                </a:lnTo>
                <a:close/>
              </a:path>
            </a:pathLst>
          </a:custGeom>
          <a:blipFill>
            <a:blip r:embed="rId13">
              <a:extLst>
                <a:ext uri="{96DAC541-7B7A-43D3-8B79-37D633B846F1}">
                  <asvg:svgBlip xmlns:asvg="http://schemas.microsoft.com/office/drawing/2016/SVG/main" xmlns="" r:embed="rId14"/>
                </a:ext>
              </a:extLst>
            </a:blip>
            <a:stretch>
              <a:fillRect/>
            </a:stretch>
          </a:blipFill>
        </p:spPr>
      </p:sp>
      <p:sp>
        <p:nvSpPr>
          <p:cNvPr id="201" name="Freeform 46"/>
          <p:cNvSpPr/>
          <p:nvPr/>
        </p:nvSpPr>
        <p:spPr>
          <a:xfrm>
            <a:off x="2920871" y="9260644"/>
            <a:ext cx="594177" cy="555556"/>
          </a:xfrm>
          <a:custGeom>
            <a:avLst/>
            <a:gdLst/>
            <a:ahLst/>
            <a:cxnLst/>
            <a:rect l="l" t="t" r="r" b="b"/>
            <a:pathLst>
              <a:path w="594177" h="555556">
                <a:moveTo>
                  <a:pt x="0" y="0"/>
                </a:moveTo>
                <a:lnTo>
                  <a:pt x="594177" y="0"/>
                </a:lnTo>
                <a:lnTo>
                  <a:pt x="594177" y="555556"/>
                </a:lnTo>
                <a:lnTo>
                  <a:pt x="0" y="555556"/>
                </a:lnTo>
                <a:lnTo>
                  <a:pt x="0" y="0"/>
                </a:lnTo>
                <a:close/>
              </a:path>
            </a:pathLst>
          </a:custGeom>
          <a:blipFill>
            <a:blip r:embed="rId15">
              <a:extLst>
                <a:ext uri="{96DAC541-7B7A-43D3-8B79-37D633B846F1}">
                  <asvg:svgBlip xmlns:asvg="http://schemas.microsoft.com/office/drawing/2016/SVG/main" xmlns="" r:embed="rId16"/>
                </a:ext>
              </a:extLst>
            </a:blip>
            <a:stretch>
              <a:fillRect/>
            </a:stretch>
          </a:blipFill>
        </p:spPr>
      </p:sp>
      <p:sp>
        <p:nvSpPr>
          <p:cNvPr id="202" name="TextBox 47"/>
          <p:cNvSpPr txBox="1"/>
          <p:nvPr/>
        </p:nvSpPr>
        <p:spPr>
          <a:xfrm>
            <a:off x="4450217" y="3223673"/>
            <a:ext cx="4693783" cy="241182"/>
          </a:xfrm>
          <a:prstGeom prst="rect">
            <a:avLst/>
          </a:prstGeom>
        </p:spPr>
        <p:txBody>
          <a:bodyPr lIns="0" tIns="0" rIns="0" bIns="0" rtlCol="0" anchor="t">
            <a:spAutoFit/>
          </a:bodyPr>
          <a:lstStyle/>
          <a:p>
            <a:pPr algn="l">
              <a:lnSpc>
                <a:spcPts val="2021"/>
              </a:lnSpc>
              <a:spcBef>
                <a:spcPct val="0"/>
              </a:spcBef>
            </a:pPr>
            <a:r>
              <a:rPr lang="en-US" sz="1443" dirty="0">
                <a:solidFill>
                  <a:srgbClr val="000000"/>
                </a:solidFill>
                <a:latin typeface="DM Sans"/>
                <a:ea typeface="DM Sans"/>
                <a:cs typeface="DM Sans"/>
                <a:sym typeface="DM Sans"/>
              </a:rPr>
              <a:t>Analyze strengths, weaknesses, opportunities, and t</a:t>
            </a:r>
          </a:p>
        </p:txBody>
      </p:sp>
      <p:sp>
        <p:nvSpPr>
          <p:cNvPr id="203" name="TextBox 48"/>
          <p:cNvSpPr txBox="1"/>
          <p:nvPr/>
        </p:nvSpPr>
        <p:spPr>
          <a:xfrm>
            <a:off x="4450217" y="2799379"/>
            <a:ext cx="4693783" cy="306705"/>
          </a:xfrm>
          <a:prstGeom prst="rect">
            <a:avLst/>
          </a:prstGeom>
        </p:spPr>
        <p:txBody>
          <a:bodyPr lIns="0" tIns="0" rIns="0" bIns="0" rtlCol="0" anchor="t">
            <a:spAutoFit/>
          </a:bodyPr>
          <a:lstStyle/>
          <a:p>
            <a:pPr algn="l">
              <a:lnSpc>
                <a:spcPts val="2520"/>
              </a:lnSpc>
              <a:spcBef>
                <a:spcPct val="0"/>
              </a:spcBef>
            </a:pPr>
            <a:r>
              <a:rPr lang="en-US" sz="1800" b="1">
                <a:solidFill>
                  <a:srgbClr val="000000"/>
                </a:solidFill>
                <a:latin typeface="DM Sans Bold"/>
                <a:ea typeface="DM Sans Bold"/>
                <a:cs typeface="DM Sans Bold"/>
                <a:sym typeface="DM Sans Bold"/>
              </a:rPr>
              <a:t>Déployer un cluster Proxmox VE HA</a:t>
            </a:r>
          </a:p>
        </p:txBody>
      </p:sp>
      <p:sp>
        <p:nvSpPr>
          <p:cNvPr id="204" name="TextBox 49"/>
          <p:cNvSpPr txBox="1"/>
          <p:nvPr/>
        </p:nvSpPr>
        <p:spPr>
          <a:xfrm>
            <a:off x="4450217" y="4506821"/>
            <a:ext cx="4693783" cy="241182"/>
          </a:xfrm>
          <a:prstGeom prst="rect">
            <a:avLst/>
          </a:prstGeom>
        </p:spPr>
        <p:txBody>
          <a:bodyPr lIns="0" tIns="0" rIns="0" bIns="0" rtlCol="0" anchor="t">
            <a:spAutoFit/>
          </a:bodyPr>
          <a:lstStyle/>
          <a:p>
            <a:pPr algn="l">
              <a:lnSpc>
                <a:spcPts val="2021"/>
              </a:lnSpc>
              <a:spcBef>
                <a:spcPct val="0"/>
              </a:spcBef>
            </a:pPr>
            <a:r>
              <a:rPr lang="en-US" sz="1443">
                <a:solidFill>
                  <a:srgbClr val="000000"/>
                </a:solidFill>
                <a:latin typeface="DM Sans"/>
                <a:ea typeface="DM Sans"/>
                <a:cs typeface="DM Sans"/>
                <a:sym typeface="DM Sans"/>
              </a:rPr>
              <a:t>Analyze strengths, weaknesses, opportunities, and t</a:t>
            </a:r>
          </a:p>
        </p:txBody>
      </p:sp>
      <p:sp>
        <p:nvSpPr>
          <p:cNvPr id="205" name="TextBox 50"/>
          <p:cNvSpPr txBox="1"/>
          <p:nvPr/>
        </p:nvSpPr>
        <p:spPr>
          <a:xfrm>
            <a:off x="4450217" y="4082526"/>
            <a:ext cx="5477979" cy="306705"/>
          </a:xfrm>
          <a:prstGeom prst="rect">
            <a:avLst/>
          </a:prstGeom>
        </p:spPr>
        <p:txBody>
          <a:bodyPr lIns="0" tIns="0" rIns="0" bIns="0" rtlCol="0" anchor="t">
            <a:spAutoFit/>
          </a:bodyPr>
          <a:lstStyle/>
          <a:p>
            <a:pPr algn="l">
              <a:lnSpc>
                <a:spcPts val="2520"/>
              </a:lnSpc>
              <a:spcBef>
                <a:spcPct val="0"/>
              </a:spcBef>
            </a:pPr>
            <a:r>
              <a:rPr lang="en-US" sz="1800" b="1">
                <a:solidFill>
                  <a:srgbClr val="000000"/>
                </a:solidFill>
                <a:latin typeface="DM Sans Bold"/>
                <a:ea typeface="DM Sans Bold"/>
                <a:cs typeface="DM Sans Bold"/>
                <a:sym typeface="DM Sans Bold"/>
              </a:rPr>
              <a:t>Mettre en place un stockage distribué Ceph Reef</a:t>
            </a:r>
          </a:p>
        </p:txBody>
      </p:sp>
      <p:sp>
        <p:nvSpPr>
          <p:cNvPr id="206" name="TextBox 51"/>
          <p:cNvSpPr txBox="1"/>
          <p:nvPr/>
        </p:nvSpPr>
        <p:spPr>
          <a:xfrm>
            <a:off x="4356461" y="5763750"/>
            <a:ext cx="4693783" cy="241182"/>
          </a:xfrm>
          <a:prstGeom prst="rect">
            <a:avLst/>
          </a:prstGeom>
        </p:spPr>
        <p:txBody>
          <a:bodyPr lIns="0" tIns="0" rIns="0" bIns="0" rtlCol="0" anchor="t">
            <a:spAutoFit/>
          </a:bodyPr>
          <a:lstStyle/>
          <a:p>
            <a:pPr algn="l">
              <a:lnSpc>
                <a:spcPts val="2021"/>
              </a:lnSpc>
              <a:spcBef>
                <a:spcPct val="0"/>
              </a:spcBef>
            </a:pPr>
            <a:r>
              <a:rPr lang="en-US" sz="1443">
                <a:solidFill>
                  <a:srgbClr val="000000"/>
                </a:solidFill>
                <a:latin typeface="DM Sans"/>
                <a:ea typeface="DM Sans"/>
                <a:cs typeface="DM Sans"/>
                <a:sym typeface="DM Sans"/>
              </a:rPr>
              <a:t>Analyze strengths, weaknesses, opportunities, and t</a:t>
            </a:r>
          </a:p>
        </p:txBody>
      </p:sp>
      <p:sp>
        <p:nvSpPr>
          <p:cNvPr id="207" name="TextBox 52"/>
          <p:cNvSpPr txBox="1"/>
          <p:nvPr/>
        </p:nvSpPr>
        <p:spPr>
          <a:xfrm>
            <a:off x="4356461" y="5339455"/>
            <a:ext cx="4693783" cy="306705"/>
          </a:xfrm>
          <a:prstGeom prst="rect">
            <a:avLst/>
          </a:prstGeom>
        </p:spPr>
        <p:txBody>
          <a:bodyPr lIns="0" tIns="0" rIns="0" bIns="0" rtlCol="0" anchor="t">
            <a:spAutoFit/>
          </a:bodyPr>
          <a:lstStyle/>
          <a:p>
            <a:pPr algn="l">
              <a:lnSpc>
                <a:spcPts val="2520"/>
              </a:lnSpc>
              <a:spcBef>
                <a:spcPct val="0"/>
              </a:spcBef>
            </a:pPr>
            <a:r>
              <a:rPr lang="en-US" sz="1800" b="1">
                <a:solidFill>
                  <a:srgbClr val="000000"/>
                </a:solidFill>
                <a:latin typeface="DM Sans Bold"/>
                <a:ea typeface="DM Sans Bold"/>
                <a:cs typeface="DM Sans Bold"/>
                <a:sym typeface="DM Sans Bold"/>
              </a:rPr>
              <a:t>Implémenter une architecture Zero-Trust</a:t>
            </a:r>
          </a:p>
        </p:txBody>
      </p:sp>
      <p:sp>
        <p:nvSpPr>
          <p:cNvPr id="208" name="TextBox 53"/>
          <p:cNvSpPr txBox="1"/>
          <p:nvPr/>
        </p:nvSpPr>
        <p:spPr>
          <a:xfrm>
            <a:off x="4356461" y="7046897"/>
            <a:ext cx="4693783" cy="241182"/>
          </a:xfrm>
          <a:prstGeom prst="rect">
            <a:avLst/>
          </a:prstGeom>
        </p:spPr>
        <p:txBody>
          <a:bodyPr lIns="0" tIns="0" rIns="0" bIns="0" rtlCol="0" anchor="t">
            <a:spAutoFit/>
          </a:bodyPr>
          <a:lstStyle/>
          <a:p>
            <a:pPr algn="l">
              <a:lnSpc>
                <a:spcPts val="2021"/>
              </a:lnSpc>
              <a:spcBef>
                <a:spcPct val="0"/>
              </a:spcBef>
            </a:pPr>
            <a:r>
              <a:rPr lang="en-US" sz="1443" dirty="0" smtClean="0">
                <a:solidFill>
                  <a:srgbClr val="000000"/>
                </a:solidFill>
                <a:latin typeface="DM Sans"/>
                <a:ea typeface="DM Sans"/>
                <a:cs typeface="DM Sans"/>
                <a:sym typeface="DM Sans"/>
              </a:rPr>
              <a:t>Analyze strengths, weaknesses, opportunities, and t</a:t>
            </a:r>
            <a:endParaRPr lang="en-US" sz="1443" dirty="0">
              <a:solidFill>
                <a:srgbClr val="000000"/>
              </a:solidFill>
              <a:latin typeface="DM Sans"/>
              <a:ea typeface="DM Sans"/>
              <a:cs typeface="DM Sans"/>
              <a:sym typeface="DM Sans"/>
            </a:endParaRPr>
          </a:p>
        </p:txBody>
      </p:sp>
      <p:sp>
        <p:nvSpPr>
          <p:cNvPr id="209" name="TextBox 54"/>
          <p:cNvSpPr txBox="1"/>
          <p:nvPr/>
        </p:nvSpPr>
        <p:spPr>
          <a:xfrm>
            <a:off x="4356461" y="6622603"/>
            <a:ext cx="5056466" cy="306705"/>
          </a:xfrm>
          <a:prstGeom prst="rect">
            <a:avLst/>
          </a:prstGeom>
        </p:spPr>
        <p:txBody>
          <a:bodyPr lIns="0" tIns="0" rIns="0" bIns="0" rtlCol="0" anchor="t">
            <a:spAutoFit/>
          </a:bodyPr>
          <a:lstStyle/>
          <a:p>
            <a:pPr algn="l">
              <a:lnSpc>
                <a:spcPts val="2520"/>
              </a:lnSpc>
              <a:spcBef>
                <a:spcPct val="0"/>
              </a:spcBef>
            </a:pPr>
            <a:r>
              <a:rPr lang="en-US" sz="1800" b="1">
                <a:solidFill>
                  <a:srgbClr val="000000"/>
                </a:solidFill>
                <a:latin typeface="DM Sans Bold"/>
                <a:ea typeface="DM Sans Bold"/>
                <a:cs typeface="DM Sans Bold"/>
                <a:sym typeface="DM Sans Bold"/>
              </a:rPr>
              <a:t>Automatiser l’infrastructure </a:t>
            </a:r>
          </a:p>
        </p:txBody>
      </p:sp>
      <p:sp>
        <p:nvSpPr>
          <p:cNvPr id="210" name="TextBox 55"/>
          <p:cNvSpPr txBox="1"/>
          <p:nvPr/>
        </p:nvSpPr>
        <p:spPr>
          <a:xfrm>
            <a:off x="4356461" y="8300297"/>
            <a:ext cx="4693783" cy="257186"/>
          </a:xfrm>
          <a:prstGeom prst="rect">
            <a:avLst/>
          </a:prstGeom>
        </p:spPr>
        <p:txBody>
          <a:bodyPr lIns="0" tIns="0" rIns="0" bIns="0" rtlCol="0" anchor="t">
            <a:spAutoFit/>
          </a:bodyPr>
          <a:lstStyle/>
          <a:p>
            <a:pPr>
              <a:lnSpc>
                <a:spcPts val="2021"/>
              </a:lnSpc>
              <a:spcBef>
                <a:spcPct val="0"/>
              </a:spcBef>
            </a:pPr>
            <a:r>
              <a:rPr lang="fr-FR" sz="1600" dirty="0"/>
              <a:t>et une solution de restauration</a:t>
            </a:r>
            <a:endParaRPr lang="en-US" sz="1443" dirty="0">
              <a:solidFill>
                <a:srgbClr val="000000"/>
              </a:solidFill>
              <a:latin typeface="DM Sans"/>
              <a:ea typeface="DM Sans"/>
              <a:cs typeface="DM Sans"/>
              <a:sym typeface="DM Sans"/>
            </a:endParaRPr>
          </a:p>
        </p:txBody>
      </p:sp>
      <p:sp>
        <p:nvSpPr>
          <p:cNvPr id="211" name="TextBox 56"/>
          <p:cNvSpPr txBox="1"/>
          <p:nvPr/>
        </p:nvSpPr>
        <p:spPr>
          <a:xfrm>
            <a:off x="4356461" y="7876002"/>
            <a:ext cx="4693783" cy="306705"/>
          </a:xfrm>
          <a:prstGeom prst="rect">
            <a:avLst/>
          </a:prstGeom>
        </p:spPr>
        <p:txBody>
          <a:bodyPr lIns="0" tIns="0" rIns="0" bIns="0" rtlCol="0" anchor="t">
            <a:spAutoFit/>
          </a:bodyPr>
          <a:lstStyle/>
          <a:p>
            <a:pPr algn="l">
              <a:lnSpc>
                <a:spcPts val="2520"/>
              </a:lnSpc>
              <a:spcBef>
                <a:spcPct val="0"/>
              </a:spcBef>
            </a:pPr>
            <a:r>
              <a:rPr lang="en-US" sz="1800" b="1">
                <a:solidFill>
                  <a:srgbClr val="000000"/>
                </a:solidFill>
                <a:latin typeface="DM Sans Bold"/>
                <a:ea typeface="DM Sans Bold"/>
                <a:cs typeface="DM Sans Bold"/>
                <a:sym typeface="DM Sans Bold"/>
              </a:rPr>
              <a:t>Déployer Proxmox Backup Server &amp; DR</a:t>
            </a:r>
          </a:p>
        </p:txBody>
      </p:sp>
      <p:sp>
        <p:nvSpPr>
          <p:cNvPr id="212" name="TextBox 57"/>
          <p:cNvSpPr txBox="1"/>
          <p:nvPr/>
        </p:nvSpPr>
        <p:spPr>
          <a:xfrm>
            <a:off x="4356461" y="9583444"/>
            <a:ext cx="4693783" cy="257186"/>
          </a:xfrm>
          <a:prstGeom prst="rect">
            <a:avLst/>
          </a:prstGeom>
        </p:spPr>
        <p:txBody>
          <a:bodyPr lIns="0" tIns="0" rIns="0" bIns="0" rtlCol="0" anchor="t">
            <a:spAutoFit/>
          </a:bodyPr>
          <a:lstStyle/>
          <a:p>
            <a:pPr>
              <a:lnSpc>
                <a:spcPts val="2021"/>
              </a:lnSpc>
              <a:spcBef>
                <a:spcPct val="0"/>
              </a:spcBef>
            </a:pPr>
            <a:r>
              <a:rPr lang="fr-FR" sz="1600" dirty="0"/>
              <a:t>surveiller en temps réel l'état de l'infrastructure</a:t>
            </a:r>
            <a:endParaRPr lang="en-US" sz="1443" dirty="0">
              <a:solidFill>
                <a:srgbClr val="000000"/>
              </a:solidFill>
              <a:latin typeface="DM Sans"/>
              <a:ea typeface="DM Sans"/>
              <a:cs typeface="DM Sans"/>
              <a:sym typeface="DM Sans"/>
            </a:endParaRPr>
          </a:p>
        </p:txBody>
      </p:sp>
      <p:sp>
        <p:nvSpPr>
          <p:cNvPr id="213" name="TextBox 58"/>
          <p:cNvSpPr txBox="1"/>
          <p:nvPr/>
        </p:nvSpPr>
        <p:spPr>
          <a:xfrm>
            <a:off x="4356461" y="9161494"/>
            <a:ext cx="4693783" cy="306705"/>
          </a:xfrm>
          <a:prstGeom prst="rect">
            <a:avLst/>
          </a:prstGeom>
        </p:spPr>
        <p:txBody>
          <a:bodyPr lIns="0" tIns="0" rIns="0" bIns="0" rtlCol="0" anchor="t">
            <a:spAutoFit/>
          </a:bodyPr>
          <a:lstStyle/>
          <a:p>
            <a:pPr algn="l">
              <a:lnSpc>
                <a:spcPts val="2520"/>
              </a:lnSpc>
              <a:spcBef>
                <a:spcPct val="0"/>
              </a:spcBef>
            </a:pPr>
            <a:r>
              <a:rPr lang="en-US" sz="1800" b="1">
                <a:solidFill>
                  <a:srgbClr val="000000"/>
                </a:solidFill>
                <a:latin typeface="DM Sans Bold"/>
                <a:ea typeface="DM Sans Bold"/>
                <a:cs typeface="DM Sans Bold"/>
                <a:sym typeface="DM Sans Bold"/>
              </a:rPr>
              <a:t>Superviser l’infrastructure </a:t>
            </a:r>
          </a:p>
        </p:txBody>
      </p:sp>
      <p:pic>
        <p:nvPicPr>
          <p:cNvPr id="214" name="Image 213"/>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82634" y="1867159"/>
            <a:ext cx="9440069" cy="8275546"/>
          </a:xfrm>
          <a:prstGeom prst="rect">
            <a:avLst/>
          </a:prstGeom>
        </p:spPr>
      </p:pic>
      <p:sp>
        <p:nvSpPr>
          <p:cNvPr id="4" name="Espace réservé du numéro de diapositive 3"/>
          <p:cNvSpPr>
            <a:spLocks noGrp="1"/>
          </p:cNvSpPr>
          <p:nvPr>
            <p:ph type="sldNum" sz="quarter" idx="12"/>
          </p:nvPr>
        </p:nvSpPr>
        <p:spPr/>
        <p:txBody>
          <a:bodyPr/>
          <a:lstStyle/>
          <a:p>
            <a:fld id="{B6F15528-21DE-4FAA-801E-634DDDAF4B2B}" type="slidenum">
              <a:rPr lang="en-US" sz="2800" b="1" smtClean="0"/>
              <a:pPr/>
              <a:t>5</a:t>
            </a:fld>
            <a:endParaRPr lang="en-US" sz="2800" b="1" dirty="0"/>
          </a:p>
        </p:txBody>
      </p:sp>
    </p:spTree>
    <p:extLst>
      <p:ext uri="{BB962C8B-B14F-4D97-AF65-F5344CB8AC3E}">
        <p14:creationId xmlns:p14="http://schemas.microsoft.com/office/powerpoint/2010/main" val="2285890497"/>
      </p:ext>
    </p:extLst>
  </p:cSld>
  <p:clrMapOvr>
    <a:masterClrMapping/>
  </p:clrMapOvr>
  <mc:AlternateContent xmlns:mc="http://schemas.openxmlformats.org/markup-compatibility/2006" xmlns:p14="http://schemas.microsoft.com/office/powerpoint/2010/main">
    <mc:Choice Requires="p14">
      <p:transition spd="slow" p14:dur="1500" advClick="0">
        <p:split orient="vert"/>
      </p:transition>
    </mc:Choice>
    <mc:Fallback xmlns="">
      <p:transition spd="slow" advClick="0">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96"/>
                                        </p:tgtEl>
                                        <p:attrNameLst>
                                          <p:attrName>style.visibility</p:attrName>
                                        </p:attrNameLst>
                                      </p:cBhvr>
                                      <p:to>
                                        <p:strVal val="visible"/>
                                      </p:to>
                                    </p:set>
                                    <p:anim calcmode="lin" valueType="num">
                                      <p:cBhvr additive="base">
                                        <p:cTn id="7" dur="500" fill="hold"/>
                                        <p:tgtEl>
                                          <p:spTgt spid="196"/>
                                        </p:tgtEl>
                                        <p:attrNameLst>
                                          <p:attrName>ppt_x</p:attrName>
                                        </p:attrNameLst>
                                      </p:cBhvr>
                                      <p:tavLst>
                                        <p:tav tm="0">
                                          <p:val>
                                            <p:strVal val="#ppt_x"/>
                                          </p:val>
                                        </p:tav>
                                        <p:tav tm="100000">
                                          <p:val>
                                            <p:strVal val="#ppt_x"/>
                                          </p:val>
                                        </p:tav>
                                      </p:tavLst>
                                    </p:anim>
                                    <p:anim calcmode="lin" valueType="num">
                                      <p:cBhvr additive="base">
                                        <p:cTn id="8" dur="500" fill="hold"/>
                                        <p:tgtEl>
                                          <p:spTgt spid="19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02"/>
                                        </p:tgtEl>
                                        <p:attrNameLst>
                                          <p:attrName>style.visibility</p:attrName>
                                        </p:attrNameLst>
                                      </p:cBhvr>
                                      <p:to>
                                        <p:strVal val="visible"/>
                                      </p:to>
                                    </p:set>
                                    <p:anim calcmode="lin" valueType="num">
                                      <p:cBhvr additive="base">
                                        <p:cTn id="11" dur="500" fill="hold"/>
                                        <p:tgtEl>
                                          <p:spTgt spid="202"/>
                                        </p:tgtEl>
                                        <p:attrNameLst>
                                          <p:attrName>ppt_x</p:attrName>
                                        </p:attrNameLst>
                                      </p:cBhvr>
                                      <p:tavLst>
                                        <p:tav tm="0">
                                          <p:val>
                                            <p:strVal val="#ppt_x"/>
                                          </p:val>
                                        </p:tav>
                                        <p:tav tm="100000">
                                          <p:val>
                                            <p:strVal val="#ppt_x"/>
                                          </p:val>
                                        </p:tav>
                                      </p:tavLst>
                                    </p:anim>
                                    <p:anim calcmode="lin" valueType="num">
                                      <p:cBhvr additive="base">
                                        <p:cTn id="12" dur="500" fill="hold"/>
                                        <p:tgtEl>
                                          <p:spTgt spid="20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03"/>
                                        </p:tgtEl>
                                        <p:attrNameLst>
                                          <p:attrName>style.visibility</p:attrName>
                                        </p:attrNameLst>
                                      </p:cBhvr>
                                      <p:to>
                                        <p:strVal val="visible"/>
                                      </p:to>
                                    </p:set>
                                    <p:anim calcmode="lin" valueType="num">
                                      <p:cBhvr additive="base">
                                        <p:cTn id="15" dur="500" fill="hold"/>
                                        <p:tgtEl>
                                          <p:spTgt spid="203"/>
                                        </p:tgtEl>
                                        <p:attrNameLst>
                                          <p:attrName>ppt_x</p:attrName>
                                        </p:attrNameLst>
                                      </p:cBhvr>
                                      <p:tavLst>
                                        <p:tav tm="0">
                                          <p:val>
                                            <p:strVal val="#ppt_x"/>
                                          </p:val>
                                        </p:tav>
                                        <p:tav tm="100000">
                                          <p:val>
                                            <p:strVal val="#ppt_x"/>
                                          </p:val>
                                        </p:tav>
                                      </p:tavLst>
                                    </p:anim>
                                    <p:anim calcmode="lin" valueType="num">
                                      <p:cBhvr additive="base">
                                        <p:cTn id="16" dur="500" fill="hold"/>
                                        <p:tgtEl>
                                          <p:spTgt spid="203"/>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59"/>
                                        </p:tgtEl>
                                        <p:attrNameLst>
                                          <p:attrName>style.visibility</p:attrName>
                                        </p:attrNameLst>
                                      </p:cBhvr>
                                      <p:to>
                                        <p:strVal val="visible"/>
                                      </p:to>
                                    </p:set>
                                    <p:anim calcmode="lin" valueType="num">
                                      <p:cBhvr additive="base">
                                        <p:cTn id="19" dur="500" fill="hold"/>
                                        <p:tgtEl>
                                          <p:spTgt spid="159"/>
                                        </p:tgtEl>
                                        <p:attrNameLst>
                                          <p:attrName>ppt_x</p:attrName>
                                        </p:attrNameLst>
                                      </p:cBhvr>
                                      <p:tavLst>
                                        <p:tav tm="0">
                                          <p:val>
                                            <p:strVal val="#ppt_x"/>
                                          </p:val>
                                        </p:tav>
                                        <p:tav tm="100000">
                                          <p:val>
                                            <p:strVal val="#ppt_x"/>
                                          </p:val>
                                        </p:tav>
                                      </p:tavLst>
                                    </p:anim>
                                    <p:anim calcmode="lin" valueType="num">
                                      <p:cBhvr additive="base">
                                        <p:cTn id="20" dur="500" fill="hold"/>
                                        <p:tgtEl>
                                          <p:spTgt spid="159"/>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74"/>
                                        </p:tgtEl>
                                        <p:attrNameLst>
                                          <p:attrName>style.visibility</p:attrName>
                                        </p:attrNameLst>
                                      </p:cBhvr>
                                      <p:to>
                                        <p:strVal val="visible"/>
                                      </p:to>
                                    </p:set>
                                    <p:anim calcmode="lin" valueType="num">
                                      <p:cBhvr additive="base">
                                        <p:cTn id="23" dur="500" fill="hold"/>
                                        <p:tgtEl>
                                          <p:spTgt spid="174"/>
                                        </p:tgtEl>
                                        <p:attrNameLst>
                                          <p:attrName>ppt_x</p:attrName>
                                        </p:attrNameLst>
                                      </p:cBhvr>
                                      <p:tavLst>
                                        <p:tav tm="0">
                                          <p:val>
                                            <p:strVal val="#ppt_x"/>
                                          </p:val>
                                        </p:tav>
                                        <p:tav tm="100000">
                                          <p:val>
                                            <p:strVal val="#ppt_x"/>
                                          </p:val>
                                        </p:tav>
                                      </p:tavLst>
                                    </p:anim>
                                    <p:anim calcmode="lin" valueType="num">
                                      <p:cBhvr additive="base">
                                        <p:cTn id="24" dur="500" fill="hold"/>
                                        <p:tgtEl>
                                          <p:spTgt spid="17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196"/>
                                        </p:tgtEl>
                                        <p:attrNameLst>
                                          <p:attrName>style.visibility</p:attrName>
                                        </p:attrNameLst>
                                      </p:cBhvr>
                                      <p:to>
                                        <p:strVal val="visible"/>
                                      </p:to>
                                    </p:set>
                                    <p:anim calcmode="lin" valueType="num">
                                      <p:cBhvr additive="base">
                                        <p:cTn id="29" dur="500" fill="hold"/>
                                        <p:tgtEl>
                                          <p:spTgt spid="196"/>
                                        </p:tgtEl>
                                        <p:attrNameLst>
                                          <p:attrName>ppt_x</p:attrName>
                                        </p:attrNameLst>
                                      </p:cBhvr>
                                      <p:tavLst>
                                        <p:tav tm="0">
                                          <p:val>
                                            <p:strVal val="#ppt_x"/>
                                          </p:val>
                                        </p:tav>
                                        <p:tav tm="100000">
                                          <p:val>
                                            <p:strVal val="#ppt_x"/>
                                          </p:val>
                                        </p:tav>
                                      </p:tavLst>
                                    </p:anim>
                                    <p:anim calcmode="lin" valueType="num">
                                      <p:cBhvr additive="base">
                                        <p:cTn id="30" dur="500" fill="hold"/>
                                        <p:tgtEl>
                                          <p:spTgt spid="196"/>
                                        </p:tgtEl>
                                        <p:attrNameLst>
                                          <p:attrName>ppt_y</p:attrName>
                                        </p:attrNameLst>
                                      </p:cBhvr>
                                      <p:tavLst>
                                        <p:tav tm="0">
                                          <p:val>
                                            <p:strVal val="1+#ppt_h/2"/>
                                          </p:val>
                                        </p:tav>
                                        <p:tav tm="100000">
                                          <p:val>
                                            <p:strVal val="#ppt_y"/>
                                          </p:val>
                                        </p:tav>
                                      </p:tavLst>
                                    </p:anim>
                                  </p:childTnLst>
                                </p:cTn>
                              </p:par>
                              <p:par>
                                <p:cTn id="31" presetID="2" presetClass="entr" presetSubtype="4" fill="hold" grpId="1" nodeType="withEffect">
                                  <p:stCondLst>
                                    <p:cond delay="0"/>
                                  </p:stCondLst>
                                  <p:childTnLst>
                                    <p:set>
                                      <p:cBhvr>
                                        <p:cTn id="32" dur="1" fill="hold">
                                          <p:stCondLst>
                                            <p:cond delay="0"/>
                                          </p:stCondLst>
                                        </p:cTn>
                                        <p:tgtEl>
                                          <p:spTgt spid="202"/>
                                        </p:tgtEl>
                                        <p:attrNameLst>
                                          <p:attrName>style.visibility</p:attrName>
                                        </p:attrNameLst>
                                      </p:cBhvr>
                                      <p:to>
                                        <p:strVal val="visible"/>
                                      </p:to>
                                    </p:set>
                                    <p:anim calcmode="lin" valueType="num">
                                      <p:cBhvr additive="base">
                                        <p:cTn id="33" dur="500" fill="hold"/>
                                        <p:tgtEl>
                                          <p:spTgt spid="202"/>
                                        </p:tgtEl>
                                        <p:attrNameLst>
                                          <p:attrName>ppt_x</p:attrName>
                                        </p:attrNameLst>
                                      </p:cBhvr>
                                      <p:tavLst>
                                        <p:tav tm="0">
                                          <p:val>
                                            <p:strVal val="#ppt_x"/>
                                          </p:val>
                                        </p:tav>
                                        <p:tav tm="100000">
                                          <p:val>
                                            <p:strVal val="#ppt_x"/>
                                          </p:val>
                                        </p:tav>
                                      </p:tavLst>
                                    </p:anim>
                                    <p:anim calcmode="lin" valueType="num">
                                      <p:cBhvr additive="base">
                                        <p:cTn id="34" dur="500" fill="hold"/>
                                        <p:tgtEl>
                                          <p:spTgt spid="202"/>
                                        </p:tgtEl>
                                        <p:attrNameLst>
                                          <p:attrName>ppt_y</p:attrName>
                                        </p:attrNameLst>
                                      </p:cBhvr>
                                      <p:tavLst>
                                        <p:tav tm="0">
                                          <p:val>
                                            <p:strVal val="1+#ppt_h/2"/>
                                          </p:val>
                                        </p:tav>
                                        <p:tav tm="100000">
                                          <p:val>
                                            <p:strVal val="#ppt_y"/>
                                          </p:val>
                                        </p:tav>
                                      </p:tavLst>
                                    </p:anim>
                                  </p:childTnLst>
                                </p:cTn>
                              </p:par>
                              <p:par>
                                <p:cTn id="35" presetID="2" presetClass="entr" presetSubtype="4" fill="hold" grpId="1" nodeType="withEffect">
                                  <p:stCondLst>
                                    <p:cond delay="0"/>
                                  </p:stCondLst>
                                  <p:childTnLst>
                                    <p:set>
                                      <p:cBhvr>
                                        <p:cTn id="36" dur="1" fill="hold">
                                          <p:stCondLst>
                                            <p:cond delay="0"/>
                                          </p:stCondLst>
                                        </p:cTn>
                                        <p:tgtEl>
                                          <p:spTgt spid="203"/>
                                        </p:tgtEl>
                                        <p:attrNameLst>
                                          <p:attrName>style.visibility</p:attrName>
                                        </p:attrNameLst>
                                      </p:cBhvr>
                                      <p:to>
                                        <p:strVal val="visible"/>
                                      </p:to>
                                    </p:set>
                                    <p:anim calcmode="lin" valueType="num">
                                      <p:cBhvr additive="base">
                                        <p:cTn id="37" dur="500" fill="hold"/>
                                        <p:tgtEl>
                                          <p:spTgt spid="203"/>
                                        </p:tgtEl>
                                        <p:attrNameLst>
                                          <p:attrName>ppt_x</p:attrName>
                                        </p:attrNameLst>
                                      </p:cBhvr>
                                      <p:tavLst>
                                        <p:tav tm="0">
                                          <p:val>
                                            <p:strVal val="#ppt_x"/>
                                          </p:val>
                                        </p:tav>
                                        <p:tav tm="100000">
                                          <p:val>
                                            <p:strVal val="#ppt_x"/>
                                          </p:val>
                                        </p:tav>
                                      </p:tavLst>
                                    </p:anim>
                                    <p:anim calcmode="lin" valueType="num">
                                      <p:cBhvr additive="base">
                                        <p:cTn id="38" dur="500" fill="hold"/>
                                        <p:tgtEl>
                                          <p:spTgt spid="203"/>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159"/>
                                        </p:tgtEl>
                                        <p:attrNameLst>
                                          <p:attrName>style.visibility</p:attrName>
                                        </p:attrNameLst>
                                      </p:cBhvr>
                                      <p:to>
                                        <p:strVal val="visible"/>
                                      </p:to>
                                    </p:set>
                                    <p:anim calcmode="lin" valueType="num">
                                      <p:cBhvr additive="base">
                                        <p:cTn id="41" dur="500" fill="hold"/>
                                        <p:tgtEl>
                                          <p:spTgt spid="159"/>
                                        </p:tgtEl>
                                        <p:attrNameLst>
                                          <p:attrName>ppt_x</p:attrName>
                                        </p:attrNameLst>
                                      </p:cBhvr>
                                      <p:tavLst>
                                        <p:tav tm="0">
                                          <p:val>
                                            <p:strVal val="#ppt_x"/>
                                          </p:val>
                                        </p:tav>
                                        <p:tav tm="100000">
                                          <p:val>
                                            <p:strVal val="#ppt_x"/>
                                          </p:val>
                                        </p:tav>
                                      </p:tavLst>
                                    </p:anim>
                                    <p:anim calcmode="lin" valueType="num">
                                      <p:cBhvr additive="base">
                                        <p:cTn id="42" dur="500" fill="hold"/>
                                        <p:tgtEl>
                                          <p:spTgt spid="159"/>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stCondLst>
                                    <p:cond delay="0"/>
                                  </p:stCondLst>
                                  <p:childTnLst>
                                    <p:set>
                                      <p:cBhvr>
                                        <p:cTn id="44" dur="1" fill="hold">
                                          <p:stCondLst>
                                            <p:cond delay="0"/>
                                          </p:stCondLst>
                                        </p:cTn>
                                        <p:tgtEl>
                                          <p:spTgt spid="174"/>
                                        </p:tgtEl>
                                        <p:attrNameLst>
                                          <p:attrName>style.visibility</p:attrName>
                                        </p:attrNameLst>
                                      </p:cBhvr>
                                      <p:to>
                                        <p:strVal val="visible"/>
                                      </p:to>
                                    </p:set>
                                    <p:anim calcmode="lin" valueType="num">
                                      <p:cBhvr additive="base">
                                        <p:cTn id="45" dur="500" fill="hold"/>
                                        <p:tgtEl>
                                          <p:spTgt spid="174"/>
                                        </p:tgtEl>
                                        <p:attrNameLst>
                                          <p:attrName>ppt_x</p:attrName>
                                        </p:attrNameLst>
                                      </p:cBhvr>
                                      <p:tavLst>
                                        <p:tav tm="0">
                                          <p:val>
                                            <p:strVal val="#ppt_x"/>
                                          </p:val>
                                        </p:tav>
                                        <p:tav tm="100000">
                                          <p:val>
                                            <p:strVal val="#ppt_x"/>
                                          </p:val>
                                        </p:tav>
                                      </p:tavLst>
                                    </p:anim>
                                    <p:anim calcmode="lin" valueType="num">
                                      <p:cBhvr additive="base">
                                        <p:cTn id="46" dur="500" fill="hold"/>
                                        <p:tgtEl>
                                          <p:spTgt spid="174"/>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grpId="0" nodeType="clickEffect">
                                  <p:stCondLst>
                                    <p:cond delay="0"/>
                                  </p:stCondLst>
                                  <p:childTnLst>
                                    <p:set>
                                      <p:cBhvr>
                                        <p:cTn id="50" dur="1" fill="hold">
                                          <p:stCondLst>
                                            <p:cond delay="0"/>
                                          </p:stCondLst>
                                        </p:cTn>
                                        <p:tgtEl>
                                          <p:spTgt spid="205"/>
                                        </p:tgtEl>
                                        <p:attrNameLst>
                                          <p:attrName>style.visibility</p:attrName>
                                        </p:attrNameLst>
                                      </p:cBhvr>
                                      <p:to>
                                        <p:strVal val="visible"/>
                                      </p:to>
                                    </p:set>
                                    <p:anim calcmode="lin" valueType="num">
                                      <p:cBhvr additive="base">
                                        <p:cTn id="51" dur="500" fill="hold"/>
                                        <p:tgtEl>
                                          <p:spTgt spid="205"/>
                                        </p:tgtEl>
                                        <p:attrNameLst>
                                          <p:attrName>ppt_x</p:attrName>
                                        </p:attrNameLst>
                                      </p:cBhvr>
                                      <p:tavLst>
                                        <p:tav tm="0">
                                          <p:val>
                                            <p:strVal val="#ppt_x"/>
                                          </p:val>
                                        </p:tav>
                                        <p:tav tm="100000">
                                          <p:val>
                                            <p:strVal val="#ppt_x"/>
                                          </p:val>
                                        </p:tav>
                                      </p:tavLst>
                                    </p:anim>
                                    <p:anim calcmode="lin" valueType="num">
                                      <p:cBhvr additive="base">
                                        <p:cTn id="52" dur="500" fill="hold"/>
                                        <p:tgtEl>
                                          <p:spTgt spid="205"/>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204"/>
                                        </p:tgtEl>
                                        <p:attrNameLst>
                                          <p:attrName>style.visibility</p:attrName>
                                        </p:attrNameLst>
                                      </p:cBhvr>
                                      <p:to>
                                        <p:strVal val="visible"/>
                                      </p:to>
                                    </p:set>
                                    <p:anim calcmode="lin" valueType="num">
                                      <p:cBhvr additive="base">
                                        <p:cTn id="55" dur="500" fill="hold"/>
                                        <p:tgtEl>
                                          <p:spTgt spid="204"/>
                                        </p:tgtEl>
                                        <p:attrNameLst>
                                          <p:attrName>ppt_x</p:attrName>
                                        </p:attrNameLst>
                                      </p:cBhvr>
                                      <p:tavLst>
                                        <p:tav tm="0">
                                          <p:val>
                                            <p:strVal val="#ppt_x"/>
                                          </p:val>
                                        </p:tav>
                                        <p:tav tm="100000">
                                          <p:val>
                                            <p:strVal val="#ppt_x"/>
                                          </p:val>
                                        </p:tav>
                                      </p:tavLst>
                                    </p:anim>
                                    <p:anim calcmode="lin" valueType="num">
                                      <p:cBhvr additive="base">
                                        <p:cTn id="56" dur="500" fill="hold"/>
                                        <p:tgtEl>
                                          <p:spTgt spid="204"/>
                                        </p:tgtEl>
                                        <p:attrNameLst>
                                          <p:attrName>ppt_y</p:attrName>
                                        </p:attrNameLst>
                                      </p:cBhvr>
                                      <p:tavLst>
                                        <p:tav tm="0">
                                          <p:val>
                                            <p:strVal val="1+#ppt_h/2"/>
                                          </p:val>
                                        </p:tav>
                                        <p:tav tm="100000">
                                          <p:val>
                                            <p:strVal val="#ppt_y"/>
                                          </p:val>
                                        </p:tav>
                                      </p:tavLst>
                                    </p:anim>
                                  </p:childTnLst>
                                </p:cTn>
                              </p:par>
                              <p:par>
                                <p:cTn id="57" presetID="2" presetClass="entr" presetSubtype="4" fill="hold" nodeType="withEffect">
                                  <p:stCondLst>
                                    <p:cond delay="0"/>
                                  </p:stCondLst>
                                  <p:childTnLst>
                                    <p:set>
                                      <p:cBhvr>
                                        <p:cTn id="58" dur="1" fill="hold">
                                          <p:stCondLst>
                                            <p:cond delay="0"/>
                                          </p:stCondLst>
                                        </p:cTn>
                                        <p:tgtEl>
                                          <p:spTgt spid="197"/>
                                        </p:tgtEl>
                                        <p:attrNameLst>
                                          <p:attrName>style.visibility</p:attrName>
                                        </p:attrNameLst>
                                      </p:cBhvr>
                                      <p:to>
                                        <p:strVal val="visible"/>
                                      </p:to>
                                    </p:set>
                                    <p:anim calcmode="lin" valueType="num">
                                      <p:cBhvr additive="base">
                                        <p:cTn id="59" dur="500" fill="hold"/>
                                        <p:tgtEl>
                                          <p:spTgt spid="197"/>
                                        </p:tgtEl>
                                        <p:attrNameLst>
                                          <p:attrName>ppt_x</p:attrName>
                                        </p:attrNameLst>
                                      </p:cBhvr>
                                      <p:tavLst>
                                        <p:tav tm="0">
                                          <p:val>
                                            <p:strVal val="#ppt_x"/>
                                          </p:val>
                                        </p:tav>
                                        <p:tav tm="100000">
                                          <p:val>
                                            <p:strVal val="#ppt_x"/>
                                          </p:val>
                                        </p:tav>
                                      </p:tavLst>
                                    </p:anim>
                                    <p:anim calcmode="lin" valueType="num">
                                      <p:cBhvr additive="base">
                                        <p:cTn id="60" dur="500" fill="hold"/>
                                        <p:tgtEl>
                                          <p:spTgt spid="197"/>
                                        </p:tgtEl>
                                        <p:attrNameLst>
                                          <p:attrName>ppt_y</p:attrName>
                                        </p:attrNameLst>
                                      </p:cBhvr>
                                      <p:tavLst>
                                        <p:tav tm="0">
                                          <p:val>
                                            <p:strVal val="1+#ppt_h/2"/>
                                          </p:val>
                                        </p:tav>
                                        <p:tav tm="100000">
                                          <p:val>
                                            <p:strVal val="#ppt_y"/>
                                          </p:val>
                                        </p:tav>
                                      </p:tavLst>
                                    </p:anim>
                                  </p:childTnLst>
                                </p:cTn>
                              </p:par>
                              <p:par>
                                <p:cTn id="61" presetID="2" presetClass="entr" presetSubtype="4" fill="hold" nodeType="withEffect">
                                  <p:stCondLst>
                                    <p:cond delay="0"/>
                                  </p:stCondLst>
                                  <p:childTnLst>
                                    <p:set>
                                      <p:cBhvr>
                                        <p:cTn id="62" dur="1" fill="hold">
                                          <p:stCondLst>
                                            <p:cond delay="0"/>
                                          </p:stCondLst>
                                        </p:cTn>
                                        <p:tgtEl>
                                          <p:spTgt spid="177"/>
                                        </p:tgtEl>
                                        <p:attrNameLst>
                                          <p:attrName>style.visibility</p:attrName>
                                        </p:attrNameLst>
                                      </p:cBhvr>
                                      <p:to>
                                        <p:strVal val="visible"/>
                                      </p:to>
                                    </p:set>
                                    <p:anim calcmode="lin" valueType="num">
                                      <p:cBhvr additive="base">
                                        <p:cTn id="63" dur="500" fill="hold"/>
                                        <p:tgtEl>
                                          <p:spTgt spid="177"/>
                                        </p:tgtEl>
                                        <p:attrNameLst>
                                          <p:attrName>ppt_x</p:attrName>
                                        </p:attrNameLst>
                                      </p:cBhvr>
                                      <p:tavLst>
                                        <p:tav tm="0">
                                          <p:val>
                                            <p:strVal val="#ppt_x"/>
                                          </p:val>
                                        </p:tav>
                                        <p:tav tm="100000">
                                          <p:val>
                                            <p:strVal val="#ppt_x"/>
                                          </p:val>
                                        </p:tav>
                                      </p:tavLst>
                                    </p:anim>
                                    <p:anim calcmode="lin" valueType="num">
                                      <p:cBhvr additive="base">
                                        <p:cTn id="64" dur="500" fill="hold"/>
                                        <p:tgtEl>
                                          <p:spTgt spid="177"/>
                                        </p:tgtEl>
                                        <p:attrNameLst>
                                          <p:attrName>ppt_y</p:attrName>
                                        </p:attrNameLst>
                                      </p:cBhvr>
                                      <p:tavLst>
                                        <p:tav tm="0">
                                          <p:val>
                                            <p:strVal val="1+#ppt_h/2"/>
                                          </p:val>
                                        </p:tav>
                                        <p:tav tm="100000">
                                          <p:val>
                                            <p:strVal val="#ppt_y"/>
                                          </p:val>
                                        </p:tav>
                                      </p:tavLst>
                                    </p:anim>
                                  </p:childTnLst>
                                </p:cTn>
                              </p:par>
                              <p:par>
                                <p:cTn id="65" presetID="2" presetClass="entr" presetSubtype="4" fill="hold" nodeType="withEffect">
                                  <p:stCondLst>
                                    <p:cond delay="0"/>
                                  </p:stCondLst>
                                  <p:childTnLst>
                                    <p:set>
                                      <p:cBhvr>
                                        <p:cTn id="66" dur="1" fill="hold">
                                          <p:stCondLst>
                                            <p:cond delay="0"/>
                                          </p:stCondLst>
                                        </p:cTn>
                                        <p:tgtEl>
                                          <p:spTgt spid="162"/>
                                        </p:tgtEl>
                                        <p:attrNameLst>
                                          <p:attrName>style.visibility</p:attrName>
                                        </p:attrNameLst>
                                      </p:cBhvr>
                                      <p:to>
                                        <p:strVal val="visible"/>
                                      </p:to>
                                    </p:set>
                                    <p:anim calcmode="lin" valueType="num">
                                      <p:cBhvr additive="base">
                                        <p:cTn id="67" dur="500" fill="hold"/>
                                        <p:tgtEl>
                                          <p:spTgt spid="162"/>
                                        </p:tgtEl>
                                        <p:attrNameLst>
                                          <p:attrName>ppt_x</p:attrName>
                                        </p:attrNameLst>
                                      </p:cBhvr>
                                      <p:tavLst>
                                        <p:tav tm="0">
                                          <p:val>
                                            <p:strVal val="#ppt_x"/>
                                          </p:val>
                                        </p:tav>
                                        <p:tav tm="100000">
                                          <p:val>
                                            <p:strVal val="#ppt_x"/>
                                          </p:val>
                                        </p:tav>
                                      </p:tavLst>
                                    </p:anim>
                                    <p:anim calcmode="lin" valueType="num">
                                      <p:cBhvr additive="base">
                                        <p:cTn id="68" dur="500" fill="hold"/>
                                        <p:tgtEl>
                                          <p:spTgt spid="162"/>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180"/>
                                        </p:tgtEl>
                                        <p:attrNameLst>
                                          <p:attrName>style.visibility</p:attrName>
                                        </p:attrNameLst>
                                      </p:cBhvr>
                                      <p:to>
                                        <p:strVal val="visible"/>
                                      </p:to>
                                    </p:set>
                                    <p:anim calcmode="lin" valueType="num">
                                      <p:cBhvr additive="base">
                                        <p:cTn id="73" dur="500" fill="hold"/>
                                        <p:tgtEl>
                                          <p:spTgt spid="180"/>
                                        </p:tgtEl>
                                        <p:attrNameLst>
                                          <p:attrName>ppt_x</p:attrName>
                                        </p:attrNameLst>
                                      </p:cBhvr>
                                      <p:tavLst>
                                        <p:tav tm="0">
                                          <p:val>
                                            <p:strVal val="#ppt_x"/>
                                          </p:val>
                                        </p:tav>
                                        <p:tav tm="100000">
                                          <p:val>
                                            <p:strVal val="#ppt_x"/>
                                          </p:val>
                                        </p:tav>
                                      </p:tavLst>
                                    </p:anim>
                                    <p:anim calcmode="lin" valueType="num">
                                      <p:cBhvr additive="base">
                                        <p:cTn id="74" dur="500" fill="hold"/>
                                        <p:tgtEl>
                                          <p:spTgt spid="180"/>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198"/>
                                        </p:tgtEl>
                                        <p:attrNameLst>
                                          <p:attrName>style.visibility</p:attrName>
                                        </p:attrNameLst>
                                      </p:cBhvr>
                                      <p:to>
                                        <p:strVal val="visible"/>
                                      </p:to>
                                    </p:set>
                                    <p:anim calcmode="lin" valueType="num">
                                      <p:cBhvr additive="base">
                                        <p:cTn id="77" dur="500" fill="hold"/>
                                        <p:tgtEl>
                                          <p:spTgt spid="198"/>
                                        </p:tgtEl>
                                        <p:attrNameLst>
                                          <p:attrName>ppt_x</p:attrName>
                                        </p:attrNameLst>
                                      </p:cBhvr>
                                      <p:tavLst>
                                        <p:tav tm="0">
                                          <p:val>
                                            <p:strVal val="#ppt_x"/>
                                          </p:val>
                                        </p:tav>
                                        <p:tav tm="100000">
                                          <p:val>
                                            <p:strVal val="#ppt_x"/>
                                          </p:val>
                                        </p:tav>
                                      </p:tavLst>
                                    </p:anim>
                                    <p:anim calcmode="lin" valueType="num">
                                      <p:cBhvr additive="base">
                                        <p:cTn id="78" dur="500" fill="hold"/>
                                        <p:tgtEl>
                                          <p:spTgt spid="198"/>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207"/>
                                        </p:tgtEl>
                                        <p:attrNameLst>
                                          <p:attrName>style.visibility</p:attrName>
                                        </p:attrNameLst>
                                      </p:cBhvr>
                                      <p:to>
                                        <p:strVal val="visible"/>
                                      </p:to>
                                    </p:set>
                                    <p:anim calcmode="lin" valueType="num">
                                      <p:cBhvr additive="base">
                                        <p:cTn id="81" dur="500" fill="hold"/>
                                        <p:tgtEl>
                                          <p:spTgt spid="207"/>
                                        </p:tgtEl>
                                        <p:attrNameLst>
                                          <p:attrName>ppt_x</p:attrName>
                                        </p:attrNameLst>
                                      </p:cBhvr>
                                      <p:tavLst>
                                        <p:tav tm="0">
                                          <p:val>
                                            <p:strVal val="#ppt_x"/>
                                          </p:val>
                                        </p:tav>
                                        <p:tav tm="100000">
                                          <p:val>
                                            <p:strVal val="#ppt_x"/>
                                          </p:val>
                                        </p:tav>
                                      </p:tavLst>
                                    </p:anim>
                                    <p:anim calcmode="lin" valueType="num">
                                      <p:cBhvr additive="base">
                                        <p:cTn id="82" dur="500" fill="hold"/>
                                        <p:tgtEl>
                                          <p:spTgt spid="207"/>
                                        </p:tgtEl>
                                        <p:attrNameLst>
                                          <p:attrName>ppt_y</p:attrName>
                                        </p:attrNameLst>
                                      </p:cBhvr>
                                      <p:tavLst>
                                        <p:tav tm="0">
                                          <p:val>
                                            <p:strVal val="1+#ppt_h/2"/>
                                          </p:val>
                                        </p:tav>
                                        <p:tav tm="100000">
                                          <p:val>
                                            <p:strVal val="#ppt_y"/>
                                          </p:val>
                                        </p:tav>
                                      </p:tavLst>
                                    </p:anim>
                                  </p:childTnLst>
                                </p:cTn>
                              </p:par>
                              <p:par>
                                <p:cTn id="83" presetID="2" presetClass="entr" presetSubtype="4" fill="hold" grpId="0" nodeType="withEffect">
                                  <p:stCondLst>
                                    <p:cond delay="0"/>
                                  </p:stCondLst>
                                  <p:childTnLst>
                                    <p:set>
                                      <p:cBhvr>
                                        <p:cTn id="84" dur="1" fill="hold">
                                          <p:stCondLst>
                                            <p:cond delay="0"/>
                                          </p:stCondLst>
                                        </p:cTn>
                                        <p:tgtEl>
                                          <p:spTgt spid="206"/>
                                        </p:tgtEl>
                                        <p:attrNameLst>
                                          <p:attrName>style.visibility</p:attrName>
                                        </p:attrNameLst>
                                      </p:cBhvr>
                                      <p:to>
                                        <p:strVal val="visible"/>
                                      </p:to>
                                    </p:set>
                                    <p:anim calcmode="lin" valueType="num">
                                      <p:cBhvr additive="base">
                                        <p:cTn id="85" dur="500" fill="hold"/>
                                        <p:tgtEl>
                                          <p:spTgt spid="206"/>
                                        </p:tgtEl>
                                        <p:attrNameLst>
                                          <p:attrName>ppt_x</p:attrName>
                                        </p:attrNameLst>
                                      </p:cBhvr>
                                      <p:tavLst>
                                        <p:tav tm="0">
                                          <p:val>
                                            <p:strVal val="#ppt_x"/>
                                          </p:val>
                                        </p:tav>
                                        <p:tav tm="100000">
                                          <p:val>
                                            <p:strVal val="#ppt_x"/>
                                          </p:val>
                                        </p:tav>
                                      </p:tavLst>
                                    </p:anim>
                                    <p:anim calcmode="lin" valueType="num">
                                      <p:cBhvr additive="base">
                                        <p:cTn id="86" dur="500" fill="hold"/>
                                        <p:tgtEl>
                                          <p:spTgt spid="206"/>
                                        </p:tgtEl>
                                        <p:attrNameLst>
                                          <p:attrName>ppt_y</p:attrName>
                                        </p:attrNameLst>
                                      </p:cBhvr>
                                      <p:tavLst>
                                        <p:tav tm="0">
                                          <p:val>
                                            <p:strVal val="1+#ppt_h/2"/>
                                          </p:val>
                                        </p:tav>
                                        <p:tav tm="100000">
                                          <p:val>
                                            <p:strVal val="#ppt_y"/>
                                          </p:val>
                                        </p:tav>
                                      </p:tavLst>
                                    </p:anim>
                                  </p:childTnLst>
                                </p:cTn>
                              </p:par>
                              <p:par>
                                <p:cTn id="87" presetID="2" presetClass="entr" presetSubtype="4" fill="hold" nodeType="withEffect">
                                  <p:stCondLst>
                                    <p:cond delay="0"/>
                                  </p:stCondLst>
                                  <p:childTnLst>
                                    <p:set>
                                      <p:cBhvr>
                                        <p:cTn id="88" dur="1" fill="hold">
                                          <p:stCondLst>
                                            <p:cond delay="0"/>
                                          </p:stCondLst>
                                        </p:cTn>
                                        <p:tgtEl>
                                          <p:spTgt spid="165"/>
                                        </p:tgtEl>
                                        <p:attrNameLst>
                                          <p:attrName>style.visibility</p:attrName>
                                        </p:attrNameLst>
                                      </p:cBhvr>
                                      <p:to>
                                        <p:strVal val="visible"/>
                                      </p:to>
                                    </p:set>
                                    <p:anim calcmode="lin" valueType="num">
                                      <p:cBhvr additive="base">
                                        <p:cTn id="89" dur="500" fill="hold"/>
                                        <p:tgtEl>
                                          <p:spTgt spid="165"/>
                                        </p:tgtEl>
                                        <p:attrNameLst>
                                          <p:attrName>ppt_x</p:attrName>
                                        </p:attrNameLst>
                                      </p:cBhvr>
                                      <p:tavLst>
                                        <p:tav tm="0">
                                          <p:val>
                                            <p:strVal val="#ppt_x"/>
                                          </p:val>
                                        </p:tav>
                                        <p:tav tm="100000">
                                          <p:val>
                                            <p:strVal val="#ppt_x"/>
                                          </p:val>
                                        </p:tav>
                                      </p:tavLst>
                                    </p:anim>
                                    <p:anim calcmode="lin" valueType="num">
                                      <p:cBhvr additive="base">
                                        <p:cTn id="90" dur="500" fill="hold"/>
                                        <p:tgtEl>
                                          <p:spTgt spid="165"/>
                                        </p:tgtEl>
                                        <p:attrNameLst>
                                          <p:attrName>ppt_y</p:attrName>
                                        </p:attrNameLst>
                                      </p:cBhvr>
                                      <p:tavLst>
                                        <p:tav tm="0">
                                          <p:val>
                                            <p:strVal val="1+#ppt_h/2"/>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2" presetClass="entr" presetSubtype="4" fill="hold" nodeType="clickEffect">
                                  <p:stCondLst>
                                    <p:cond delay="0"/>
                                  </p:stCondLst>
                                  <p:childTnLst>
                                    <p:set>
                                      <p:cBhvr>
                                        <p:cTn id="94" dur="1" fill="hold">
                                          <p:stCondLst>
                                            <p:cond delay="0"/>
                                          </p:stCondLst>
                                        </p:cTn>
                                        <p:tgtEl>
                                          <p:spTgt spid="183"/>
                                        </p:tgtEl>
                                        <p:attrNameLst>
                                          <p:attrName>style.visibility</p:attrName>
                                        </p:attrNameLst>
                                      </p:cBhvr>
                                      <p:to>
                                        <p:strVal val="visible"/>
                                      </p:to>
                                    </p:set>
                                    <p:anim calcmode="lin" valueType="num">
                                      <p:cBhvr additive="base">
                                        <p:cTn id="95" dur="500" fill="hold"/>
                                        <p:tgtEl>
                                          <p:spTgt spid="183"/>
                                        </p:tgtEl>
                                        <p:attrNameLst>
                                          <p:attrName>ppt_x</p:attrName>
                                        </p:attrNameLst>
                                      </p:cBhvr>
                                      <p:tavLst>
                                        <p:tav tm="0">
                                          <p:val>
                                            <p:strVal val="#ppt_x"/>
                                          </p:val>
                                        </p:tav>
                                        <p:tav tm="100000">
                                          <p:val>
                                            <p:strVal val="#ppt_x"/>
                                          </p:val>
                                        </p:tav>
                                      </p:tavLst>
                                    </p:anim>
                                    <p:anim calcmode="lin" valueType="num">
                                      <p:cBhvr additive="base">
                                        <p:cTn id="96" dur="500" fill="hold"/>
                                        <p:tgtEl>
                                          <p:spTgt spid="183"/>
                                        </p:tgtEl>
                                        <p:attrNameLst>
                                          <p:attrName>ppt_y</p:attrName>
                                        </p:attrNameLst>
                                      </p:cBhvr>
                                      <p:tavLst>
                                        <p:tav tm="0">
                                          <p:val>
                                            <p:strVal val="1+#ppt_h/2"/>
                                          </p:val>
                                        </p:tav>
                                        <p:tav tm="100000">
                                          <p:val>
                                            <p:strVal val="#ppt_y"/>
                                          </p:val>
                                        </p:tav>
                                      </p:tavLst>
                                    </p:anim>
                                  </p:childTnLst>
                                </p:cTn>
                              </p:par>
                              <p:par>
                                <p:cTn id="97" presetID="2" presetClass="entr" presetSubtype="4" fill="hold" nodeType="withEffect">
                                  <p:stCondLst>
                                    <p:cond delay="0"/>
                                  </p:stCondLst>
                                  <p:childTnLst>
                                    <p:set>
                                      <p:cBhvr>
                                        <p:cTn id="98" dur="1" fill="hold">
                                          <p:stCondLst>
                                            <p:cond delay="0"/>
                                          </p:stCondLst>
                                        </p:cTn>
                                        <p:tgtEl>
                                          <p:spTgt spid="199"/>
                                        </p:tgtEl>
                                        <p:attrNameLst>
                                          <p:attrName>style.visibility</p:attrName>
                                        </p:attrNameLst>
                                      </p:cBhvr>
                                      <p:to>
                                        <p:strVal val="visible"/>
                                      </p:to>
                                    </p:set>
                                    <p:anim calcmode="lin" valueType="num">
                                      <p:cBhvr additive="base">
                                        <p:cTn id="99" dur="500" fill="hold"/>
                                        <p:tgtEl>
                                          <p:spTgt spid="199"/>
                                        </p:tgtEl>
                                        <p:attrNameLst>
                                          <p:attrName>ppt_x</p:attrName>
                                        </p:attrNameLst>
                                      </p:cBhvr>
                                      <p:tavLst>
                                        <p:tav tm="0">
                                          <p:val>
                                            <p:strVal val="#ppt_x"/>
                                          </p:val>
                                        </p:tav>
                                        <p:tav tm="100000">
                                          <p:val>
                                            <p:strVal val="#ppt_x"/>
                                          </p:val>
                                        </p:tav>
                                      </p:tavLst>
                                    </p:anim>
                                    <p:anim calcmode="lin" valueType="num">
                                      <p:cBhvr additive="base">
                                        <p:cTn id="100" dur="500" fill="hold"/>
                                        <p:tgtEl>
                                          <p:spTgt spid="199"/>
                                        </p:tgtEl>
                                        <p:attrNameLst>
                                          <p:attrName>ppt_y</p:attrName>
                                        </p:attrNameLst>
                                      </p:cBhvr>
                                      <p:tavLst>
                                        <p:tav tm="0">
                                          <p:val>
                                            <p:strVal val="1+#ppt_h/2"/>
                                          </p:val>
                                        </p:tav>
                                        <p:tav tm="100000">
                                          <p:val>
                                            <p:strVal val="#ppt_y"/>
                                          </p:val>
                                        </p:tav>
                                      </p:tavLst>
                                    </p:anim>
                                  </p:childTnLst>
                                </p:cTn>
                              </p:par>
                              <p:par>
                                <p:cTn id="101" presetID="2" presetClass="entr" presetSubtype="4" fill="hold" nodeType="withEffect">
                                  <p:stCondLst>
                                    <p:cond delay="0"/>
                                  </p:stCondLst>
                                  <p:childTnLst>
                                    <p:set>
                                      <p:cBhvr>
                                        <p:cTn id="102" dur="1" fill="hold">
                                          <p:stCondLst>
                                            <p:cond delay="0"/>
                                          </p:stCondLst>
                                        </p:cTn>
                                        <p:tgtEl>
                                          <p:spTgt spid="168"/>
                                        </p:tgtEl>
                                        <p:attrNameLst>
                                          <p:attrName>style.visibility</p:attrName>
                                        </p:attrNameLst>
                                      </p:cBhvr>
                                      <p:to>
                                        <p:strVal val="visible"/>
                                      </p:to>
                                    </p:set>
                                    <p:anim calcmode="lin" valueType="num">
                                      <p:cBhvr additive="base">
                                        <p:cTn id="103" dur="500" fill="hold"/>
                                        <p:tgtEl>
                                          <p:spTgt spid="168"/>
                                        </p:tgtEl>
                                        <p:attrNameLst>
                                          <p:attrName>ppt_x</p:attrName>
                                        </p:attrNameLst>
                                      </p:cBhvr>
                                      <p:tavLst>
                                        <p:tav tm="0">
                                          <p:val>
                                            <p:strVal val="#ppt_x"/>
                                          </p:val>
                                        </p:tav>
                                        <p:tav tm="100000">
                                          <p:val>
                                            <p:strVal val="#ppt_x"/>
                                          </p:val>
                                        </p:tav>
                                      </p:tavLst>
                                    </p:anim>
                                    <p:anim calcmode="lin" valueType="num">
                                      <p:cBhvr additive="base">
                                        <p:cTn id="104" dur="500" fill="hold"/>
                                        <p:tgtEl>
                                          <p:spTgt spid="168"/>
                                        </p:tgtEl>
                                        <p:attrNameLst>
                                          <p:attrName>ppt_y</p:attrName>
                                        </p:attrNameLst>
                                      </p:cBhvr>
                                      <p:tavLst>
                                        <p:tav tm="0">
                                          <p:val>
                                            <p:strVal val="1+#ppt_h/2"/>
                                          </p:val>
                                        </p:tav>
                                        <p:tav tm="100000">
                                          <p:val>
                                            <p:strVal val="#ppt_y"/>
                                          </p:val>
                                        </p:tav>
                                      </p:tavLst>
                                    </p:anim>
                                  </p:childTnLst>
                                </p:cTn>
                              </p:par>
                              <p:par>
                                <p:cTn id="105" presetID="2" presetClass="entr" presetSubtype="4" fill="hold" grpId="0" nodeType="withEffect">
                                  <p:stCondLst>
                                    <p:cond delay="0"/>
                                  </p:stCondLst>
                                  <p:childTnLst>
                                    <p:set>
                                      <p:cBhvr>
                                        <p:cTn id="106" dur="1" fill="hold">
                                          <p:stCondLst>
                                            <p:cond delay="0"/>
                                          </p:stCondLst>
                                        </p:cTn>
                                        <p:tgtEl>
                                          <p:spTgt spid="209"/>
                                        </p:tgtEl>
                                        <p:attrNameLst>
                                          <p:attrName>style.visibility</p:attrName>
                                        </p:attrNameLst>
                                      </p:cBhvr>
                                      <p:to>
                                        <p:strVal val="visible"/>
                                      </p:to>
                                    </p:set>
                                    <p:anim calcmode="lin" valueType="num">
                                      <p:cBhvr additive="base">
                                        <p:cTn id="107" dur="500" fill="hold"/>
                                        <p:tgtEl>
                                          <p:spTgt spid="209"/>
                                        </p:tgtEl>
                                        <p:attrNameLst>
                                          <p:attrName>ppt_x</p:attrName>
                                        </p:attrNameLst>
                                      </p:cBhvr>
                                      <p:tavLst>
                                        <p:tav tm="0">
                                          <p:val>
                                            <p:strVal val="#ppt_x"/>
                                          </p:val>
                                        </p:tav>
                                        <p:tav tm="100000">
                                          <p:val>
                                            <p:strVal val="#ppt_x"/>
                                          </p:val>
                                        </p:tav>
                                      </p:tavLst>
                                    </p:anim>
                                    <p:anim calcmode="lin" valueType="num">
                                      <p:cBhvr additive="base">
                                        <p:cTn id="108" dur="500" fill="hold"/>
                                        <p:tgtEl>
                                          <p:spTgt spid="209"/>
                                        </p:tgtEl>
                                        <p:attrNameLst>
                                          <p:attrName>ppt_y</p:attrName>
                                        </p:attrNameLst>
                                      </p:cBhvr>
                                      <p:tavLst>
                                        <p:tav tm="0">
                                          <p:val>
                                            <p:strVal val="1+#ppt_h/2"/>
                                          </p:val>
                                        </p:tav>
                                        <p:tav tm="100000">
                                          <p:val>
                                            <p:strVal val="#ppt_y"/>
                                          </p:val>
                                        </p:tav>
                                      </p:tavLst>
                                    </p:anim>
                                  </p:childTnLst>
                                </p:cTn>
                              </p:par>
                              <p:par>
                                <p:cTn id="109" presetID="2" presetClass="entr" presetSubtype="4" fill="hold" grpId="0" nodeType="withEffect">
                                  <p:stCondLst>
                                    <p:cond delay="0"/>
                                  </p:stCondLst>
                                  <p:childTnLst>
                                    <p:set>
                                      <p:cBhvr>
                                        <p:cTn id="110" dur="1" fill="hold">
                                          <p:stCondLst>
                                            <p:cond delay="0"/>
                                          </p:stCondLst>
                                        </p:cTn>
                                        <p:tgtEl>
                                          <p:spTgt spid="208"/>
                                        </p:tgtEl>
                                        <p:attrNameLst>
                                          <p:attrName>style.visibility</p:attrName>
                                        </p:attrNameLst>
                                      </p:cBhvr>
                                      <p:to>
                                        <p:strVal val="visible"/>
                                      </p:to>
                                    </p:set>
                                    <p:anim calcmode="lin" valueType="num">
                                      <p:cBhvr additive="base">
                                        <p:cTn id="111" dur="500" fill="hold"/>
                                        <p:tgtEl>
                                          <p:spTgt spid="208"/>
                                        </p:tgtEl>
                                        <p:attrNameLst>
                                          <p:attrName>ppt_x</p:attrName>
                                        </p:attrNameLst>
                                      </p:cBhvr>
                                      <p:tavLst>
                                        <p:tav tm="0">
                                          <p:val>
                                            <p:strVal val="#ppt_x"/>
                                          </p:val>
                                        </p:tav>
                                        <p:tav tm="100000">
                                          <p:val>
                                            <p:strVal val="#ppt_x"/>
                                          </p:val>
                                        </p:tav>
                                      </p:tavLst>
                                    </p:anim>
                                    <p:anim calcmode="lin" valueType="num">
                                      <p:cBhvr additive="base">
                                        <p:cTn id="112" dur="500" fill="hold"/>
                                        <p:tgtEl>
                                          <p:spTgt spid="208"/>
                                        </p:tgtEl>
                                        <p:attrNameLst>
                                          <p:attrName>ppt_y</p:attrName>
                                        </p:attrNameLst>
                                      </p:cBhvr>
                                      <p:tavLst>
                                        <p:tav tm="0">
                                          <p:val>
                                            <p:strVal val="1+#ppt_h/2"/>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 presetClass="entr" presetSubtype="4" fill="hold" nodeType="clickEffect">
                                  <p:stCondLst>
                                    <p:cond delay="0"/>
                                  </p:stCondLst>
                                  <p:childTnLst>
                                    <p:set>
                                      <p:cBhvr>
                                        <p:cTn id="116" dur="1" fill="hold">
                                          <p:stCondLst>
                                            <p:cond delay="0"/>
                                          </p:stCondLst>
                                        </p:cTn>
                                        <p:tgtEl>
                                          <p:spTgt spid="200"/>
                                        </p:tgtEl>
                                        <p:attrNameLst>
                                          <p:attrName>style.visibility</p:attrName>
                                        </p:attrNameLst>
                                      </p:cBhvr>
                                      <p:to>
                                        <p:strVal val="visible"/>
                                      </p:to>
                                    </p:set>
                                    <p:anim calcmode="lin" valueType="num">
                                      <p:cBhvr additive="base">
                                        <p:cTn id="117" dur="500" fill="hold"/>
                                        <p:tgtEl>
                                          <p:spTgt spid="200"/>
                                        </p:tgtEl>
                                        <p:attrNameLst>
                                          <p:attrName>ppt_x</p:attrName>
                                        </p:attrNameLst>
                                      </p:cBhvr>
                                      <p:tavLst>
                                        <p:tav tm="0">
                                          <p:val>
                                            <p:strVal val="#ppt_x"/>
                                          </p:val>
                                        </p:tav>
                                        <p:tav tm="100000">
                                          <p:val>
                                            <p:strVal val="#ppt_x"/>
                                          </p:val>
                                        </p:tav>
                                      </p:tavLst>
                                    </p:anim>
                                    <p:anim calcmode="lin" valueType="num">
                                      <p:cBhvr additive="base">
                                        <p:cTn id="118" dur="500" fill="hold"/>
                                        <p:tgtEl>
                                          <p:spTgt spid="200"/>
                                        </p:tgtEl>
                                        <p:attrNameLst>
                                          <p:attrName>ppt_y</p:attrName>
                                        </p:attrNameLst>
                                      </p:cBhvr>
                                      <p:tavLst>
                                        <p:tav tm="0">
                                          <p:val>
                                            <p:strVal val="1+#ppt_h/2"/>
                                          </p:val>
                                        </p:tav>
                                        <p:tav tm="100000">
                                          <p:val>
                                            <p:strVal val="#ppt_y"/>
                                          </p:val>
                                        </p:tav>
                                      </p:tavLst>
                                    </p:anim>
                                  </p:childTnLst>
                                </p:cTn>
                              </p:par>
                              <p:par>
                                <p:cTn id="119" presetID="2" presetClass="entr" presetSubtype="4" fill="hold" nodeType="withEffect">
                                  <p:stCondLst>
                                    <p:cond delay="0"/>
                                  </p:stCondLst>
                                  <p:childTnLst>
                                    <p:set>
                                      <p:cBhvr>
                                        <p:cTn id="120" dur="1" fill="hold">
                                          <p:stCondLst>
                                            <p:cond delay="0"/>
                                          </p:stCondLst>
                                        </p:cTn>
                                        <p:tgtEl>
                                          <p:spTgt spid="186"/>
                                        </p:tgtEl>
                                        <p:attrNameLst>
                                          <p:attrName>style.visibility</p:attrName>
                                        </p:attrNameLst>
                                      </p:cBhvr>
                                      <p:to>
                                        <p:strVal val="visible"/>
                                      </p:to>
                                    </p:set>
                                    <p:anim calcmode="lin" valueType="num">
                                      <p:cBhvr additive="base">
                                        <p:cTn id="121" dur="500" fill="hold"/>
                                        <p:tgtEl>
                                          <p:spTgt spid="186"/>
                                        </p:tgtEl>
                                        <p:attrNameLst>
                                          <p:attrName>ppt_x</p:attrName>
                                        </p:attrNameLst>
                                      </p:cBhvr>
                                      <p:tavLst>
                                        <p:tav tm="0">
                                          <p:val>
                                            <p:strVal val="#ppt_x"/>
                                          </p:val>
                                        </p:tav>
                                        <p:tav tm="100000">
                                          <p:val>
                                            <p:strVal val="#ppt_x"/>
                                          </p:val>
                                        </p:tav>
                                      </p:tavLst>
                                    </p:anim>
                                    <p:anim calcmode="lin" valueType="num">
                                      <p:cBhvr additive="base">
                                        <p:cTn id="122" dur="500" fill="hold"/>
                                        <p:tgtEl>
                                          <p:spTgt spid="186"/>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211"/>
                                        </p:tgtEl>
                                        <p:attrNameLst>
                                          <p:attrName>style.visibility</p:attrName>
                                        </p:attrNameLst>
                                      </p:cBhvr>
                                      <p:to>
                                        <p:strVal val="visible"/>
                                      </p:to>
                                    </p:set>
                                    <p:anim calcmode="lin" valueType="num">
                                      <p:cBhvr additive="base">
                                        <p:cTn id="125" dur="500" fill="hold"/>
                                        <p:tgtEl>
                                          <p:spTgt spid="211"/>
                                        </p:tgtEl>
                                        <p:attrNameLst>
                                          <p:attrName>ppt_x</p:attrName>
                                        </p:attrNameLst>
                                      </p:cBhvr>
                                      <p:tavLst>
                                        <p:tav tm="0">
                                          <p:val>
                                            <p:strVal val="#ppt_x"/>
                                          </p:val>
                                        </p:tav>
                                        <p:tav tm="100000">
                                          <p:val>
                                            <p:strVal val="#ppt_x"/>
                                          </p:val>
                                        </p:tav>
                                      </p:tavLst>
                                    </p:anim>
                                    <p:anim calcmode="lin" valueType="num">
                                      <p:cBhvr additive="base">
                                        <p:cTn id="126" dur="500" fill="hold"/>
                                        <p:tgtEl>
                                          <p:spTgt spid="211"/>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210"/>
                                        </p:tgtEl>
                                        <p:attrNameLst>
                                          <p:attrName>style.visibility</p:attrName>
                                        </p:attrNameLst>
                                      </p:cBhvr>
                                      <p:to>
                                        <p:strVal val="visible"/>
                                      </p:to>
                                    </p:set>
                                    <p:anim calcmode="lin" valueType="num">
                                      <p:cBhvr additive="base">
                                        <p:cTn id="129" dur="500" fill="hold"/>
                                        <p:tgtEl>
                                          <p:spTgt spid="210"/>
                                        </p:tgtEl>
                                        <p:attrNameLst>
                                          <p:attrName>ppt_x</p:attrName>
                                        </p:attrNameLst>
                                      </p:cBhvr>
                                      <p:tavLst>
                                        <p:tav tm="0">
                                          <p:val>
                                            <p:strVal val="#ppt_x"/>
                                          </p:val>
                                        </p:tav>
                                        <p:tav tm="100000">
                                          <p:val>
                                            <p:strVal val="#ppt_x"/>
                                          </p:val>
                                        </p:tav>
                                      </p:tavLst>
                                    </p:anim>
                                    <p:anim calcmode="lin" valueType="num">
                                      <p:cBhvr additive="base">
                                        <p:cTn id="130" dur="500" fill="hold"/>
                                        <p:tgtEl>
                                          <p:spTgt spid="210"/>
                                        </p:tgtEl>
                                        <p:attrNameLst>
                                          <p:attrName>ppt_y</p:attrName>
                                        </p:attrNameLst>
                                      </p:cBhvr>
                                      <p:tavLst>
                                        <p:tav tm="0">
                                          <p:val>
                                            <p:strVal val="1+#ppt_h/2"/>
                                          </p:val>
                                        </p:tav>
                                        <p:tav tm="100000">
                                          <p:val>
                                            <p:strVal val="#ppt_y"/>
                                          </p:val>
                                        </p:tav>
                                      </p:tavLst>
                                    </p:anim>
                                  </p:childTnLst>
                                </p:cTn>
                              </p:par>
                              <p:par>
                                <p:cTn id="131" presetID="2" presetClass="entr" presetSubtype="4" fill="hold" nodeType="withEffect">
                                  <p:stCondLst>
                                    <p:cond delay="0"/>
                                  </p:stCondLst>
                                  <p:childTnLst>
                                    <p:set>
                                      <p:cBhvr>
                                        <p:cTn id="132" dur="1" fill="hold">
                                          <p:stCondLst>
                                            <p:cond delay="0"/>
                                          </p:stCondLst>
                                        </p:cTn>
                                        <p:tgtEl>
                                          <p:spTgt spid="171"/>
                                        </p:tgtEl>
                                        <p:attrNameLst>
                                          <p:attrName>style.visibility</p:attrName>
                                        </p:attrNameLst>
                                      </p:cBhvr>
                                      <p:to>
                                        <p:strVal val="visible"/>
                                      </p:to>
                                    </p:set>
                                    <p:anim calcmode="lin" valueType="num">
                                      <p:cBhvr additive="base">
                                        <p:cTn id="133" dur="500" fill="hold"/>
                                        <p:tgtEl>
                                          <p:spTgt spid="171"/>
                                        </p:tgtEl>
                                        <p:attrNameLst>
                                          <p:attrName>ppt_x</p:attrName>
                                        </p:attrNameLst>
                                      </p:cBhvr>
                                      <p:tavLst>
                                        <p:tav tm="0">
                                          <p:val>
                                            <p:strVal val="#ppt_x"/>
                                          </p:val>
                                        </p:tav>
                                        <p:tav tm="100000">
                                          <p:val>
                                            <p:strVal val="#ppt_x"/>
                                          </p:val>
                                        </p:tav>
                                      </p:tavLst>
                                    </p:anim>
                                    <p:anim calcmode="lin" valueType="num">
                                      <p:cBhvr additive="base">
                                        <p:cTn id="134" dur="500" fill="hold"/>
                                        <p:tgtEl>
                                          <p:spTgt spid="171"/>
                                        </p:tgtEl>
                                        <p:attrNameLst>
                                          <p:attrName>ppt_y</p:attrName>
                                        </p:attrNameLst>
                                      </p:cBhvr>
                                      <p:tavLst>
                                        <p:tav tm="0">
                                          <p:val>
                                            <p:strVal val="1+#ppt_h/2"/>
                                          </p:val>
                                        </p:tav>
                                        <p:tav tm="100000">
                                          <p:val>
                                            <p:strVal val="#ppt_y"/>
                                          </p:val>
                                        </p:tav>
                                      </p:tavLst>
                                    </p:anim>
                                  </p:childTnLst>
                                </p:cTn>
                              </p:par>
                            </p:childTnLst>
                          </p:cTn>
                        </p:par>
                      </p:childTnLst>
                    </p:cTn>
                  </p:par>
                  <p:par>
                    <p:cTn id="135" fill="hold">
                      <p:stCondLst>
                        <p:cond delay="indefinite"/>
                      </p:stCondLst>
                      <p:childTnLst>
                        <p:par>
                          <p:cTn id="136" fill="hold">
                            <p:stCondLst>
                              <p:cond delay="0"/>
                            </p:stCondLst>
                            <p:childTnLst>
                              <p:par>
                                <p:cTn id="137" presetID="2" presetClass="entr" presetSubtype="4" fill="hold" nodeType="clickEffect">
                                  <p:stCondLst>
                                    <p:cond delay="0"/>
                                  </p:stCondLst>
                                  <p:childTnLst>
                                    <p:set>
                                      <p:cBhvr>
                                        <p:cTn id="138" dur="1" fill="hold">
                                          <p:stCondLst>
                                            <p:cond delay="0"/>
                                          </p:stCondLst>
                                        </p:cTn>
                                        <p:tgtEl>
                                          <p:spTgt spid="193"/>
                                        </p:tgtEl>
                                        <p:attrNameLst>
                                          <p:attrName>style.visibility</p:attrName>
                                        </p:attrNameLst>
                                      </p:cBhvr>
                                      <p:to>
                                        <p:strVal val="visible"/>
                                      </p:to>
                                    </p:set>
                                    <p:anim calcmode="lin" valueType="num">
                                      <p:cBhvr additive="base">
                                        <p:cTn id="139" dur="500" fill="hold"/>
                                        <p:tgtEl>
                                          <p:spTgt spid="193"/>
                                        </p:tgtEl>
                                        <p:attrNameLst>
                                          <p:attrName>ppt_x</p:attrName>
                                        </p:attrNameLst>
                                      </p:cBhvr>
                                      <p:tavLst>
                                        <p:tav tm="0">
                                          <p:val>
                                            <p:strVal val="#ppt_x"/>
                                          </p:val>
                                        </p:tav>
                                        <p:tav tm="100000">
                                          <p:val>
                                            <p:strVal val="#ppt_x"/>
                                          </p:val>
                                        </p:tav>
                                      </p:tavLst>
                                    </p:anim>
                                    <p:anim calcmode="lin" valueType="num">
                                      <p:cBhvr additive="base">
                                        <p:cTn id="140" dur="500" fill="hold"/>
                                        <p:tgtEl>
                                          <p:spTgt spid="193"/>
                                        </p:tgtEl>
                                        <p:attrNameLst>
                                          <p:attrName>ppt_y</p:attrName>
                                        </p:attrNameLst>
                                      </p:cBhvr>
                                      <p:tavLst>
                                        <p:tav tm="0">
                                          <p:val>
                                            <p:strVal val="1+#ppt_h/2"/>
                                          </p:val>
                                        </p:tav>
                                        <p:tav tm="100000">
                                          <p:val>
                                            <p:strVal val="#ppt_y"/>
                                          </p:val>
                                        </p:tav>
                                      </p:tavLst>
                                    </p:anim>
                                  </p:childTnLst>
                                </p:cTn>
                              </p:par>
                              <p:par>
                                <p:cTn id="141" presetID="2" presetClass="entr" presetSubtype="4" fill="hold" nodeType="withEffect">
                                  <p:stCondLst>
                                    <p:cond delay="0"/>
                                  </p:stCondLst>
                                  <p:childTnLst>
                                    <p:set>
                                      <p:cBhvr>
                                        <p:cTn id="142" dur="1" fill="hold">
                                          <p:stCondLst>
                                            <p:cond delay="0"/>
                                          </p:stCondLst>
                                        </p:cTn>
                                        <p:tgtEl>
                                          <p:spTgt spid="201"/>
                                        </p:tgtEl>
                                        <p:attrNameLst>
                                          <p:attrName>style.visibility</p:attrName>
                                        </p:attrNameLst>
                                      </p:cBhvr>
                                      <p:to>
                                        <p:strVal val="visible"/>
                                      </p:to>
                                    </p:set>
                                    <p:anim calcmode="lin" valueType="num">
                                      <p:cBhvr additive="base">
                                        <p:cTn id="143" dur="500" fill="hold"/>
                                        <p:tgtEl>
                                          <p:spTgt spid="201"/>
                                        </p:tgtEl>
                                        <p:attrNameLst>
                                          <p:attrName>ppt_x</p:attrName>
                                        </p:attrNameLst>
                                      </p:cBhvr>
                                      <p:tavLst>
                                        <p:tav tm="0">
                                          <p:val>
                                            <p:strVal val="#ppt_x"/>
                                          </p:val>
                                        </p:tav>
                                        <p:tav tm="100000">
                                          <p:val>
                                            <p:strVal val="#ppt_x"/>
                                          </p:val>
                                        </p:tav>
                                      </p:tavLst>
                                    </p:anim>
                                    <p:anim calcmode="lin" valueType="num">
                                      <p:cBhvr additive="base">
                                        <p:cTn id="144" dur="500" fill="hold"/>
                                        <p:tgtEl>
                                          <p:spTgt spid="201"/>
                                        </p:tgtEl>
                                        <p:attrNameLst>
                                          <p:attrName>ppt_y</p:attrName>
                                        </p:attrNameLst>
                                      </p:cBhvr>
                                      <p:tavLst>
                                        <p:tav tm="0">
                                          <p:val>
                                            <p:strVal val="1+#ppt_h/2"/>
                                          </p:val>
                                        </p:tav>
                                        <p:tav tm="100000">
                                          <p:val>
                                            <p:strVal val="#ppt_y"/>
                                          </p:val>
                                        </p:tav>
                                      </p:tavLst>
                                    </p:anim>
                                  </p:childTnLst>
                                </p:cTn>
                              </p:par>
                              <p:par>
                                <p:cTn id="145" presetID="2" presetClass="entr" presetSubtype="4" fill="hold" grpId="0" nodeType="withEffect">
                                  <p:stCondLst>
                                    <p:cond delay="0"/>
                                  </p:stCondLst>
                                  <p:childTnLst>
                                    <p:set>
                                      <p:cBhvr>
                                        <p:cTn id="146" dur="1" fill="hold">
                                          <p:stCondLst>
                                            <p:cond delay="0"/>
                                          </p:stCondLst>
                                        </p:cTn>
                                        <p:tgtEl>
                                          <p:spTgt spid="213"/>
                                        </p:tgtEl>
                                        <p:attrNameLst>
                                          <p:attrName>style.visibility</p:attrName>
                                        </p:attrNameLst>
                                      </p:cBhvr>
                                      <p:to>
                                        <p:strVal val="visible"/>
                                      </p:to>
                                    </p:set>
                                    <p:anim calcmode="lin" valueType="num">
                                      <p:cBhvr additive="base">
                                        <p:cTn id="147" dur="500" fill="hold"/>
                                        <p:tgtEl>
                                          <p:spTgt spid="213"/>
                                        </p:tgtEl>
                                        <p:attrNameLst>
                                          <p:attrName>ppt_x</p:attrName>
                                        </p:attrNameLst>
                                      </p:cBhvr>
                                      <p:tavLst>
                                        <p:tav tm="0">
                                          <p:val>
                                            <p:strVal val="#ppt_x"/>
                                          </p:val>
                                        </p:tav>
                                        <p:tav tm="100000">
                                          <p:val>
                                            <p:strVal val="#ppt_x"/>
                                          </p:val>
                                        </p:tav>
                                      </p:tavLst>
                                    </p:anim>
                                    <p:anim calcmode="lin" valueType="num">
                                      <p:cBhvr additive="base">
                                        <p:cTn id="148" dur="500" fill="hold"/>
                                        <p:tgtEl>
                                          <p:spTgt spid="213"/>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212"/>
                                        </p:tgtEl>
                                        <p:attrNameLst>
                                          <p:attrName>style.visibility</p:attrName>
                                        </p:attrNameLst>
                                      </p:cBhvr>
                                      <p:to>
                                        <p:strVal val="visible"/>
                                      </p:to>
                                    </p:set>
                                    <p:anim calcmode="lin" valueType="num">
                                      <p:cBhvr additive="base">
                                        <p:cTn id="151" dur="500" fill="hold"/>
                                        <p:tgtEl>
                                          <p:spTgt spid="212"/>
                                        </p:tgtEl>
                                        <p:attrNameLst>
                                          <p:attrName>ppt_x</p:attrName>
                                        </p:attrNameLst>
                                      </p:cBhvr>
                                      <p:tavLst>
                                        <p:tav tm="0">
                                          <p:val>
                                            <p:strVal val="#ppt_x"/>
                                          </p:val>
                                        </p:tav>
                                        <p:tav tm="100000">
                                          <p:val>
                                            <p:strVal val="#ppt_x"/>
                                          </p:val>
                                        </p:tav>
                                      </p:tavLst>
                                    </p:anim>
                                    <p:anim calcmode="lin" valueType="num">
                                      <p:cBhvr additive="base">
                                        <p:cTn id="152" dur="500" fill="hold"/>
                                        <p:tgtEl>
                                          <p:spTgt spid="212"/>
                                        </p:tgtEl>
                                        <p:attrNameLst>
                                          <p:attrName>ppt_y</p:attrName>
                                        </p:attrNameLst>
                                      </p:cBhvr>
                                      <p:tavLst>
                                        <p:tav tm="0">
                                          <p:val>
                                            <p:strVal val="1+#ppt_h/2"/>
                                          </p:val>
                                        </p:tav>
                                        <p:tav tm="100000">
                                          <p:val>
                                            <p:strVal val="#ppt_y"/>
                                          </p:val>
                                        </p:tav>
                                      </p:tavLst>
                                    </p:anim>
                                  </p:childTnLst>
                                </p:cTn>
                              </p:par>
                              <p:par>
                                <p:cTn id="153" presetID="2" presetClass="entr" presetSubtype="4" fill="hold" nodeType="withEffect">
                                  <p:stCondLst>
                                    <p:cond delay="0"/>
                                  </p:stCondLst>
                                  <p:childTnLst>
                                    <p:set>
                                      <p:cBhvr>
                                        <p:cTn id="154" dur="1" fill="hold">
                                          <p:stCondLst>
                                            <p:cond delay="0"/>
                                          </p:stCondLst>
                                        </p:cTn>
                                        <p:tgtEl>
                                          <p:spTgt spid="190"/>
                                        </p:tgtEl>
                                        <p:attrNameLst>
                                          <p:attrName>style.visibility</p:attrName>
                                        </p:attrNameLst>
                                      </p:cBhvr>
                                      <p:to>
                                        <p:strVal val="visible"/>
                                      </p:to>
                                    </p:set>
                                    <p:anim calcmode="lin" valueType="num">
                                      <p:cBhvr additive="base">
                                        <p:cTn id="155" dur="500" fill="hold"/>
                                        <p:tgtEl>
                                          <p:spTgt spid="190"/>
                                        </p:tgtEl>
                                        <p:attrNameLst>
                                          <p:attrName>ppt_x</p:attrName>
                                        </p:attrNameLst>
                                      </p:cBhvr>
                                      <p:tavLst>
                                        <p:tav tm="0">
                                          <p:val>
                                            <p:strVal val="#ppt_x"/>
                                          </p:val>
                                        </p:tav>
                                        <p:tav tm="100000">
                                          <p:val>
                                            <p:strVal val="#ppt_x"/>
                                          </p:val>
                                        </p:tav>
                                      </p:tavLst>
                                    </p:anim>
                                    <p:anim calcmode="lin" valueType="num">
                                      <p:cBhvr additive="base">
                                        <p:cTn id="156" dur="500" fill="hold"/>
                                        <p:tgtEl>
                                          <p:spTgt spid="19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p:bldP spid="202" grpId="1"/>
      <p:bldP spid="203" grpId="0"/>
      <p:bldP spid="203" grpId="1"/>
      <p:bldP spid="204" grpId="0"/>
      <p:bldP spid="205" grpId="0"/>
      <p:bldP spid="206" grpId="0"/>
      <p:bldP spid="207" grpId="0"/>
      <p:bldP spid="208" grpId="0"/>
      <p:bldP spid="209" grpId="0"/>
      <p:bldP spid="210" grpId="0"/>
      <p:bldP spid="211" grpId="0"/>
      <p:bldP spid="212" grpId="0"/>
      <p:bldP spid="2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5080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10" name="Isosceles Triangle 9">
            <a:extLst>
              <a:ext uri="{FF2B5EF4-FFF2-40B4-BE49-F238E27FC236}">
                <a16:creationId xmlns:a16="http://schemas.microsoft.com/office/drawing/2014/main" id="{709D209E-827B-4D05-AF40-9CDA368833AE}"/>
              </a:ext>
            </a:extLst>
          </p:cNvPr>
          <p:cNvSpPr/>
          <p:nvPr/>
        </p:nvSpPr>
        <p:spPr>
          <a:xfrm>
            <a:off x="376404" y="938725"/>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smtClean="0"/>
              <a:t>Contexte </a:t>
            </a:r>
            <a:r>
              <a:rPr lang="fr-FR" sz="2400" dirty="0"/>
              <a:t>&amp; Problématique</a:t>
            </a:r>
            <a:endParaRPr lang="fr-MA" sz="2400" dirty="0"/>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92" name="Freeform 2"/>
          <p:cNvSpPr/>
          <p:nvPr/>
        </p:nvSpPr>
        <p:spPr>
          <a:xfrm>
            <a:off x="2384462" y="3089804"/>
            <a:ext cx="6334514" cy="938081"/>
          </a:xfrm>
          <a:custGeom>
            <a:avLst/>
            <a:gdLst/>
            <a:ahLst/>
            <a:cxnLst/>
            <a:rect l="l" t="t" r="r" b="b"/>
            <a:pathLst>
              <a:path w="6334514" h="938081">
                <a:moveTo>
                  <a:pt x="0" y="0"/>
                </a:moveTo>
                <a:lnTo>
                  <a:pt x="6334513" y="0"/>
                </a:lnTo>
                <a:lnTo>
                  <a:pt x="6334513" y="938081"/>
                </a:lnTo>
                <a:lnTo>
                  <a:pt x="0" y="938081"/>
                </a:lnTo>
                <a:lnTo>
                  <a:pt x="0" y="0"/>
                </a:lnTo>
                <a:close/>
              </a:path>
            </a:pathLst>
          </a:custGeom>
          <a:blipFill>
            <a:blip r:embed="rId4">
              <a:alphaModFix amt="37000"/>
              <a:extLst>
                <a:ext uri="{96DAC541-7B7A-43D3-8B79-37D633B846F1}">
                  <asvg:svgBlip xmlns:asvg="http://schemas.microsoft.com/office/drawing/2016/SVG/main" xmlns="" r:embed="rId5"/>
                </a:ext>
              </a:extLst>
            </a:blip>
            <a:stretch>
              <a:fillRect t="-285743"/>
            </a:stretch>
          </a:blipFill>
        </p:spPr>
      </p:sp>
      <p:grpSp>
        <p:nvGrpSpPr>
          <p:cNvPr id="93" name="Group 3"/>
          <p:cNvGrpSpPr/>
          <p:nvPr/>
        </p:nvGrpSpPr>
        <p:grpSpPr>
          <a:xfrm>
            <a:off x="2073907" y="2372828"/>
            <a:ext cx="7070093" cy="995516"/>
            <a:chOff x="0" y="0"/>
            <a:chExt cx="4960703" cy="698500"/>
          </a:xfrm>
        </p:grpSpPr>
        <p:sp>
          <p:nvSpPr>
            <p:cNvPr id="94" name="Freeform 4"/>
            <p:cNvSpPr/>
            <p:nvPr/>
          </p:nvSpPr>
          <p:spPr>
            <a:xfrm>
              <a:off x="0" y="0"/>
              <a:ext cx="4960703" cy="698500"/>
            </a:xfrm>
            <a:custGeom>
              <a:avLst/>
              <a:gdLst/>
              <a:ahLst/>
              <a:cxnLst/>
              <a:rect l="l" t="t" r="r" b="b"/>
              <a:pathLst>
                <a:path w="4960703" h="698500">
                  <a:moveTo>
                    <a:pt x="4960703" y="349250"/>
                  </a:moveTo>
                  <a:lnTo>
                    <a:pt x="4757503" y="698500"/>
                  </a:lnTo>
                  <a:lnTo>
                    <a:pt x="203200" y="698500"/>
                  </a:lnTo>
                  <a:lnTo>
                    <a:pt x="0" y="349250"/>
                  </a:lnTo>
                  <a:lnTo>
                    <a:pt x="203200" y="0"/>
                  </a:lnTo>
                  <a:lnTo>
                    <a:pt x="4757503" y="0"/>
                  </a:lnTo>
                  <a:lnTo>
                    <a:pt x="4960703" y="349250"/>
                  </a:lnTo>
                  <a:close/>
                </a:path>
              </a:pathLst>
            </a:custGeom>
            <a:solidFill>
              <a:srgbClr val="C51C1C"/>
            </a:solidFill>
          </p:spPr>
        </p:sp>
        <p:sp>
          <p:nvSpPr>
            <p:cNvPr id="95" name="TextBox 5"/>
            <p:cNvSpPr txBox="1"/>
            <p:nvPr/>
          </p:nvSpPr>
          <p:spPr>
            <a:xfrm>
              <a:off x="114300" y="-47625"/>
              <a:ext cx="4732103" cy="746125"/>
            </a:xfrm>
            <a:prstGeom prst="rect">
              <a:avLst/>
            </a:prstGeom>
          </p:spPr>
          <p:txBody>
            <a:bodyPr lIns="50800" tIns="50800" rIns="50800" bIns="50800" rtlCol="0" anchor="ctr"/>
            <a:lstStyle/>
            <a:p>
              <a:pPr algn="ctr">
                <a:lnSpc>
                  <a:spcPts val="2659"/>
                </a:lnSpc>
              </a:pPr>
              <a:endParaRPr/>
            </a:p>
          </p:txBody>
        </p:sp>
      </p:grpSp>
      <p:sp>
        <p:nvSpPr>
          <p:cNvPr id="96" name="Freeform 6"/>
          <p:cNvSpPr/>
          <p:nvPr/>
        </p:nvSpPr>
        <p:spPr>
          <a:xfrm>
            <a:off x="9401175" y="3117652"/>
            <a:ext cx="6504375" cy="919758"/>
          </a:xfrm>
          <a:custGeom>
            <a:avLst/>
            <a:gdLst/>
            <a:ahLst/>
            <a:cxnLst/>
            <a:rect l="l" t="t" r="r" b="b"/>
            <a:pathLst>
              <a:path w="6504375" h="919758">
                <a:moveTo>
                  <a:pt x="0" y="0"/>
                </a:moveTo>
                <a:lnTo>
                  <a:pt x="6504375" y="0"/>
                </a:lnTo>
                <a:lnTo>
                  <a:pt x="6504375" y="919758"/>
                </a:lnTo>
                <a:lnTo>
                  <a:pt x="0" y="919758"/>
                </a:lnTo>
                <a:lnTo>
                  <a:pt x="0" y="0"/>
                </a:lnTo>
                <a:close/>
              </a:path>
            </a:pathLst>
          </a:custGeom>
          <a:blipFill>
            <a:blip r:embed="rId4">
              <a:alphaModFix amt="37000"/>
              <a:extLst>
                <a:ext uri="{96DAC541-7B7A-43D3-8B79-37D633B846F1}">
                  <asvg:svgBlip xmlns:asvg="http://schemas.microsoft.com/office/drawing/2016/SVG/main" xmlns="" r:embed="rId6"/>
                </a:ext>
              </a:extLst>
            </a:blip>
            <a:stretch>
              <a:fillRect t="-303978"/>
            </a:stretch>
          </a:blipFill>
          <a:ln cap="sq">
            <a:noFill/>
            <a:prstDash val="solid"/>
            <a:miter/>
          </a:ln>
        </p:spPr>
      </p:sp>
      <p:grpSp>
        <p:nvGrpSpPr>
          <p:cNvPr id="97" name="Group 7"/>
          <p:cNvGrpSpPr/>
          <p:nvPr/>
        </p:nvGrpSpPr>
        <p:grpSpPr>
          <a:xfrm>
            <a:off x="9144000" y="2372828"/>
            <a:ext cx="7070093" cy="995516"/>
            <a:chOff x="0" y="0"/>
            <a:chExt cx="4960703" cy="698500"/>
          </a:xfrm>
        </p:grpSpPr>
        <p:sp>
          <p:nvSpPr>
            <p:cNvPr id="98" name="Freeform 8"/>
            <p:cNvSpPr/>
            <p:nvPr/>
          </p:nvSpPr>
          <p:spPr>
            <a:xfrm>
              <a:off x="0" y="0"/>
              <a:ext cx="4960703" cy="698500"/>
            </a:xfrm>
            <a:custGeom>
              <a:avLst/>
              <a:gdLst/>
              <a:ahLst/>
              <a:cxnLst/>
              <a:rect l="l" t="t" r="r" b="b"/>
              <a:pathLst>
                <a:path w="4960703" h="698500">
                  <a:moveTo>
                    <a:pt x="4960703" y="349250"/>
                  </a:moveTo>
                  <a:lnTo>
                    <a:pt x="4757503" y="698500"/>
                  </a:lnTo>
                  <a:lnTo>
                    <a:pt x="203200" y="698500"/>
                  </a:lnTo>
                  <a:lnTo>
                    <a:pt x="0" y="349250"/>
                  </a:lnTo>
                  <a:lnTo>
                    <a:pt x="203200" y="0"/>
                  </a:lnTo>
                  <a:lnTo>
                    <a:pt x="4757503" y="0"/>
                  </a:lnTo>
                  <a:lnTo>
                    <a:pt x="4960703" y="349250"/>
                  </a:lnTo>
                  <a:close/>
                </a:path>
              </a:pathLst>
            </a:custGeom>
            <a:solidFill>
              <a:srgbClr val="0A5F36"/>
            </a:solidFill>
          </p:spPr>
        </p:sp>
        <p:sp>
          <p:nvSpPr>
            <p:cNvPr id="100" name="TextBox 9"/>
            <p:cNvSpPr txBox="1"/>
            <p:nvPr/>
          </p:nvSpPr>
          <p:spPr>
            <a:xfrm>
              <a:off x="114300" y="-47625"/>
              <a:ext cx="4732103" cy="746125"/>
            </a:xfrm>
            <a:prstGeom prst="rect">
              <a:avLst/>
            </a:prstGeom>
          </p:spPr>
          <p:txBody>
            <a:bodyPr lIns="50800" tIns="50800" rIns="50800" bIns="50800" rtlCol="0" anchor="ctr"/>
            <a:lstStyle/>
            <a:p>
              <a:pPr algn="ctr">
                <a:lnSpc>
                  <a:spcPts val="2659"/>
                </a:lnSpc>
              </a:pPr>
              <a:endParaRPr/>
            </a:p>
          </p:txBody>
        </p:sp>
      </p:grpSp>
      <p:sp>
        <p:nvSpPr>
          <p:cNvPr id="101" name="Freeform 10"/>
          <p:cNvSpPr/>
          <p:nvPr/>
        </p:nvSpPr>
        <p:spPr>
          <a:xfrm>
            <a:off x="13902138" y="2154340"/>
            <a:ext cx="1666875" cy="1666875"/>
          </a:xfrm>
          <a:custGeom>
            <a:avLst/>
            <a:gdLst/>
            <a:ahLst/>
            <a:cxnLst/>
            <a:rect l="l" t="t" r="r" b="b"/>
            <a:pathLst>
              <a:path w="1666875" h="1666875">
                <a:moveTo>
                  <a:pt x="0" y="0"/>
                </a:moveTo>
                <a:lnTo>
                  <a:pt x="1666875" y="0"/>
                </a:lnTo>
                <a:lnTo>
                  <a:pt x="1666875" y="1666875"/>
                </a:lnTo>
                <a:lnTo>
                  <a:pt x="0" y="1666875"/>
                </a:lnTo>
                <a:lnTo>
                  <a:pt x="0" y="0"/>
                </a:lnTo>
                <a:close/>
              </a:path>
            </a:pathLst>
          </a:custGeom>
          <a:blipFill>
            <a:blip r:embed="rId7">
              <a:alphaModFix amt="37000"/>
              <a:extLst>
                <a:ext uri="{96DAC541-7B7A-43D3-8B79-37D633B846F1}">
                  <asvg:svgBlip xmlns:asvg="http://schemas.microsoft.com/office/drawing/2016/SVG/main" xmlns="" r:embed="rId8"/>
                </a:ext>
              </a:extLst>
            </a:blip>
            <a:stretch>
              <a:fillRect/>
            </a:stretch>
          </a:blipFill>
          <a:ln cap="sq">
            <a:noFill/>
            <a:prstDash val="solid"/>
            <a:miter/>
          </a:ln>
        </p:spPr>
      </p:sp>
      <p:grpSp>
        <p:nvGrpSpPr>
          <p:cNvPr id="102" name="Group 11"/>
          <p:cNvGrpSpPr/>
          <p:nvPr/>
        </p:nvGrpSpPr>
        <p:grpSpPr>
          <a:xfrm>
            <a:off x="13902138" y="2154340"/>
            <a:ext cx="1432493" cy="1432493"/>
            <a:chOff x="0" y="0"/>
            <a:chExt cx="812800" cy="812800"/>
          </a:xfrm>
        </p:grpSpPr>
        <p:sp>
          <p:nvSpPr>
            <p:cNvPr id="103"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23825" cap="sq">
              <a:solidFill>
                <a:srgbClr val="0A5F36"/>
              </a:solidFill>
              <a:prstDash val="solid"/>
              <a:miter/>
            </a:ln>
          </p:spPr>
        </p:sp>
        <p:sp>
          <p:nvSpPr>
            <p:cNvPr id="104" name="TextBox 13"/>
            <p:cNvSpPr txBox="1"/>
            <p:nvPr/>
          </p:nvSpPr>
          <p:spPr>
            <a:xfrm>
              <a:off x="76200" y="38100"/>
              <a:ext cx="660400" cy="698500"/>
            </a:xfrm>
            <a:prstGeom prst="rect">
              <a:avLst/>
            </a:prstGeom>
          </p:spPr>
          <p:txBody>
            <a:bodyPr lIns="50800" tIns="50800" rIns="50800" bIns="50800" rtlCol="0" anchor="ctr"/>
            <a:lstStyle/>
            <a:p>
              <a:pPr algn="ctr">
                <a:lnSpc>
                  <a:spcPts val="2799"/>
                </a:lnSpc>
              </a:pPr>
              <a:endParaRPr/>
            </a:p>
          </p:txBody>
        </p:sp>
      </p:grpSp>
      <p:sp>
        <p:nvSpPr>
          <p:cNvPr id="105" name="Freeform 14"/>
          <p:cNvSpPr/>
          <p:nvPr/>
        </p:nvSpPr>
        <p:spPr>
          <a:xfrm>
            <a:off x="2981230" y="2154340"/>
            <a:ext cx="1666875" cy="1666875"/>
          </a:xfrm>
          <a:custGeom>
            <a:avLst/>
            <a:gdLst/>
            <a:ahLst/>
            <a:cxnLst/>
            <a:rect l="l" t="t" r="r" b="b"/>
            <a:pathLst>
              <a:path w="1666875" h="1666875">
                <a:moveTo>
                  <a:pt x="0" y="0"/>
                </a:moveTo>
                <a:lnTo>
                  <a:pt x="1666875" y="0"/>
                </a:lnTo>
                <a:lnTo>
                  <a:pt x="1666875" y="1666875"/>
                </a:lnTo>
                <a:lnTo>
                  <a:pt x="0" y="1666875"/>
                </a:lnTo>
                <a:lnTo>
                  <a:pt x="0" y="0"/>
                </a:lnTo>
                <a:close/>
              </a:path>
            </a:pathLst>
          </a:custGeom>
          <a:blipFill>
            <a:blip r:embed="rId9">
              <a:alphaModFix amt="37000"/>
              <a:extLst>
                <a:ext uri="{96DAC541-7B7A-43D3-8B79-37D633B846F1}">
                  <asvg:svgBlip xmlns:asvg="http://schemas.microsoft.com/office/drawing/2016/SVG/main" xmlns="" r:embed="rId10"/>
                </a:ext>
              </a:extLst>
            </a:blip>
            <a:stretch>
              <a:fillRect/>
            </a:stretch>
          </a:blipFill>
          <a:ln cap="sq">
            <a:noFill/>
            <a:prstDash val="solid"/>
            <a:miter/>
          </a:ln>
        </p:spPr>
      </p:sp>
      <p:grpSp>
        <p:nvGrpSpPr>
          <p:cNvPr id="106" name="Group 15"/>
          <p:cNvGrpSpPr/>
          <p:nvPr/>
        </p:nvGrpSpPr>
        <p:grpSpPr>
          <a:xfrm>
            <a:off x="2981230" y="2154340"/>
            <a:ext cx="1432493" cy="1432493"/>
            <a:chOff x="0" y="0"/>
            <a:chExt cx="812800" cy="812800"/>
          </a:xfrm>
        </p:grpSpPr>
        <p:sp>
          <p:nvSpPr>
            <p:cNvPr id="107"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23825" cap="sq">
              <a:solidFill>
                <a:srgbClr val="C51C1C"/>
              </a:solidFill>
              <a:prstDash val="solid"/>
              <a:miter/>
            </a:ln>
          </p:spPr>
        </p:sp>
        <p:sp>
          <p:nvSpPr>
            <p:cNvPr id="108" name="TextBox 17"/>
            <p:cNvSpPr txBox="1"/>
            <p:nvPr/>
          </p:nvSpPr>
          <p:spPr>
            <a:xfrm>
              <a:off x="76200" y="38100"/>
              <a:ext cx="660400" cy="698500"/>
            </a:xfrm>
            <a:prstGeom prst="rect">
              <a:avLst/>
            </a:prstGeom>
          </p:spPr>
          <p:txBody>
            <a:bodyPr lIns="50800" tIns="50800" rIns="50800" bIns="50800" rtlCol="0" anchor="ctr"/>
            <a:lstStyle/>
            <a:p>
              <a:pPr algn="ctr">
                <a:lnSpc>
                  <a:spcPts val="2799"/>
                </a:lnSpc>
              </a:pPr>
              <a:endParaRPr/>
            </a:p>
          </p:txBody>
        </p:sp>
      </p:grpSp>
      <p:sp>
        <p:nvSpPr>
          <p:cNvPr id="109" name="AutoShape 18"/>
          <p:cNvSpPr/>
          <p:nvPr/>
        </p:nvSpPr>
        <p:spPr>
          <a:xfrm>
            <a:off x="9144000" y="2870586"/>
            <a:ext cx="0" cy="6288499"/>
          </a:xfrm>
          <a:prstGeom prst="line">
            <a:avLst/>
          </a:prstGeom>
          <a:ln w="38100" cap="flat">
            <a:solidFill>
              <a:srgbClr val="000000">
                <a:alpha val="29804"/>
              </a:srgbClr>
            </a:solidFill>
            <a:prstDash val="sysDash"/>
            <a:headEnd type="none" w="sm" len="sm"/>
            <a:tailEnd type="oval" w="lg" len="lg"/>
          </a:ln>
        </p:spPr>
      </p:sp>
      <p:grpSp>
        <p:nvGrpSpPr>
          <p:cNvPr id="110" name="Group 19"/>
          <p:cNvGrpSpPr/>
          <p:nvPr/>
        </p:nvGrpSpPr>
        <p:grpSpPr>
          <a:xfrm>
            <a:off x="3287666" y="4081537"/>
            <a:ext cx="819621" cy="819621"/>
            <a:chOff x="0" y="0"/>
            <a:chExt cx="812800" cy="812800"/>
          </a:xfrm>
        </p:grpSpPr>
        <p:sp>
          <p:nvSpPr>
            <p:cNvPr id="111"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51C1C"/>
            </a:solidFill>
          </p:spPr>
        </p:sp>
        <p:sp>
          <p:nvSpPr>
            <p:cNvPr id="112" name="TextBox 21"/>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01</a:t>
              </a:r>
            </a:p>
          </p:txBody>
        </p:sp>
      </p:grpSp>
      <p:grpSp>
        <p:nvGrpSpPr>
          <p:cNvPr id="113" name="Group 22"/>
          <p:cNvGrpSpPr/>
          <p:nvPr/>
        </p:nvGrpSpPr>
        <p:grpSpPr>
          <a:xfrm>
            <a:off x="14182725" y="4081537"/>
            <a:ext cx="819621" cy="819621"/>
            <a:chOff x="0" y="0"/>
            <a:chExt cx="812800" cy="812800"/>
          </a:xfrm>
        </p:grpSpPr>
        <p:sp>
          <p:nvSpPr>
            <p:cNvPr id="114"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5F36"/>
            </a:solidFill>
          </p:spPr>
        </p:sp>
        <p:sp>
          <p:nvSpPr>
            <p:cNvPr id="115" name="TextBox 24"/>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01</a:t>
              </a:r>
            </a:p>
          </p:txBody>
        </p:sp>
      </p:grpSp>
      <p:grpSp>
        <p:nvGrpSpPr>
          <p:cNvPr id="116" name="Group 25"/>
          <p:cNvGrpSpPr/>
          <p:nvPr/>
        </p:nvGrpSpPr>
        <p:grpSpPr>
          <a:xfrm>
            <a:off x="3287666" y="5145089"/>
            <a:ext cx="819621" cy="819621"/>
            <a:chOff x="0" y="0"/>
            <a:chExt cx="812800" cy="812800"/>
          </a:xfrm>
        </p:grpSpPr>
        <p:sp>
          <p:nvSpPr>
            <p:cNvPr id="117"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51C1C"/>
            </a:solidFill>
          </p:spPr>
        </p:sp>
        <p:sp>
          <p:nvSpPr>
            <p:cNvPr id="118" name="TextBox 27"/>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02</a:t>
              </a:r>
            </a:p>
          </p:txBody>
        </p:sp>
      </p:grpSp>
      <p:grpSp>
        <p:nvGrpSpPr>
          <p:cNvPr id="119" name="Group 28"/>
          <p:cNvGrpSpPr/>
          <p:nvPr/>
        </p:nvGrpSpPr>
        <p:grpSpPr>
          <a:xfrm>
            <a:off x="14182725" y="5145089"/>
            <a:ext cx="819621" cy="819621"/>
            <a:chOff x="0" y="0"/>
            <a:chExt cx="812800" cy="812800"/>
          </a:xfrm>
        </p:grpSpPr>
        <p:sp>
          <p:nvSpPr>
            <p:cNvPr id="120" name="Freeform 2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5F36"/>
            </a:solidFill>
          </p:spPr>
        </p:sp>
        <p:sp>
          <p:nvSpPr>
            <p:cNvPr id="121" name="TextBox 30"/>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02</a:t>
              </a:r>
            </a:p>
          </p:txBody>
        </p:sp>
      </p:grpSp>
      <p:grpSp>
        <p:nvGrpSpPr>
          <p:cNvPr id="122" name="Group 31"/>
          <p:cNvGrpSpPr/>
          <p:nvPr/>
        </p:nvGrpSpPr>
        <p:grpSpPr>
          <a:xfrm>
            <a:off x="3287666" y="6208641"/>
            <a:ext cx="819621" cy="819621"/>
            <a:chOff x="0" y="0"/>
            <a:chExt cx="812800" cy="812800"/>
          </a:xfrm>
        </p:grpSpPr>
        <p:sp>
          <p:nvSpPr>
            <p:cNvPr id="123"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51C1C"/>
            </a:solidFill>
          </p:spPr>
        </p:sp>
        <p:sp>
          <p:nvSpPr>
            <p:cNvPr id="124" name="TextBox 33"/>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03</a:t>
              </a:r>
            </a:p>
          </p:txBody>
        </p:sp>
      </p:grpSp>
      <p:grpSp>
        <p:nvGrpSpPr>
          <p:cNvPr id="125" name="Group 34"/>
          <p:cNvGrpSpPr/>
          <p:nvPr/>
        </p:nvGrpSpPr>
        <p:grpSpPr>
          <a:xfrm>
            <a:off x="14182725" y="6208641"/>
            <a:ext cx="819621" cy="819621"/>
            <a:chOff x="0" y="0"/>
            <a:chExt cx="812800" cy="812800"/>
          </a:xfrm>
        </p:grpSpPr>
        <p:sp>
          <p:nvSpPr>
            <p:cNvPr id="126"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5F36"/>
            </a:solidFill>
          </p:spPr>
        </p:sp>
        <p:sp>
          <p:nvSpPr>
            <p:cNvPr id="127" name="TextBox 36"/>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03</a:t>
              </a:r>
            </a:p>
          </p:txBody>
        </p:sp>
      </p:grpSp>
      <p:grpSp>
        <p:nvGrpSpPr>
          <p:cNvPr id="128" name="Group 37"/>
          <p:cNvGrpSpPr/>
          <p:nvPr/>
        </p:nvGrpSpPr>
        <p:grpSpPr>
          <a:xfrm>
            <a:off x="3287666" y="7272193"/>
            <a:ext cx="819621" cy="819621"/>
            <a:chOff x="0" y="0"/>
            <a:chExt cx="812800" cy="812800"/>
          </a:xfrm>
        </p:grpSpPr>
        <p:sp>
          <p:nvSpPr>
            <p:cNvPr id="129"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51C1C"/>
            </a:solidFill>
          </p:spPr>
        </p:sp>
        <p:sp>
          <p:nvSpPr>
            <p:cNvPr id="130" name="TextBox 39"/>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04</a:t>
              </a:r>
            </a:p>
          </p:txBody>
        </p:sp>
      </p:grpSp>
      <p:grpSp>
        <p:nvGrpSpPr>
          <p:cNvPr id="131" name="Group 40"/>
          <p:cNvGrpSpPr/>
          <p:nvPr/>
        </p:nvGrpSpPr>
        <p:grpSpPr>
          <a:xfrm>
            <a:off x="14182725" y="7272193"/>
            <a:ext cx="819621" cy="819621"/>
            <a:chOff x="0" y="0"/>
            <a:chExt cx="812800" cy="812800"/>
          </a:xfrm>
        </p:grpSpPr>
        <p:sp>
          <p:nvSpPr>
            <p:cNvPr id="132"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5F36"/>
            </a:solidFill>
          </p:spPr>
        </p:sp>
        <p:sp>
          <p:nvSpPr>
            <p:cNvPr id="133" name="TextBox 42"/>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04</a:t>
              </a:r>
            </a:p>
          </p:txBody>
        </p:sp>
      </p:grpSp>
      <p:grpSp>
        <p:nvGrpSpPr>
          <p:cNvPr id="134" name="Group 43"/>
          <p:cNvGrpSpPr/>
          <p:nvPr/>
        </p:nvGrpSpPr>
        <p:grpSpPr>
          <a:xfrm>
            <a:off x="3287666" y="8339464"/>
            <a:ext cx="819621" cy="819621"/>
            <a:chOff x="0" y="0"/>
            <a:chExt cx="812800" cy="812800"/>
          </a:xfrm>
        </p:grpSpPr>
        <p:sp>
          <p:nvSpPr>
            <p:cNvPr id="135" name="Freeform 4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51C1C"/>
            </a:solidFill>
          </p:spPr>
        </p:sp>
        <p:sp>
          <p:nvSpPr>
            <p:cNvPr id="136" name="TextBox 45"/>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05</a:t>
              </a:r>
            </a:p>
          </p:txBody>
        </p:sp>
      </p:grpSp>
      <p:grpSp>
        <p:nvGrpSpPr>
          <p:cNvPr id="137" name="Group 46"/>
          <p:cNvGrpSpPr/>
          <p:nvPr/>
        </p:nvGrpSpPr>
        <p:grpSpPr>
          <a:xfrm>
            <a:off x="14182725" y="8339464"/>
            <a:ext cx="819621" cy="819621"/>
            <a:chOff x="0" y="0"/>
            <a:chExt cx="812800" cy="812800"/>
          </a:xfrm>
        </p:grpSpPr>
        <p:sp>
          <p:nvSpPr>
            <p:cNvPr id="138" name="Freeform 4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5F36"/>
            </a:solidFill>
          </p:spPr>
        </p:sp>
        <p:sp>
          <p:nvSpPr>
            <p:cNvPr id="139" name="TextBox 48"/>
            <p:cNvSpPr txBox="1"/>
            <p:nvPr/>
          </p:nvSpPr>
          <p:spPr>
            <a:xfrm>
              <a:off x="76200" y="38100"/>
              <a:ext cx="660400" cy="698500"/>
            </a:xfrm>
            <a:prstGeom prst="rect">
              <a:avLst/>
            </a:prstGeom>
          </p:spPr>
          <p:txBody>
            <a:bodyPr lIns="50800" tIns="50800" rIns="50800" bIns="50800" rtlCol="0" anchor="ctr"/>
            <a:lstStyle/>
            <a:p>
              <a:pPr algn="ctr">
                <a:lnSpc>
                  <a:spcPts val="2519"/>
                </a:lnSpc>
              </a:pPr>
              <a:r>
                <a:rPr lang="en-US" sz="1799" b="1">
                  <a:solidFill>
                    <a:srgbClr val="FFFFFF"/>
                  </a:solidFill>
                  <a:latin typeface="Open Sauce Bold"/>
                  <a:ea typeface="Open Sauce Bold"/>
                  <a:cs typeface="Open Sauce Bold"/>
                  <a:sym typeface="Open Sauce Bold"/>
                </a:rPr>
                <a:t>05</a:t>
              </a:r>
            </a:p>
          </p:txBody>
        </p:sp>
      </p:grpSp>
      <p:sp>
        <p:nvSpPr>
          <p:cNvPr id="140" name="Freeform 49"/>
          <p:cNvSpPr/>
          <p:nvPr/>
        </p:nvSpPr>
        <p:spPr>
          <a:xfrm>
            <a:off x="15002346" y="4491347"/>
            <a:ext cx="909436" cy="4257927"/>
          </a:xfrm>
          <a:custGeom>
            <a:avLst/>
            <a:gdLst/>
            <a:ahLst/>
            <a:cxnLst/>
            <a:rect l="l" t="t" r="r" b="b"/>
            <a:pathLst>
              <a:path w="909436" h="4257927">
                <a:moveTo>
                  <a:pt x="0" y="0"/>
                </a:moveTo>
                <a:lnTo>
                  <a:pt x="680836" y="0"/>
                </a:lnTo>
                <a:cubicBezTo>
                  <a:pt x="807089" y="0"/>
                  <a:pt x="909436" y="102348"/>
                  <a:pt x="909436" y="228600"/>
                </a:cubicBezTo>
                <a:lnTo>
                  <a:pt x="909436" y="4029327"/>
                </a:lnTo>
                <a:cubicBezTo>
                  <a:pt x="909436" y="4089956"/>
                  <a:pt x="885352" y="4148102"/>
                  <a:pt x="842481" y="4190972"/>
                </a:cubicBezTo>
                <a:cubicBezTo>
                  <a:pt x="799610" y="4233843"/>
                  <a:pt x="741465" y="4257927"/>
                  <a:pt x="680836" y="4257927"/>
                </a:cubicBezTo>
                <a:lnTo>
                  <a:pt x="0" y="4257927"/>
                </a:lnTo>
              </a:path>
            </a:pathLst>
          </a:custGeom>
          <a:ln w="38100" cap="flat">
            <a:solidFill>
              <a:srgbClr val="000000">
                <a:alpha val="29804"/>
              </a:srgbClr>
            </a:solidFill>
            <a:prstDash val="sysDash"/>
            <a:headEnd type="none" w="sm" len="sm"/>
            <a:tailEnd type="none" w="sm" len="sm"/>
          </a:ln>
        </p:spPr>
      </p:sp>
      <p:sp>
        <p:nvSpPr>
          <p:cNvPr id="141" name="Freeform 50"/>
          <p:cNvSpPr/>
          <p:nvPr/>
        </p:nvSpPr>
        <p:spPr>
          <a:xfrm>
            <a:off x="2332308" y="4491347"/>
            <a:ext cx="955358" cy="4257927"/>
          </a:xfrm>
          <a:custGeom>
            <a:avLst/>
            <a:gdLst/>
            <a:ahLst/>
            <a:cxnLst/>
            <a:rect l="l" t="t" r="r" b="b"/>
            <a:pathLst>
              <a:path w="955358" h="4257927">
                <a:moveTo>
                  <a:pt x="955358" y="0"/>
                </a:moveTo>
                <a:lnTo>
                  <a:pt x="228600" y="0"/>
                </a:lnTo>
                <a:cubicBezTo>
                  <a:pt x="102347" y="0"/>
                  <a:pt x="0" y="102348"/>
                  <a:pt x="0" y="228600"/>
                </a:cubicBezTo>
                <a:lnTo>
                  <a:pt x="0" y="4029327"/>
                </a:lnTo>
                <a:cubicBezTo>
                  <a:pt x="0" y="4155579"/>
                  <a:pt x="102347" y="4257927"/>
                  <a:pt x="228600" y="4257927"/>
                </a:cubicBezTo>
                <a:lnTo>
                  <a:pt x="955358" y="4257927"/>
                </a:lnTo>
              </a:path>
            </a:pathLst>
          </a:custGeom>
          <a:ln w="38100" cap="flat">
            <a:solidFill>
              <a:srgbClr val="000000">
                <a:alpha val="29804"/>
              </a:srgbClr>
            </a:solidFill>
            <a:prstDash val="sysDash"/>
            <a:headEnd type="none" w="sm" len="sm"/>
            <a:tailEnd type="none" w="sm" len="sm"/>
          </a:ln>
        </p:spPr>
      </p:sp>
      <p:sp>
        <p:nvSpPr>
          <p:cNvPr id="142" name="AutoShape 51"/>
          <p:cNvSpPr/>
          <p:nvPr/>
        </p:nvSpPr>
        <p:spPr>
          <a:xfrm>
            <a:off x="15002346" y="5554899"/>
            <a:ext cx="903204" cy="0"/>
          </a:xfrm>
          <a:prstGeom prst="line">
            <a:avLst/>
          </a:prstGeom>
          <a:ln w="38100" cap="flat">
            <a:solidFill>
              <a:srgbClr val="000000">
                <a:alpha val="29804"/>
              </a:srgbClr>
            </a:solidFill>
            <a:prstDash val="sysDash"/>
            <a:headEnd type="none" w="sm" len="sm"/>
            <a:tailEnd type="none" w="sm" len="sm"/>
          </a:ln>
        </p:spPr>
      </p:sp>
      <p:sp>
        <p:nvSpPr>
          <p:cNvPr id="143" name="AutoShape 52"/>
          <p:cNvSpPr/>
          <p:nvPr/>
        </p:nvSpPr>
        <p:spPr>
          <a:xfrm>
            <a:off x="2384462" y="5554899"/>
            <a:ext cx="903204" cy="0"/>
          </a:xfrm>
          <a:prstGeom prst="line">
            <a:avLst/>
          </a:prstGeom>
          <a:ln w="38100" cap="flat">
            <a:solidFill>
              <a:srgbClr val="000000">
                <a:alpha val="29804"/>
              </a:srgbClr>
            </a:solidFill>
            <a:prstDash val="sysDash"/>
            <a:headEnd type="none" w="sm" len="sm"/>
            <a:tailEnd type="none" w="sm" len="sm"/>
          </a:ln>
        </p:spPr>
      </p:sp>
      <p:sp>
        <p:nvSpPr>
          <p:cNvPr id="144" name="AutoShape 53"/>
          <p:cNvSpPr/>
          <p:nvPr/>
        </p:nvSpPr>
        <p:spPr>
          <a:xfrm>
            <a:off x="15002346" y="6618451"/>
            <a:ext cx="903204" cy="0"/>
          </a:xfrm>
          <a:prstGeom prst="line">
            <a:avLst/>
          </a:prstGeom>
          <a:ln w="38100" cap="flat">
            <a:solidFill>
              <a:srgbClr val="000000">
                <a:alpha val="29804"/>
              </a:srgbClr>
            </a:solidFill>
            <a:prstDash val="sysDash"/>
            <a:headEnd type="none" w="sm" len="sm"/>
            <a:tailEnd type="none" w="sm" len="sm"/>
          </a:ln>
        </p:spPr>
      </p:sp>
      <p:sp>
        <p:nvSpPr>
          <p:cNvPr id="145" name="AutoShape 54"/>
          <p:cNvSpPr/>
          <p:nvPr/>
        </p:nvSpPr>
        <p:spPr>
          <a:xfrm>
            <a:off x="2384462" y="6618451"/>
            <a:ext cx="903204" cy="0"/>
          </a:xfrm>
          <a:prstGeom prst="line">
            <a:avLst/>
          </a:prstGeom>
          <a:ln w="38100" cap="flat">
            <a:solidFill>
              <a:srgbClr val="000000">
                <a:alpha val="29804"/>
              </a:srgbClr>
            </a:solidFill>
            <a:prstDash val="sysDash"/>
            <a:headEnd type="none" w="sm" len="sm"/>
            <a:tailEnd type="none" w="sm" len="sm"/>
          </a:ln>
        </p:spPr>
      </p:sp>
      <p:sp>
        <p:nvSpPr>
          <p:cNvPr id="146" name="AutoShape 55"/>
          <p:cNvSpPr/>
          <p:nvPr/>
        </p:nvSpPr>
        <p:spPr>
          <a:xfrm>
            <a:off x="15002346" y="7682003"/>
            <a:ext cx="903204" cy="0"/>
          </a:xfrm>
          <a:prstGeom prst="line">
            <a:avLst/>
          </a:prstGeom>
          <a:ln w="38100" cap="flat">
            <a:solidFill>
              <a:srgbClr val="000000">
                <a:alpha val="29804"/>
              </a:srgbClr>
            </a:solidFill>
            <a:prstDash val="sysDash"/>
            <a:headEnd type="none" w="sm" len="sm"/>
            <a:tailEnd type="none" w="sm" len="sm"/>
          </a:ln>
        </p:spPr>
      </p:sp>
      <p:sp>
        <p:nvSpPr>
          <p:cNvPr id="147" name="AutoShape 56"/>
          <p:cNvSpPr/>
          <p:nvPr/>
        </p:nvSpPr>
        <p:spPr>
          <a:xfrm>
            <a:off x="2384462" y="7682003"/>
            <a:ext cx="903204" cy="0"/>
          </a:xfrm>
          <a:prstGeom prst="line">
            <a:avLst/>
          </a:prstGeom>
          <a:ln w="38100" cap="flat">
            <a:solidFill>
              <a:srgbClr val="000000">
                <a:alpha val="29804"/>
              </a:srgbClr>
            </a:solidFill>
            <a:prstDash val="sysDash"/>
            <a:headEnd type="none" w="sm" len="sm"/>
            <a:tailEnd type="none" w="sm" len="sm"/>
          </a:ln>
        </p:spPr>
      </p:sp>
      <p:grpSp>
        <p:nvGrpSpPr>
          <p:cNvPr id="148" name="Group 57"/>
          <p:cNvGrpSpPr/>
          <p:nvPr/>
        </p:nvGrpSpPr>
        <p:grpSpPr>
          <a:xfrm>
            <a:off x="8718975" y="5589332"/>
            <a:ext cx="850050" cy="850050"/>
            <a:chOff x="0" y="0"/>
            <a:chExt cx="1066729" cy="1066729"/>
          </a:xfrm>
        </p:grpSpPr>
        <p:sp>
          <p:nvSpPr>
            <p:cNvPr id="149" name="Freeform 58"/>
            <p:cNvSpPr/>
            <p:nvPr/>
          </p:nvSpPr>
          <p:spPr>
            <a:xfrm>
              <a:off x="0" y="0"/>
              <a:ext cx="1066729" cy="1066729"/>
            </a:xfrm>
            <a:custGeom>
              <a:avLst/>
              <a:gdLst/>
              <a:ahLst/>
              <a:cxnLst/>
              <a:rect l="l" t="t" r="r" b="b"/>
              <a:pathLst>
                <a:path w="1066729" h="1066729">
                  <a:moveTo>
                    <a:pt x="96768" y="0"/>
                  </a:moveTo>
                  <a:lnTo>
                    <a:pt x="969961" y="0"/>
                  </a:lnTo>
                  <a:cubicBezTo>
                    <a:pt x="1023404" y="0"/>
                    <a:pt x="1066729" y="43325"/>
                    <a:pt x="1066729" y="96768"/>
                  </a:cubicBezTo>
                  <a:lnTo>
                    <a:pt x="1066729" y="969961"/>
                  </a:lnTo>
                  <a:cubicBezTo>
                    <a:pt x="1066729" y="995625"/>
                    <a:pt x="1056534" y="1020239"/>
                    <a:pt x="1038386" y="1038386"/>
                  </a:cubicBezTo>
                  <a:cubicBezTo>
                    <a:pt x="1020239" y="1056534"/>
                    <a:pt x="995625" y="1066729"/>
                    <a:pt x="969961" y="1066729"/>
                  </a:cubicBezTo>
                  <a:lnTo>
                    <a:pt x="96768" y="1066729"/>
                  </a:lnTo>
                  <a:cubicBezTo>
                    <a:pt x="71104" y="1066729"/>
                    <a:pt x="46490" y="1056534"/>
                    <a:pt x="28343" y="1038386"/>
                  </a:cubicBezTo>
                  <a:cubicBezTo>
                    <a:pt x="10195" y="1020239"/>
                    <a:pt x="0" y="995625"/>
                    <a:pt x="0" y="969961"/>
                  </a:cubicBezTo>
                  <a:lnTo>
                    <a:pt x="0" y="96768"/>
                  </a:lnTo>
                  <a:cubicBezTo>
                    <a:pt x="0" y="71104"/>
                    <a:pt x="10195" y="46490"/>
                    <a:pt x="28343" y="28343"/>
                  </a:cubicBezTo>
                  <a:cubicBezTo>
                    <a:pt x="46490" y="10195"/>
                    <a:pt x="71104" y="0"/>
                    <a:pt x="96768" y="0"/>
                  </a:cubicBezTo>
                  <a:close/>
                </a:path>
              </a:pathLst>
            </a:custGeom>
            <a:solidFill>
              <a:srgbClr val="ECF0F3"/>
            </a:solidFill>
          </p:spPr>
        </p:sp>
        <p:sp>
          <p:nvSpPr>
            <p:cNvPr id="150" name="TextBox 59"/>
            <p:cNvSpPr txBox="1"/>
            <p:nvPr/>
          </p:nvSpPr>
          <p:spPr>
            <a:xfrm>
              <a:off x="0" y="-38100"/>
              <a:ext cx="1066729" cy="1104829"/>
            </a:xfrm>
            <a:prstGeom prst="rect">
              <a:avLst/>
            </a:prstGeom>
          </p:spPr>
          <p:txBody>
            <a:bodyPr lIns="50800" tIns="50800" rIns="50800" bIns="50800" rtlCol="0" anchor="ctr"/>
            <a:lstStyle/>
            <a:p>
              <a:pPr algn="ctr">
                <a:lnSpc>
                  <a:spcPts val="2519"/>
                </a:lnSpc>
              </a:pPr>
              <a:r>
                <a:rPr lang="en-US" sz="1799" b="1" dirty="0">
                  <a:solidFill>
                    <a:srgbClr val="000000"/>
                  </a:solidFill>
                  <a:latin typeface="Open Sauce Bold"/>
                  <a:ea typeface="Open Sauce Bold"/>
                  <a:cs typeface="Open Sauce Bold"/>
                  <a:sym typeface="Open Sauce Bold"/>
                </a:rPr>
                <a:t>VS</a:t>
              </a:r>
            </a:p>
          </p:txBody>
        </p:sp>
      </p:grpSp>
      <p:sp>
        <p:nvSpPr>
          <p:cNvPr id="151" name="Freeform 60"/>
          <p:cNvSpPr/>
          <p:nvPr/>
        </p:nvSpPr>
        <p:spPr>
          <a:xfrm>
            <a:off x="14297946" y="2513399"/>
            <a:ext cx="642938" cy="714375"/>
          </a:xfrm>
          <a:custGeom>
            <a:avLst/>
            <a:gdLst/>
            <a:ahLst/>
            <a:cxnLst/>
            <a:rect l="l" t="t" r="r" b="b"/>
            <a:pathLst>
              <a:path w="642938" h="714375">
                <a:moveTo>
                  <a:pt x="0" y="0"/>
                </a:moveTo>
                <a:lnTo>
                  <a:pt x="642938" y="0"/>
                </a:lnTo>
                <a:lnTo>
                  <a:pt x="642938" y="714375"/>
                </a:lnTo>
                <a:lnTo>
                  <a:pt x="0" y="714375"/>
                </a:lnTo>
                <a:lnTo>
                  <a:pt x="0" y="0"/>
                </a:lnTo>
                <a:close/>
              </a:path>
            </a:pathLst>
          </a:custGeom>
          <a:blipFill>
            <a:blip r:embed="rId11">
              <a:extLst>
                <a:ext uri="{96DAC541-7B7A-43D3-8B79-37D633B846F1}">
                  <asvg:svgBlip xmlns:asvg="http://schemas.microsoft.com/office/drawing/2016/SVG/main" xmlns="" r:embed="rId12"/>
                </a:ext>
              </a:extLst>
            </a:blip>
            <a:stretch>
              <a:fillRect/>
            </a:stretch>
          </a:blipFill>
        </p:spPr>
      </p:sp>
      <p:sp>
        <p:nvSpPr>
          <p:cNvPr id="152" name="Freeform 61"/>
          <p:cNvSpPr/>
          <p:nvPr/>
        </p:nvSpPr>
        <p:spPr>
          <a:xfrm>
            <a:off x="3168219" y="2351805"/>
            <a:ext cx="1037562" cy="1037562"/>
          </a:xfrm>
          <a:custGeom>
            <a:avLst/>
            <a:gdLst/>
            <a:ahLst/>
            <a:cxnLst/>
            <a:rect l="l" t="t" r="r" b="b"/>
            <a:pathLst>
              <a:path w="1037562" h="1037562">
                <a:moveTo>
                  <a:pt x="0" y="0"/>
                </a:moveTo>
                <a:lnTo>
                  <a:pt x="1037562" y="0"/>
                </a:lnTo>
                <a:lnTo>
                  <a:pt x="1037562" y="1037562"/>
                </a:lnTo>
                <a:lnTo>
                  <a:pt x="0" y="1037562"/>
                </a:lnTo>
                <a:lnTo>
                  <a:pt x="0" y="0"/>
                </a:lnTo>
                <a:close/>
              </a:path>
            </a:pathLst>
          </a:custGeom>
          <a:blipFill>
            <a:blip r:embed="rId13">
              <a:extLst>
                <a:ext uri="{96DAC541-7B7A-43D3-8B79-37D633B846F1}">
                  <asvg:svgBlip xmlns:asvg="http://schemas.microsoft.com/office/drawing/2016/SVG/main" xmlns="" r:embed="rId14"/>
                </a:ext>
              </a:extLst>
            </a:blip>
            <a:stretch>
              <a:fillRect/>
            </a:stretch>
          </a:blipFill>
        </p:spPr>
      </p:sp>
      <p:sp>
        <p:nvSpPr>
          <p:cNvPr id="153" name="TextBox 62"/>
          <p:cNvSpPr txBox="1"/>
          <p:nvPr/>
        </p:nvSpPr>
        <p:spPr>
          <a:xfrm>
            <a:off x="3643767" y="1372378"/>
            <a:ext cx="10948769" cy="641201"/>
          </a:xfrm>
          <a:prstGeom prst="rect">
            <a:avLst/>
          </a:prstGeom>
        </p:spPr>
        <p:txBody>
          <a:bodyPr lIns="0" tIns="0" rIns="0" bIns="0" rtlCol="0" anchor="t">
            <a:spAutoFit/>
          </a:bodyPr>
          <a:lstStyle/>
          <a:p>
            <a:pPr algn="ctr">
              <a:lnSpc>
                <a:spcPts val="5040"/>
              </a:lnSpc>
              <a:spcBef>
                <a:spcPct val="0"/>
              </a:spcBef>
            </a:pPr>
            <a:r>
              <a:rPr lang="en-US" sz="3600" b="1" dirty="0" err="1">
                <a:solidFill>
                  <a:srgbClr val="000000"/>
                </a:solidFill>
                <a:latin typeface="Open Sauce Bold"/>
                <a:ea typeface="Open Sauce Bold"/>
                <a:cs typeface="Open Sauce Bold"/>
                <a:sym typeface="Open Sauce Bold"/>
              </a:rPr>
              <a:t>Pourquoi</a:t>
            </a:r>
            <a:r>
              <a:rPr lang="en-US" sz="3600" b="1" dirty="0">
                <a:solidFill>
                  <a:srgbClr val="000000"/>
                </a:solidFill>
                <a:latin typeface="Open Sauce Bold"/>
                <a:ea typeface="Open Sauce Bold"/>
                <a:cs typeface="Open Sauce Bold"/>
                <a:sym typeface="Open Sauce Bold"/>
              </a:rPr>
              <a:t> </a:t>
            </a:r>
            <a:r>
              <a:rPr lang="en-US" sz="3600" b="1" dirty="0" err="1">
                <a:solidFill>
                  <a:srgbClr val="000000"/>
                </a:solidFill>
                <a:latin typeface="Open Sauce Bold"/>
                <a:ea typeface="Open Sauce Bold"/>
                <a:cs typeface="Open Sauce Bold"/>
                <a:sym typeface="Open Sauce Bold"/>
              </a:rPr>
              <a:t>ce</a:t>
            </a:r>
            <a:r>
              <a:rPr lang="en-US" sz="3600" b="1" dirty="0">
                <a:solidFill>
                  <a:srgbClr val="000000"/>
                </a:solidFill>
                <a:latin typeface="Open Sauce Bold"/>
                <a:ea typeface="Open Sauce Bold"/>
                <a:cs typeface="Open Sauce Bold"/>
                <a:sym typeface="Open Sauce Bold"/>
              </a:rPr>
              <a:t> </a:t>
            </a:r>
            <a:r>
              <a:rPr lang="en-US" sz="3600" b="1" dirty="0" err="1">
                <a:solidFill>
                  <a:srgbClr val="000000"/>
                </a:solidFill>
                <a:latin typeface="Open Sauce Bold"/>
                <a:ea typeface="Open Sauce Bold"/>
                <a:cs typeface="Open Sauce Bold"/>
                <a:sym typeface="Open Sauce Bold"/>
              </a:rPr>
              <a:t>projet</a:t>
            </a:r>
            <a:r>
              <a:rPr lang="en-US" sz="3600" b="1" dirty="0">
                <a:solidFill>
                  <a:srgbClr val="000000"/>
                </a:solidFill>
                <a:latin typeface="Open Sauce Bold"/>
                <a:ea typeface="Open Sauce Bold"/>
                <a:cs typeface="Open Sauce Bold"/>
                <a:sym typeface="Open Sauce Bold"/>
              </a:rPr>
              <a:t> ?</a:t>
            </a:r>
          </a:p>
        </p:txBody>
      </p:sp>
      <p:sp>
        <p:nvSpPr>
          <p:cNvPr id="154" name="TextBox 63"/>
          <p:cNvSpPr txBox="1"/>
          <p:nvPr/>
        </p:nvSpPr>
        <p:spPr>
          <a:xfrm>
            <a:off x="4634406" y="2475299"/>
            <a:ext cx="4084569" cy="763270"/>
          </a:xfrm>
          <a:prstGeom prst="rect">
            <a:avLst/>
          </a:prstGeom>
        </p:spPr>
        <p:txBody>
          <a:bodyPr lIns="0" tIns="0" rIns="0" bIns="0" rtlCol="0" anchor="t">
            <a:spAutoFit/>
          </a:bodyPr>
          <a:lstStyle/>
          <a:p>
            <a:pPr algn="ctr">
              <a:lnSpc>
                <a:spcPts val="3079"/>
              </a:lnSpc>
              <a:spcBef>
                <a:spcPct val="0"/>
              </a:spcBef>
            </a:pPr>
            <a:r>
              <a:rPr lang="en-US" sz="2199" b="1">
                <a:solidFill>
                  <a:srgbClr val="FFFFFF"/>
                </a:solidFill>
                <a:latin typeface="Open Sauce Bold"/>
                <a:ea typeface="Open Sauce Bold"/>
                <a:cs typeface="Open Sauce Bold"/>
                <a:sym typeface="Open Sauce Bold"/>
              </a:rPr>
              <a:t>INFRASTRUCTURES CLASSIQUES - LIMITES</a:t>
            </a:r>
          </a:p>
        </p:txBody>
      </p:sp>
      <p:sp>
        <p:nvSpPr>
          <p:cNvPr id="155" name="TextBox 64"/>
          <p:cNvSpPr txBox="1"/>
          <p:nvPr/>
        </p:nvSpPr>
        <p:spPr>
          <a:xfrm>
            <a:off x="10623444" y="2413704"/>
            <a:ext cx="2694832" cy="824865"/>
          </a:xfrm>
          <a:prstGeom prst="rect">
            <a:avLst/>
          </a:prstGeom>
        </p:spPr>
        <p:txBody>
          <a:bodyPr lIns="0" tIns="0" rIns="0" bIns="0" rtlCol="0" anchor="t">
            <a:spAutoFit/>
          </a:bodyPr>
          <a:lstStyle/>
          <a:p>
            <a:pPr algn="ctr">
              <a:lnSpc>
                <a:spcPts val="3359"/>
              </a:lnSpc>
              <a:spcBef>
                <a:spcPct val="0"/>
              </a:spcBef>
            </a:pPr>
            <a:r>
              <a:rPr lang="en-US" sz="2399" b="1">
                <a:solidFill>
                  <a:srgbClr val="FFFFFF"/>
                </a:solidFill>
                <a:latin typeface="Open Sauce Bold"/>
                <a:ea typeface="Open Sauce Bold"/>
                <a:cs typeface="Open Sauce Bold"/>
                <a:sym typeface="Open Sauce Bold"/>
              </a:rPr>
              <a:t>BESOINS DSI TANGER MED</a:t>
            </a:r>
          </a:p>
        </p:txBody>
      </p:sp>
      <p:sp>
        <p:nvSpPr>
          <p:cNvPr id="156" name="TextBox 65"/>
          <p:cNvSpPr txBox="1"/>
          <p:nvPr/>
        </p:nvSpPr>
        <p:spPr>
          <a:xfrm>
            <a:off x="4241866" y="4043437"/>
            <a:ext cx="4224316" cy="779780"/>
          </a:xfrm>
          <a:prstGeom prst="rect">
            <a:avLst/>
          </a:prstGeom>
        </p:spPr>
        <p:txBody>
          <a:bodyPr lIns="0" tIns="0" rIns="0" bIns="0" rtlCol="0" anchor="t">
            <a:spAutoFit/>
          </a:bodyPr>
          <a:lstStyle/>
          <a:p>
            <a:pPr algn="l">
              <a:lnSpc>
                <a:spcPts val="3220"/>
              </a:lnSpc>
              <a:spcBef>
                <a:spcPct val="0"/>
              </a:spcBef>
            </a:pPr>
            <a:r>
              <a:rPr lang="en-US" sz="2300">
                <a:solidFill>
                  <a:srgbClr val="000000"/>
                </a:solidFill>
                <a:latin typeface="Open Sauce"/>
                <a:ea typeface="Open Sauce"/>
                <a:cs typeface="Open Sauce"/>
                <a:sym typeface="Open Sauce"/>
              </a:rPr>
              <a:t>Administration 100% manuelle -erreurs fréquentes</a:t>
            </a:r>
          </a:p>
        </p:txBody>
      </p:sp>
      <p:sp>
        <p:nvSpPr>
          <p:cNvPr id="157" name="TextBox 66"/>
          <p:cNvSpPr txBox="1"/>
          <p:nvPr/>
        </p:nvSpPr>
        <p:spPr>
          <a:xfrm>
            <a:off x="9858701" y="4161235"/>
            <a:ext cx="4224316" cy="824865"/>
          </a:xfrm>
          <a:prstGeom prst="rect">
            <a:avLst/>
          </a:prstGeom>
        </p:spPr>
        <p:txBody>
          <a:bodyPr lIns="0" tIns="0" rIns="0" bIns="0" rtlCol="0" anchor="t">
            <a:spAutoFit/>
          </a:bodyPr>
          <a:lstStyle/>
          <a:p>
            <a:pPr algn="ctr">
              <a:lnSpc>
                <a:spcPts val="3359"/>
              </a:lnSpc>
              <a:spcBef>
                <a:spcPct val="0"/>
              </a:spcBef>
            </a:pPr>
            <a:r>
              <a:rPr lang="en-US" sz="2400">
                <a:solidFill>
                  <a:srgbClr val="000000"/>
                </a:solidFill>
                <a:latin typeface="Open Sauce"/>
                <a:ea typeface="Open Sauce"/>
                <a:cs typeface="Open Sauce"/>
                <a:sym typeface="Open Sauce"/>
              </a:rPr>
              <a:t>Isolation stricte entre tenants (marsa, DHL...)</a:t>
            </a:r>
          </a:p>
        </p:txBody>
      </p:sp>
      <p:sp>
        <p:nvSpPr>
          <p:cNvPr id="158" name="TextBox 67"/>
          <p:cNvSpPr txBox="1"/>
          <p:nvPr/>
        </p:nvSpPr>
        <p:spPr>
          <a:xfrm>
            <a:off x="4241866" y="5097464"/>
            <a:ext cx="4224316" cy="824865"/>
          </a:xfrm>
          <a:prstGeom prst="rect">
            <a:avLst/>
          </a:prstGeom>
        </p:spPr>
        <p:txBody>
          <a:bodyPr lIns="0" tIns="0" rIns="0" bIns="0" rtlCol="0" anchor="t">
            <a:spAutoFit/>
          </a:bodyPr>
          <a:lstStyle/>
          <a:p>
            <a:pPr algn="l">
              <a:lnSpc>
                <a:spcPts val="3359"/>
              </a:lnSpc>
              <a:spcBef>
                <a:spcPct val="0"/>
              </a:spcBef>
            </a:pPr>
            <a:r>
              <a:rPr lang="en-US" sz="2400">
                <a:solidFill>
                  <a:srgbClr val="000000"/>
                </a:solidFill>
                <a:latin typeface="Open Sauce"/>
                <a:ea typeface="Open Sauce"/>
                <a:cs typeface="Open Sauce"/>
                <a:sym typeface="Open Sauce"/>
              </a:rPr>
              <a:t>Aucune HA native -downtime en cas de panne</a:t>
            </a:r>
          </a:p>
        </p:txBody>
      </p:sp>
      <p:sp>
        <p:nvSpPr>
          <p:cNvPr id="159" name="TextBox 68"/>
          <p:cNvSpPr txBox="1"/>
          <p:nvPr/>
        </p:nvSpPr>
        <p:spPr>
          <a:xfrm>
            <a:off x="9715500" y="5329000"/>
            <a:ext cx="4224316" cy="405765"/>
          </a:xfrm>
          <a:prstGeom prst="rect">
            <a:avLst/>
          </a:prstGeom>
        </p:spPr>
        <p:txBody>
          <a:bodyPr lIns="0" tIns="0" rIns="0" bIns="0" rtlCol="0" anchor="t">
            <a:spAutoFit/>
          </a:bodyPr>
          <a:lstStyle/>
          <a:p>
            <a:pPr algn="ctr">
              <a:lnSpc>
                <a:spcPts val="3359"/>
              </a:lnSpc>
              <a:spcBef>
                <a:spcPct val="0"/>
              </a:spcBef>
            </a:pPr>
            <a:r>
              <a:rPr lang="en-US" sz="2400">
                <a:solidFill>
                  <a:srgbClr val="000000"/>
                </a:solidFill>
                <a:latin typeface="Open Sauce"/>
                <a:ea typeface="Open Sauce"/>
                <a:cs typeface="Open Sauce"/>
                <a:sym typeface="Open Sauce"/>
              </a:rPr>
              <a:t>Haute disponibilité</a:t>
            </a:r>
          </a:p>
        </p:txBody>
      </p:sp>
      <p:sp>
        <p:nvSpPr>
          <p:cNvPr id="160" name="TextBox 69"/>
          <p:cNvSpPr txBox="1"/>
          <p:nvPr/>
        </p:nvSpPr>
        <p:spPr>
          <a:xfrm>
            <a:off x="4241866" y="6203397"/>
            <a:ext cx="4224316" cy="824865"/>
          </a:xfrm>
          <a:prstGeom prst="rect">
            <a:avLst/>
          </a:prstGeom>
        </p:spPr>
        <p:txBody>
          <a:bodyPr lIns="0" tIns="0" rIns="0" bIns="0" rtlCol="0" anchor="t">
            <a:spAutoFit/>
          </a:bodyPr>
          <a:lstStyle/>
          <a:p>
            <a:pPr algn="l">
              <a:lnSpc>
                <a:spcPts val="3359"/>
              </a:lnSpc>
              <a:spcBef>
                <a:spcPct val="0"/>
              </a:spcBef>
            </a:pPr>
            <a:r>
              <a:rPr lang="en-US" sz="2400">
                <a:solidFill>
                  <a:srgbClr val="000000"/>
                </a:solidFill>
                <a:latin typeface="Open Sauce"/>
                <a:ea typeface="Open Sauce"/>
                <a:cs typeface="Open Sauce"/>
                <a:sym typeface="Open Sauce"/>
              </a:rPr>
              <a:t>Sécurité périmétrique insuffisante</a:t>
            </a:r>
          </a:p>
        </p:txBody>
      </p:sp>
      <p:sp>
        <p:nvSpPr>
          <p:cNvPr id="161" name="TextBox 70"/>
          <p:cNvSpPr txBox="1"/>
          <p:nvPr/>
        </p:nvSpPr>
        <p:spPr>
          <a:xfrm>
            <a:off x="9730950" y="6306265"/>
            <a:ext cx="4224316" cy="824865"/>
          </a:xfrm>
          <a:prstGeom prst="rect">
            <a:avLst/>
          </a:prstGeom>
        </p:spPr>
        <p:txBody>
          <a:bodyPr lIns="0" tIns="0" rIns="0" bIns="0" rtlCol="0" anchor="t">
            <a:spAutoFit/>
          </a:bodyPr>
          <a:lstStyle/>
          <a:p>
            <a:pPr algn="ctr">
              <a:lnSpc>
                <a:spcPts val="3359"/>
              </a:lnSpc>
              <a:spcBef>
                <a:spcPct val="0"/>
              </a:spcBef>
            </a:pPr>
            <a:r>
              <a:rPr lang="en-US" sz="2400" dirty="0" err="1">
                <a:solidFill>
                  <a:srgbClr val="000000"/>
                </a:solidFill>
                <a:latin typeface="Open Sauce"/>
                <a:ea typeface="Open Sauce"/>
                <a:cs typeface="Open Sauce"/>
                <a:sym typeface="Open Sauce"/>
              </a:rPr>
              <a:t>Sécurité</a:t>
            </a:r>
            <a:r>
              <a:rPr lang="en-US" sz="2400" dirty="0">
                <a:solidFill>
                  <a:srgbClr val="000000"/>
                </a:solidFill>
                <a:latin typeface="Open Sauce"/>
                <a:ea typeface="Open Sauce"/>
                <a:cs typeface="Open Sauce"/>
                <a:sym typeface="Open Sauce"/>
              </a:rPr>
              <a:t> Zero-Trust bout </a:t>
            </a:r>
            <a:r>
              <a:rPr lang="en-US" sz="2400" dirty="0" err="1">
                <a:solidFill>
                  <a:srgbClr val="000000"/>
                </a:solidFill>
                <a:latin typeface="Open Sauce"/>
                <a:ea typeface="Open Sauce"/>
                <a:cs typeface="Open Sauce"/>
                <a:sym typeface="Open Sauce"/>
              </a:rPr>
              <a:t>en</a:t>
            </a:r>
            <a:r>
              <a:rPr lang="en-US" sz="2400" dirty="0">
                <a:solidFill>
                  <a:srgbClr val="000000"/>
                </a:solidFill>
                <a:latin typeface="Open Sauce"/>
                <a:ea typeface="Open Sauce"/>
                <a:cs typeface="Open Sauce"/>
                <a:sym typeface="Open Sauce"/>
              </a:rPr>
              <a:t> bout</a:t>
            </a:r>
          </a:p>
        </p:txBody>
      </p:sp>
      <p:sp>
        <p:nvSpPr>
          <p:cNvPr id="162" name="TextBox 71"/>
          <p:cNvSpPr txBox="1"/>
          <p:nvPr/>
        </p:nvSpPr>
        <p:spPr>
          <a:xfrm>
            <a:off x="4241866" y="7314012"/>
            <a:ext cx="4224316" cy="824865"/>
          </a:xfrm>
          <a:prstGeom prst="rect">
            <a:avLst/>
          </a:prstGeom>
        </p:spPr>
        <p:txBody>
          <a:bodyPr lIns="0" tIns="0" rIns="0" bIns="0" rtlCol="0" anchor="t">
            <a:spAutoFit/>
          </a:bodyPr>
          <a:lstStyle/>
          <a:p>
            <a:pPr algn="l">
              <a:lnSpc>
                <a:spcPts val="3359"/>
              </a:lnSpc>
              <a:spcBef>
                <a:spcPct val="0"/>
              </a:spcBef>
            </a:pPr>
            <a:r>
              <a:rPr lang="en-US" sz="2400">
                <a:solidFill>
                  <a:srgbClr val="000000"/>
                </a:solidFill>
                <a:latin typeface="Open Sauce"/>
                <a:ea typeface="Open Sauce"/>
                <a:cs typeface="Open Sauce"/>
                <a:sym typeface="Open Sauce"/>
              </a:rPr>
              <a:t>Sauvegardes non fiables et non testées</a:t>
            </a:r>
          </a:p>
        </p:txBody>
      </p:sp>
      <p:sp>
        <p:nvSpPr>
          <p:cNvPr id="163" name="TextBox 72"/>
          <p:cNvSpPr txBox="1"/>
          <p:nvPr/>
        </p:nvSpPr>
        <p:spPr>
          <a:xfrm>
            <a:off x="9715500" y="7455308"/>
            <a:ext cx="4224316" cy="824865"/>
          </a:xfrm>
          <a:prstGeom prst="rect">
            <a:avLst/>
          </a:prstGeom>
        </p:spPr>
        <p:txBody>
          <a:bodyPr lIns="0" tIns="0" rIns="0" bIns="0" rtlCol="0" anchor="t">
            <a:spAutoFit/>
          </a:bodyPr>
          <a:lstStyle/>
          <a:p>
            <a:pPr marL="0" lvl="0" indent="0" algn="ctr">
              <a:lnSpc>
                <a:spcPts val="3359"/>
              </a:lnSpc>
              <a:spcBef>
                <a:spcPct val="0"/>
              </a:spcBef>
            </a:pPr>
            <a:r>
              <a:rPr lang="en-US" sz="2400" u="none" strike="noStrike">
                <a:solidFill>
                  <a:srgbClr val="000000"/>
                </a:solidFill>
                <a:latin typeface="Open Sauce"/>
                <a:ea typeface="Open Sauce"/>
                <a:cs typeface="Open Sauce"/>
                <a:sym typeface="Open Sauce"/>
              </a:rPr>
              <a:t>Déploiement automatisé en quelques minutes</a:t>
            </a:r>
          </a:p>
        </p:txBody>
      </p:sp>
      <p:sp>
        <p:nvSpPr>
          <p:cNvPr id="164" name="TextBox 73"/>
          <p:cNvSpPr txBox="1"/>
          <p:nvPr/>
        </p:nvSpPr>
        <p:spPr>
          <a:xfrm>
            <a:off x="4259687" y="8433435"/>
            <a:ext cx="4224316" cy="824865"/>
          </a:xfrm>
          <a:prstGeom prst="rect">
            <a:avLst/>
          </a:prstGeom>
        </p:spPr>
        <p:txBody>
          <a:bodyPr lIns="0" tIns="0" rIns="0" bIns="0" rtlCol="0" anchor="t">
            <a:spAutoFit/>
          </a:bodyPr>
          <a:lstStyle/>
          <a:p>
            <a:pPr algn="l">
              <a:lnSpc>
                <a:spcPts val="3359"/>
              </a:lnSpc>
              <a:spcBef>
                <a:spcPct val="0"/>
              </a:spcBef>
            </a:pPr>
            <a:r>
              <a:rPr lang="en-US" sz="2400">
                <a:solidFill>
                  <a:srgbClr val="000000"/>
                </a:solidFill>
                <a:latin typeface="Open Sauce"/>
                <a:ea typeface="Open Sauce"/>
                <a:cs typeface="Open Sauce"/>
                <a:sym typeface="Open Sauce"/>
              </a:rPr>
              <a:t>Licences coûteuses sans valeur ajoutée</a:t>
            </a:r>
          </a:p>
        </p:txBody>
      </p:sp>
      <p:sp>
        <p:nvSpPr>
          <p:cNvPr id="165" name="TextBox 74"/>
          <p:cNvSpPr txBox="1"/>
          <p:nvPr/>
        </p:nvSpPr>
        <p:spPr>
          <a:xfrm>
            <a:off x="9858701" y="8522579"/>
            <a:ext cx="4224316" cy="405765"/>
          </a:xfrm>
          <a:prstGeom prst="rect">
            <a:avLst/>
          </a:prstGeom>
        </p:spPr>
        <p:txBody>
          <a:bodyPr lIns="0" tIns="0" rIns="0" bIns="0" rtlCol="0" anchor="t">
            <a:spAutoFit/>
          </a:bodyPr>
          <a:lstStyle/>
          <a:p>
            <a:pPr marL="0" lvl="0" indent="0" algn="ctr">
              <a:lnSpc>
                <a:spcPts val="3359"/>
              </a:lnSpc>
              <a:spcBef>
                <a:spcPct val="0"/>
              </a:spcBef>
            </a:pPr>
            <a:r>
              <a:rPr lang="en-US" sz="2400">
                <a:solidFill>
                  <a:srgbClr val="000000"/>
                </a:solidFill>
                <a:latin typeface="Open Sauce"/>
                <a:ea typeface="Open Sauce"/>
                <a:cs typeface="Open Sauce"/>
                <a:sym typeface="Open Sauce"/>
              </a:rPr>
              <a:t>Audit et traçabilité c</a:t>
            </a:r>
            <a:r>
              <a:rPr lang="en-US" sz="2400" u="none" strike="noStrike">
                <a:solidFill>
                  <a:srgbClr val="000000"/>
                </a:solidFill>
                <a:latin typeface="Open Sauce"/>
                <a:ea typeface="Open Sauce"/>
                <a:cs typeface="Open Sauce"/>
                <a:sym typeface="Open Sauce"/>
              </a:rPr>
              <a:t>omplète</a:t>
            </a:r>
          </a:p>
        </p:txBody>
      </p:sp>
    </p:spTree>
    <p:extLst>
      <p:ext uri="{BB962C8B-B14F-4D97-AF65-F5344CB8AC3E}">
        <p14:creationId xmlns:p14="http://schemas.microsoft.com/office/powerpoint/2010/main" val="33415920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1015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10" name="Isosceles Triangle 9">
            <a:extLst>
              <a:ext uri="{FF2B5EF4-FFF2-40B4-BE49-F238E27FC236}">
                <a16:creationId xmlns:a16="http://schemas.microsoft.com/office/drawing/2014/main" id="{709D209E-827B-4D05-AF40-9CDA368833AE}"/>
              </a:ext>
            </a:extLst>
          </p:cNvPr>
          <p:cNvSpPr/>
          <p:nvPr/>
        </p:nvSpPr>
        <p:spPr>
          <a:xfrm>
            <a:off x="376404" y="938725"/>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smtClean="0"/>
              <a:t>Contexte </a:t>
            </a:r>
            <a:r>
              <a:rPr lang="fr-FR" sz="2400" dirty="0"/>
              <a:t>&amp; Problématique</a:t>
            </a:r>
            <a:endParaRPr lang="fr-MA" sz="2400" dirty="0"/>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graphicFrame>
        <p:nvGraphicFramePr>
          <p:cNvPr id="6" name="Tableau 5"/>
          <p:cNvGraphicFramePr>
            <a:graphicFrameLocks noGrp="1"/>
          </p:cNvGraphicFramePr>
          <p:nvPr>
            <p:extLst>
              <p:ext uri="{D42A27DB-BD31-4B8C-83A1-F6EECF244321}">
                <p14:modId xmlns:p14="http://schemas.microsoft.com/office/powerpoint/2010/main" val="3644231493"/>
              </p:ext>
            </p:extLst>
          </p:nvPr>
        </p:nvGraphicFramePr>
        <p:xfrm>
          <a:off x="606820" y="2845974"/>
          <a:ext cx="9634983" cy="5558363"/>
        </p:xfrm>
        <a:graphic>
          <a:graphicData uri="http://schemas.openxmlformats.org/drawingml/2006/table">
            <a:tbl>
              <a:tblPr firstRow="1" firstCol="1" bandRow="1">
                <a:tableStyleId>{5C22544A-7EE6-4342-B048-85BDC9FD1C3A}</a:tableStyleId>
              </a:tblPr>
              <a:tblGrid>
                <a:gridCol w="2315827">
                  <a:extLst>
                    <a:ext uri="{9D8B030D-6E8A-4147-A177-3AD203B41FA5}">
                      <a16:colId xmlns:a16="http://schemas.microsoft.com/office/drawing/2014/main" val="1219372161"/>
                    </a:ext>
                  </a:extLst>
                </a:gridCol>
                <a:gridCol w="2671728">
                  <a:extLst>
                    <a:ext uri="{9D8B030D-6E8A-4147-A177-3AD203B41FA5}">
                      <a16:colId xmlns:a16="http://schemas.microsoft.com/office/drawing/2014/main" val="2477256090"/>
                    </a:ext>
                  </a:extLst>
                </a:gridCol>
                <a:gridCol w="2494271">
                  <a:extLst>
                    <a:ext uri="{9D8B030D-6E8A-4147-A177-3AD203B41FA5}">
                      <a16:colId xmlns:a16="http://schemas.microsoft.com/office/drawing/2014/main" val="987738012"/>
                    </a:ext>
                  </a:extLst>
                </a:gridCol>
                <a:gridCol w="2153157">
                  <a:extLst>
                    <a:ext uri="{9D8B030D-6E8A-4147-A177-3AD203B41FA5}">
                      <a16:colId xmlns:a16="http://schemas.microsoft.com/office/drawing/2014/main" val="4220083228"/>
                    </a:ext>
                  </a:extLst>
                </a:gridCol>
              </a:tblGrid>
              <a:tr h="814882">
                <a:tc>
                  <a:txBody>
                    <a:bodyPr/>
                    <a:lstStyle/>
                    <a:p>
                      <a:pPr algn="ctr">
                        <a:lnSpc>
                          <a:spcPct val="107000"/>
                        </a:lnSpc>
                        <a:spcAft>
                          <a:spcPts val="0"/>
                        </a:spcAft>
                      </a:pPr>
                      <a:r>
                        <a:rPr lang="fr-FR" sz="2400" dirty="0">
                          <a:solidFill>
                            <a:schemeClr val="tx1"/>
                          </a:solidFill>
                          <a:effectLst/>
                        </a:rPr>
                        <a:t>Technologie</a:t>
                      </a:r>
                      <a:endParaRPr lang="fr-FR" sz="24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44450" marR="44450" marT="0" marB="0" anchor="ctr"/>
                </a:tc>
                <a:tc>
                  <a:txBody>
                    <a:bodyPr/>
                    <a:lstStyle/>
                    <a:p>
                      <a:pPr marL="0" algn="ctr" defTabSz="914400" rtl="0" eaLnBrk="1" latinLnBrk="0" hangingPunct="1">
                        <a:lnSpc>
                          <a:spcPct val="107000"/>
                        </a:lnSpc>
                        <a:spcAft>
                          <a:spcPts val="0"/>
                        </a:spcAft>
                      </a:pPr>
                      <a:r>
                        <a:rPr lang="fr-FR" sz="2400" b="1" kern="1200" dirty="0">
                          <a:solidFill>
                            <a:schemeClr val="tx1"/>
                          </a:solidFill>
                          <a:effectLst/>
                          <a:latin typeface="+mn-lt"/>
                          <a:ea typeface="+mn-ea"/>
                          <a:cs typeface="+mn-cs"/>
                        </a:rPr>
                        <a:t>Solution Retenue</a:t>
                      </a:r>
                    </a:p>
                  </a:txBody>
                  <a:tcPr marL="44450" marR="44450" marT="0" marB="0" anchor="ctr"/>
                </a:tc>
                <a:tc>
                  <a:txBody>
                    <a:bodyPr/>
                    <a:lstStyle/>
                    <a:p>
                      <a:pPr marL="0" algn="ctr" defTabSz="914400" rtl="0" eaLnBrk="1" latinLnBrk="0" hangingPunct="1">
                        <a:lnSpc>
                          <a:spcPct val="107000"/>
                        </a:lnSpc>
                        <a:spcAft>
                          <a:spcPts val="0"/>
                        </a:spcAft>
                      </a:pPr>
                      <a:r>
                        <a:rPr lang="fr-FR" sz="2400" b="1" kern="1200" dirty="0">
                          <a:solidFill>
                            <a:schemeClr val="tx1"/>
                          </a:solidFill>
                          <a:effectLst/>
                          <a:latin typeface="+mn-lt"/>
                          <a:ea typeface="+mn-ea"/>
                          <a:cs typeface="+mn-cs"/>
                        </a:rPr>
                        <a:t>Alternative</a:t>
                      </a:r>
                    </a:p>
                  </a:txBody>
                  <a:tcPr marL="44450" marR="44450" marT="0" marB="0" anchor="ctr"/>
                </a:tc>
                <a:tc>
                  <a:txBody>
                    <a:bodyPr/>
                    <a:lstStyle/>
                    <a:p>
                      <a:pPr marL="0" algn="ctr" defTabSz="914400" rtl="0" eaLnBrk="1" latinLnBrk="0" hangingPunct="1">
                        <a:lnSpc>
                          <a:spcPct val="107000"/>
                        </a:lnSpc>
                        <a:spcAft>
                          <a:spcPts val="0"/>
                        </a:spcAft>
                      </a:pPr>
                      <a:r>
                        <a:rPr lang="fr-FR" sz="2400" b="1" kern="1200" dirty="0">
                          <a:solidFill>
                            <a:schemeClr val="tx1"/>
                          </a:solidFill>
                          <a:effectLst/>
                          <a:latin typeface="+mn-lt"/>
                          <a:ea typeface="+mn-ea"/>
                          <a:cs typeface="+mn-cs"/>
                        </a:rPr>
                        <a:t>Argument Clé</a:t>
                      </a:r>
                    </a:p>
                  </a:txBody>
                  <a:tcPr marL="44450" marR="44450" marT="0" marB="0" anchor="ctr"/>
                </a:tc>
                <a:extLst>
                  <a:ext uri="{0D108BD9-81ED-4DB2-BD59-A6C34878D82A}">
                    <a16:rowId xmlns:a16="http://schemas.microsoft.com/office/drawing/2014/main" val="1629326389"/>
                  </a:ext>
                </a:extLst>
              </a:tr>
              <a:tr h="978387">
                <a:tc>
                  <a:txBody>
                    <a:bodyPr/>
                    <a:lstStyle/>
                    <a:p>
                      <a:pPr>
                        <a:lnSpc>
                          <a:spcPct val="107000"/>
                        </a:lnSpc>
                        <a:spcAft>
                          <a:spcPts val="0"/>
                        </a:spcAft>
                      </a:pPr>
                      <a:r>
                        <a:rPr lang="fr-FR" sz="2400" b="1" kern="1200" dirty="0">
                          <a:solidFill>
                            <a:schemeClr val="tx1"/>
                          </a:solidFill>
                          <a:effectLst/>
                          <a:latin typeface="+mn-lt"/>
                          <a:ea typeface="+mn-ea"/>
                          <a:cs typeface="+mn-cs"/>
                        </a:rPr>
                        <a:t>Orchestration</a:t>
                      </a:r>
                    </a:p>
                  </a:txBody>
                  <a:tcPr marL="44450" marR="44450" marT="0" marB="0" anchor="ctr"/>
                </a:tc>
                <a:tc>
                  <a:txBody>
                    <a:bodyPr/>
                    <a:lstStyle/>
                    <a:p>
                      <a:pPr algn="ctr">
                        <a:lnSpc>
                          <a:spcPct val="107000"/>
                        </a:lnSpc>
                        <a:spcAft>
                          <a:spcPts val="0"/>
                        </a:spcAft>
                      </a:pPr>
                      <a:endParaRPr lang="fr-FR" sz="2200" dirty="0" smtClean="0">
                        <a:ln>
                          <a:noFill/>
                        </a:ln>
                        <a:effectLst/>
                      </a:endParaRPr>
                    </a:p>
                    <a:p>
                      <a:pPr algn="ctr">
                        <a:lnSpc>
                          <a:spcPct val="107000"/>
                        </a:lnSpc>
                        <a:spcAft>
                          <a:spcPts val="0"/>
                        </a:spcAft>
                      </a:pPr>
                      <a:r>
                        <a:rPr lang="fr-FR" sz="2200" dirty="0" err="1" smtClean="0">
                          <a:ln>
                            <a:noFill/>
                          </a:ln>
                          <a:effectLst/>
                        </a:rPr>
                        <a:t>Proxmox</a:t>
                      </a:r>
                      <a:r>
                        <a:rPr lang="fr-FR" sz="2200" dirty="0" smtClean="0">
                          <a:ln>
                            <a:noFill/>
                          </a:ln>
                          <a:effectLst/>
                        </a:rPr>
                        <a:t> </a:t>
                      </a:r>
                      <a:r>
                        <a:rPr lang="fr-FR" sz="2200" dirty="0">
                          <a:ln>
                            <a:noFill/>
                          </a:ln>
                          <a:effectLst/>
                        </a:rPr>
                        <a:t>VE</a:t>
                      </a:r>
                      <a:endParaRPr lang="fr-FR" sz="2200" dirty="0">
                        <a:effectLst/>
                        <a:latin typeface="Calibri" panose="020F0502020204030204" pitchFamily="34" charset="0"/>
                        <a:ea typeface="Calibri" panose="020F0502020204030204" pitchFamily="34" charset="0"/>
                        <a:cs typeface="Arial" panose="020B0604020202020204" pitchFamily="34" charset="0"/>
                      </a:endParaRPr>
                    </a:p>
                  </a:txBody>
                  <a:tcPr marL="44450" marR="44450" marT="0" marB="0"/>
                </a:tc>
                <a:tc>
                  <a:txBody>
                    <a:bodyPr/>
                    <a:lstStyle/>
                    <a:p>
                      <a:pPr marL="0" algn="ctr" defTabSz="914400" rtl="0" eaLnBrk="1" latinLnBrk="0" hangingPunct="1">
                        <a:lnSpc>
                          <a:spcPct val="107000"/>
                        </a:lnSpc>
                        <a:spcAft>
                          <a:spcPts val="0"/>
                        </a:spcAft>
                      </a:pPr>
                      <a:endParaRPr lang="fr-FR" sz="2200" kern="1200" dirty="0" smtClean="0">
                        <a:ln>
                          <a:noFill/>
                        </a:ln>
                        <a:solidFill>
                          <a:schemeClr val="dk1"/>
                        </a:solidFill>
                        <a:effectLst/>
                        <a:latin typeface="+mn-lt"/>
                        <a:ea typeface="+mn-ea"/>
                        <a:cs typeface="+mn-cs"/>
                      </a:endParaRPr>
                    </a:p>
                    <a:p>
                      <a:pPr marL="0" algn="ctr" defTabSz="914400" rtl="0" eaLnBrk="1" latinLnBrk="0" hangingPunct="1">
                        <a:lnSpc>
                          <a:spcPct val="107000"/>
                        </a:lnSpc>
                        <a:spcAft>
                          <a:spcPts val="0"/>
                        </a:spcAft>
                      </a:pPr>
                      <a:r>
                        <a:rPr lang="fr-FR" sz="2200" kern="1200" dirty="0" err="1" smtClean="0">
                          <a:ln>
                            <a:noFill/>
                          </a:ln>
                          <a:solidFill>
                            <a:schemeClr val="dk1"/>
                          </a:solidFill>
                          <a:effectLst/>
                          <a:latin typeface="+mn-lt"/>
                          <a:ea typeface="+mn-ea"/>
                          <a:cs typeface="+mn-cs"/>
                        </a:rPr>
                        <a:t>OpenStack</a:t>
                      </a:r>
                      <a:endParaRPr lang="fr-FR" sz="2200" kern="1200" dirty="0">
                        <a:ln>
                          <a:noFill/>
                        </a:ln>
                        <a:solidFill>
                          <a:schemeClr val="dk1"/>
                        </a:solidFill>
                        <a:effectLst/>
                        <a:latin typeface="+mn-lt"/>
                        <a:ea typeface="+mn-ea"/>
                        <a:cs typeface="+mn-cs"/>
                      </a:endParaRPr>
                    </a:p>
                  </a:txBody>
                  <a:tcPr marL="44450" marR="44450" marT="0" marB="0"/>
                </a:tc>
                <a:tc>
                  <a:txBody>
                    <a:bodyPr/>
                    <a:lstStyle/>
                    <a:p>
                      <a:pPr marL="0" algn="ctr" defTabSz="914400" rtl="0" eaLnBrk="1" latinLnBrk="0" hangingPunct="1">
                        <a:lnSpc>
                          <a:spcPct val="107000"/>
                        </a:lnSpc>
                        <a:spcAft>
                          <a:spcPts val="0"/>
                        </a:spcAft>
                      </a:pPr>
                      <a:r>
                        <a:rPr lang="fr-FR" sz="2200" kern="1200" dirty="0">
                          <a:ln>
                            <a:noFill/>
                          </a:ln>
                          <a:solidFill>
                            <a:schemeClr val="dk1"/>
                          </a:solidFill>
                          <a:effectLst/>
                          <a:latin typeface="+mn-lt"/>
                          <a:ea typeface="+mn-ea"/>
                          <a:cs typeface="+mn-cs"/>
                        </a:rPr>
                        <a:t>Simplicité vs Complexité </a:t>
                      </a:r>
                      <a:r>
                        <a:rPr lang="fr-FR" sz="2200" kern="1200" dirty="0" err="1">
                          <a:ln>
                            <a:noFill/>
                          </a:ln>
                          <a:solidFill>
                            <a:schemeClr val="dk1"/>
                          </a:solidFill>
                          <a:effectLst/>
                          <a:latin typeface="+mn-lt"/>
                          <a:ea typeface="+mn-ea"/>
                          <a:cs typeface="+mn-cs"/>
                        </a:rPr>
                        <a:t>IaaS</a:t>
                      </a:r>
                      <a:endParaRPr lang="fr-FR" sz="2200" kern="1200" dirty="0">
                        <a:ln>
                          <a:noFill/>
                        </a:ln>
                        <a:solidFill>
                          <a:schemeClr val="dk1"/>
                        </a:solidFill>
                        <a:effectLst/>
                        <a:latin typeface="+mn-lt"/>
                        <a:ea typeface="+mn-ea"/>
                        <a:cs typeface="+mn-cs"/>
                      </a:endParaRPr>
                    </a:p>
                  </a:txBody>
                  <a:tcPr marL="44450" marR="44450" marT="0" marB="0"/>
                </a:tc>
                <a:extLst>
                  <a:ext uri="{0D108BD9-81ED-4DB2-BD59-A6C34878D82A}">
                    <a16:rowId xmlns:a16="http://schemas.microsoft.com/office/drawing/2014/main" val="2229132125"/>
                  </a:ext>
                </a:extLst>
              </a:tr>
              <a:tr h="978387">
                <a:tc>
                  <a:txBody>
                    <a:bodyPr/>
                    <a:lstStyle/>
                    <a:p>
                      <a:pPr>
                        <a:lnSpc>
                          <a:spcPct val="107000"/>
                        </a:lnSpc>
                        <a:spcAft>
                          <a:spcPts val="0"/>
                        </a:spcAft>
                      </a:pPr>
                      <a:r>
                        <a:rPr lang="fr-FR" sz="2400" b="1" kern="1200">
                          <a:solidFill>
                            <a:schemeClr val="tx1"/>
                          </a:solidFill>
                          <a:effectLst/>
                          <a:latin typeface="+mn-lt"/>
                          <a:ea typeface="+mn-ea"/>
                          <a:cs typeface="+mn-cs"/>
                        </a:rPr>
                        <a:t>Firewall</a:t>
                      </a:r>
                    </a:p>
                  </a:txBody>
                  <a:tcPr marL="44450" marR="44450" marT="0" marB="0" anchor="ctr"/>
                </a:tc>
                <a:tc>
                  <a:txBody>
                    <a:bodyPr/>
                    <a:lstStyle/>
                    <a:p>
                      <a:pPr marL="0" algn="ctr" defTabSz="914400" rtl="0" eaLnBrk="1" latinLnBrk="0" hangingPunct="1">
                        <a:lnSpc>
                          <a:spcPct val="107000"/>
                        </a:lnSpc>
                        <a:spcAft>
                          <a:spcPts val="0"/>
                        </a:spcAft>
                      </a:pPr>
                      <a:endParaRPr lang="fr-FR" sz="2200" kern="1200" dirty="0" smtClean="0">
                        <a:ln>
                          <a:noFill/>
                        </a:ln>
                        <a:solidFill>
                          <a:schemeClr val="dk1"/>
                        </a:solidFill>
                        <a:effectLst/>
                        <a:latin typeface="+mn-lt"/>
                        <a:ea typeface="+mn-ea"/>
                        <a:cs typeface="+mn-cs"/>
                      </a:endParaRPr>
                    </a:p>
                    <a:p>
                      <a:pPr marL="0" algn="ctr" defTabSz="914400" rtl="0" eaLnBrk="1" latinLnBrk="0" hangingPunct="1">
                        <a:lnSpc>
                          <a:spcPct val="107000"/>
                        </a:lnSpc>
                        <a:spcAft>
                          <a:spcPts val="0"/>
                        </a:spcAft>
                      </a:pPr>
                      <a:r>
                        <a:rPr lang="fr-FR" sz="2200" kern="1200" dirty="0" err="1" smtClean="0">
                          <a:ln>
                            <a:noFill/>
                          </a:ln>
                          <a:solidFill>
                            <a:schemeClr val="dk1"/>
                          </a:solidFill>
                          <a:effectLst/>
                          <a:latin typeface="+mn-lt"/>
                          <a:ea typeface="+mn-ea"/>
                          <a:cs typeface="+mn-cs"/>
                        </a:rPr>
                        <a:t>pfSense</a:t>
                      </a:r>
                      <a:endParaRPr lang="fr-FR" sz="2200" kern="1200" dirty="0">
                        <a:ln>
                          <a:noFill/>
                        </a:ln>
                        <a:solidFill>
                          <a:schemeClr val="dk1"/>
                        </a:solidFill>
                        <a:effectLst/>
                        <a:latin typeface="+mn-lt"/>
                        <a:ea typeface="+mn-ea"/>
                        <a:cs typeface="+mn-cs"/>
                      </a:endParaRPr>
                    </a:p>
                  </a:txBody>
                  <a:tcPr marL="44450" marR="44450" marT="0" marB="0"/>
                </a:tc>
                <a:tc>
                  <a:txBody>
                    <a:bodyPr/>
                    <a:lstStyle/>
                    <a:p>
                      <a:pPr marL="0" algn="ctr" defTabSz="914400" rtl="0" eaLnBrk="1" latinLnBrk="0" hangingPunct="1">
                        <a:lnSpc>
                          <a:spcPct val="107000"/>
                        </a:lnSpc>
                        <a:spcAft>
                          <a:spcPts val="0"/>
                        </a:spcAft>
                      </a:pPr>
                      <a:endParaRPr lang="fr-FR" sz="2200" kern="1200" dirty="0" smtClean="0">
                        <a:ln>
                          <a:noFill/>
                        </a:ln>
                        <a:solidFill>
                          <a:schemeClr val="dk1"/>
                        </a:solidFill>
                        <a:effectLst/>
                        <a:latin typeface="+mn-lt"/>
                        <a:ea typeface="+mn-ea"/>
                        <a:cs typeface="+mn-cs"/>
                      </a:endParaRPr>
                    </a:p>
                    <a:p>
                      <a:pPr marL="0" algn="ctr" defTabSz="914400" rtl="0" eaLnBrk="1" latinLnBrk="0" hangingPunct="1">
                        <a:lnSpc>
                          <a:spcPct val="107000"/>
                        </a:lnSpc>
                        <a:spcAft>
                          <a:spcPts val="0"/>
                        </a:spcAft>
                      </a:pPr>
                      <a:r>
                        <a:rPr lang="fr-FR" sz="2200" kern="1200" dirty="0" err="1" smtClean="0">
                          <a:ln>
                            <a:noFill/>
                          </a:ln>
                          <a:solidFill>
                            <a:schemeClr val="dk1"/>
                          </a:solidFill>
                          <a:effectLst/>
                          <a:latin typeface="+mn-lt"/>
                          <a:ea typeface="+mn-ea"/>
                          <a:cs typeface="+mn-cs"/>
                        </a:rPr>
                        <a:t>Fortinet</a:t>
                      </a:r>
                      <a:endParaRPr lang="fr-FR" sz="2200" kern="1200" dirty="0">
                        <a:ln>
                          <a:noFill/>
                        </a:ln>
                        <a:solidFill>
                          <a:schemeClr val="dk1"/>
                        </a:solidFill>
                        <a:effectLst/>
                        <a:latin typeface="+mn-lt"/>
                        <a:ea typeface="+mn-ea"/>
                        <a:cs typeface="+mn-cs"/>
                      </a:endParaRPr>
                    </a:p>
                  </a:txBody>
                  <a:tcPr marL="44450" marR="44450" marT="0" marB="0"/>
                </a:tc>
                <a:tc>
                  <a:txBody>
                    <a:bodyPr/>
                    <a:lstStyle/>
                    <a:p>
                      <a:pPr marL="0" algn="ctr" defTabSz="914400" rtl="0" eaLnBrk="1" latinLnBrk="0" hangingPunct="1">
                        <a:lnSpc>
                          <a:spcPct val="107000"/>
                        </a:lnSpc>
                        <a:spcAft>
                          <a:spcPts val="0"/>
                        </a:spcAft>
                      </a:pPr>
                      <a:r>
                        <a:rPr lang="fr-FR" sz="2200" kern="1200">
                          <a:ln>
                            <a:noFill/>
                          </a:ln>
                          <a:solidFill>
                            <a:schemeClr val="dk1"/>
                          </a:solidFill>
                          <a:effectLst/>
                          <a:latin typeface="+mn-lt"/>
                          <a:ea typeface="+mn-ea"/>
                          <a:cs typeface="+mn-cs"/>
                        </a:rPr>
                        <a:t>Souveraineté vs Vendor Lock-in</a:t>
                      </a:r>
                    </a:p>
                  </a:txBody>
                  <a:tcPr marL="44450" marR="44450" marT="0" marB="0"/>
                </a:tc>
                <a:extLst>
                  <a:ext uri="{0D108BD9-81ED-4DB2-BD59-A6C34878D82A}">
                    <a16:rowId xmlns:a16="http://schemas.microsoft.com/office/drawing/2014/main" val="2258007893"/>
                  </a:ext>
                </a:extLst>
              </a:tr>
              <a:tr h="978387">
                <a:tc>
                  <a:txBody>
                    <a:bodyPr/>
                    <a:lstStyle/>
                    <a:p>
                      <a:pPr>
                        <a:lnSpc>
                          <a:spcPct val="107000"/>
                        </a:lnSpc>
                        <a:spcAft>
                          <a:spcPts val="0"/>
                        </a:spcAft>
                      </a:pPr>
                      <a:r>
                        <a:rPr lang="fr-FR" sz="2400" b="1" kern="1200">
                          <a:solidFill>
                            <a:schemeClr val="tx1"/>
                          </a:solidFill>
                          <a:effectLst/>
                          <a:latin typeface="+mn-lt"/>
                          <a:ea typeface="+mn-ea"/>
                          <a:cs typeface="+mn-cs"/>
                        </a:rPr>
                        <a:t>Stockage</a:t>
                      </a:r>
                    </a:p>
                  </a:txBody>
                  <a:tcPr marL="44450" marR="44450" marT="0" marB="0" anchor="ctr"/>
                </a:tc>
                <a:tc>
                  <a:txBody>
                    <a:bodyPr/>
                    <a:lstStyle/>
                    <a:p>
                      <a:pPr marL="0" algn="ctr" defTabSz="914400" rtl="0" eaLnBrk="1" latinLnBrk="0" hangingPunct="1">
                        <a:lnSpc>
                          <a:spcPct val="107000"/>
                        </a:lnSpc>
                        <a:spcAft>
                          <a:spcPts val="0"/>
                        </a:spcAft>
                      </a:pPr>
                      <a:endParaRPr lang="fr-FR" sz="2200" kern="1200" dirty="0" smtClean="0">
                        <a:ln>
                          <a:noFill/>
                        </a:ln>
                        <a:solidFill>
                          <a:schemeClr val="dk1"/>
                        </a:solidFill>
                        <a:effectLst/>
                        <a:latin typeface="+mn-lt"/>
                        <a:ea typeface="+mn-ea"/>
                        <a:cs typeface="+mn-cs"/>
                      </a:endParaRPr>
                    </a:p>
                    <a:p>
                      <a:pPr marL="0" algn="ctr" defTabSz="914400" rtl="0" eaLnBrk="1" latinLnBrk="0" hangingPunct="1">
                        <a:lnSpc>
                          <a:spcPct val="107000"/>
                        </a:lnSpc>
                        <a:spcAft>
                          <a:spcPts val="0"/>
                        </a:spcAft>
                      </a:pPr>
                      <a:r>
                        <a:rPr lang="fr-FR" sz="2200" kern="1200" dirty="0" err="1" smtClean="0">
                          <a:ln>
                            <a:noFill/>
                          </a:ln>
                          <a:solidFill>
                            <a:schemeClr val="dk1"/>
                          </a:solidFill>
                          <a:effectLst/>
                          <a:latin typeface="+mn-lt"/>
                          <a:ea typeface="+mn-ea"/>
                          <a:cs typeface="+mn-cs"/>
                        </a:rPr>
                        <a:t>Ceph</a:t>
                      </a:r>
                      <a:r>
                        <a:rPr lang="fr-FR" sz="2200" kern="1200" dirty="0" smtClean="0">
                          <a:ln>
                            <a:noFill/>
                          </a:ln>
                          <a:solidFill>
                            <a:schemeClr val="dk1"/>
                          </a:solidFill>
                          <a:effectLst/>
                          <a:latin typeface="+mn-lt"/>
                          <a:ea typeface="+mn-ea"/>
                          <a:cs typeface="+mn-cs"/>
                        </a:rPr>
                        <a:t> </a:t>
                      </a:r>
                      <a:r>
                        <a:rPr lang="fr-FR" sz="2200" kern="1200" dirty="0" err="1">
                          <a:ln>
                            <a:noFill/>
                          </a:ln>
                          <a:solidFill>
                            <a:schemeClr val="dk1"/>
                          </a:solidFill>
                          <a:effectLst/>
                          <a:latin typeface="+mn-lt"/>
                          <a:ea typeface="+mn-ea"/>
                          <a:cs typeface="+mn-cs"/>
                        </a:rPr>
                        <a:t>Reef</a:t>
                      </a:r>
                      <a:endParaRPr lang="fr-FR" sz="2200" kern="1200" dirty="0">
                        <a:ln>
                          <a:noFill/>
                        </a:ln>
                        <a:solidFill>
                          <a:schemeClr val="dk1"/>
                        </a:solidFill>
                        <a:effectLst/>
                        <a:latin typeface="+mn-lt"/>
                        <a:ea typeface="+mn-ea"/>
                        <a:cs typeface="+mn-cs"/>
                      </a:endParaRPr>
                    </a:p>
                  </a:txBody>
                  <a:tcPr marL="44450" marR="44450" marT="0" marB="0"/>
                </a:tc>
                <a:tc>
                  <a:txBody>
                    <a:bodyPr/>
                    <a:lstStyle/>
                    <a:p>
                      <a:pPr marL="0" algn="ctr" defTabSz="914400" rtl="0" eaLnBrk="1" latinLnBrk="0" hangingPunct="1">
                        <a:lnSpc>
                          <a:spcPct val="107000"/>
                        </a:lnSpc>
                        <a:spcAft>
                          <a:spcPts val="0"/>
                        </a:spcAft>
                      </a:pPr>
                      <a:endParaRPr lang="fr-FR" sz="2200" kern="1200" dirty="0" smtClean="0">
                        <a:ln>
                          <a:noFill/>
                        </a:ln>
                        <a:solidFill>
                          <a:schemeClr val="dk1"/>
                        </a:solidFill>
                        <a:effectLst/>
                        <a:latin typeface="+mn-lt"/>
                        <a:ea typeface="+mn-ea"/>
                        <a:cs typeface="+mn-cs"/>
                      </a:endParaRPr>
                    </a:p>
                    <a:p>
                      <a:pPr marL="0" algn="ctr" defTabSz="914400" rtl="0" eaLnBrk="1" latinLnBrk="0" hangingPunct="1">
                        <a:lnSpc>
                          <a:spcPct val="107000"/>
                        </a:lnSpc>
                        <a:spcAft>
                          <a:spcPts val="0"/>
                        </a:spcAft>
                      </a:pPr>
                      <a:r>
                        <a:rPr lang="fr-FR" sz="2200" kern="1200" dirty="0" err="1" smtClean="0">
                          <a:ln>
                            <a:noFill/>
                          </a:ln>
                          <a:solidFill>
                            <a:schemeClr val="dk1"/>
                          </a:solidFill>
                          <a:effectLst/>
                          <a:latin typeface="+mn-lt"/>
                          <a:ea typeface="+mn-ea"/>
                          <a:cs typeface="+mn-cs"/>
                        </a:rPr>
                        <a:t>TrueNAS</a:t>
                      </a:r>
                      <a:endParaRPr lang="fr-FR" sz="2200" kern="1200" dirty="0">
                        <a:ln>
                          <a:noFill/>
                        </a:ln>
                        <a:solidFill>
                          <a:schemeClr val="dk1"/>
                        </a:solidFill>
                        <a:effectLst/>
                        <a:latin typeface="+mn-lt"/>
                        <a:ea typeface="+mn-ea"/>
                        <a:cs typeface="+mn-cs"/>
                      </a:endParaRPr>
                    </a:p>
                  </a:txBody>
                  <a:tcPr marL="44450" marR="44450" marT="0" marB="0"/>
                </a:tc>
                <a:tc>
                  <a:txBody>
                    <a:bodyPr/>
                    <a:lstStyle/>
                    <a:p>
                      <a:pPr marL="0" algn="ctr" defTabSz="914400" rtl="0" eaLnBrk="1" latinLnBrk="0" hangingPunct="1">
                        <a:lnSpc>
                          <a:spcPct val="107000"/>
                        </a:lnSpc>
                        <a:spcAft>
                          <a:spcPts val="0"/>
                        </a:spcAft>
                      </a:pPr>
                      <a:r>
                        <a:rPr lang="fr-FR" sz="2200" kern="1200" dirty="0" err="1">
                          <a:ln>
                            <a:noFill/>
                          </a:ln>
                          <a:solidFill>
                            <a:schemeClr val="dk1"/>
                          </a:solidFill>
                          <a:effectLst/>
                          <a:latin typeface="+mn-lt"/>
                          <a:ea typeface="+mn-ea"/>
                          <a:cs typeface="+mn-cs"/>
                        </a:rPr>
                        <a:t>Scale</a:t>
                      </a:r>
                      <a:r>
                        <a:rPr lang="fr-FR" sz="2200" kern="1200" dirty="0">
                          <a:ln>
                            <a:noFill/>
                          </a:ln>
                          <a:solidFill>
                            <a:schemeClr val="dk1"/>
                          </a:solidFill>
                          <a:effectLst/>
                          <a:latin typeface="+mn-lt"/>
                          <a:ea typeface="+mn-ea"/>
                          <a:cs typeface="+mn-cs"/>
                        </a:rPr>
                        <a:t>-Out vs Point de Faute</a:t>
                      </a:r>
                    </a:p>
                  </a:txBody>
                  <a:tcPr marL="44450" marR="44450" marT="0" marB="0"/>
                </a:tc>
                <a:extLst>
                  <a:ext uri="{0D108BD9-81ED-4DB2-BD59-A6C34878D82A}">
                    <a16:rowId xmlns:a16="http://schemas.microsoft.com/office/drawing/2014/main" val="4248748322"/>
                  </a:ext>
                </a:extLst>
              </a:tr>
              <a:tr h="829933">
                <a:tc>
                  <a:txBody>
                    <a:bodyPr/>
                    <a:lstStyle/>
                    <a:p>
                      <a:pPr>
                        <a:lnSpc>
                          <a:spcPct val="107000"/>
                        </a:lnSpc>
                        <a:spcAft>
                          <a:spcPts val="0"/>
                        </a:spcAft>
                      </a:pPr>
                      <a:r>
                        <a:rPr lang="fr-FR" sz="2400" b="1" kern="1200">
                          <a:solidFill>
                            <a:schemeClr val="tx1"/>
                          </a:solidFill>
                          <a:effectLst/>
                          <a:latin typeface="+mn-lt"/>
                          <a:ea typeface="+mn-ea"/>
                          <a:cs typeface="+mn-cs"/>
                        </a:rPr>
                        <a:t>Accès Distant</a:t>
                      </a:r>
                    </a:p>
                  </a:txBody>
                  <a:tcPr marL="44450" marR="44450" marT="0" marB="0" anchor="ctr"/>
                </a:tc>
                <a:tc>
                  <a:txBody>
                    <a:bodyPr/>
                    <a:lstStyle/>
                    <a:p>
                      <a:pPr marL="0" algn="ctr" defTabSz="914400" rtl="0" eaLnBrk="1" latinLnBrk="0" hangingPunct="1">
                        <a:lnSpc>
                          <a:spcPct val="107000"/>
                        </a:lnSpc>
                        <a:spcAft>
                          <a:spcPts val="0"/>
                        </a:spcAft>
                      </a:pPr>
                      <a:endParaRPr lang="fr-FR" sz="2200" kern="1200" dirty="0" smtClean="0">
                        <a:ln>
                          <a:noFill/>
                        </a:ln>
                        <a:solidFill>
                          <a:schemeClr val="dk1"/>
                        </a:solidFill>
                        <a:effectLst/>
                        <a:latin typeface="+mn-lt"/>
                        <a:ea typeface="+mn-ea"/>
                        <a:cs typeface="+mn-cs"/>
                      </a:endParaRPr>
                    </a:p>
                    <a:p>
                      <a:pPr marL="0" algn="ctr" defTabSz="914400" rtl="0" eaLnBrk="1" latinLnBrk="0" hangingPunct="1">
                        <a:lnSpc>
                          <a:spcPct val="107000"/>
                        </a:lnSpc>
                        <a:spcAft>
                          <a:spcPts val="0"/>
                        </a:spcAft>
                      </a:pPr>
                      <a:r>
                        <a:rPr lang="fr-FR" sz="2200" kern="1200" dirty="0" err="1" smtClean="0">
                          <a:ln>
                            <a:noFill/>
                          </a:ln>
                          <a:solidFill>
                            <a:schemeClr val="dk1"/>
                          </a:solidFill>
                          <a:effectLst/>
                          <a:latin typeface="+mn-lt"/>
                          <a:ea typeface="+mn-ea"/>
                          <a:cs typeface="+mn-cs"/>
                        </a:rPr>
                        <a:t>Cloudflare</a:t>
                      </a:r>
                      <a:r>
                        <a:rPr lang="fr-FR" sz="2200" kern="1200" dirty="0" smtClean="0">
                          <a:ln>
                            <a:noFill/>
                          </a:ln>
                          <a:solidFill>
                            <a:schemeClr val="dk1"/>
                          </a:solidFill>
                          <a:effectLst/>
                          <a:latin typeface="+mn-lt"/>
                          <a:ea typeface="+mn-ea"/>
                          <a:cs typeface="+mn-cs"/>
                        </a:rPr>
                        <a:t> </a:t>
                      </a:r>
                      <a:r>
                        <a:rPr lang="fr-FR" sz="2200" kern="1200" dirty="0">
                          <a:ln>
                            <a:noFill/>
                          </a:ln>
                          <a:solidFill>
                            <a:schemeClr val="dk1"/>
                          </a:solidFill>
                          <a:effectLst/>
                          <a:latin typeface="+mn-lt"/>
                          <a:ea typeface="+mn-ea"/>
                          <a:cs typeface="+mn-cs"/>
                        </a:rPr>
                        <a:t>ZT</a:t>
                      </a:r>
                    </a:p>
                  </a:txBody>
                  <a:tcPr marL="44450" marR="44450" marT="0" marB="0"/>
                </a:tc>
                <a:tc>
                  <a:txBody>
                    <a:bodyPr/>
                    <a:lstStyle/>
                    <a:p>
                      <a:pPr marL="0" algn="ctr" defTabSz="914400" rtl="0" eaLnBrk="1" latinLnBrk="0" hangingPunct="1">
                        <a:lnSpc>
                          <a:spcPct val="107000"/>
                        </a:lnSpc>
                        <a:spcAft>
                          <a:spcPts val="0"/>
                        </a:spcAft>
                      </a:pPr>
                      <a:endParaRPr lang="fr-FR" sz="2200" kern="1200" dirty="0" smtClean="0">
                        <a:ln>
                          <a:noFill/>
                        </a:ln>
                        <a:solidFill>
                          <a:schemeClr val="dk1"/>
                        </a:solidFill>
                        <a:effectLst/>
                        <a:latin typeface="+mn-lt"/>
                        <a:ea typeface="+mn-ea"/>
                        <a:cs typeface="+mn-cs"/>
                      </a:endParaRPr>
                    </a:p>
                    <a:p>
                      <a:pPr marL="0" algn="ctr" defTabSz="914400" rtl="0" eaLnBrk="1" latinLnBrk="0" hangingPunct="1">
                        <a:lnSpc>
                          <a:spcPct val="107000"/>
                        </a:lnSpc>
                        <a:spcAft>
                          <a:spcPts val="0"/>
                        </a:spcAft>
                      </a:pPr>
                      <a:r>
                        <a:rPr lang="fr-FR" sz="2200" kern="1200" dirty="0" smtClean="0">
                          <a:ln>
                            <a:noFill/>
                          </a:ln>
                          <a:solidFill>
                            <a:schemeClr val="dk1"/>
                          </a:solidFill>
                          <a:effectLst/>
                          <a:latin typeface="+mn-lt"/>
                          <a:ea typeface="+mn-ea"/>
                          <a:cs typeface="+mn-cs"/>
                        </a:rPr>
                        <a:t>VPN </a:t>
                      </a:r>
                      <a:r>
                        <a:rPr lang="fr-FR" sz="2200" kern="1200" dirty="0">
                          <a:ln>
                            <a:noFill/>
                          </a:ln>
                          <a:solidFill>
                            <a:schemeClr val="dk1"/>
                          </a:solidFill>
                          <a:effectLst/>
                          <a:latin typeface="+mn-lt"/>
                          <a:ea typeface="+mn-ea"/>
                          <a:cs typeface="+mn-cs"/>
                        </a:rPr>
                        <a:t>Classique</a:t>
                      </a:r>
                    </a:p>
                  </a:txBody>
                  <a:tcPr marL="44450" marR="44450" marT="0" marB="0"/>
                </a:tc>
                <a:tc>
                  <a:txBody>
                    <a:bodyPr/>
                    <a:lstStyle/>
                    <a:p>
                      <a:pPr marL="0" algn="ctr" defTabSz="914400" rtl="0" eaLnBrk="1" latinLnBrk="0" hangingPunct="1">
                        <a:lnSpc>
                          <a:spcPct val="107000"/>
                        </a:lnSpc>
                        <a:spcAft>
                          <a:spcPts val="0"/>
                        </a:spcAft>
                      </a:pPr>
                      <a:r>
                        <a:rPr lang="fr-FR" sz="2200" kern="1200" dirty="0" err="1">
                          <a:ln>
                            <a:noFill/>
                          </a:ln>
                          <a:solidFill>
                            <a:schemeClr val="dk1"/>
                          </a:solidFill>
                          <a:effectLst/>
                          <a:latin typeface="+mn-lt"/>
                          <a:ea typeface="+mn-ea"/>
                          <a:cs typeface="+mn-cs"/>
                        </a:rPr>
                        <a:t>Zero</a:t>
                      </a:r>
                      <a:r>
                        <a:rPr lang="fr-FR" sz="2200" kern="1200" dirty="0">
                          <a:ln>
                            <a:noFill/>
                          </a:ln>
                          <a:solidFill>
                            <a:schemeClr val="dk1"/>
                          </a:solidFill>
                          <a:effectLst/>
                          <a:latin typeface="+mn-lt"/>
                          <a:ea typeface="+mn-ea"/>
                          <a:cs typeface="+mn-cs"/>
                        </a:rPr>
                        <a:t> Trust vs Périmètre</a:t>
                      </a:r>
                    </a:p>
                  </a:txBody>
                  <a:tcPr marL="44450" marR="44450" marT="0" marB="0"/>
                </a:tc>
                <a:extLst>
                  <a:ext uri="{0D108BD9-81ED-4DB2-BD59-A6C34878D82A}">
                    <a16:rowId xmlns:a16="http://schemas.microsoft.com/office/drawing/2014/main" val="2943408446"/>
                  </a:ext>
                </a:extLst>
              </a:tr>
              <a:tr h="978387">
                <a:tc>
                  <a:txBody>
                    <a:bodyPr/>
                    <a:lstStyle/>
                    <a:p>
                      <a:pPr>
                        <a:lnSpc>
                          <a:spcPct val="107000"/>
                        </a:lnSpc>
                        <a:spcAft>
                          <a:spcPts val="0"/>
                        </a:spcAft>
                      </a:pPr>
                      <a:r>
                        <a:rPr lang="fr-FR" sz="2400" b="1" kern="1200" dirty="0" err="1">
                          <a:solidFill>
                            <a:schemeClr val="tx1"/>
                          </a:solidFill>
                          <a:effectLst/>
                          <a:latin typeface="+mn-lt"/>
                          <a:ea typeface="+mn-ea"/>
                          <a:cs typeface="+mn-cs"/>
                        </a:rPr>
                        <a:t>Provisioning</a:t>
                      </a:r>
                      <a:endParaRPr lang="fr-FR" sz="2400" b="1" kern="1200" dirty="0">
                        <a:solidFill>
                          <a:schemeClr val="tx1"/>
                        </a:solidFill>
                        <a:effectLst/>
                        <a:latin typeface="+mn-lt"/>
                        <a:ea typeface="+mn-ea"/>
                        <a:cs typeface="+mn-cs"/>
                      </a:endParaRPr>
                    </a:p>
                  </a:txBody>
                  <a:tcPr marL="44450" marR="44450" marT="0" marB="0" anchor="ctr"/>
                </a:tc>
                <a:tc>
                  <a:txBody>
                    <a:bodyPr/>
                    <a:lstStyle/>
                    <a:p>
                      <a:pPr marL="0" algn="ctr" defTabSz="914400" rtl="0" eaLnBrk="1" latinLnBrk="0" hangingPunct="1">
                        <a:lnSpc>
                          <a:spcPct val="107000"/>
                        </a:lnSpc>
                        <a:spcAft>
                          <a:spcPts val="0"/>
                        </a:spcAft>
                      </a:pPr>
                      <a:r>
                        <a:rPr lang="fr-FR" sz="2200" kern="1200" dirty="0" err="1">
                          <a:ln>
                            <a:noFill/>
                          </a:ln>
                          <a:solidFill>
                            <a:schemeClr val="dk1"/>
                          </a:solidFill>
                          <a:effectLst/>
                          <a:latin typeface="+mn-lt"/>
                          <a:ea typeface="+mn-ea"/>
                          <a:cs typeface="+mn-cs"/>
                        </a:rPr>
                        <a:t>Terraform</a:t>
                      </a:r>
                      <a:r>
                        <a:rPr lang="fr-FR" sz="2200" kern="1200" dirty="0">
                          <a:ln>
                            <a:noFill/>
                          </a:ln>
                          <a:solidFill>
                            <a:schemeClr val="dk1"/>
                          </a:solidFill>
                          <a:effectLst/>
                          <a:latin typeface="+mn-lt"/>
                          <a:ea typeface="+mn-ea"/>
                          <a:cs typeface="+mn-cs"/>
                        </a:rPr>
                        <a:t> &amp; </a:t>
                      </a:r>
                      <a:r>
                        <a:rPr lang="fr-FR" sz="2200" kern="1200" dirty="0" err="1">
                          <a:ln>
                            <a:noFill/>
                          </a:ln>
                          <a:solidFill>
                            <a:schemeClr val="dk1"/>
                          </a:solidFill>
                          <a:effectLst/>
                          <a:latin typeface="+mn-lt"/>
                          <a:ea typeface="+mn-ea"/>
                          <a:cs typeface="+mn-cs"/>
                        </a:rPr>
                        <a:t>Ansible</a:t>
                      </a:r>
                      <a:endParaRPr lang="fr-FR" sz="2200" kern="1200" dirty="0">
                        <a:ln>
                          <a:noFill/>
                        </a:ln>
                        <a:solidFill>
                          <a:schemeClr val="dk1"/>
                        </a:solidFill>
                        <a:effectLst/>
                        <a:latin typeface="+mn-lt"/>
                        <a:ea typeface="+mn-ea"/>
                        <a:cs typeface="+mn-cs"/>
                      </a:endParaRPr>
                    </a:p>
                  </a:txBody>
                  <a:tcPr marL="44450" marR="44450" marT="0" marB="0" anchor="ctr"/>
                </a:tc>
                <a:tc>
                  <a:txBody>
                    <a:bodyPr/>
                    <a:lstStyle/>
                    <a:p>
                      <a:pPr marL="0" algn="ctr" defTabSz="914400" rtl="0" eaLnBrk="1" latinLnBrk="0" hangingPunct="1">
                        <a:lnSpc>
                          <a:spcPct val="107000"/>
                        </a:lnSpc>
                        <a:spcAft>
                          <a:spcPts val="0"/>
                        </a:spcAft>
                      </a:pPr>
                      <a:r>
                        <a:rPr lang="fr-FR" sz="2200" kern="1200" dirty="0">
                          <a:ln>
                            <a:noFill/>
                          </a:ln>
                          <a:solidFill>
                            <a:schemeClr val="dk1"/>
                          </a:solidFill>
                          <a:effectLst/>
                          <a:latin typeface="+mn-lt"/>
                          <a:ea typeface="+mn-ea"/>
                          <a:cs typeface="+mn-cs"/>
                        </a:rPr>
                        <a:t>Scripts Manuels</a:t>
                      </a:r>
                    </a:p>
                  </a:txBody>
                  <a:tcPr marL="44450" marR="44450" marT="0" marB="0" anchor="ctr"/>
                </a:tc>
                <a:tc>
                  <a:txBody>
                    <a:bodyPr/>
                    <a:lstStyle/>
                    <a:p>
                      <a:pPr marL="0" algn="ctr" defTabSz="914400" rtl="0" eaLnBrk="1" latinLnBrk="0" hangingPunct="1">
                        <a:lnSpc>
                          <a:spcPct val="107000"/>
                        </a:lnSpc>
                        <a:spcAft>
                          <a:spcPts val="0"/>
                        </a:spcAft>
                      </a:pPr>
                      <a:r>
                        <a:rPr lang="fr-FR" sz="2200" kern="1200" dirty="0">
                          <a:ln>
                            <a:noFill/>
                          </a:ln>
                          <a:solidFill>
                            <a:schemeClr val="dk1"/>
                          </a:solidFill>
                          <a:effectLst/>
                          <a:latin typeface="+mn-lt"/>
                          <a:ea typeface="+mn-ea"/>
                          <a:cs typeface="+mn-cs"/>
                        </a:rPr>
                        <a:t>Reproductibilité vs Erreur</a:t>
                      </a:r>
                    </a:p>
                  </a:txBody>
                  <a:tcPr marL="44450" marR="44450" marT="0" marB="0" anchor="ctr"/>
                </a:tc>
                <a:extLst>
                  <a:ext uri="{0D108BD9-81ED-4DB2-BD59-A6C34878D82A}">
                    <a16:rowId xmlns:a16="http://schemas.microsoft.com/office/drawing/2014/main" val="2705533969"/>
                  </a:ext>
                </a:extLst>
              </a:tr>
            </a:tbl>
          </a:graphicData>
        </a:graphic>
      </p:graphicFrame>
      <p:sp>
        <p:nvSpPr>
          <p:cNvPr id="7" name="AutoShape 3" descr="image.png"/>
          <p:cNvSpPr>
            <a:spLocks noChangeAspect="1" noChangeArrowheads="1"/>
          </p:cNvSpPr>
          <p:nvPr/>
        </p:nvSpPr>
        <p:spPr bwMode="auto">
          <a:xfrm>
            <a:off x="155575" y="84138"/>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94" name="Group 2"/>
          <p:cNvGrpSpPr/>
          <p:nvPr/>
        </p:nvGrpSpPr>
        <p:grpSpPr>
          <a:xfrm>
            <a:off x="10663247" y="2896361"/>
            <a:ext cx="6750343" cy="6226503"/>
            <a:chOff x="0" y="0"/>
            <a:chExt cx="1777868" cy="1639902"/>
          </a:xfrm>
        </p:grpSpPr>
        <p:sp>
          <p:nvSpPr>
            <p:cNvPr id="95" name="Freeform 3"/>
            <p:cNvSpPr/>
            <p:nvPr/>
          </p:nvSpPr>
          <p:spPr>
            <a:xfrm>
              <a:off x="0" y="0"/>
              <a:ext cx="1777868" cy="1639902"/>
            </a:xfrm>
            <a:custGeom>
              <a:avLst/>
              <a:gdLst/>
              <a:ahLst/>
              <a:cxnLst/>
              <a:rect l="l" t="t" r="r" b="b"/>
              <a:pathLst>
                <a:path w="1777868" h="1639902">
                  <a:moveTo>
                    <a:pt x="27525" y="0"/>
                  </a:moveTo>
                  <a:lnTo>
                    <a:pt x="1750343" y="0"/>
                  </a:lnTo>
                  <a:cubicBezTo>
                    <a:pt x="1765545" y="0"/>
                    <a:pt x="1777868" y="12324"/>
                    <a:pt x="1777868" y="27525"/>
                  </a:cubicBezTo>
                  <a:lnTo>
                    <a:pt x="1777868" y="1612377"/>
                  </a:lnTo>
                  <a:cubicBezTo>
                    <a:pt x="1777868" y="1619677"/>
                    <a:pt x="1774968" y="1626678"/>
                    <a:pt x="1769806" y="1631840"/>
                  </a:cubicBezTo>
                  <a:cubicBezTo>
                    <a:pt x="1764644" y="1637002"/>
                    <a:pt x="1757643" y="1639902"/>
                    <a:pt x="1750343" y="1639902"/>
                  </a:cubicBezTo>
                  <a:lnTo>
                    <a:pt x="27525" y="1639902"/>
                  </a:lnTo>
                  <a:cubicBezTo>
                    <a:pt x="12324" y="1639902"/>
                    <a:pt x="0" y="1627579"/>
                    <a:pt x="0" y="1612377"/>
                  </a:cubicBezTo>
                  <a:lnTo>
                    <a:pt x="0" y="27525"/>
                  </a:lnTo>
                  <a:cubicBezTo>
                    <a:pt x="0" y="20225"/>
                    <a:pt x="2900" y="13224"/>
                    <a:pt x="8062" y="8062"/>
                  </a:cubicBezTo>
                  <a:cubicBezTo>
                    <a:pt x="13224" y="2900"/>
                    <a:pt x="20225" y="0"/>
                    <a:pt x="27525" y="0"/>
                  </a:cubicBezTo>
                  <a:close/>
                </a:path>
              </a:pathLst>
            </a:custGeom>
            <a:solidFill>
              <a:srgbClr val="FFFFFF"/>
            </a:solidFill>
            <a:ln w="57150" cap="rnd">
              <a:solidFill>
                <a:srgbClr val="345CA4"/>
              </a:solidFill>
              <a:prstDash val="solid"/>
              <a:round/>
            </a:ln>
          </p:spPr>
        </p:sp>
        <p:sp>
          <p:nvSpPr>
            <p:cNvPr id="96" name="TextBox 4"/>
            <p:cNvSpPr txBox="1"/>
            <p:nvPr/>
          </p:nvSpPr>
          <p:spPr>
            <a:xfrm>
              <a:off x="0" y="0"/>
              <a:ext cx="1777868" cy="1639902"/>
            </a:xfrm>
            <a:prstGeom prst="rect">
              <a:avLst/>
            </a:prstGeom>
          </p:spPr>
          <p:txBody>
            <a:bodyPr lIns="50800" tIns="50800" rIns="50800" bIns="50800" rtlCol="0" anchor="ctr"/>
            <a:lstStyle/>
            <a:p>
              <a:pPr algn="ctr">
                <a:lnSpc>
                  <a:spcPts val="2160"/>
                </a:lnSpc>
              </a:pPr>
              <a:endParaRPr/>
            </a:p>
          </p:txBody>
        </p:sp>
      </p:grpSp>
      <p:grpSp>
        <p:nvGrpSpPr>
          <p:cNvPr id="97" name="Group 5"/>
          <p:cNvGrpSpPr/>
          <p:nvPr/>
        </p:nvGrpSpPr>
        <p:grpSpPr>
          <a:xfrm>
            <a:off x="11326102" y="2336529"/>
            <a:ext cx="5327530" cy="1028415"/>
            <a:chOff x="0" y="0"/>
            <a:chExt cx="3618460" cy="698500"/>
          </a:xfrm>
        </p:grpSpPr>
        <p:sp>
          <p:nvSpPr>
            <p:cNvPr id="98" name="Freeform 6"/>
            <p:cNvSpPr/>
            <p:nvPr/>
          </p:nvSpPr>
          <p:spPr>
            <a:xfrm>
              <a:off x="1568" y="0"/>
              <a:ext cx="3615324" cy="698500"/>
            </a:xfrm>
            <a:custGeom>
              <a:avLst/>
              <a:gdLst/>
              <a:ahLst/>
              <a:cxnLst/>
              <a:rect l="l" t="t" r="r" b="b"/>
              <a:pathLst>
                <a:path w="3615324" h="698500">
                  <a:moveTo>
                    <a:pt x="3613969" y="354274"/>
                  </a:moveTo>
                  <a:lnTo>
                    <a:pt x="3416615" y="693476"/>
                  </a:lnTo>
                  <a:cubicBezTo>
                    <a:pt x="3414805" y="696586"/>
                    <a:pt x="3411478" y="698500"/>
                    <a:pt x="3407879" y="698500"/>
                  </a:cubicBezTo>
                  <a:lnTo>
                    <a:pt x="207445" y="698500"/>
                  </a:lnTo>
                  <a:cubicBezTo>
                    <a:pt x="203846" y="698500"/>
                    <a:pt x="200519" y="696586"/>
                    <a:pt x="198709" y="693476"/>
                  </a:cubicBezTo>
                  <a:lnTo>
                    <a:pt x="1355" y="354274"/>
                  </a:lnTo>
                  <a:cubicBezTo>
                    <a:pt x="-452" y="351168"/>
                    <a:pt x="-452" y="347332"/>
                    <a:pt x="1355" y="344226"/>
                  </a:cubicBezTo>
                  <a:lnTo>
                    <a:pt x="198709" y="5024"/>
                  </a:lnTo>
                  <a:cubicBezTo>
                    <a:pt x="200519" y="1914"/>
                    <a:pt x="203846" y="0"/>
                    <a:pt x="207445" y="0"/>
                  </a:cubicBezTo>
                  <a:lnTo>
                    <a:pt x="3407879" y="0"/>
                  </a:lnTo>
                  <a:cubicBezTo>
                    <a:pt x="3411478" y="0"/>
                    <a:pt x="3414805" y="1914"/>
                    <a:pt x="3416615" y="5024"/>
                  </a:cubicBezTo>
                  <a:lnTo>
                    <a:pt x="3613969" y="344226"/>
                  </a:lnTo>
                  <a:cubicBezTo>
                    <a:pt x="3615776" y="347332"/>
                    <a:pt x="3615776" y="351168"/>
                    <a:pt x="3613969" y="354274"/>
                  </a:cubicBezTo>
                  <a:close/>
                </a:path>
              </a:pathLst>
            </a:custGeom>
            <a:solidFill>
              <a:srgbClr val="345CA4"/>
            </a:solidFill>
          </p:spPr>
        </p:sp>
        <p:sp>
          <p:nvSpPr>
            <p:cNvPr id="100" name="TextBox 7"/>
            <p:cNvSpPr txBox="1"/>
            <p:nvPr/>
          </p:nvSpPr>
          <p:spPr>
            <a:xfrm>
              <a:off x="114300" y="0"/>
              <a:ext cx="3389860" cy="698500"/>
            </a:xfrm>
            <a:prstGeom prst="rect">
              <a:avLst/>
            </a:prstGeom>
          </p:spPr>
          <p:txBody>
            <a:bodyPr lIns="50800" tIns="50800" rIns="50800" bIns="50800" rtlCol="0" anchor="ctr"/>
            <a:lstStyle/>
            <a:p>
              <a:pPr algn="ctr">
                <a:lnSpc>
                  <a:spcPts val="2160"/>
                </a:lnSpc>
              </a:pPr>
              <a:endParaRPr/>
            </a:p>
          </p:txBody>
        </p:sp>
      </p:grpSp>
      <p:grpSp>
        <p:nvGrpSpPr>
          <p:cNvPr id="101" name="Group 8"/>
          <p:cNvGrpSpPr/>
          <p:nvPr/>
        </p:nvGrpSpPr>
        <p:grpSpPr>
          <a:xfrm>
            <a:off x="11001375" y="8964806"/>
            <a:ext cx="6572250" cy="1439913"/>
            <a:chOff x="0" y="0"/>
            <a:chExt cx="8763000" cy="1919884"/>
          </a:xfrm>
        </p:grpSpPr>
        <p:sp>
          <p:nvSpPr>
            <p:cNvPr id="102" name="Freeform 9" descr="image.png"/>
            <p:cNvSpPr/>
            <p:nvPr/>
          </p:nvSpPr>
          <p:spPr>
            <a:xfrm>
              <a:off x="0" y="0"/>
              <a:ext cx="8763000" cy="1919859"/>
            </a:xfrm>
            <a:custGeom>
              <a:avLst/>
              <a:gdLst/>
              <a:ahLst/>
              <a:cxnLst/>
              <a:rect l="l" t="t" r="r" b="b"/>
              <a:pathLst>
                <a:path w="8763000" h="1919859">
                  <a:moveTo>
                    <a:pt x="0" y="0"/>
                  </a:moveTo>
                  <a:lnTo>
                    <a:pt x="8763000" y="0"/>
                  </a:lnTo>
                  <a:lnTo>
                    <a:pt x="8763000" y="1919859"/>
                  </a:lnTo>
                  <a:lnTo>
                    <a:pt x="0" y="1919859"/>
                  </a:lnTo>
                  <a:lnTo>
                    <a:pt x="0" y="0"/>
                  </a:lnTo>
                  <a:close/>
                </a:path>
              </a:pathLst>
            </a:custGeom>
            <a:blipFill>
              <a:blip r:embed="rId4"/>
              <a:stretch>
                <a:fillRect b="-218"/>
              </a:stretch>
            </a:blipFill>
          </p:spPr>
        </p:sp>
      </p:grpSp>
      <p:sp>
        <p:nvSpPr>
          <p:cNvPr id="103" name="TextBox 18"/>
          <p:cNvSpPr txBox="1"/>
          <p:nvPr/>
        </p:nvSpPr>
        <p:spPr>
          <a:xfrm>
            <a:off x="12415838" y="2422112"/>
            <a:ext cx="3109329" cy="847725"/>
          </a:xfrm>
          <a:prstGeom prst="rect">
            <a:avLst/>
          </a:prstGeom>
        </p:spPr>
        <p:txBody>
          <a:bodyPr lIns="0" tIns="0" rIns="0" bIns="0" rtlCol="0" anchor="t">
            <a:spAutoFit/>
          </a:bodyPr>
          <a:lstStyle/>
          <a:p>
            <a:pPr algn="ctr">
              <a:lnSpc>
                <a:spcPts val="3359"/>
              </a:lnSpc>
            </a:pPr>
            <a:r>
              <a:rPr lang="en-US" sz="2799" b="1">
                <a:solidFill>
                  <a:srgbClr val="FFFFFF"/>
                </a:solidFill>
                <a:latin typeface="Open Sauce Bold"/>
                <a:ea typeface="Open Sauce Bold"/>
                <a:cs typeface="Open Sauce Bold"/>
                <a:sym typeface="Open Sauce Bold"/>
              </a:rPr>
              <a:t>Notre Choix : Proxmox VE</a:t>
            </a:r>
          </a:p>
        </p:txBody>
      </p:sp>
      <p:sp>
        <p:nvSpPr>
          <p:cNvPr id="104" name="Freeform 19"/>
          <p:cNvSpPr/>
          <p:nvPr/>
        </p:nvSpPr>
        <p:spPr>
          <a:xfrm>
            <a:off x="12058650" y="2564987"/>
            <a:ext cx="571500" cy="571500"/>
          </a:xfrm>
          <a:custGeom>
            <a:avLst/>
            <a:gdLst/>
            <a:ahLst/>
            <a:cxnLst/>
            <a:rect l="l" t="t" r="r" b="b"/>
            <a:pathLst>
              <a:path w="571500" h="571500">
                <a:moveTo>
                  <a:pt x="0" y="0"/>
                </a:moveTo>
                <a:lnTo>
                  <a:pt x="571500" y="0"/>
                </a:lnTo>
                <a:lnTo>
                  <a:pt x="571500" y="571500"/>
                </a:lnTo>
                <a:lnTo>
                  <a:pt x="0" y="571500"/>
                </a:lnTo>
                <a:lnTo>
                  <a:pt x="0" y="0"/>
                </a:lnTo>
                <a:close/>
              </a:path>
            </a:pathLst>
          </a:custGeom>
          <a:blipFill>
            <a:blip r:embed="rId5">
              <a:extLst>
                <a:ext uri="{96DAC541-7B7A-43D3-8B79-37D633B846F1}">
                  <asvg:svgBlip xmlns:asvg="http://schemas.microsoft.com/office/drawing/2016/SVG/main" xmlns="" r:embed="rId7"/>
                </a:ext>
              </a:extLst>
            </a:blip>
            <a:stretch>
              <a:fillRect/>
            </a:stretch>
          </a:blipFill>
        </p:spPr>
      </p:sp>
      <p:sp>
        <p:nvSpPr>
          <p:cNvPr id="105" name="Freeform 20"/>
          <p:cNvSpPr/>
          <p:nvPr/>
        </p:nvSpPr>
        <p:spPr>
          <a:xfrm>
            <a:off x="11324301" y="4000221"/>
            <a:ext cx="385543" cy="379278"/>
          </a:xfrm>
          <a:custGeom>
            <a:avLst/>
            <a:gdLst/>
            <a:ahLst/>
            <a:cxnLst/>
            <a:rect l="l" t="t" r="r" b="b"/>
            <a:pathLst>
              <a:path w="385543" h="379278">
                <a:moveTo>
                  <a:pt x="0" y="0"/>
                </a:moveTo>
                <a:lnTo>
                  <a:pt x="385542" y="0"/>
                </a:lnTo>
                <a:lnTo>
                  <a:pt x="385542" y="379278"/>
                </a:lnTo>
                <a:lnTo>
                  <a:pt x="0" y="379278"/>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p:spPr>
      </p:sp>
      <p:sp>
        <p:nvSpPr>
          <p:cNvPr id="106" name="Freeform 21"/>
          <p:cNvSpPr/>
          <p:nvPr/>
        </p:nvSpPr>
        <p:spPr>
          <a:xfrm>
            <a:off x="11388485" y="6253947"/>
            <a:ext cx="321359" cy="305291"/>
          </a:xfrm>
          <a:custGeom>
            <a:avLst/>
            <a:gdLst/>
            <a:ahLst/>
            <a:cxnLst/>
            <a:rect l="l" t="t" r="r" b="b"/>
            <a:pathLst>
              <a:path w="321359" h="305291">
                <a:moveTo>
                  <a:pt x="0" y="0"/>
                </a:moveTo>
                <a:lnTo>
                  <a:pt x="321358" y="0"/>
                </a:lnTo>
                <a:lnTo>
                  <a:pt x="321358" y="305291"/>
                </a:lnTo>
                <a:lnTo>
                  <a:pt x="0" y="305291"/>
                </a:lnTo>
                <a:lnTo>
                  <a:pt x="0" y="0"/>
                </a:lnTo>
                <a:close/>
              </a:path>
            </a:pathLst>
          </a:custGeom>
          <a:blipFill>
            <a:blip r:embed="rId10">
              <a:extLst>
                <a:ext uri="{96DAC541-7B7A-43D3-8B79-37D633B846F1}">
                  <asvg:svgBlip xmlns:asvg="http://schemas.microsoft.com/office/drawing/2016/SVG/main" xmlns="" r:embed="rId11"/>
                </a:ext>
              </a:extLst>
            </a:blip>
            <a:stretch>
              <a:fillRect/>
            </a:stretch>
          </a:blipFill>
        </p:spPr>
      </p:sp>
      <p:sp>
        <p:nvSpPr>
          <p:cNvPr id="107" name="Freeform 22"/>
          <p:cNvSpPr/>
          <p:nvPr/>
        </p:nvSpPr>
        <p:spPr>
          <a:xfrm>
            <a:off x="11426880" y="7371968"/>
            <a:ext cx="282963" cy="341434"/>
          </a:xfrm>
          <a:custGeom>
            <a:avLst/>
            <a:gdLst/>
            <a:ahLst/>
            <a:cxnLst/>
            <a:rect l="l" t="t" r="r" b="b"/>
            <a:pathLst>
              <a:path w="282963" h="341434">
                <a:moveTo>
                  <a:pt x="0" y="0"/>
                </a:moveTo>
                <a:lnTo>
                  <a:pt x="282963" y="0"/>
                </a:lnTo>
                <a:lnTo>
                  <a:pt x="282963" y="341433"/>
                </a:lnTo>
                <a:lnTo>
                  <a:pt x="0" y="341433"/>
                </a:lnTo>
                <a:lnTo>
                  <a:pt x="0" y="0"/>
                </a:lnTo>
                <a:close/>
              </a:path>
            </a:pathLst>
          </a:custGeom>
          <a:blipFill>
            <a:blip r:embed="rId12">
              <a:extLst>
                <a:ext uri="{96DAC541-7B7A-43D3-8B79-37D633B846F1}">
                  <asvg:svgBlip xmlns:asvg="http://schemas.microsoft.com/office/drawing/2016/SVG/main" xmlns="" r:embed="rId13"/>
                </a:ext>
              </a:extLst>
            </a:blip>
            <a:stretch>
              <a:fillRect/>
            </a:stretch>
          </a:blipFill>
        </p:spPr>
      </p:sp>
      <p:sp>
        <p:nvSpPr>
          <p:cNvPr id="108" name="TextBox 23"/>
          <p:cNvSpPr txBox="1"/>
          <p:nvPr/>
        </p:nvSpPr>
        <p:spPr>
          <a:xfrm>
            <a:off x="11388485" y="3579399"/>
            <a:ext cx="5264186" cy="282129"/>
          </a:xfrm>
          <a:prstGeom prst="rect">
            <a:avLst/>
          </a:prstGeom>
        </p:spPr>
        <p:txBody>
          <a:bodyPr wrap="square" lIns="0" tIns="0" rIns="0" bIns="0" rtlCol="0" anchor="t">
            <a:spAutoFit/>
          </a:bodyPr>
          <a:lstStyle/>
          <a:p>
            <a:pPr algn="l">
              <a:lnSpc>
                <a:spcPts val="2160"/>
              </a:lnSpc>
            </a:pPr>
            <a:r>
              <a:rPr lang="en-US" sz="1800" dirty="0">
                <a:solidFill>
                  <a:srgbClr val="363A3B"/>
                </a:solidFill>
                <a:latin typeface="Inter"/>
                <a:ea typeface="Inter"/>
                <a:cs typeface="Inter"/>
                <a:sym typeface="Inter"/>
              </a:rPr>
              <a:t>POURQUOI CETTE DÉCISION POUR TMPA ?</a:t>
            </a:r>
          </a:p>
        </p:txBody>
      </p:sp>
      <p:sp>
        <p:nvSpPr>
          <p:cNvPr id="109" name="TextBox 24"/>
          <p:cNvSpPr txBox="1"/>
          <p:nvPr/>
        </p:nvSpPr>
        <p:spPr>
          <a:xfrm>
            <a:off x="11302759" y="9370818"/>
            <a:ext cx="1600200" cy="692497"/>
          </a:xfrm>
          <a:prstGeom prst="rect">
            <a:avLst/>
          </a:prstGeom>
        </p:spPr>
        <p:txBody>
          <a:bodyPr lIns="0" tIns="0" rIns="0" bIns="0" rtlCol="0" anchor="t">
            <a:spAutoFit/>
          </a:bodyPr>
          <a:lstStyle/>
          <a:p>
            <a:pPr algn="l">
              <a:lnSpc>
                <a:spcPts val="5400"/>
              </a:lnSpc>
            </a:pPr>
            <a:r>
              <a:rPr lang="en-US" sz="4500" b="1" dirty="0" smtClean="0">
                <a:solidFill>
                  <a:srgbClr val="345CA4"/>
                </a:solidFill>
                <a:latin typeface="Inter Bold"/>
                <a:ea typeface="Inter Bold"/>
                <a:cs typeface="Inter Bold"/>
                <a:sym typeface="Inter Bold"/>
              </a:rPr>
              <a:t>100%</a:t>
            </a:r>
            <a:endParaRPr lang="en-US" sz="4500" b="1" dirty="0">
              <a:solidFill>
                <a:srgbClr val="345CA4"/>
              </a:solidFill>
              <a:latin typeface="Inter Bold"/>
              <a:ea typeface="Inter Bold"/>
              <a:cs typeface="Inter Bold"/>
              <a:sym typeface="Inter Bold"/>
            </a:endParaRPr>
          </a:p>
        </p:txBody>
      </p:sp>
      <p:sp>
        <p:nvSpPr>
          <p:cNvPr id="110" name="TextBox 25"/>
          <p:cNvSpPr txBox="1"/>
          <p:nvPr/>
        </p:nvSpPr>
        <p:spPr>
          <a:xfrm>
            <a:off x="13188709" y="9234268"/>
            <a:ext cx="4086225" cy="916038"/>
          </a:xfrm>
          <a:prstGeom prst="rect">
            <a:avLst/>
          </a:prstGeom>
        </p:spPr>
        <p:txBody>
          <a:bodyPr lIns="0" tIns="0" rIns="0" bIns="0" rtlCol="0" anchor="t">
            <a:spAutoFit/>
          </a:bodyPr>
          <a:lstStyle/>
          <a:p>
            <a:pPr algn="l">
              <a:lnSpc>
                <a:spcPts val="2645"/>
              </a:lnSpc>
            </a:pPr>
            <a:r>
              <a:rPr lang="en-US" sz="1575" dirty="0">
                <a:solidFill>
                  <a:srgbClr val="94A3B8"/>
                </a:solidFill>
                <a:latin typeface="Inter"/>
                <a:ea typeface="Inter"/>
                <a:cs typeface="Inter"/>
                <a:sym typeface="Inter"/>
              </a:rPr>
              <a:t>Architecture </a:t>
            </a:r>
            <a:r>
              <a:rPr lang="en-US" sz="1575" b="1" dirty="0">
                <a:solidFill>
                  <a:srgbClr val="94A3B8"/>
                </a:solidFill>
                <a:latin typeface="Inter Bold"/>
                <a:ea typeface="Inter Bold"/>
                <a:cs typeface="Inter Bold"/>
                <a:sym typeface="Inter Bold"/>
              </a:rPr>
              <a:t>Cloud-Native</a:t>
            </a:r>
            <a:r>
              <a:rPr lang="en-US" sz="1575" dirty="0">
                <a:solidFill>
                  <a:srgbClr val="94A3B8"/>
                </a:solidFill>
                <a:latin typeface="Inter"/>
                <a:ea typeface="Inter"/>
                <a:cs typeface="Inter"/>
                <a:sym typeface="Inter"/>
              </a:rPr>
              <a:t> </a:t>
            </a:r>
            <a:r>
              <a:rPr lang="en-US" sz="1575" dirty="0" err="1">
                <a:solidFill>
                  <a:srgbClr val="94A3B8"/>
                </a:solidFill>
                <a:latin typeface="Inter"/>
                <a:ea typeface="Inter"/>
                <a:cs typeface="Inter"/>
                <a:sym typeface="Inter"/>
              </a:rPr>
              <a:t>hautement</a:t>
            </a:r>
            <a:r>
              <a:rPr lang="en-US" sz="1575" dirty="0">
                <a:solidFill>
                  <a:srgbClr val="94A3B8"/>
                </a:solidFill>
                <a:latin typeface="Inter"/>
                <a:ea typeface="Inter"/>
                <a:cs typeface="Inter"/>
                <a:sym typeface="Inter"/>
              </a:rPr>
              <a:t> </a:t>
            </a:r>
            <a:r>
              <a:rPr lang="en-US" sz="1575" dirty="0" err="1">
                <a:solidFill>
                  <a:srgbClr val="94A3B8"/>
                </a:solidFill>
                <a:latin typeface="Inter"/>
                <a:ea typeface="Inter"/>
                <a:cs typeface="Inter"/>
                <a:sym typeface="Inter"/>
              </a:rPr>
              <a:t>disponible</a:t>
            </a:r>
            <a:r>
              <a:rPr lang="en-US" sz="1575" dirty="0">
                <a:solidFill>
                  <a:srgbClr val="94A3B8"/>
                </a:solidFill>
                <a:latin typeface="Inter"/>
                <a:ea typeface="Inter"/>
                <a:cs typeface="Inter"/>
                <a:sym typeface="Inter"/>
              </a:rPr>
              <a:t> avec </a:t>
            </a:r>
            <a:r>
              <a:rPr lang="en-US" sz="1575" dirty="0" err="1">
                <a:solidFill>
                  <a:srgbClr val="94A3B8"/>
                </a:solidFill>
                <a:latin typeface="Inter"/>
                <a:ea typeface="Inter"/>
                <a:cs typeface="Inter"/>
                <a:sym typeface="Inter"/>
              </a:rPr>
              <a:t>redondance</a:t>
            </a:r>
            <a:r>
              <a:rPr lang="en-US" sz="1575" dirty="0">
                <a:solidFill>
                  <a:srgbClr val="94A3B8"/>
                </a:solidFill>
                <a:latin typeface="Inter"/>
                <a:ea typeface="Inter"/>
                <a:cs typeface="Inter"/>
                <a:sym typeface="Inter"/>
              </a:rPr>
              <a:t> N+1 sur </a:t>
            </a:r>
            <a:r>
              <a:rPr lang="en-US" sz="1575" dirty="0" err="1">
                <a:solidFill>
                  <a:srgbClr val="94A3B8"/>
                </a:solidFill>
                <a:latin typeface="Inter"/>
                <a:ea typeface="Inter"/>
                <a:cs typeface="Inter"/>
                <a:sym typeface="Inter"/>
              </a:rPr>
              <a:t>tous</a:t>
            </a:r>
            <a:r>
              <a:rPr lang="en-US" sz="1575" dirty="0">
                <a:solidFill>
                  <a:srgbClr val="94A3B8"/>
                </a:solidFill>
                <a:latin typeface="Inter"/>
                <a:ea typeface="Inter"/>
                <a:cs typeface="Inter"/>
                <a:sym typeface="Inter"/>
              </a:rPr>
              <a:t> les services critiques.</a:t>
            </a:r>
          </a:p>
        </p:txBody>
      </p:sp>
      <p:sp>
        <p:nvSpPr>
          <p:cNvPr id="111" name="TextBox 26"/>
          <p:cNvSpPr txBox="1"/>
          <p:nvPr/>
        </p:nvSpPr>
        <p:spPr>
          <a:xfrm>
            <a:off x="11912359" y="4017549"/>
            <a:ext cx="2243336" cy="257175"/>
          </a:xfrm>
          <a:prstGeom prst="rect">
            <a:avLst/>
          </a:prstGeom>
        </p:spPr>
        <p:txBody>
          <a:bodyPr lIns="0" tIns="0" rIns="0" bIns="0" rtlCol="0" anchor="t">
            <a:spAutoFit/>
          </a:bodyPr>
          <a:lstStyle/>
          <a:p>
            <a:pPr algn="l">
              <a:lnSpc>
                <a:spcPts val="2025"/>
              </a:lnSpc>
            </a:pPr>
            <a:r>
              <a:rPr lang="en-US" sz="1687" b="1" dirty="0" err="1">
                <a:solidFill>
                  <a:srgbClr val="345CA4"/>
                </a:solidFill>
                <a:latin typeface="Inter Bold"/>
                <a:ea typeface="Inter Bold"/>
                <a:cs typeface="Inter Bold"/>
                <a:sym typeface="Inter Bold"/>
              </a:rPr>
              <a:t>Agilité</a:t>
            </a:r>
            <a:r>
              <a:rPr lang="en-US" sz="1687" b="1" dirty="0">
                <a:solidFill>
                  <a:srgbClr val="345CA4"/>
                </a:solidFill>
                <a:latin typeface="Inter Bold"/>
                <a:ea typeface="Inter Bold"/>
                <a:cs typeface="Inter Bold"/>
                <a:sym typeface="Inter Bold"/>
              </a:rPr>
              <a:t> </a:t>
            </a:r>
            <a:r>
              <a:rPr lang="en-US" sz="1687" b="1" dirty="0" err="1">
                <a:solidFill>
                  <a:srgbClr val="345CA4"/>
                </a:solidFill>
                <a:latin typeface="Inter Bold"/>
                <a:ea typeface="Inter Bold"/>
                <a:cs typeface="Inter Bold"/>
                <a:sym typeface="Inter Bold"/>
              </a:rPr>
              <a:t>Opérationnelle</a:t>
            </a:r>
            <a:endParaRPr lang="en-US" sz="1687" b="1" dirty="0">
              <a:solidFill>
                <a:srgbClr val="345CA4"/>
              </a:solidFill>
              <a:latin typeface="Inter Bold"/>
              <a:ea typeface="Inter Bold"/>
              <a:cs typeface="Inter Bold"/>
              <a:sym typeface="Inter Bold"/>
            </a:endParaRPr>
          </a:p>
        </p:txBody>
      </p:sp>
      <p:sp>
        <p:nvSpPr>
          <p:cNvPr id="112" name="TextBox 27"/>
          <p:cNvSpPr txBox="1"/>
          <p:nvPr/>
        </p:nvSpPr>
        <p:spPr>
          <a:xfrm>
            <a:off x="11888547" y="4331874"/>
            <a:ext cx="5300662" cy="552375"/>
          </a:xfrm>
          <a:prstGeom prst="rect">
            <a:avLst/>
          </a:prstGeom>
        </p:spPr>
        <p:txBody>
          <a:bodyPr lIns="0" tIns="0" rIns="0" bIns="0" rtlCol="0" anchor="t">
            <a:spAutoFit/>
          </a:bodyPr>
          <a:lstStyle/>
          <a:p>
            <a:pPr algn="l">
              <a:lnSpc>
                <a:spcPts val="2280"/>
              </a:lnSpc>
            </a:pPr>
            <a:r>
              <a:rPr lang="en-US" sz="1462">
                <a:solidFill>
                  <a:srgbClr val="94A3B8"/>
                </a:solidFill>
                <a:latin typeface="Inter"/>
                <a:ea typeface="Inter"/>
                <a:cs typeface="Inter"/>
                <a:sym typeface="Inter"/>
              </a:rPr>
              <a:t>Déploiement immédiat des services portuaires sans la surcharge cognitive d'OpenStack.</a:t>
            </a:r>
          </a:p>
        </p:txBody>
      </p:sp>
      <p:sp>
        <p:nvSpPr>
          <p:cNvPr id="113" name="TextBox 28"/>
          <p:cNvSpPr txBox="1"/>
          <p:nvPr/>
        </p:nvSpPr>
        <p:spPr>
          <a:xfrm>
            <a:off x="11888547" y="5190762"/>
            <a:ext cx="1766491" cy="257175"/>
          </a:xfrm>
          <a:prstGeom prst="rect">
            <a:avLst/>
          </a:prstGeom>
        </p:spPr>
        <p:txBody>
          <a:bodyPr lIns="0" tIns="0" rIns="0" bIns="0" rtlCol="0" anchor="t">
            <a:spAutoFit/>
          </a:bodyPr>
          <a:lstStyle/>
          <a:p>
            <a:pPr algn="l">
              <a:lnSpc>
                <a:spcPts val="2025"/>
              </a:lnSpc>
            </a:pPr>
            <a:r>
              <a:rPr lang="en-US" sz="1687" b="1">
                <a:solidFill>
                  <a:srgbClr val="345CA4"/>
                </a:solidFill>
                <a:latin typeface="Inter Bold"/>
                <a:ea typeface="Inter Bold"/>
                <a:cs typeface="Inter Bold"/>
                <a:sym typeface="Inter Bold"/>
              </a:rPr>
              <a:t>Efficience Native</a:t>
            </a:r>
          </a:p>
        </p:txBody>
      </p:sp>
      <p:sp>
        <p:nvSpPr>
          <p:cNvPr id="114" name="TextBox 29"/>
          <p:cNvSpPr txBox="1"/>
          <p:nvPr/>
        </p:nvSpPr>
        <p:spPr>
          <a:xfrm>
            <a:off x="11888547" y="5443175"/>
            <a:ext cx="5300662" cy="530276"/>
          </a:xfrm>
          <a:prstGeom prst="rect">
            <a:avLst/>
          </a:prstGeom>
        </p:spPr>
        <p:txBody>
          <a:bodyPr lIns="0" tIns="0" rIns="0" bIns="0" rtlCol="0" anchor="t">
            <a:spAutoFit/>
          </a:bodyPr>
          <a:lstStyle/>
          <a:p>
            <a:pPr algn="l">
              <a:lnSpc>
                <a:spcPts val="2280"/>
              </a:lnSpc>
            </a:pPr>
            <a:r>
              <a:rPr lang="en-US" sz="1462" dirty="0" err="1">
                <a:solidFill>
                  <a:srgbClr val="94A3B8"/>
                </a:solidFill>
                <a:latin typeface="Inter"/>
                <a:ea typeface="Inter"/>
                <a:cs typeface="Inter"/>
                <a:sym typeface="Inter"/>
              </a:rPr>
              <a:t>L'intégration</a:t>
            </a:r>
            <a:r>
              <a:rPr lang="en-US" sz="1462" dirty="0">
                <a:solidFill>
                  <a:srgbClr val="94A3B8"/>
                </a:solidFill>
                <a:latin typeface="Inter"/>
                <a:ea typeface="Inter"/>
                <a:cs typeface="Inter"/>
                <a:sym typeface="Inter"/>
              </a:rPr>
              <a:t> de </a:t>
            </a:r>
            <a:r>
              <a:rPr lang="en-US" sz="1462" dirty="0" err="1">
                <a:solidFill>
                  <a:srgbClr val="94A3B8"/>
                </a:solidFill>
                <a:latin typeface="Inter"/>
                <a:ea typeface="Inter"/>
                <a:cs typeface="Inter"/>
                <a:sym typeface="Inter"/>
              </a:rPr>
              <a:t>Ceph</a:t>
            </a:r>
            <a:r>
              <a:rPr lang="en-US" sz="1462" dirty="0">
                <a:solidFill>
                  <a:srgbClr val="94A3B8"/>
                </a:solidFill>
                <a:latin typeface="Inter"/>
                <a:ea typeface="Inter"/>
                <a:cs typeface="Inter"/>
                <a:sym typeface="Inter"/>
              </a:rPr>
              <a:t> Reef et PBS </a:t>
            </a:r>
            <a:r>
              <a:rPr lang="en-US" sz="1462" dirty="0" err="1">
                <a:solidFill>
                  <a:srgbClr val="94A3B8"/>
                </a:solidFill>
                <a:latin typeface="Inter"/>
                <a:ea typeface="Inter"/>
                <a:cs typeface="Inter"/>
                <a:sym typeface="Inter"/>
              </a:rPr>
              <a:t>offre</a:t>
            </a:r>
            <a:r>
              <a:rPr lang="en-US" sz="1462" dirty="0">
                <a:solidFill>
                  <a:srgbClr val="94A3B8"/>
                </a:solidFill>
                <a:latin typeface="Inter"/>
                <a:ea typeface="Inter"/>
                <a:cs typeface="Inter"/>
                <a:sym typeface="Inter"/>
              </a:rPr>
              <a:t> </a:t>
            </a:r>
            <a:r>
              <a:rPr lang="en-US" sz="1462" dirty="0" err="1">
                <a:solidFill>
                  <a:srgbClr val="94A3B8"/>
                </a:solidFill>
                <a:latin typeface="Inter"/>
                <a:ea typeface="Inter"/>
                <a:cs typeface="Inter"/>
                <a:sym typeface="Inter"/>
              </a:rPr>
              <a:t>une</a:t>
            </a:r>
            <a:r>
              <a:rPr lang="en-US" sz="1462" dirty="0">
                <a:solidFill>
                  <a:srgbClr val="94A3B8"/>
                </a:solidFill>
                <a:latin typeface="Inter"/>
                <a:ea typeface="Inter"/>
                <a:cs typeface="Inter"/>
                <a:sym typeface="Inter"/>
              </a:rPr>
              <a:t> </a:t>
            </a:r>
            <a:r>
              <a:rPr lang="en-US" sz="1462" dirty="0" err="1">
                <a:solidFill>
                  <a:srgbClr val="94A3B8"/>
                </a:solidFill>
                <a:latin typeface="Inter"/>
                <a:ea typeface="Inter"/>
                <a:cs typeface="Inter"/>
                <a:sym typeface="Inter"/>
              </a:rPr>
              <a:t>résilience</a:t>
            </a:r>
            <a:r>
              <a:rPr lang="en-US" sz="1462" dirty="0">
                <a:solidFill>
                  <a:srgbClr val="94A3B8"/>
                </a:solidFill>
                <a:latin typeface="Inter"/>
                <a:ea typeface="Inter"/>
                <a:cs typeface="Inter"/>
                <a:sym typeface="Inter"/>
              </a:rPr>
              <a:t> </a:t>
            </a:r>
            <a:r>
              <a:rPr lang="en-US" sz="1462" dirty="0" err="1">
                <a:solidFill>
                  <a:srgbClr val="94A3B8"/>
                </a:solidFill>
                <a:latin typeface="Inter"/>
                <a:ea typeface="Inter"/>
                <a:cs typeface="Inter"/>
                <a:sym typeface="Inter"/>
              </a:rPr>
              <a:t>maximale</a:t>
            </a:r>
            <a:r>
              <a:rPr lang="en-US" sz="1462" dirty="0">
                <a:solidFill>
                  <a:srgbClr val="94A3B8"/>
                </a:solidFill>
                <a:latin typeface="Inter"/>
                <a:ea typeface="Inter"/>
                <a:cs typeface="Inter"/>
                <a:sym typeface="Inter"/>
              </a:rPr>
              <a:t> sans </a:t>
            </a:r>
            <a:r>
              <a:rPr lang="en-US" sz="1462" dirty="0" err="1">
                <a:solidFill>
                  <a:srgbClr val="94A3B8"/>
                </a:solidFill>
                <a:latin typeface="Inter"/>
                <a:ea typeface="Inter"/>
                <a:cs typeface="Inter"/>
                <a:sym typeface="Inter"/>
              </a:rPr>
              <a:t>briques</a:t>
            </a:r>
            <a:r>
              <a:rPr lang="en-US" sz="1462" dirty="0">
                <a:solidFill>
                  <a:srgbClr val="94A3B8"/>
                </a:solidFill>
                <a:latin typeface="Inter"/>
                <a:ea typeface="Inter"/>
                <a:cs typeface="Inter"/>
                <a:sym typeface="Inter"/>
              </a:rPr>
              <a:t> tierces.</a:t>
            </a:r>
          </a:p>
        </p:txBody>
      </p:sp>
      <p:sp>
        <p:nvSpPr>
          <p:cNvPr id="115" name="TextBox 30"/>
          <p:cNvSpPr txBox="1"/>
          <p:nvPr/>
        </p:nvSpPr>
        <p:spPr>
          <a:xfrm>
            <a:off x="11888547" y="6302063"/>
            <a:ext cx="2149872" cy="257175"/>
          </a:xfrm>
          <a:prstGeom prst="rect">
            <a:avLst/>
          </a:prstGeom>
        </p:spPr>
        <p:txBody>
          <a:bodyPr lIns="0" tIns="0" rIns="0" bIns="0" rtlCol="0" anchor="t">
            <a:spAutoFit/>
          </a:bodyPr>
          <a:lstStyle/>
          <a:p>
            <a:pPr algn="l">
              <a:lnSpc>
                <a:spcPts val="2025"/>
              </a:lnSpc>
            </a:pPr>
            <a:r>
              <a:rPr lang="en-US" sz="1687" b="1" dirty="0" err="1">
                <a:solidFill>
                  <a:srgbClr val="345CA4"/>
                </a:solidFill>
                <a:latin typeface="Inter Bold"/>
                <a:ea typeface="Inter Bold"/>
                <a:cs typeface="Inter Bold"/>
                <a:sym typeface="Inter Bold"/>
              </a:rPr>
              <a:t>Optimisation</a:t>
            </a:r>
            <a:r>
              <a:rPr lang="en-US" sz="1687" b="1" dirty="0">
                <a:solidFill>
                  <a:srgbClr val="345CA4"/>
                </a:solidFill>
                <a:latin typeface="Inter Bold"/>
                <a:ea typeface="Inter Bold"/>
                <a:cs typeface="Inter Bold"/>
                <a:sym typeface="Inter Bold"/>
              </a:rPr>
              <a:t> du TCO</a:t>
            </a:r>
          </a:p>
        </p:txBody>
      </p:sp>
      <p:sp>
        <p:nvSpPr>
          <p:cNvPr id="116" name="TextBox 31"/>
          <p:cNvSpPr txBox="1"/>
          <p:nvPr/>
        </p:nvSpPr>
        <p:spPr>
          <a:xfrm>
            <a:off x="11888547" y="6554476"/>
            <a:ext cx="5300662" cy="530276"/>
          </a:xfrm>
          <a:prstGeom prst="rect">
            <a:avLst/>
          </a:prstGeom>
        </p:spPr>
        <p:txBody>
          <a:bodyPr lIns="0" tIns="0" rIns="0" bIns="0" rtlCol="0" anchor="t">
            <a:spAutoFit/>
          </a:bodyPr>
          <a:lstStyle/>
          <a:p>
            <a:pPr algn="l">
              <a:lnSpc>
                <a:spcPts val="2280"/>
              </a:lnSpc>
            </a:pPr>
            <a:r>
              <a:rPr lang="en-US" sz="1462">
                <a:solidFill>
                  <a:srgbClr val="94A3B8"/>
                </a:solidFill>
                <a:latin typeface="Inter"/>
                <a:ea typeface="Inter"/>
                <a:cs typeface="Inter"/>
                <a:sym typeface="Inter"/>
              </a:rPr>
              <a:t>Réduction drastique des coûts de formation et de maintenance opérationnelle (OpEx).</a:t>
            </a:r>
          </a:p>
        </p:txBody>
      </p:sp>
      <p:sp>
        <p:nvSpPr>
          <p:cNvPr id="117" name="TextBox 32"/>
          <p:cNvSpPr txBox="1"/>
          <p:nvPr/>
        </p:nvSpPr>
        <p:spPr>
          <a:xfrm>
            <a:off x="11888547" y="7413364"/>
            <a:ext cx="2400300" cy="257175"/>
          </a:xfrm>
          <a:prstGeom prst="rect">
            <a:avLst/>
          </a:prstGeom>
        </p:spPr>
        <p:txBody>
          <a:bodyPr lIns="0" tIns="0" rIns="0" bIns="0" rtlCol="0" anchor="t">
            <a:spAutoFit/>
          </a:bodyPr>
          <a:lstStyle/>
          <a:p>
            <a:pPr algn="l">
              <a:lnSpc>
                <a:spcPts val="2025"/>
              </a:lnSpc>
            </a:pPr>
            <a:r>
              <a:rPr lang="en-US" sz="1687" b="1">
                <a:solidFill>
                  <a:srgbClr val="345CA4"/>
                </a:solidFill>
                <a:latin typeface="Inter Bold"/>
                <a:ea typeface="Inter Bold"/>
                <a:cs typeface="Inter Bold"/>
                <a:sym typeface="Inter Bold"/>
              </a:rPr>
              <a:t>Souveraineté Maîtrisée</a:t>
            </a:r>
          </a:p>
        </p:txBody>
      </p:sp>
      <p:sp>
        <p:nvSpPr>
          <p:cNvPr id="118" name="TextBox 33"/>
          <p:cNvSpPr txBox="1"/>
          <p:nvPr/>
        </p:nvSpPr>
        <p:spPr>
          <a:xfrm>
            <a:off x="11888547" y="7665776"/>
            <a:ext cx="5300662" cy="530276"/>
          </a:xfrm>
          <a:prstGeom prst="rect">
            <a:avLst/>
          </a:prstGeom>
        </p:spPr>
        <p:txBody>
          <a:bodyPr lIns="0" tIns="0" rIns="0" bIns="0" rtlCol="0" anchor="t">
            <a:spAutoFit/>
          </a:bodyPr>
          <a:lstStyle/>
          <a:p>
            <a:pPr algn="l">
              <a:lnSpc>
                <a:spcPts val="2280"/>
              </a:lnSpc>
            </a:pPr>
            <a:r>
              <a:rPr lang="en-US" sz="1462">
                <a:solidFill>
                  <a:srgbClr val="94A3B8"/>
                </a:solidFill>
                <a:latin typeface="Inter"/>
                <a:ea typeface="Inter"/>
                <a:cs typeface="Inter"/>
                <a:sym typeface="Inter"/>
              </a:rPr>
              <a:t>Stack robuste, Open-Source et simple à auditer pour la sécurité du complexe portuaire.</a:t>
            </a:r>
          </a:p>
        </p:txBody>
      </p:sp>
      <p:sp>
        <p:nvSpPr>
          <p:cNvPr id="4" name="Espace réservé du numéro de diapositive 3"/>
          <p:cNvSpPr>
            <a:spLocks noGrp="1"/>
          </p:cNvSpPr>
          <p:nvPr>
            <p:ph type="sldNum" sz="quarter" idx="12"/>
          </p:nvPr>
        </p:nvSpPr>
        <p:spPr>
          <a:xfrm>
            <a:off x="16082845" y="9825631"/>
            <a:ext cx="2133600" cy="365125"/>
          </a:xfrm>
        </p:spPr>
        <p:txBody>
          <a:bodyPr/>
          <a:lstStyle/>
          <a:p>
            <a:fld id="{B6F15528-21DE-4FAA-801E-634DDDAF4B2B}" type="slidenum">
              <a:rPr lang="en-US" sz="2800" b="1" smtClean="0"/>
              <a:pPr/>
              <a:t>7</a:t>
            </a:fld>
            <a:endParaRPr lang="en-US" sz="2800" b="1" dirty="0"/>
          </a:p>
        </p:txBody>
      </p:sp>
      <p:sp>
        <p:nvSpPr>
          <p:cNvPr id="40" name="TextBox 62"/>
          <p:cNvSpPr txBox="1"/>
          <p:nvPr/>
        </p:nvSpPr>
        <p:spPr>
          <a:xfrm>
            <a:off x="3643767" y="1372378"/>
            <a:ext cx="10948769" cy="585994"/>
          </a:xfrm>
          <a:prstGeom prst="rect">
            <a:avLst/>
          </a:prstGeom>
        </p:spPr>
        <p:txBody>
          <a:bodyPr lIns="0" tIns="0" rIns="0" bIns="0" rtlCol="0" anchor="t">
            <a:spAutoFit/>
          </a:bodyPr>
          <a:lstStyle/>
          <a:p>
            <a:pPr algn="ctr">
              <a:lnSpc>
                <a:spcPts val="5040"/>
              </a:lnSpc>
              <a:spcBef>
                <a:spcPct val="0"/>
              </a:spcBef>
            </a:pPr>
            <a:r>
              <a:rPr lang="en-US" sz="3600" b="1" dirty="0">
                <a:solidFill>
                  <a:srgbClr val="000000"/>
                </a:solidFill>
                <a:latin typeface="Open Sauce Bold"/>
                <a:ea typeface="Open Sauce Bold"/>
                <a:cs typeface="Open Sauce Bold"/>
              </a:rPr>
              <a:t>La</a:t>
            </a:r>
            <a:r>
              <a:rPr lang="en-US" sz="2400" b="1" dirty="0">
                <a:solidFill>
                  <a:srgbClr val="000000"/>
                </a:solidFill>
                <a:latin typeface="Open Sauce Bold"/>
                <a:ea typeface="Open Sauce Bold"/>
                <a:cs typeface="Open Sauce Bold"/>
              </a:rPr>
              <a:t> </a:t>
            </a:r>
            <a:r>
              <a:rPr lang="en-US" sz="3600" b="1" dirty="0">
                <a:solidFill>
                  <a:srgbClr val="000000"/>
                </a:solidFill>
                <a:latin typeface="Open Sauce Bold"/>
                <a:ea typeface="Open Sauce Bold"/>
                <a:cs typeface="Open Sauce Bold"/>
              </a:rPr>
              <a:t>solution</a:t>
            </a:r>
            <a:r>
              <a:rPr lang="en-US" sz="2400" b="1" dirty="0">
                <a:solidFill>
                  <a:srgbClr val="000000"/>
                </a:solidFill>
                <a:latin typeface="Open Sauce Bold"/>
                <a:ea typeface="Open Sauce Bold"/>
                <a:cs typeface="Open Sauce Bold"/>
              </a:rPr>
              <a:t> </a:t>
            </a:r>
            <a:r>
              <a:rPr lang="en-US" sz="3600" b="1" dirty="0">
                <a:solidFill>
                  <a:srgbClr val="000000"/>
                </a:solidFill>
                <a:latin typeface="Open Sauce Bold"/>
                <a:ea typeface="Open Sauce Bold"/>
                <a:cs typeface="Open Sauce Bold"/>
              </a:rPr>
              <a:t>TMPA</a:t>
            </a:r>
            <a:r>
              <a:rPr lang="en-US" sz="2400" b="1" dirty="0">
                <a:solidFill>
                  <a:srgbClr val="000000"/>
                </a:solidFill>
                <a:latin typeface="Open Sauce Bold"/>
                <a:ea typeface="Open Sauce Bold"/>
                <a:cs typeface="Open Sauce Bold"/>
              </a:rPr>
              <a:t> </a:t>
            </a:r>
            <a:r>
              <a:rPr lang="en-US" sz="3600" b="1" dirty="0">
                <a:solidFill>
                  <a:srgbClr val="000000"/>
                </a:solidFill>
                <a:latin typeface="Open Sauce Bold"/>
                <a:ea typeface="Open Sauce Bold"/>
                <a:cs typeface="Open Sauce Bold"/>
              </a:rPr>
              <a:t>Cloud</a:t>
            </a:r>
            <a:r>
              <a:rPr lang="en-US" sz="2400" b="1" dirty="0">
                <a:solidFill>
                  <a:srgbClr val="000000"/>
                </a:solidFill>
                <a:latin typeface="Open Sauce Bold"/>
                <a:ea typeface="Open Sauce Bold"/>
                <a:cs typeface="Open Sauce Bold"/>
              </a:rPr>
              <a:t> </a:t>
            </a:r>
            <a:r>
              <a:rPr lang="en-US" sz="3600" b="1" dirty="0">
                <a:solidFill>
                  <a:srgbClr val="000000"/>
                </a:solidFill>
                <a:latin typeface="Open Sauce Bold"/>
                <a:ea typeface="Open Sauce Bold"/>
                <a:cs typeface="Open Sauce Bold"/>
              </a:rPr>
              <a:t>Server</a:t>
            </a:r>
            <a:endParaRPr lang="fr-FR" sz="3600" b="1" dirty="0">
              <a:solidFill>
                <a:srgbClr val="000000"/>
              </a:solidFill>
              <a:latin typeface="Open Sauce Bold"/>
              <a:ea typeface="Open Sauce Bold"/>
              <a:cs typeface="Open Sauce Bold"/>
            </a:endParaRPr>
          </a:p>
        </p:txBody>
      </p:sp>
    </p:spTree>
    <p:extLst>
      <p:ext uri="{BB962C8B-B14F-4D97-AF65-F5344CB8AC3E}">
        <p14:creationId xmlns:p14="http://schemas.microsoft.com/office/powerpoint/2010/main" val="28639750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107148" y="864369"/>
            <a:ext cx="18395148" cy="9422631"/>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txBody>
          <a:bodyPr/>
          <a:lstStyle/>
          <a:p>
            <a:r>
              <a:rPr lang="en-US" dirty="0" smtClean="0"/>
              <a:t>``</a:t>
            </a:r>
            <a:endParaRPr lang="fr-FR" dirty="0"/>
          </a:p>
        </p:txBody>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solidFill>
                <a:sym typeface="TT Fors Bold"/>
              </a:rPr>
              <a:t>Architecture</a:t>
            </a:r>
            <a:r>
              <a:rPr lang="en-US" sz="2400" b="1" dirty="0">
                <a:solidFill>
                  <a:schemeClr val="bg1">
                    <a:lumMod val="50000"/>
                  </a:schemeClr>
                </a:solidFill>
                <a:sym typeface="TT Fors Bold"/>
              </a:rPr>
              <a:t> </a:t>
            </a:r>
            <a:r>
              <a:rPr lang="en-US" sz="2400" b="1" dirty="0">
                <a:solidFill>
                  <a:schemeClr val="bg1"/>
                </a:solidFill>
                <a:sym typeface="TT Fors Bold"/>
              </a:rPr>
              <a:t>&amp; </a:t>
            </a:r>
            <a:r>
              <a:rPr lang="en-US" sz="2400" b="1" dirty="0" err="1">
                <a:solidFill>
                  <a:schemeClr val="bg1"/>
                </a:solidFill>
                <a:sym typeface="TT Fors Bold"/>
              </a:rPr>
              <a:t>Déploiement</a:t>
            </a:r>
            <a:endParaRPr lang="fr-FR" sz="2400" b="1" dirty="0">
              <a:solidFill>
                <a:schemeClr val="bg1"/>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34244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3" name="TextBox 33"/>
          <p:cNvSpPr txBox="1"/>
          <p:nvPr/>
        </p:nvSpPr>
        <p:spPr>
          <a:xfrm>
            <a:off x="-309219" y="1708344"/>
            <a:ext cx="19735800" cy="641201"/>
          </a:xfrm>
          <a:prstGeom prst="rect">
            <a:avLst/>
          </a:prstGeom>
        </p:spPr>
        <p:txBody>
          <a:bodyPr wrap="square" lIns="0" tIns="0" rIns="0" bIns="0" rtlCol="0" anchor="t">
            <a:spAutoFit/>
          </a:bodyPr>
          <a:lstStyle/>
          <a:p>
            <a:pPr algn="ctr">
              <a:lnSpc>
                <a:spcPts val="5040"/>
              </a:lnSpc>
              <a:spcBef>
                <a:spcPct val="0"/>
              </a:spcBef>
            </a:pPr>
            <a:r>
              <a:rPr lang="en-US" sz="3600" b="1" dirty="0">
                <a:solidFill>
                  <a:srgbClr val="000000"/>
                </a:solidFill>
                <a:latin typeface="Open Sauce Bold"/>
                <a:ea typeface="Open Sauce Bold"/>
                <a:cs typeface="Open Sauce Bold"/>
              </a:rPr>
              <a:t>Architecture </a:t>
            </a:r>
            <a:r>
              <a:rPr lang="en-US" sz="3600" b="1" dirty="0" err="1">
                <a:solidFill>
                  <a:srgbClr val="000000"/>
                </a:solidFill>
                <a:latin typeface="Open Sauce Bold"/>
                <a:ea typeface="Open Sauce Bold"/>
                <a:cs typeface="Open Sauce Bold"/>
              </a:rPr>
              <a:t>Globale</a:t>
            </a:r>
            <a:r>
              <a:rPr lang="en-US" sz="3600" b="1" dirty="0">
                <a:solidFill>
                  <a:srgbClr val="000000"/>
                </a:solidFill>
                <a:latin typeface="Open Sauce Bold"/>
                <a:ea typeface="Open Sauce Bold"/>
                <a:cs typeface="Open Sauce Bold"/>
              </a:rPr>
              <a:t> - 3 </a:t>
            </a:r>
            <a:r>
              <a:rPr lang="en-US" sz="3600" b="1" dirty="0" err="1">
                <a:solidFill>
                  <a:srgbClr val="000000"/>
                </a:solidFill>
                <a:latin typeface="Open Sauce Bold"/>
                <a:ea typeface="Open Sauce Bold"/>
                <a:cs typeface="Open Sauce Bold"/>
              </a:rPr>
              <a:t>nœuds</a:t>
            </a:r>
            <a:r>
              <a:rPr lang="en-US" sz="3600" b="1" dirty="0">
                <a:solidFill>
                  <a:srgbClr val="000000"/>
                </a:solidFill>
                <a:latin typeface="Open Sauce Bold"/>
                <a:ea typeface="Open Sauce Bold"/>
                <a:cs typeface="Open Sauce Bold"/>
              </a:rPr>
              <a:t> VMware Workstation + </a:t>
            </a:r>
            <a:r>
              <a:rPr lang="en-US" sz="3600" b="1" dirty="0" err="1">
                <a:solidFill>
                  <a:srgbClr val="000000"/>
                </a:solidFill>
                <a:latin typeface="Open Sauce Bold"/>
                <a:ea typeface="Open Sauce Bold"/>
                <a:cs typeface="Open Sauce Bold"/>
              </a:rPr>
              <a:t>Proxmox</a:t>
            </a:r>
            <a:r>
              <a:rPr lang="en-US" sz="3600" b="1" dirty="0">
                <a:solidFill>
                  <a:srgbClr val="000000"/>
                </a:solidFill>
                <a:latin typeface="Open Sauce Bold"/>
                <a:ea typeface="Open Sauce Bold"/>
                <a:cs typeface="Open Sauce Bold"/>
              </a:rPr>
              <a:t> VE + </a:t>
            </a:r>
            <a:r>
              <a:rPr lang="en-US" sz="3600" b="1" dirty="0" err="1">
                <a:solidFill>
                  <a:srgbClr val="000000"/>
                </a:solidFill>
                <a:latin typeface="Open Sauce Bold"/>
                <a:ea typeface="Open Sauce Bold"/>
                <a:cs typeface="Open Sauce Bold"/>
              </a:rPr>
              <a:t>Ceph</a:t>
            </a:r>
            <a:endParaRPr lang="fr-FR" sz="3600" b="1" dirty="0">
              <a:solidFill>
                <a:srgbClr val="000000"/>
              </a:solidFill>
              <a:latin typeface="Open Sauce Bold"/>
              <a:ea typeface="Open Sauce Bold"/>
              <a:cs typeface="Open Sauce Bold"/>
            </a:endParaRPr>
          </a:p>
        </p:txBody>
      </p:sp>
      <p:grpSp>
        <p:nvGrpSpPr>
          <p:cNvPr id="97" name="Group 2"/>
          <p:cNvGrpSpPr/>
          <p:nvPr/>
        </p:nvGrpSpPr>
        <p:grpSpPr>
          <a:xfrm>
            <a:off x="4950237" y="5539139"/>
            <a:ext cx="2918228" cy="1987131"/>
            <a:chOff x="0" y="0"/>
            <a:chExt cx="2228148" cy="1517230"/>
          </a:xfrm>
        </p:grpSpPr>
        <p:sp>
          <p:nvSpPr>
            <p:cNvPr id="98" name="Freeform 3"/>
            <p:cNvSpPr/>
            <p:nvPr/>
          </p:nvSpPr>
          <p:spPr>
            <a:xfrm>
              <a:off x="0" y="0"/>
              <a:ext cx="2228148" cy="1517230"/>
            </a:xfrm>
            <a:custGeom>
              <a:avLst/>
              <a:gdLst/>
              <a:ahLst/>
              <a:cxnLst/>
              <a:rect l="l" t="t" r="r" b="b"/>
              <a:pathLst>
                <a:path w="2228148" h="1517230">
                  <a:moveTo>
                    <a:pt x="103465" y="0"/>
                  </a:moveTo>
                  <a:lnTo>
                    <a:pt x="2124683" y="0"/>
                  </a:lnTo>
                  <a:cubicBezTo>
                    <a:pt x="2181826" y="0"/>
                    <a:pt x="2228148" y="46323"/>
                    <a:pt x="2228148" y="103465"/>
                  </a:cubicBezTo>
                  <a:lnTo>
                    <a:pt x="2228148" y="1413764"/>
                  </a:lnTo>
                  <a:cubicBezTo>
                    <a:pt x="2228148" y="1470907"/>
                    <a:pt x="2181826" y="1517230"/>
                    <a:pt x="2124683" y="1517230"/>
                  </a:cubicBezTo>
                  <a:lnTo>
                    <a:pt x="103465" y="1517230"/>
                  </a:lnTo>
                  <a:cubicBezTo>
                    <a:pt x="46323" y="1517230"/>
                    <a:pt x="0" y="1470907"/>
                    <a:pt x="0" y="1413764"/>
                  </a:cubicBezTo>
                  <a:lnTo>
                    <a:pt x="0" y="103465"/>
                  </a:lnTo>
                  <a:cubicBezTo>
                    <a:pt x="0" y="46323"/>
                    <a:pt x="46323" y="0"/>
                    <a:pt x="103465" y="0"/>
                  </a:cubicBezTo>
                  <a:close/>
                </a:path>
              </a:pathLst>
            </a:custGeom>
            <a:solidFill>
              <a:srgbClr val="345CA4"/>
            </a:solidFill>
          </p:spPr>
        </p:sp>
        <p:sp>
          <p:nvSpPr>
            <p:cNvPr id="100" name="TextBox 4"/>
            <p:cNvSpPr txBox="1"/>
            <p:nvPr/>
          </p:nvSpPr>
          <p:spPr>
            <a:xfrm>
              <a:off x="0" y="-38100"/>
              <a:ext cx="2228148" cy="1555330"/>
            </a:xfrm>
            <a:prstGeom prst="rect">
              <a:avLst/>
            </a:prstGeom>
          </p:spPr>
          <p:txBody>
            <a:bodyPr lIns="39249" tIns="39249" rIns="39249" bIns="39249" rtlCol="0" anchor="ctr"/>
            <a:lstStyle/>
            <a:p>
              <a:pPr algn="ctr">
                <a:lnSpc>
                  <a:spcPts val="1514"/>
                </a:lnSpc>
              </a:pPr>
              <a:endParaRPr/>
            </a:p>
          </p:txBody>
        </p:sp>
      </p:grpSp>
      <p:sp>
        <p:nvSpPr>
          <p:cNvPr id="101" name="AutoShape 5"/>
          <p:cNvSpPr/>
          <p:nvPr/>
        </p:nvSpPr>
        <p:spPr>
          <a:xfrm>
            <a:off x="4950237" y="6170203"/>
            <a:ext cx="2918228" cy="0"/>
          </a:xfrm>
          <a:prstGeom prst="line">
            <a:avLst/>
          </a:prstGeom>
          <a:ln w="19050" cap="flat">
            <a:solidFill>
              <a:srgbClr val="000000"/>
            </a:solidFill>
            <a:prstDash val="solid"/>
            <a:headEnd type="none" w="sm" len="sm"/>
            <a:tailEnd type="none" w="sm" len="sm"/>
          </a:ln>
        </p:spPr>
      </p:sp>
      <p:grpSp>
        <p:nvGrpSpPr>
          <p:cNvPr id="102" name="Group 6"/>
          <p:cNvGrpSpPr/>
          <p:nvPr/>
        </p:nvGrpSpPr>
        <p:grpSpPr>
          <a:xfrm>
            <a:off x="4950237" y="4000500"/>
            <a:ext cx="10115305" cy="831682"/>
            <a:chOff x="0" y="0"/>
            <a:chExt cx="7723316" cy="635012"/>
          </a:xfrm>
        </p:grpSpPr>
        <p:sp>
          <p:nvSpPr>
            <p:cNvPr id="103" name="Freeform 7"/>
            <p:cNvSpPr/>
            <p:nvPr/>
          </p:nvSpPr>
          <p:spPr>
            <a:xfrm>
              <a:off x="0" y="0"/>
              <a:ext cx="7723316" cy="635012"/>
            </a:xfrm>
            <a:custGeom>
              <a:avLst/>
              <a:gdLst/>
              <a:ahLst/>
              <a:cxnLst/>
              <a:rect l="l" t="t" r="r" b="b"/>
              <a:pathLst>
                <a:path w="7723316" h="635012">
                  <a:moveTo>
                    <a:pt x="29849" y="0"/>
                  </a:moveTo>
                  <a:lnTo>
                    <a:pt x="7693467" y="0"/>
                  </a:lnTo>
                  <a:cubicBezTo>
                    <a:pt x="7701383" y="0"/>
                    <a:pt x="7708976" y="3145"/>
                    <a:pt x="7714573" y="8743"/>
                  </a:cubicBezTo>
                  <a:cubicBezTo>
                    <a:pt x="7720171" y="14340"/>
                    <a:pt x="7723316" y="21933"/>
                    <a:pt x="7723316" y="29849"/>
                  </a:cubicBezTo>
                  <a:lnTo>
                    <a:pt x="7723316" y="605163"/>
                  </a:lnTo>
                  <a:cubicBezTo>
                    <a:pt x="7723316" y="621648"/>
                    <a:pt x="7709952" y="635012"/>
                    <a:pt x="7693467" y="635012"/>
                  </a:cubicBezTo>
                  <a:lnTo>
                    <a:pt x="29849" y="635012"/>
                  </a:lnTo>
                  <a:cubicBezTo>
                    <a:pt x="13364" y="635012"/>
                    <a:pt x="0" y="621648"/>
                    <a:pt x="0" y="605163"/>
                  </a:cubicBezTo>
                  <a:lnTo>
                    <a:pt x="0" y="29849"/>
                  </a:lnTo>
                  <a:cubicBezTo>
                    <a:pt x="0" y="13364"/>
                    <a:pt x="13364" y="0"/>
                    <a:pt x="29849" y="0"/>
                  </a:cubicBezTo>
                  <a:close/>
                </a:path>
              </a:pathLst>
            </a:custGeom>
            <a:solidFill>
              <a:srgbClr val="345CA4"/>
            </a:solidFill>
          </p:spPr>
        </p:sp>
        <p:sp>
          <p:nvSpPr>
            <p:cNvPr id="104" name="TextBox 8"/>
            <p:cNvSpPr txBox="1"/>
            <p:nvPr/>
          </p:nvSpPr>
          <p:spPr>
            <a:xfrm>
              <a:off x="0" y="-76200"/>
              <a:ext cx="7723316" cy="711212"/>
            </a:xfrm>
            <a:prstGeom prst="rect">
              <a:avLst/>
            </a:prstGeom>
          </p:spPr>
          <p:txBody>
            <a:bodyPr lIns="39249" tIns="39249" rIns="39249" bIns="39249" rtlCol="0" anchor="ctr"/>
            <a:lstStyle/>
            <a:p>
              <a:pPr algn="ctr">
                <a:lnSpc>
                  <a:spcPts val="4651"/>
                </a:lnSpc>
              </a:pPr>
              <a:endParaRPr/>
            </a:p>
          </p:txBody>
        </p:sp>
      </p:grpSp>
      <p:sp>
        <p:nvSpPr>
          <p:cNvPr id="105" name="Freeform 9"/>
          <p:cNvSpPr/>
          <p:nvPr/>
        </p:nvSpPr>
        <p:spPr>
          <a:xfrm flipH="1">
            <a:off x="6363632" y="4832182"/>
            <a:ext cx="45719" cy="710812"/>
          </a:xfrm>
          <a:custGeom>
            <a:avLst/>
            <a:gdLst/>
            <a:ahLst/>
            <a:cxnLst/>
            <a:rect l="l" t="t" r="r" b="b"/>
            <a:pathLst>
              <a:path h="353478">
                <a:moveTo>
                  <a:pt x="0" y="353478"/>
                </a:moveTo>
                <a:lnTo>
                  <a:pt x="0" y="0"/>
                </a:lnTo>
              </a:path>
            </a:pathLst>
          </a:custGeom>
          <a:ln w="19050" cap="rnd">
            <a:solidFill>
              <a:srgbClr val="ACB8C0"/>
            </a:solidFill>
            <a:prstDash val="solid"/>
            <a:headEnd type="none" w="sm" len="sm"/>
            <a:tailEnd type="arrow" w="med" len="sm"/>
          </a:ln>
        </p:spPr>
      </p:sp>
      <p:grpSp>
        <p:nvGrpSpPr>
          <p:cNvPr id="106" name="Group 10"/>
          <p:cNvGrpSpPr/>
          <p:nvPr/>
        </p:nvGrpSpPr>
        <p:grpSpPr>
          <a:xfrm>
            <a:off x="8418926" y="5496720"/>
            <a:ext cx="2918228" cy="1987131"/>
            <a:chOff x="0" y="0"/>
            <a:chExt cx="2228148" cy="1517230"/>
          </a:xfrm>
        </p:grpSpPr>
        <p:sp>
          <p:nvSpPr>
            <p:cNvPr id="107" name="Freeform 11"/>
            <p:cNvSpPr/>
            <p:nvPr/>
          </p:nvSpPr>
          <p:spPr>
            <a:xfrm>
              <a:off x="0" y="0"/>
              <a:ext cx="2228148" cy="1517230"/>
            </a:xfrm>
            <a:custGeom>
              <a:avLst/>
              <a:gdLst/>
              <a:ahLst/>
              <a:cxnLst/>
              <a:rect l="l" t="t" r="r" b="b"/>
              <a:pathLst>
                <a:path w="2228148" h="1517230">
                  <a:moveTo>
                    <a:pt x="103465" y="0"/>
                  </a:moveTo>
                  <a:lnTo>
                    <a:pt x="2124683" y="0"/>
                  </a:lnTo>
                  <a:cubicBezTo>
                    <a:pt x="2181826" y="0"/>
                    <a:pt x="2228148" y="46323"/>
                    <a:pt x="2228148" y="103465"/>
                  </a:cubicBezTo>
                  <a:lnTo>
                    <a:pt x="2228148" y="1413764"/>
                  </a:lnTo>
                  <a:cubicBezTo>
                    <a:pt x="2228148" y="1470907"/>
                    <a:pt x="2181826" y="1517230"/>
                    <a:pt x="2124683" y="1517230"/>
                  </a:cubicBezTo>
                  <a:lnTo>
                    <a:pt x="103465" y="1517230"/>
                  </a:lnTo>
                  <a:cubicBezTo>
                    <a:pt x="46323" y="1517230"/>
                    <a:pt x="0" y="1470907"/>
                    <a:pt x="0" y="1413764"/>
                  </a:cubicBezTo>
                  <a:lnTo>
                    <a:pt x="0" y="103465"/>
                  </a:lnTo>
                  <a:cubicBezTo>
                    <a:pt x="0" y="46323"/>
                    <a:pt x="46323" y="0"/>
                    <a:pt x="103465" y="0"/>
                  </a:cubicBezTo>
                  <a:close/>
                </a:path>
              </a:pathLst>
            </a:custGeom>
            <a:solidFill>
              <a:srgbClr val="345CA4"/>
            </a:solidFill>
          </p:spPr>
        </p:sp>
        <p:sp>
          <p:nvSpPr>
            <p:cNvPr id="108" name="TextBox 12"/>
            <p:cNvSpPr txBox="1"/>
            <p:nvPr/>
          </p:nvSpPr>
          <p:spPr>
            <a:xfrm>
              <a:off x="0" y="-38100"/>
              <a:ext cx="2228148" cy="1555330"/>
            </a:xfrm>
            <a:prstGeom prst="rect">
              <a:avLst/>
            </a:prstGeom>
          </p:spPr>
          <p:txBody>
            <a:bodyPr lIns="39249" tIns="39249" rIns="39249" bIns="39249" rtlCol="0" anchor="ctr"/>
            <a:lstStyle/>
            <a:p>
              <a:pPr algn="ctr">
                <a:lnSpc>
                  <a:spcPts val="1514"/>
                </a:lnSpc>
              </a:pPr>
              <a:endParaRPr/>
            </a:p>
          </p:txBody>
        </p:sp>
      </p:grpSp>
      <p:sp>
        <p:nvSpPr>
          <p:cNvPr id="109" name="AutoShape 13"/>
          <p:cNvSpPr/>
          <p:nvPr/>
        </p:nvSpPr>
        <p:spPr>
          <a:xfrm>
            <a:off x="8418926" y="6127785"/>
            <a:ext cx="2918228" cy="0"/>
          </a:xfrm>
          <a:prstGeom prst="line">
            <a:avLst/>
          </a:prstGeom>
          <a:ln w="19050" cap="flat">
            <a:solidFill>
              <a:srgbClr val="000000"/>
            </a:solidFill>
            <a:prstDash val="solid"/>
            <a:headEnd type="none" w="sm" len="sm"/>
            <a:tailEnd type="none" w="sm" len="sm"/>
          </a:ln>
        </p:spPr>
      </p:sp>
      <p:grpSp>
        <p:nvGrpSpPr>
          <p:cNvPr id="110" name="Group 14"/>
          <p:cNvGrpSpPr/>
          <p:nvPr/>
        </p:nvGrpSpPr>
        <p:grpSpPr>
          <a:xfrm>
            <a:off x="12019121" y="5496720"/>
            <a:ext cx="2918228" cy="1987131"/>
            <a:chOff x="0" y="0"/>
            <a:chExt cx="2228148" cy="1517230"/>
          </a:xfrm>
        </p:grpSpPr>
        <p:sp>
          <p:nvSpPr>
            <p:cNvPr id="111" name="Freeform 15"/>
            <p:cNvSpPr/>
            <p:nvPr/>
          </p:nvSpPr>
          <p:spPr>
            <a:xfrm>
              <a:off x="0" y="0"/>
              <a:ext cx="2228148" cy="1517230"/>
            </a:xfrm>
            <a:custGeom>
              <a:avLst/>
              <a:gdLst/>
              <a:ahLst/>
              <a:cxnLst/>
              <a:rect l="l" t="t" r="r" b="b"/>
              <a:pathLst>
                <a:path w="2228148" h="1517230">
                  <a:moveTo>
                    <a:pt x="103465" y="0"/>
                  </a:moveTo>
                  <a:lnTo>
                    <a:pt x="2124683" y="0"/>
                  </a:lnTo>
                  <a:cubicBezTo>
                    <a:pt x="2181826" y="0"/>
                    <a:pt x="2228148" y="46323"/>
                    <a:pt x="2228148" y="103465"/>
                  </a:cubicBezTo>
                  <a:lnTo>
                    <a:pt x="2228148" y="1413764"/>
                  </a:lnTo>
                  <a:cubicBezTo>
                    <a:pt x="2228148" y="1470907"/>
                    <a:pt x="2181826" y="1517230"/>
                    <a:pt x="2124683" y="1517230"/>
                  </a:cubicBezTo>
                  <a:lnTo>
                    <a:pt x="103465" y="1517230"/>
                  </a:lnTo>
                  <a:cubicBezTo>
                    <a:pt x="46323" y="1517230"/>
                    <a:pt x="0" y="1470907"/>
                    <a:pt x="0" y="1413764"/>
                  </a:cubicBezTo>
                  <a:lnTo>
                    <a:pt x="0" y="103465"/>
                  </a:lnTo>
                  <a:cubicBezTo>
                    <a:pt x="0" y="46323"/>
                    <a:pt x="46323" y="0"/>
                    <a:pt x="103465" y="0"/>
                  </a:cubicBezTo>
                  <a:close/>
                </a:path>
              </a:pathLst>
            </a:custGeom>
            <a:solidFill>
              <a:srgbClr val="0078C8"/>
            </a:solidFill>
          </p:spPr>
        </p:sp>
        <p:sp>
          <p:nvSpPr>
            <p:cNvPr id="112" name="TextBox 16"/>
            <p:cNvSpPr txBox="1"/>
            <p:nvPr/>
          </p:nvSpPr>
          <p:spPr>
            <a:xfrm>
              <a:off x="0" y="-38100"/>
              <a:ext cx="2228148" cy="1555330"/>
            </a:xfrm>
            <a:prstGeom prst="rect">
              <a:avLst/>
            </a:prstGeom>
          </p:spPr>
          <p:txBody>
            <a:bodyPr lIns="39249" tIns="39249" rIns="39249" bIns="39249" rtlCol="0" anchor="ctr"/>
            <a:lstStyle/>
            <a:p>
              <a:pPr algn="ctr">
                <a:lnSpc>
                  <a:spcPts val="1514"/>
                </a:lnSpc>
              </a:pPr>
              <a:endParaRPr/>
            </a:p>
          </p:txBody>
        </p:sp>
      </p:grpSp>
      <p:sp>
        <p:nvSpPr>
          <p:cNvPr id="113" name="AutoShape 17"/>
          <p:cNvSpPr/>
          <p:nvPr/>
        </p:nvSpPr>
        <p:spPr>
          <a:xfrm>
            <a:off x="12019121" y="6127785"/>
            <a:ext cx="2918228" cy="0"/>
          </a:xfrm>
          <a:prstGeom prst="line">
            <a:avLst/>
          </a:prstGeom>
          <a:ln w="19050" cap="flat">
            <a:solidFill>
              <a:srgbClr val="000000"/>
            </a:solidFill>
            <a:prstDash val="solid"/>
            <a:headEnd type="none" w="sm" len="sm"/>
            <a:tailEnd type="none" w="sm" len="sm"/>
          </a:ln>
        </p:spPr>
      </p:sp>
      <p:sp>
        <p:nvSpPr>
          <p:cNvPr id="114" name="Freeform 18"/>
          <p:cNvSpPr/>
          <p:nvPr/>
        </p:nvSpPr>
        <p:spPr>
          <a:xfrm flipH="1">
            <a:off x="9832321" y="4832182"/>
            <a:ext cx="45719" cy="643158"/>
          </a:xfrm>
          <a:custGeom>
            <a:avLst/>
            <a:gdLst/>
            <a:ahLst/>
            <a:cxnLst/>
            <a:rect l="l" t="t" r="r" b="b"/>
            <a:pathLst>
              <a:path h="332269">
                <a:moveTo>
                  <a:pt x="0" y="332269"/>
                </a:moveTo>
                <a:lnTo>
                  <a:pt x="0" y="0"/>
                </a:lnTo>
              </a:path>
            </a:pathLst>
          </a:custGeom>
          <a:ln w="19050" cap="rnd">
            <a:solidFill>
              <a:srgbClr val="ACB8C0"/>
            </a:solidFill>
            <a:prstDash val="solid"/>
            <a:headEnd type="none" w="sm" len="sm"/>
            <a:tailEnd type="arrow" w="med" len="sm"/>
          </a:ln>
        </p:spPr>
      </p:sp>
      <p:sp>
        <p:nvSpPr>
          <p:cNvPr id="115" name="Freeform 19"/>
          <p:cNvSpPr/>
          <p:nvPr/>
        </p:nvSpPr>
        <p:spPr>
          <a:xfrm flipH="1">
            <a:off x="13374251" y="4832182"/>
            <a:ext cx="103984" cy="631065"/>
          </a:xfrm>
          <a:custGeom>
            <a:avLst/>
            <a:gdLst/>
            <a:ahLst/>
            <a:cxnLst/>
            <a:rect l="l" t="t" r="r" b="b"/>
            <a:pathLst>
              <a:path h="332269">
                <a:moveTo>
                  <a:pt x="0" y="332269"/>
                </a:moveTo>
                <a:lnTo>
                  <a:pt x="0" y="0"/>
                </a:lnTo>
              </a:path>
            </a:pathLst>
          </a:custGeom>
          <a:ln w="19050" cap="rnd">
            <a:solidFill>
              <a:srgbClr val="ACB8C0"/>
            </a:solidFill>
            <a:prstDash val="solid"/>
            <a:headEnd type="none" w="sm" len="sm"/>
            <a:tailEnd type="arrow" w="med" len="sm"/>
          </a:ln>
        </p:spPr>
      </p:sp>
      <p:sp>
        <p:nvSpPr>
          <p:cNvPr id="116" name="AutoShape 20"/>
          <p:cNvSpPr/>
          <p:nvPr/>
        </p:nvSpPr>
        <p:spPr>
          <a:xfrm flipH="1">
            <a:off x="11337155" y="6684839"/>
            <a:ext cx="681966" cy="0"/>
          </a:xfrm>
          <a:prstGeom prst="line">
            <a:avLst/>
          </a:prstGeom>
          <a:ln w="47625" cap="rnd">
            <a:solidFill>
              <a:srgbClr val="012B1B"/>
            </a:solidFill>
            <a:prstDash val="solid"/>
            <a:headEnd type="triangle" w="lg" len="med"/>
            <a:tailEnd type="triangle" w="lg" len="med"/>
          </a:ln>
        </p:spPr>
      </p:sp>
      <p:sp>
        <p:nvSpPr>
          <p:cNvPr id="117" name="AutoShape 21"/>
          <p:cNvSpPr/>
          <p:nvPr/>
        </p:nvSpPr>
        <p:spPr>
          <a:xfrm flipH="1" flipV="1">
            <a:off x="7868466" y="6684839"/>
            <a:ext cx="550461" cy="0"/>
          </a:xfrm>
          <a:prstGeom prst="line">
            <a:avLst/>
          </a:prstGeom>
          <a:ln w="47625" cap="rnd">
            <a:solidFill>
              <a:srgbClr val="012B1B"/>
            </a:solidFill>
            <a:prstDash val="solid"/>
            <a:headEnd type="triangle" w="lg" len="med"/>
            <a:tailEnd type="triangle" w="lg" len="med"/>
          </a:ln>
        </p:spPr>
      </p:sp>
      <p:grpSp>
        <p:nvGrpSpPr>
          <p:cNvPr id="118" name="Group 22"/>
          <p:cNvGrpSpPr/>
          <p:nvPr/>
        </p:nvGrpSpPr>
        <p:grpSpPr>
          <a:xfrm>
            <a:off x="1287153" y="4416341"/>
            <a:ext cx="3064880" cy="673483"/>
            <a:chOff x="0" y="0"/>
            <a:chExt cx="2394155" cy="526097"/>
          </a:xfrm>
        </p:grpSpPr>
        <p:sp>
          <p:nvSpPr>
            <p:cNvPr id="119" name="Freeform 23"/>
            <p:cNvSpPr/>
            <p:nvPr/>
          </p:nvSpPr>
          <p:spPr>
            <a:xfrm>
              <a:off x="0" y="0"/>
              <a:ext cx="2394155" cy="526097"/>
            </a:xfrm>
            <a:custGeom>
              <a:avLst/>
              <a:gdLst/>
              <a:ahLst/>
              <a:cxnLst/>
              <a:rect l="l" t="t" r="r" b="b"/>
              <a:pathLst>
                <a:path w="2394155" h="526097">
                  <a:moveTo>
                    <a:pt x="98514" y="0"/>
                  </a:moveTo>
                  <a:lnTo>
                    <a:pt x="2295640" y="0"/>
                  </a:lnTo>
                  <a:cubicBezTo>
                    <a:pt x="2321768" y="0"/>
                    <a:pt x="2346825" y="10379"/>
                    <a:pt x="2365300" y="28854"/>
                  </a:cubicBezTo>
                  <a:cubicBezTo>
                    <a:pt x="2383775" y="47329"/>
                    <a:pt x="2394155" y="72387"/>
                    <a:pt x="2394155" y="98514"/>
                  </a:cubicBezTo>
                  <a:lnTo>
                    <a:pt x="2394155" y="427582"/>
                  </a:lnTo>
                  <a:cubicBezTo>
                    <a:pt x="2394155" y="453710"/>
                    <a:pt x="2383775" y="478768"/>
                    <a:pt x="2365300" y="497243"/>
                  </a:cubicBezTo>
                  <a:cubicBezTo>
                    <a:pt x="2346825" y="515718"/>
                    <a:pt x="2321768" y="526097"/>
                    <a:pt x="2295640" y="526097"/>
                  </a:cubicBezTo>
                  <a:lnTo>
                    <a:pt x="98514" y="526097"/>
                  </a:lnTo>
                  <a:cubicBezTo>
                    <a:pt x="72387" y="526097"/>
                    <a:pt x="47329" y="515718"/>
                    <a:pt x="28854" y="497243"/>
                  </a:cubicBezTo>
                  <a:cubicBezTo>
                    <a:pt x="10379" y="478768"/>
                    <a:pt x="0" y="453710"/>
                    <a:pt x="0" y="427582"/>
                  </a:cubicBezTo>
                  <a:lnTo>
                    <a:pt x="0" y="98514"/>
                  </a:lnTo>
                  <a:cubicBezTo>
                    <a:pt x="0" y="72387"/>
                    <a:pt x="10379" y="47329"/>
                    <a:pt x="28854" y="28854"/>
                  </a:cubicBezTo>
                  <a:cubicBezTo>
                    <a:pt x="47329" y="10379"/>
                    <a:pt x="72387" y="0"/>
                    <a:pt x="98514" y="0"/>
                  </a:cubicBezTo>
                  <a:close/>
                </a:path>
              </a:pathLst>
            </a:custGeom>
            <a:solidFill>
              <a:srgbClr val="A1D2F5"/>
            </a:solidFill>
          </p:spPr>
        </p:sp>
        <p:sp>
          <p:nvSpPr>
            <p:cNvPr id="120" name="TextBox 24"/>
            <p:cNvSpPr txBox="1"/>
            <p:nvPr/>
          </p:nvSpPr>
          <p:spPr>
            <a:xfrm>
              <a:off x="0" y="-38100"/>
              <a:ext cx="2394155" cy="564197"/>
            </a:xfrm>
            <a:prstGeom prst="rect">
              <a:avLst/>
            </a:prstGeom>
          </p:spPr>
          <p:txBody>
            <a:bodyPr lIns="39249" tIns="39249" rIns="39249" bIns="39249" rtlCol="0" anchor="ctr"/>
            <a:lstStyle/>
            <a:p>
              <a:pPr algn="ctr">
                <a:lnSpc>
                  <a:spcPts val="1514"/>
                </a:lnSpc>
              </a:pPr>
              <a:endParaRPr/>
            </a:p>
          </p:txBody>
        </p:sp>
      </p:grpSp>
      <p:sp>
        <p:nvSpPr>
          <p:cNvPr id="121" name="Freeform 25"/>
          <p:cNvSpPr/>
          <p:nvPr/>
        </p:nvSpPr>
        <p:spPr>
          <a:xfrm>
            <a:off x="2465410" y="5089824"/>
            <a:ext cx="10620285" cy="406896"/>
          </a:xfrm>
          <a:custGeom>
            <a:avLst/>
            <a:gdLst/>
            <a:ahLst/>
            <a:cxnLst/>
            <a:rect l="l" t="t" r="r" b="b"/>
            <a:pathLst>
              <a:path w="10620285" h="406896">
                <a:moveTo>
                  <a:pt x="0" y="0"/>
                </a:moveTo>
                <a:lnTo>
                  <a:pt x="0" y="101724"/>
                </a:lnTo>
                <a:cubicBezTo>
                  <a:pt x="0" y="128703"/>
                  <a:pt x="10717" y="154577"/>
                  <a:pt x="29795" y="173654"/>
                </a:cubicBezTo>
                <a:cubicBezTo>
                  <a:pt x="48871" y="192731"/>
                  <a:pt x="74745" y="203448"/>
                  <a:pt x="101724" y="203448"/>
                </a:cubicBezTo>
                <a:lnTo>
                  <a:pt x="10518562" y="203448"/>
                </a:lnTo>
                <a:cubicBezTo>
                  <a:pt x="10574743" y="203448"/>
                  <a:pt x="10620286" y="248992"/>
                  <a:pt x="10620286" y="305172"/>
                </a:cubicBezTo>
                <a:lnTo>
                  <a:pt x="10620286" y="406896"/>
                </a:lnTo>
              </a:path>
            </a:pathLst>
          </a:custGeom>
          <a:ln w="28575" cap="flat">
            <a:solidFill>
              <a:srgbClr val="000000"/>
            </a:solidFill>
            <a:prstDash val="solid"/>
            <a:headEnd type="none" w="sm" len="sm"/>
            <a:tailEnd type="triangle" w="lg" len="med"/>
          </a:ln>
        </p:spPr>
      </p:sp>
      <p:sp>
        <p:nvSpPr>
          <p:cNvPr id="122" name="Freeform 26"/>
          <p:cNvSpPr/>
          <p:nvPr/>
        </p:nvSpPr>
        <p:spPr>
          <a:xfrm>
            <a:off x="2465410" y="5089824"/>
            <a:ext cx="7093271" cy="406896"/>
          </a:xfrm>
          <a:custGeom>
            <a:avLst/>
            <a:gdLst/>
            <a:ahLst/>
            <a:cxnLst/>
            <a:rect l="l" t="t" r="r" b="b"/>
            <a:pathLst>
              <a:path w="7093271" h="406896">
                <a:moveTo>
                  <a:pt x="0" y="0"/>
                </a:moveTo>
                <a:lnTo>
                  <a:pt x="0" y="101724"/>
                </a:lnTo>
                <a:cubicBezTo>
                  <a:pt x="0" y="128703"/>
                  <a:pt x="10717" y="154577"/>
                  <a:pt x="29795" y="173654"/>
                </a:cubicBezTo>
                <a:cubicBezTo>
                  <a:pt x="48871" y="192731"/>
                  <a:pt x="74745" y="203448"/>
                  <a:pt x="101724" y="203448"/>
                </a:cubicBezTo>
                <a:lnTo>
                  <a:pt x="6991547" y="203448"/>
                </a:lnTo>
                <a:cubicBezTo>
                  <a:pt x="7047728" y="203448"/>
                  <a:pt x="7093271" y="248992"/>
                  <a:pt x="7093271" y="305172"/>
                </a:cubicBezTo>
                <a:lnTo>
                  <a:pt x="7093271" y="406896"/>
                </a:lnTo>
              </a:path>
            </a:pathLst>
          </a:custGeom>
          <a:ln w="28575" cap="flat">
            <a:solidFill>
              <a:srgbClr val="000000"/>
            </a:solidFill>
            <a:prstDash val="solid"/>
            <a:headEnd type="none" w="sm" len="sm"/>
            <a:tailEnd type="triangle" w="lg" len="med"/>
          </a:ln>
        </p:spPr>
      </p:sp>
      <p:sp>
        <p:nvSpPr>
          <p:cNvPr id="123" name="Freeform 27"/>
          <p:cNvSpPr/>
          <p:nvPr/>
        </p:nvSpPr>
        <p:spPr>
          <a:xfrm>
            <a:off x="2452709" y="5089824"/>
            <a:ext cx="3622367" cy="449314"/>
          </a:xfrm>
          <a:custGeom>
            <a:avLst/>
            <a:gdLst/>
            <a:ahLst/>
            <a:cxnLst/>
            <a:rect l="l" t="t" r="r" b="b"/>
            <a:pathLst>
              <a:path w="3622367" h="449314">
                <a:moveTo>
                  <a:pt x="0" y="0"/>
                </a:moveTo>
                <a:lnTo>
                  <a:pt x="0" y="101724"/>
                </a:lnTo>
                <a:cubicBezTo>
                  <a:pt x="0" y="128703"/>
                  <a:pt x="10717" y="154577"/>
                  <a:pt x="29794" y="173654"/>
                </a:cubicBezTo>
                <a:cubicBezTo>
                  <a:pt x="48871" y="192731"/>
                  <a:pt x="74745" y="203448"/>
                  <a:pt x="101724" y="203448"/>
                </a:cubicBezTo>
                <a:lnTo>
                  <a:pt x="3499434" y="203448"/>
                </a:lnTo>
                <a:cubicBezTo>
                  <a:pt x="3532037" y="203448"/>
                  <a:pt x="3563306" y="216400"/>
                  <a:pt x="3586360" y="239455"/>
                </a:cubicBezTo>
                <a:cubicBezTo>
                  <a:pt x="3609415" y="262509"/>
                  <a:pt x="3622367" y="293778"/>
                  <a:pt x="3622367" y="326382"/>
                </a:cubicBezTo>
                <a:lnTo>
                  <a:pt x="3622367" y="449315"/>
                </a:lnTo>
              </a:path>
            </a:pathLst>
          </a:custGeom>
          <a:ln w="28575" cap="flat">
            <a:solidFill>
              <a:srgbClr val="000000"/>
            </a:solidFill>
            <a:prstDash val="solid"/>
            <a:headEnd type="none" w="sm" len="sm"/>
            <a:tailEnd type="triangle" w="lg" len="med"/>
          </a:ln>
        </p:spPr>
      </p:sp>
      <p:sp>
        <p:nvSpPr>
          <p:cNvPr id="124" name="Freeform 28"/>
          <p:cNvSpPr/>
          <p:nvPr/>
        </p:nvSpPr>
        <p:spPr>
          <a:xfrm>
            <a:off x="5112860" y="9013785"/>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25" name="Freeform 29"/>
          <p:cNvSpPr/>
          <p:nvPr/>
        </p:nvSpPr>
        <p:spPr>
          <a:xfrm>
            <a:off x="5113353" y="8466855"/>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27" name="Freeform 31"/>
          <p:cNvSpPr/>
          <p:nvPr/>
        </p:nvSpPr>
        <p:spPr>
          <a:xfrm>
            <a:off x="6247906" y="7544906"/>
            <a:ext cx="45719" cy="640604"/>
          </a:xfrm>
          <a:custGeom>
            <a:avLst/>
            <a:gdLst/>
            <a:ahLst/>
            <a:cxnLst/>
            <a:rect l="l" t="t" r="r" b="b"/>
            <a:pathLst>
              <a:path h="196828">
                <a:moveTo>
                  <a:pt x="0" y="196828"/>
                </a:moveTo>
                <a:lnTo>
                  <a:pt x="0" y="0"/>
                </a:lnTo>
              </a:path>
            </a:pathLst>
          </a:custGeom>
          <a:ln w="19050" cap="rnd">
            <a:solidFill>
              <a:srgbClr val="ACB8C0"/>
            </a:solidFill>
            <a:prstDash val="solid"/>
            <a:headEnd type="none" w="sm" len="sm"/>
            <a:tailEnd type="arrow" w="med" len="sm"/>
          </a:ln>
        </p:spPr>
      </p:sp>
      <p:sp>
        <p:nvSpPr>
          <p:cNvPr id="128" name="Freeform 32"/>
          <p:cNvSpPr/>
          <p:nvPr/>
        </p:nvSpPr>
        <p:spPr>
          <a:xfrm>
            <a:off x="8768396" y="9013785"/>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29" name="Freeform 33"/>
          <p:cNvSpPr/>
          <p:nvPr/>
        </p:nvSpPr>
        <p:spPr>
          <a:xfrm>
            <a:off x="8768396" y="8466855"/>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0" name="Freeform 34"/>
          <p:cNvSpPr/>
          <p:nvPr/>
        </p:nvSpPr>
        <p:spPr>
          <a:xfrm>
            <a:off x="8768396" y="7919924"/>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1" name="Freeform 35"/>
          <p:cNvSpPr/>
          <p:nvPr/>
        </p:nvSpPr>
        <p:spPr>
          <a:xfrm>
            <a:off x="9878040" y="7483851"/>
            <a:ext cx="4276" cy="436073"/>
          </a:xfrm>
          <a:custGeom>
            <a:avLst/>
            <a:gdLst/>
            <a:ahLst/>
            <a:cxnLst/>
            <a:rect l="l" t="t" r="r" b="b"/>
            <a:pathLst>
              <a:path w="4276" h="436073">
                <a:moveTo>
                  <a:pt x="4277" y="436074"/>
                </a:moveTo>
                <a:lnTo>
                  <a:pt x="4277" y="220175"/>
                </a:lnTo>
                <a:cubicBezTo>
                  <a:pt x="4277" y="218994"/>
                  <a:pt x="3320" y="218036"/>
                  <a:pt x="2139" y="218036"/>
                </a:cubicBezTo>
                <a:lnTo>
                  <a:pt x="2139" y="218036"/>
                </a:lnTo>
                <a:cubicBezTo>
                  <a:pt x="1572" y="218036"/>
                  <a:pt x="1027" y="217811"/>
                  <a:pt x="627" y="217410"/>
                </a:cubicBezTo>
                <a:cubicBezTo>
                  <a:pt x="226" y="217009"/>
                  <a:pt x="0" y="216465"/>
                  <a:pt x="0" y="215899"/>
                </a:cubicBezTo>
                <a:lnTo>
                  <a:pt x="0" y="0"/>
                </a:lnTo>
              </a:path>
            </a:pathLst>
          </a:custGeom>
          <a:ln w="19050" cap="rnd">
            <a:solidFill>
              <a:srgbClr val="ACB8C0"/>
            </a:solidFill>
            <a:prstDash val="solid"/>
            <a:headEnd type="none" w="sm" len="sm"/>
            <a:tailEnd type="arrow" w="med" len="sm"/>
          </a:ln>
        </p:spPr>
      </p:sp>
      <p:sp>
        <p:nvSpPr>
          <p:cNvPr id="132" name="Freeform 36"/>
          <p:cNvSpPr/>
          <p:nvPr/>
        </p:nvSpPr>
        <p:spPr>
          <a:xfrm>
            <a:off x="12278819" y="9013785"/>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3" name="Freeform 37"/>
          <p:cNvSpPr/>
          <p:nvPr/>
        </p:nvSpPr>
        <p:spPr>
          <a:xfrm>
            <a:off x="12278819" y="8466855"/>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5" name="Freeform 39"/>
          <p:cNvSpPr/>
          <p:nvPr/>
        </p:nvSpPr>
        <p:spPr>
          <a:xfrm flipH="1">
            <a:off x="13346729" y="7483850"/>
            <a:ext cx="46010" cy="666937"/>
          </a:xfrm>
          <a:custGeom>
            <a:avLst/>
            <a:gdLst/>
            <a:ahLst/>
            <a:cxnLst/>
            <a:rect l="l" t="t" r="r" b="b"/>
            <a:pathLst>
              <a:path h="218036">
                <a:moveTo>
                  <a:pt x="0" y="218036"/>
                </a:moveTo>
                <a:lnTo>
                  <a:pt x="0" y="0"/>
                </a:lnTo>
              </a:path>
            </a:pathLst>
          </a:custGeom>
          <a:ln w="19050" cap="rnd">
            <a:solidFill>
              <a:srgbClr val="ACB8C0"/>
            </a:solidFill>
            <a:prstDash val="solid"/>
            <a:headEnd type="none" w="sm" len="sm"/>
            <a:tailEnd type="arrow" w="med" len="sm"/>
          </a:ln>
        </p:spPr>
      </p:sp>
      <p:sp>
        <p:nvSpPr>
          <p:cNvPr id="136" name="Freeform 40"/>
          <p:cNvSpPr/>
          <p:nvPr/>
        </p:nvSpPr>
        <p:spPr>
          <a:xfrm>
            <a:off x="1183943" y="6982236"/>
            <a:ext cx="2018294" cy="925893"/>
          </a:xfrm>
          <a:custGeom>
            <a:avLst/>
            <a:gdLst/>
            <a:ahLst/>
            <a:cxnLst/>
            <a:rect l="l" t="t" r="r" b="b"/>
            <a:pathLst>
              <a:path w="2018294" h="925893">
                <a:moveTo>
                  <a:pt x="0" y="0"/>
                </a:moveTo>
                <a:lnTo>
                  <a:pt x="2018295" y="0"/>
                </a:lnTo>
                <a:lnTo>
                  <a:pt x="2018295" y="925893"/>
                </a:lnTo>
                <a:lnTo>
                  <a:pt x="0" y="925893"/>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7" name="Freeform 41"/>
          <p:cNvSpPr/>
          <p:nvPr/>
        </p:nvSpPr>
        <p:spPr>
          <a:xfrm>
            <a:off x="1183943" y="6519290"/>
            <a:ext cx="2018294" cy="925893"/>
          </a:xfrm>
          <a:custGeom>
            <a:avLst/>
            <a:gdLst/>
            <a:ahLst/>
            <a:cxnLst/>
            <a:rect l="l" t="t" r="r" b="b"/>
            <a:pathLst>
              <a:path w="2018294" h="925893">
                <a:moveTo>
                  <a:pt x="0" y="0"/>
                </a:moveTo>
                <a:lnTo>
                  <a:pt x="2018295" y="0"/>
                </a:lnTo>
                <a:lnTo>
                  <a:pt x="2018295" y="925892"/>
                </a:lnTo>
                <a:lnTo>
                  <a:pt x="0" y="925892"/>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8" name="Freeform 42"/>
          <p:cNvSpPr/>
          <p:nvPr/>
        </p:nvSpPr>
        <p:spPr>
          <a:xfrm>
            <a:off x="1183943" y="6056344"/>
            <a:ext cx="2018294" cy="925893"/>
          </a:xfrm>
          <a:custGeom>
            <a:avLst/>
            <a:gdLst/>
            <a:ahLst/>
            <a:cxnLst/>
            <a:rect l="l" t="t" r="r" b="b"/>
            <a:pathLst>
              <a:path w="2018294" h="925893">
                <a:moveTo>
                  <a:pt x="0" y="0"/>
                </a:moveTo>
                <a:lnTo>
                  <a:pt x="2018295" y="0"/>
                </a:lnTo>
                <a:lnTo>
                  <a:pt x="2018295" y="925892"/>
                </a:lnTo>
                <a:lnTo>
                  <a:pt x="0" y="925892"/>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9" name="Freeform 43"/>
          <p:cNvSpPr/>
          <p:nvPr/>
        </p:nvSpPr>
        <p:spPr>
          <a:xfrm>
            <a:off x="2192806" y="5089823"/>
            <a:ext cx="45719" cy="966519"/>
          </a:xfrm>
          <a:custGeom>
            <a:avLst/>
            <a:gdLst/>
            <a:ahLst/>
            <a:cxnLst/>
            <a:rect l="l" t="t" r="r" b="b"/>
            <a:pathLst>
              <a:path h="483260">
                <a:moveTo>
                  <a:pt x="0" y="483260"/>
                </a:moveTo>
                <a:lnTo>
                  <a:pt x="0" y="0"/>
                </a:lnTo>
              </a:path>
            </a:pathLst>
          </a:custGeom>
          <a:ln w="19050" cap="rnd">
            <a:solidFill>
              <a:srgbClr val="ACB8C0"/>
            </a:solidFill>
            <a:prstDash val="solid"/>
            <a:headEnd type="none" w="sm" len="sm"/>
            <a:tailEnd type="arrow" w="med" len="sm"/>
          </a:ln>
        </p:spPr>
      </p:sp>
      <p:sp>
        <p:nvSpPr>
          <p:cNvPr id="140" name="AutoShape 44"/>
          <p:cNvSpPr/>
          <p:nvPr/>
        </p:nvSpPr>
        <p:spPr>
          <a:xfrm flipH="1">
            <a:off x="7497791" y="8997979"/>
            <a:ext cx="1270605" cy="0"/>
          </a:xfrm>
          <a:prstGeom prst="line">
            <a:avLst/>
          </a:prstGeom>
          <a:ln w="47625" cap="rnd">
            <a:solidFill>
              <a:srgbClr val="012B1B"/>
            </a:solidFill>
            <a:prstDash val="solid"/>
            <a:headEnd type="triangle" w="lg" len="med"/>
            <a:tailEnd type="triangle" w="lg" len="med"/>
          </a:ln>
        </p:spPr>
      </p:sp>
      <p:sp>
        <p:nvSpPr>
          <p:cNvPr id="141" name="AutoShape 45"/>
          <p:cNvSpPr/>
          <p:nvPr/>
        </p:nvSpPr>
        <p:spPr>
          <a:xfrm flipH="1">
            <a:off x="11152834" y="8975305"/>
            <a:ext cx="1270605" cy="0"/>
          </a:xfrm>
          <a:prstGeom prst="line">
            <a:avLst/>
          </a:prstGeom>
          <a:ln w="47625" cap="rnd">
            <a:solidFill>
              <a:srgbClr val="012B1B"/>
            </a:solidFill>
            <a:prstDash val="solid"/>
            <a:headEnd type="triangle" w="lg" len="med"/>
            <a:tailEnd type="triangle" w="lg" len="med"/>
          </a:ln>
        </p:spPr>
      </p:sp>
      <p:grpSp>
        <p:nvGrpSpPr>
          <p:cNvPr id="142" name="Group 46"/>
          <p:cNvGrpSpPr/>
          <p:nvPr/>
        </p:nvGrpSpPr>
        <p:grpSpPr>
          <a:xfrm>
            <a:off x="4902963" y="2642097"/>
            <a:ext cx="10115305" cy="831682"/>
            <a:chOff x="0" y="0"/>
            <a:chExt cx="7723316" cy="635012"/>
          </a:xfrm>
        </p:grpSpPr>
        <p:sp>
          <p:nvSpPr>
            <p:cNvPr id="143" name="Freeform 47"/>
            <p:cNvSpPr/>
            <p:nvPr/>
          </p:nvSpPr>
          <p:spPr>
            <a:xfrm>
              <a:off x="0" y="0"/>
              <a:ext cx="7723316" cy="635012"/>
            </a:xfrm>
            <a:custGeom>
              <a:avLst/>
              <a:gdLst/>
              <a:ahLst/>
              <a:cxnLst/>
              <a:rect l="l" t="t" r="r" b="b"/>
              <a:pathLst>
                <a:path w="7723316" h="635012">
                  <a:moveTo>
                    <a:pt x="29849" y="0"/>
                  </a:moveTo>
                  <a:lnTo>
                    <a:pt x="7693467" y="0"/>
                  </a:lnTo>
                  <a:cubicBezTo>
                    <a:pt x="7701383" y="0"/>
                    <a:pt x="7708976" y="3145"/>
                    <a:pt x="7714573" y="8743"/>
                  </a:cubicBezTo>
                  <a:cubicBezTo>
                    <a:pt x="7720171" y="14340"/>
                    <a:pt x="7723316" y="21933"/>
                    <a:pt x="7723316" y="29849"/>
                  </a:cubicBezTo>
                  <a:lnTo>
                    <a:pt x="7723316" y="605163"/>
                  </a:lnTo>
                  <a:cubicBezTo>
                    <a:pt x="7723316" y="621648"/>
                    <a:pt x="7709952" y="635012"/>
                    <a:pt x="7693467" y="635012"/>
                  </a:cubicBezTo>
                  <a:lnTo>
                    <a:pt x="29849" y="635012"/>
                  </a:lnTo>
                  <a:cubicBezTo>
                    <a:pt x="13364" y="635012"/>
                    <a:pt x="0" y="621648"/>
                    <a:pt x="0" y="605163"/>
                  </a:cubicBezTo>
                  <a:lnTo>
                    <a:pt x="0" y="29849"/>
                  </a:lnTo>
                  <a:cubicBezTo>
                    <a:pt x="0" y="13364"/>
                    <a:pt x="13364" y="0"/>
                    <a:pt x="29849" y="0"/>
                  </a:cubicBezTo>
                  <a:close/>
                </a:path>
              </a:pathLst>
            </a:custGeom>
            <a:solidFill>
              <a:srgbClr val="345CA4"/>
            </a:solidFill>
          </p:spPr>
        </p:sp>
        <p:sp>
          <p:nvSpPr>
            <p:cNvPr id="144" name="TextBox 48"/>
            <p:cNvSpPr txBox="1"/>
            <p:nvPr/>
          </p:nvSpPr>
          <p:spPr>
            <a:xfrm>
              <a:off x="0" y="-76200"/>
              <a:ext cx="7723316" cy="711212"/>
            </a:xfrm>
            <a:prstGeom prst="rect">
              <a:avLst/>
            </a:prstGeom>
          </p:spPr>
          <p:txBody>
            <a:bodyPr lIns="39249" tIns="39249" rIns="39249" bIns="39249" rtlCol="0" anchor="ctr"/>
            <a:lstStyle/>
            <a:p>
              <a:pPr algn="ctr">
                <a:lnSpc>
                  <a:spcPts val="4651"/>
                </a:lnSpc>
              </a:pPr>
              <a:r>
                <a:rPr lang="en-US" sz="3322" b="1" dirty="0" err="1">
                  <a:solidFill>
                    <a:srgbClr val="FBFBFB"/>
                  </a:solidFill>
                  <a:latin typeface="Arimo Bold"/>
                  <a:ea typeface="Arimo Bold"/>
                  <a:cs typeface="Arimo Bold"/>
                  <a:sym typeface="Arimo Bold"/>
                </a:rPr>
                <a:t>vmware</a:t>
              </a:r>
              <a:r>
                <a:rPr lang="en-US" sz="3322" b="1" dirty="0">
                  <a:solidFill>
                    <a:srgbClr val="FBFBFB"/>
                  </a:solidFill>
                  <a:latin typeface="Arimo Bold"/>
                  <a:ea typeface="Arimo Bold"/>
                  <a:cs typeface="Arimo Bold"/>
                  <a:sym typeface="Arimo Bold"/>
                </a:rPr>
                <a:t> workstation</a:t>
              </a:r>
            </a:p>
          </p:txBody>
        </p:sp>
      </p:grpSp>
      <p:grpSp>
        <p:nvGrpSpPr>
          <p:cNvPr id="145" name="Group 49"/>
          <p:cNvGrpSpPr/>
          <p:nvPr/>
        </p:nvGrpSpPr>
        <p:grpSpPr>
          <a:xfrm>
            <a:off x="5216413" y="4058495"/>
            <a:ext cx="3332362" cy="694588"/>
            <a:chOff x="0" y="0"/>
            <a:chExt cx="1558984" cy="324950"/>
          </a:xfrm>
        </p:grpSpPr>
        <p:sp>
          <p:nvSpPr>
            <p:cNvPr id="146" name="Freeform 50"/>
            <p:cNvSpPr/>
            <p:nvPr/>
          </p:nvSpPr>
          <p:spPr>
            <a:xfrm>
              <a:off x="0" y="0"/>
              <a:ext cx="1558984" cy="324950"/>
            </a:xfrm>
            <a:custGeom>
              <a:avLst/>
              <a:gdLst/>
              <a:ahLst/>
              <a:cxnLst/>
              <a:rect l="l" t="t" r="r" b="b"/>
              <a:pathLst>
                <a:path w="1558984" h="324950">
                  <a:moveTo>
                    <a:pt x="18586" y="0"/>
                  </a:moveTo>
                  <a:lnTo>
                    <a:pt x="1540398" y="0"/>
                  </a:lnTo>
                  <a:cubicBezTo>
                    <a:pt x="1550663" y="0"/>
                    <a:pt x="1558984" y="8321"/>
                    <a:pt x="1558984" y="18586"/>
                  </a:cubicBezTo>
                  <a:lnTo>
                    <a:pt x="1558984" y="306364"/>
                  </a:lnTo>
                  <a:cubicBezTo>
                    <a:pt x="1558984" y="316629"/>
                    <a:pt x="1550663" y="324950"/>
                    <a:pt x="1540398" y="324950"/>
                  </a:cubicBezTo>
                  <a:lnTo>
                    <a:pt x="18586" y="324950"/>
                  </a:lnTo>
                  <a:cubicBezTo>
                    <a:pt x="13657" y="324950"/>
                    <a:pt x="8929" y="322992"/>
                    <a:pt x="5444" y="319506"/>
                  </a:cubicBezTo>
                  <a:cubicBezTo>
                    <a:pt x="1958" y="316021"/>
                    <a:pt x="0" y="311293"/>
                    <a:pt x="0" y="306364"/>
                  </a:cubicBezTo>
                  <a:lnTo>
                    <a:pt x="0" y="18586"/>
                  </a:lnTo>
                  <a:cubicBezTo>
                    <a:pt x="0" y="13657"/>
                    <a:pt x="1958" y="8929"/>
                    <a:pt x="5444" y="5444"/>
                  </a:cubicBezTo>
                  <a:cubicBezTo>
                    <a:pt x="8929" y="1958"/>
                    <a:pt x="13657" y="0"/>
                    <a:pt x="18586" y="0"/>
                  </a:cubicBezTo>
                  <a:close/>
                </a:path>
              </a:pathLst>
            </a:custGeom>
            <a:solidFill>
              <a:srgbClr val="A1D2F5"/>
            </a:solidFill>
            <a:ln cap="sq">
              <a:noFill/>
              <a:prstDash val="solid"/>
              <a:miter/>
            </a:ln>
          </p:spPr>
        </p:sp>
        <p:sp>
          <p:nvSpPr>
            <p:cNvPr id="147" name="TextBox 51"/>
            <p:cNvSpPr txBox="1"/>
            <p:nvPr/>
          </p:nvSpPr>
          <p:spPr>
            <a:xfrm>
              <a:off x="0" y="-47625"/>
              <a:ext cx="1558984" cy="372575"/>
            </a:xfrm>
            <a:prstGeom prst="rect">
              <a:avLst/>
            </a:prstGeom>
          </p:spPr>
          <p:txBody>
            <a:bodyPr lIns="78497" tIns="78497" rIns="78497" bIns="78497" rtlCol="0" anchor="ctr"/>
            <a:lstStyle/>
            <a:p>
              <a:pPr marL="0" lvl="0" indent="0" algn="ctr">
                <a:lnSpc>
                  <a:spcPts val="3461"/>
                </a:lnSpc>
                <a:spcBef>
                  <a:spcPct val="0"/>
                </a:spcBef>
              </a:pPr>
              <a:endParaRPr/>
            </a:p>
          </p:txBody>
        </p:sp>
      </p:grpSp>
      <p:sp>
        <p:nvSpPr>
          <p:cNvPr id="148" name="TextBox 52"/>
          <p:cNvSpPr txBox="1"/>
          <p:nvPr/>
        </p:nvSpPr>
        <p:spPr>
          <a:xfrm>
            <a:off x="5315950" y="4171086"/>
            <a:ext cx="3452447" cy="424164"/>
          </a:xfrm>
          <a:prstGeom prst="rect">
            <a:avLst/>
          </a:prstGeom>
        </p:spPr>
        <p:txBody>
          <a:bodyPr lIns="0" tIns="0" rIns="0" bIns="0" rtlCol="0" anchor="t">
            <a:spAutoFit/>
          </a:bodyPr>
          <a:lstStyle/>
          <a:p>
            <a:pPr algn="l">
              <a:lnSpc>
                <a:spcPts val="1664"/>
              </a:lnSpc>
            </a:pPr>
            <a:r>
              <a:rPr lang="en-US" sz="1280" dirty="0">
                <a:solidFill>
                  <a:srgbClr val="000000"/>
                </a:solidFill>
                <a:latin typeface="DM Sans"/>
                <a:ea typeface="DM Sans"/>
                <a:cs typeface="DM Sans"/>
                <a:sym typeface="DM Sans"/>
              </a:rPr>
              <a:t>vmbr0  192.168.1.x/24</a:t>
            </a:r>
          </a:p>
          <a:p>
            <a:pPr algn="l">
              <a:lnSpc>
                <a:spcPts val="1664"/>
              </a:lnSpc>
            </a:pPr>
            <a:r>
              <a:rPr lang="en-US" sz="1280" dirty="0">
                <a:solidFill>
                  <a:srgbClr val="000000"/>
                </a:solidFill>
                <a:latin typeface="DM Sans"/>
                <a:ea typeface="DM Sans"/>
                <a:cs typeface="DM Sans"/>
                <a:sym typeface="DM Sans"/>
              </a:rPr>
              <a:t> Management · </a:t>
            </a:r>
            <a:r>
              <a:rPr lang="en-US" sz="1280" dirty="0" err="1">
                <a:solidFill>
                  <a:srgbClr val="000000"/>
                </a:solidFill>
                <a:latin typeface="DM Sans"/>
                <a:ea typeface="DM Sans"/>
                <a:cs typeface="DM Sans"/>
                <a:sym typeface="DM Sans"/>
              </a:rPr>
              <a:t>Proxmox</a:t>
            </a:r>
            <a:r>
              <a:rPr lang="en-US" sz="1280" dirty="0">
                <a:solidFill>
                  <a:srgbClr val="000000"/>
                </a:solidFill>
                <a:latin typeface="DM Sans"/>
                <a:ea typeface="DM Sans"/>
                <a:cs typeface="DM Sans"/>
                <a:sym typeface="DM Sans"/>
              </a:rPr>
              <a:t> UI · </a:t>
            </a:r>
            <a:r>
              <a:rPr lang="en-US" sz="1280" dirty="0" err="1">
                <a:solidFill>
                  <a:srgbClr val="000000"/>
                </a:solidFill>
                <a:latin typeface="DM Sans"/>
                <a:ea typeface="DM Sans"/>
                <a:cs typeface="DM Sans"/>
                <a:sym typeface="DM Sans"/>
              </a:rPr>
              <a:t>Corosync</a:t>
            </a:r>
            <a:r>
              <a:rPr lang="en-US" sz="1280" dirty="0">
                <a:solidFill>
                  <a:srgbClr val="000000"/>
                </a:solidFill>
                <a:latin typeface="DM Sans"/>
                <a:ea typeface="DM Sans"/>
                <a:cs typeface="DM Sans"/>
                <a:sym typeface="DM Sans"/>
              </a:rPr>
              <a:t> HA</a:t>
            </a:r>
          </a:p>
        </p:txBody>
      </p:sp>
      <p:grpSp>
        <p:nvGrpSpPr>
          <p:cNvPr id="149" name="Group 53"/>
          <p:cNvGrpSpPr/>
          <p:nvPr/>
        </p:nvGrpSpPr>
        <p:grpSpPr>
          <a:xfrm>
            <a:off x="8599868" y="4058495"/>
            <a:ext cx="3379592" cy="694588"/>
            <a:chOff x="0" y="0"/>
            <a:chExt cx="1581079" cy="324950"/>
          </a:xfrm>
        </p:grpSpPr>
        <p:sp>
          <p:nvSpPr>
            <p:cNvPr id="150" name="Freeform 54"/>
            <p:cNvSpPr/>
            <p:nvPr/>
          </p:nvSpPr>
          <p:spPr>
            <a:xfrm>
              <a:off x="0" y="0"/>
              <a:ext cx="1581079" cy="324950"/>
            </a:xfrm>
            <a:custGeom>
              <a:avLst/>
              <a:gdLst/>
              <a:ahLst/>
              <a:cxnLst/>
              <a:rect l="l" t="t" r="r" b="b"/>
              <a:pathLst>
                <a:path w="1581079" h="324950">
                  <a:moveTo>
                    <a:pt x="18326" y="0"/>
                  </a:moveTo>
                  <a:lnTo>
                    <a:pt x="1562753" y="0"/>
                  </a:lnTo>
                  <a:cubicBezTo>
                    <a:pt x="1567614" y="0"/>
                    <a:pt x="1572275" y="1931"/>
                    <a:pt x="1575712" y="5368"/>
                  </a:cubicBezTo>
                  <a:cubicBezTo>
                    <a:pt x="1579149" y="8804"/>
                    <a:pt x="1581079" y="13466"/>
                    <a:pt x="1581079" y="18326"/>
                  </a:cubicBezTo>
                  <a:lnTo>
                    <a:pt x="1581079" y="306624"/>
                  </a:lnTo>
                  <a:cubicBezTo>
                    <a:pt x="1581079" y="316745"/>
                    <a:pt x="1572875" y="324950"/>
                    <a:pt x="1562753" y="324950"/>
                  </a:cubicBezTo>
                  <a:lnTo>
                    <a:pt x="18326" y="324950"/>
                  </a:lnTo>
                  <a:cubicBezTo>
                    <a:pt x="13466" y="324950"/>
                    <a:pt x="8804" y="323019"/>
                    <a:pt x="5368" y="319582"/>
                  </a:cubicBezTo>
                  <a:cubicBezTo>
                    <a:pt x="1931" y="316145"/>
                    <a:pt x="0" y="311484"/>
                    <a:pt x="0" y="306624"/>
                  </a:cubicBezTo>
                  <a:lnTo>
                    <a:pt x="0" y="18326"/>
                  </a:lnTo>
                  <a:cubicBezTo>
                    <a:pt x="0" y="13466"/>
                    <a:pt x="1931" y="8804"/>
                    <a:pt x="5368" y="5368"/>
                  </a:cubicBezTo>
                  <a:cubicBezTo>
                    <a:pt x="8804" y="1931"/>
                    <a:pt x="13466" y="0"/>
                    <a:pt x="18326" y="0"/>
                  </a:cubicBezTo>
                  <a:close/>
                </a:path>
              </a:pathLst>
            </a:custGeom>
            <a:solidFill>
              <a:srgbClr val="A1D2F5"/>
            </a:solidFill>
            <a:ln cap="sq">
              <a:noFill/>
              <a:prstDash val="solid"/>
              <a:miter/>
            </a:ln>
          </p:spPr>
        </p:sp>
        <p:sp>
          <p:nvSpPr>
            <p:cNvPr id="151" name="TextBox 55"/>
            <p:cNvSpPr txBox="1"/>
            <p:nvPr/>
          </p:nvSpPr>
          <p:spPr>
            <a:xfrm>
              <a:off x="0" y="-47625"/>
              <a:ext cx="1581079" cy="372575"/>
            </a:xfrm>
            <a:prstGeom prst="rect">
              <a:avLst/>
            </a:prstGeom>
          </p:spPr>
          <p:txBody>
            <a:bodyPr lIns="78497" tIns="78497" rIns="78497" bIns="78497" rtlCol="0" anchor="ctr"/>
            <a:lstStyle/>
            <a:p>
              <a:pPr marL="0" lvl="0" indent="0" algn="ctr">
                <a:lnSpc>
                  <a:spcPts val="3461"/>
                </a:lnSpc>
                <a:spcBef>
                  <a:spcPct val="0"/>
                </a:spcBef>
              </a:pPr>
              <a:endParaRPr/>
            </a:p>
          </p:txBody>
        </p:sp>
      </p:grpSp>
      <p:grpSp>
        <p:nvGrpSpPr>
          <p:cNvPr id="152" name="Group 56"/>
          <p:cNvGrpSpPr/>
          <p:nvPr/>
        </p:nvGrpSpPr>
        <p:grpSpPr>
          <a:xfrm>
            <a:off x="12023815" y="4071845"/>
            <a:ext cx="2786194" cy="694588"/>
            <a:chOff x="0" y="0"/>
            <a:chExt cx="1303469" cy="324950"/>
          </a:xfrm>
        </p:grpSpPr>
        <p:sp>
          <p:nvSpPr>
            <p:cNvPr id="153" name="Freeform 57"/>
            <p:cNvSpPr/>
            <p:nvPr/>
          </p:nvSpPr>
          <p:spPr>
            <a:xfrm>
              <a:off x="0" y="0"/>
              <a:ext cx="1303469" cy="324950"/>
            </a:xfrm>
            <a:custGeom>
              <a:avLst/>
              <a:gdLst/>
              <a:ahLst/>
              <a:cxnLst/>
              <a:rect l="l" t="t" r="r" b="b"/>
              <a:pathLst>
                <a:path w="1303469" h="324950">
                  <a:moveTo>
                    <a:pt x="22229" y="0"/>
                  </a:moveTo>
                  <a:lnTo>
                    <a:pt x="1281240" y="0"/>
                  </a:lnTo>
                  <a:cubicBezTo>
                    <a:pt x="1287135" y="0"/>
                    <a:pt x="1292790" y="2342"/>
                    <a:pt x="1296958" y="6511"/>
                  </a:cubicBezTo>
                  <a:cubicBezTo>
                    <a:pt x="1301127" y="10680"/>
                    <a:pt x="1303469" y="16334"/>
                    <a:pt x="1303469" y="22229"/>
                  </a:cubicBezTo>
                  <a:lnTo>
                    <a:pt x="1303469" y="302721"/>
                  </a:lnTo>
                  <a:cubicBezTo>
                    <a:pt x="1303469" y="308616"/>
                    <a:pt x="1301127" y="314270"/>
                    <a:pt x="1296958" y="318439"/>
                  </a:cubicBezTo>
                  <a:cubicBezTo>
                    <a:pt x="1292790" y="322608"/>
                    <a:pt x="1287135" y="324950"/>
                    <a:pt x="1281240" y="324950"/>
                  </a:cubicBezTo>
                  <a:lnTo>
                    <a:pt x="22229" y="324950"/>
                  </a:lnTo>
                  <a:cubicBezTo>
                    <a:pt x="16334" y="324950"/>
                    <a:pt x="10680" y="322608"/>
                    <a:pt x="6511" y="318439"/>
                  </a:cubicBezTo>
                  <a:cubicBezTo>
                    <a:pt x="2342" y="314270"/>
                    <a:pt x="0" y="308616"/>
                    <a:pt x="0" y="302721"/>
                  </a:cubicBezTo>
                  <a:lnTo>
                    <a:pt x="0" y="22229"/>
                  </a:lnTo>
                  <a:cubicBezTo>
                    <a:pt x="0" y="16334"/>
                    <a:pt x="2342" y="10680"/>
                    <a:pt x="6511" y="6511"/>
                  </a:cubicBezTo>
                  <a:cubicBezTo>
                    <a:pt x="10680" y="2342"/>
                    <a:pt x="16334" y="0"/>
                    <a:pt x="22229" y="0"/>
                  </a:cubicBezTo>
                  <a:close/>
                </a:path>
              </a:pathLst>
            </a:custGeom>
            <a:solidFill>
              <a:srgbClr val="A1D2F5"/>
            </a:solidFill>
            <a:ln cap="sq">
              <a:noFill/>
              <a:prstDash val="solid"/>
              <a:miter/>
            </a:ln>
          </p:spPr>
        </p:sp>
        <p:sp>
          <p:nvSpPr>
            <p:cNvPr id="154" name="TextBox 58"/>
            <p:cNvSpPr txBox="1"/>
            <p:nvPr/>
          </p:nvSpPr>
          <p:spPr>
            <a:xfrm>
              <a:off x="0" y="-47625"/>
              <a:ext cx="1303469" cy="372575"/>
            </a:xfrm>
            <a:prstGeom prst="rect">
              <a:avLst/>
            </a:prstGeom>
          </p:spPr>
          <p:txBody>
            <a:bodyPr lIns="78497" tIns="78497" rIns="78497" bIns="78497" rtlCol="0" anchor="ctr"/>
            <a:lstStyle/>
            <a:p>
              <a:pPr marL="0" lvl="0" indent="0" algn="ctr">
                <a:lnSpc>
                  <a:spcPts val="3461"/>
                </a:lnSpc>
                <a:spcBef>
                  <a:spcPct val="0"/>
                </a:spcBef>
              </a:pPr>
              <a:endParaRPr/>
            </a:p>
          </p:txBody>
        </p:sp>
      </p:grpSp>
      <p:sp>
        <p:nvSpPr>
          <p:cNvPr id="155" name="Freeform 59"/>
          <p:cNvSpPr/>
          <p:nvPr/>
        </p:nvSpPr>
        <p:spPr>
          <a:xfrm>
            <a:off x="6398262" y="3473778"/>
            <a:ext cx="45719" cy="539475"/>
          </a:xfrm>
          <a:custGeom>
            <a:avLst/>
            <a:gdLst/>
            <a:ahLst/>
            <a:cxnLst/>
            <a:rect l="l" t="t" r="r" b="b"/>
            <a:pathLst>
              <a:path h="263361">
                <a:moveTo>
                  <a:pt x="0" y="263362"/>
                </a:moveTo>
                <a:lnTo>
                  <a:pt x="0" y="0"/>
                </a:lnTo>
              </a:path>
            </a:pathLst>
          </a:custGeom>
          <a:ln w="19050" cap="rnd">
            <a:solidFill>
              <a:srgbClr val="ACB8C0"/>
            </a:solidFill>
            <a:prstDash val="solid"/>
            <a:headEnd type="none" w="sm" len="sm"/>
            <a:tailEnd type="arrow" w="med" len="sm"/>
          </a:ln>
        </p:spPr>
      </p:sp>
      <p:sp>
        <p:nvSpPr>
          <p:cNvPr id="156" name="Freeform 60"/>
          <p:cNvSpPr/>
          <p:nvPr/>
        </p:nvSpPr>
        <p:spPr>
          <a:xfrm>
            <a:off x="9243485" y="3473778"/>
            <a:ext cx="45719" cy="598067"/>
          </a:xfrm>
          <a:custGeom>
            <a:avLst/>
            <a:gdLst/>
            <a:ahLst/>
            <a:cxnLst/>
            <a:rect l="l" t="t" r="r" b="b"/>
            <a:pathLst>
              <a:path h="263361">
                <a:moveTo>
                  <a:pt x="0" y="263362"/>
                </a:moveTo>
                <a:lnTo>
                  <a:pt x="0" y="0"/>
                </a:lnTo>
              </a:path>
            </a:pathLst>
          </a:custGeom>
          <a:ln w="19050" cap="rnd">
            <a:solidFill>
              <a:srgbClr val="ACB8C0"/>
            </a:solidFill>
            <a:prstDash val="solid"/>
            <a:headEnd type="none" w="sm" len="sm"/>
            <a:tailEnd type="arrow" w="med" len="sm"/>
          </a:ln>
        </p:spPr>
      </p:sp>
      <p:sp>
        <p:nvSpPr>
          <p:cNvPr id="157" name="Freeform 61"/>
          <p:cNvSpPr/>
          <p:nvPr/>
        </p:nvSpPr>
        <p:spPr>
          <a:xfrm>
            <a:off x="13245978" y="3473778"/>
            <a:ext cx="45719" cy="565889"/>
          </a:xfrm>
          <a:custGeom>
            <a:avLst/>
            <a:gdLst/>
            <a:ahLst/>
            <a:cxnLst/>
            <a:rect l="l" t="t" r="r" b="b"/>
            <a:pathLst>
              <a:path h="263361">
                <a:moveTo>
                  <a:pt x="0" y="263362"/>
                </a:moveTo>
                <a:lnTo>
                  <a:pt x="0" y="0"/>
                </a:lnTo>
              </a:path>
            </a:pathLst>
          </a:custGeom>
          <a:ln w="19050" cap="rnd">
            <a:solidFill>
              <a:srgbClr val="ACB8C0"/>
            </a:solidFill>
            <a:prstDash val="solid"/>
            <a:headEnd type="none" w="sm" len="sm"/>
            <a:tailEnd type="arrow" w="med" len="sm"/>
          </a:ln>
        </p:spPr>
      </p:sp>
      <p:sp>
        <p:nvSpPr>
          <p:cNvPr id="158" name="Freeform 62"/>
          <p:cNvSpPr/>
          <p:nvPr/>
        </p:nvSpPr>
        <p:spPr>
          <a:xfrm>
            <a:off x="5257876" y="5643013"/>
            <a:ext cx="434906" cy="434906"/>
          </a:xfrm>
          <a:custGeom>
            <a:avLst/>
            <a:gdLst/>
            <a:ahLst/>
            <a:cxnLst/>
            <a:rect l="l" t="t" r="r" b="b"/>
            <a:pathLst>
              <a:path w="434906" h="434906">
                <a:moveTo>
                  <a:pt x="0" y="0"/>
                </a:moveTo>
                <a:lnTo>
                  <a:pt x="434905" y="0"/>
                </a:lnTo>
                <a:lnTo>
                  <a:pt x="434905" y="434905"/>
                </a:lnTo>
                <a:lnTo>
                  <a:pt x="0" y="43490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160" name="TextBox 64"/>
          <p:cNvSpPr txBox="1"/>
          <p:nvPr/>
        </p:nvSpPr>
        <p:spPr>
          <a:xfrm>
            <a:off x="5080086" y="6335328"/>
            <a:ext cx="2658530" cy="980607"/>
          </a:xfrm>
          <a:prstGeom prst="rect">
            <a:avLst/>
          </a:prstGeom>
        </p:spPr>
        <p:txBody>
          <a:bodyPr lIns="0" tIns="0" rIns="0" bIns="0" rtlCol="0" anchor="t">
            <a:spAutoFit/>
          </a:bodyPr>
          <a:lstStyle/>
          <a:p>
            <a:pPr algn="l">
              <a:lnSpc>
                <a:spcPts val="1967"/>
              </a:lnSpc>
            </a:pPr>
            <a:r>
              <a:rPr lang="en-US" sz="1513" dirty="0">
                <a:solidFill>
                  <a:srgbClr val="FBFBFB"/>
                </a:solidFill>
                <a:latin typeface="DM Sans"/>
                <a:ea typeface="DM Sans"/>
                <a:cs typeface="DM Sans"/>
                <a:sym typeface="DM Sans"/>
              </a:rPr>
              <a:t>IP 192.168.1.102</a:t>
            </a:r>
          </a:p>
          <a:p>
            <a:pPr algn="l">
              <a:lnSpc>
                <a:spcPts val="1967"/>
              </a:lnSpc>
            </a:pPr>
            <a:r>
              <a:rPr lang="en-US" sz="1513" dirty="0">
                <a:solidFill>
                  <a:srgbClr val="FBFBFB"/>
                </a:solidFill>
                <a:latin typeface="DM Sans"/>
                <a:ea typeface="DM Sans"/>
                <a:cs typeface="DM Sans"/>
                <a:sym typeface="DM Sans"/>
              </a:rPr>
              <a:t>RAM  8 GB</a:t>
            </a:r>
          </a:p>
          <a:p>
            <a:pPr algn="l">
              <a:lnSpc>
                <a:spcPts val="1967"/>
              </a:lnSpc>
            </a:pPr>
            <a:r>
              <a:rPr lang="en-US" sz="1513" dirty="0">
                <a:solidFill>
                  <a:srgbClr val="FBFBFB"/>
                </a:solidFill>
                <a:latin typeface="DM Sans"/>
                <a:ea typeface="DM Sans"/>
                <a:cs typeface="DM Sans"/>
                <a:sym typeface="DM Sans"/>
              </a:rPr>
              <a:t>CPU 2 vCPU</a:t>
            </a:r>
          </a:p>
          <a:p>
            <a:pPr algn="l">
              <a:lnSpc>
                <a:spcPts val="1967"/>
              </a:lnSpc>
            </a:pPr>
            <a:r>
              <a:rPr lang="en-US" sz="1513" dirty="0">
                <a:solidFill>
                  <a:srgbClr val="FBFBFB"/>
                </a:solidFill>
                <a:latin typeface="DM Sans"/>
                <a:ea typeface="DM Sans"/>
                <a:cs typeface="DM Sans"/>
                <a:sym typeface="DM Sans"/>
              </a:rPr>
              <a:t>Disk: 40 GB local</a:t>
            </a:r>
          </a:p>
        </p:txBody>
      </p:sp>
      <p:sp>
        <p:nvSpPr>
          <p:cNvPr id="161" name="TextBox 65"/>
          <p:cNvSpPr txBox="1"/>
          <p:nvPr/>
        </p:nvSpPr>
        <p:spPr>
          <a:xfrm>
            <a:off x="9256307" y="5766544"/>
            <a:ext cx="1476127" cy="332666"/>
          </a:xfrm>
          <a:prstGeom prst="rect">
            <a:avLst/>
          </a:prstGeom>
        </p:spPr>
        <p:txBody>
          <a:bodyPr lIns="0" tIns="0" rIns="0" bIns="0" rtlCol="0" anchor="t">
            <a:spAutoFit/>
          </a:bodyPr>
          <a:lstStyle/>
          <a:p>
            <a:pPr algn="l">
              <a:lnSpc>
                <a:spcPts val="2654"/>
              </a:lnSpc>
            </a:pPr>
            <a:r>
              <a:rPr lang="en-US" sz="2211">
                <a:solidFill>
                  <a:srgbClr val="FFFFFF"/>
                </a:solidFill>
                <a:latin typeface="Neue Machina"/>
                <a:ea typeface="Neue Machina"/>
                <a:cs typeface="Neue Machina"/>
                <a:sym typeface="Neue Machina"/>
              </a:rPr>
              <a:t>SERVER 2</a:t>
            </a:r>
          </a:p>
        </p:txBody>
      </p:sp>
      <p:sp>
        <p:nvSpPr>
          <p:cNvPr id="162" name="TextBox 66"/>
          <p:cNvSpPr txBox="1"/>
          <p:nvPr/>
        </p:nvSpPr>
        <p:spPr>
          <a:xfrm>
            <a:off x="8548776" y="6292910"/>
            <a:ext cx="2658530" cy="980904"/>
          </a:xfrm>
          <a:prstGeom prst="rect">
            <a:avLst/>
          </a:prstGeom>
        </p:spPr>
        <p:txBody>
          <a:bodyPr lIns="0" tIns="0" rIns="0" bIns="0" rtlCol="0" anchor="t">
            <a:spAutoFit/>
          </a:bodyPr>
          <a:lstStyle/>
          <a:p>
            <a:pPr algn="l">
              <a:lnSpc>
                <a:spcPts val="1967"/>
              </a:lnSpc>
            </a:pPr>
            <a:r>
              <a:rPr lang="en-US" sz="1513">
                <a:solidFill>
                  <a:srgbClr val="FFFFFF"/>
                </a:solidFill>
                <a:latin typeface="DM Sans"/>
                <a:ea typeface="DM Sans"/>
                <a:cs typeface="DM Sans"/>
                <a:sym typeface="DM Sans"/>
              </a:rPr>
              <a:t>IP 192.168.1.103</a:t>
            </a:r>
          </a:p>
          <a:p>
            <a:pPr algn="l">
              <a:lnSpc>
                <a:spcPts val="1967"/>
              </a:lnSpc>
            </a:pPr>
            <a:r>
              <a:rPr lang="en-US" sz="1513">
                <a:solidFill>
                  <a:srgbClr val="FFFFFF"/>
                </a:solidFill>
                <a:latin typeface="DM Sans"/>
                <a:ea typeface="DM Sans"/>
                <a:cs typeface="DM Sans"/>
                <a:sym typeface="DM Sans"/>
              </a:rPr>
              <a:t>RAM  8 GB</a:t>
            </a:r>
          </a:p>
          <a:p>
            <a:pPr algn="l">
              <a:lnSpc>
                <a:spcPts val="1967"/>
              </a:lnSpc>
            </a:pPr>
            <a:r>
              <a:rPr lang="en-US" sz="1513">
                <a:solidFill>
                  <a:srgbClr val="FFFFFF"/>
                </a:solidFill>
                <a:latin typeface="DM Sans"/>
                <a:ea typeface="DM Sans"/>
                <a:cs typeface="DM Sans"/>
                <a:sym typeface="DM Sans"/>
              </a:rPr>
              <a:t>CPU 2 vCPU</a:t>
            </a:r>
          </a:p>
          <a:p>
            <a:pPr algn="l">
              <a:lnSpc>
                <a:spcPts val="1967"/>
              </a:lnSpc>
            </a:pPr>
            <a:r>
              <a:rPr lang="en-US" sz="1513">
                <a:solidFill>
                  <a:srgbClr val="FFFFFF"/>
                </a:solidFill>
                <a:latin typeface="DM Sans"/>
                <a:ea typeface="DM Sans"/>
                <a:cs typeface="DM Sans"/>
                <a:sym typeface="DM Sans"/>
              </a:rPr>
              <a:t>Disk: 40 GB local</a:t>
            </a:r>
          </a:p>
        </p:txBody>
      </p:sp>
      <p:sp>
        <p:nvSpPr>
          <p:cNvPr id="163" name="TextBox 67"/>
          <p:cNvSpPr txBox="1"/>
          <p:nvPr/>
        </p:nvSpPr>
        <p:spPr>
          <a:xfrm>
            <a:off x="12783767" y="5694132"/>
            <a:ext cx="2398832" cy="332666"/>
          </a:xfrm>
          <a:prstGeom prst="rect">
            <a:avLst/>
          </a:prstGeom>
        </p:spPr>
        <p:txBody>
          <a:bodyPr lIns="0" tIns="0" rIns="0" bIns="0" rtlCol="0" anchor="t">
            <a:spAutoFit/>
          </a:bodyPr>
          <a:lstStyle/>
          <a:p>
            <a:pPr algn="l">
              <a:lnSpc>
                <a:spcPts val="2654"/>
              </a:lnSpc>
            </a:pPr>
            <a:r>
              <a:rPr lang="en-US" sz="2211">
                <a:solidFill>
                  <a:srgbClr val="FFFFFF"/>
                </a:solidFill>
                <a:latin typeface="Neue Machina"/>
                <a:ea typeface="Neue Machina"/>
                <a:cs typeface="Neue Machina"/>
                <a:sym typeface="Neue Machina"/>
              </a:rPr>
              <a:t>SERVER 3</a:t>
            </a:r>
          </a:p>
        </p:txBody>
      </p:sp>
      <p:sp>
        <p:nvSpPr>
          <p:cNvPr id="164" name="TextBox 68"/>
          <p:cNvSpPr txBox="1"/>
          <p:nvPr/>
        </p:nvSpPr>
        <p:spPr>
          <a:xfrm>
            <a:off x="12148970" y="6292910"/>
            <a:ext cx="2658530" cy="988303"/>
          </a:xfrm>
          <a:prstGeom prst="rect">
            <a:avLst/>
          </a:prstGeom>
        </p:spPr>
        <p:txBody>
          <a:bodyPr lIns="0" tIns="0" rIns="0" bIns="0" rtlCol="0" anchor="t">
            <a:spAutoFit/>
          </a:bodyPr>
          <a:lstStyle/>
          <a:p>
            <a:pPr algn="l">
              <a:lnSpc>
                <a:spcPts val="1967"/>
              </a:lnSpc>
            </a:pPr>
            <a:r>
              <a:rPr lang="en-US" sz="1513">
                <a:solidFill>
                  <a:srgbClr val="FFFFFF"/>
                </a:solidFill>
                <a:latin typeface="DM Sans"/>
                <a:ea typeface="DM Sans"/>
                <a:cs typeface="DM Sans"/>
                <a:sym typeface="DM Sans"/>
              </a:rPr>
              <a:t>IP 192.168.1.104</a:t>
            </a:r>
          </a:p>
          <a:p>
            <a:pPr algn="l">
              <a:lnSpc>
                <a:spcPts val="1967"/>
              </a:lnSpc>
            </a:pPr>
            <a:r>
              <a:rPr lang="en-US" sz="1513">
                <a:solidFill>
                  <a:srgbClr val="FFFFFF"/>
                </a:solidFill>
                <a:latin typeface="DM Sans"/>
                <a:ea typeface="DM Sans"/>
                <a:cs typeface="DM Sans"/>
                <a:sym typeface="DM Sans"/>
              </a:rPr>
              <a:t>RAM  6 GB</a:t>
            </a:r>
          </a:p>
          <a:p>
            <a:pPr algn="l">
              <a:lnSpc>
                <a:spcPts val="1967"/>
              </a:lnSpc>
            </a:pPr>
            <a:r>
              <a:rPr lang="en-US" sz="1513">
                <a:solidFill>
                  <a:srgbClr val="FFFFFF"/>
                </a:solidFill>
                <a:latin typeface="DM Sans"/>
                <a:ea typeface="DM Sans"/>
                <a:cs typeface="DM Sans"/>
                <a:sym typeface="DM Sans"/>
              </a:rPr>
              <a:t>CPU 2 vCPU</a:t>
            </a:r>
          </a:p>
          <a:p>
            <a:pPr algn="l">
              <a:lnSpc>
                <a:spcPts val="1967"/>
              </a:lnSpc>
            </a:pPr>
            <a:r>
              <a:rPr lang="en-US" sz="1513">
                <a:solidFill>
                  <a:srgbClr val="FFFFFF"/>
                </a:solidFill>
                <a:latin typeface="DM Sans"/>
                <a:ea typeface="DM Sans"/>
                <a:cs typeface="DM Sans"/>
                <a:sym typeface="DM Sans"/>
              </a:rPr>
              <a:t>Disk: 40 GB local</a:t>
            </a:r>
          </a:p>
        </p:txBody>
      </p:sp>
      <p:sp>
        <p:nvSpPr>
          <p:cNvPr id="165" name="TextBox 69"/>
          <p:cNvSpPr txBox="1"/>
          <p:nvPr/>
        </p:nvSpPr>
        <p:spPr>
          <a:xfrm>
            <a:off x="1496507" y="4599773"/>
            <a:ext cx="2646172" cy="334683"/>
          </a:xfrm>
          <a:prstGeom prst="rect">
            <a:avLst/>
          </a:prstGeom>
        </p:spPr>
        <p:txBody>
          <a:bodyPr lIns="0" tIns="0" rIns="0" bIns="0" rtlCol="0" anchor="t">
            <a:spAutoFit/>
          </a:bodyPr>
          <a:lstStyle/>
          <a:p>
            <a:pPr algn="l">
              <a:lnSpc>
                <a:spcPts val="2594"/>
              </a:lnSpc>
            </a:pPr>
            <a:r>
              <a:rPr lang="en-US" sz="2162" dirty="0">
                <a:solidFill>
                  <a:srgbClr val="000000"/>
                </a:solidFill>
                <a:latin typeface="Neue Machina"/>
                <a:ea typeface="Neue Machina"/>
                <a:cs typeface="Neue Machina"/>
                <a:sym typeface="Neue Machina"/>
              </a:rPr>
              <a:t>server PBS</a:t>
            </a:r>
          </a:p>
        </p:txBody>
      </p:sp>
      <p:sp>
        <p:nvSpPr>
          <p:cNvPr id="167" name="TextBox 71"/>
          <p:cNvSpPr txBox="1"/>
          <p:nvPr/>
        </p:nvSpPr>
        <p:spPr>
          <a:xfrm>
            <a:off x="9036661" y="8804618"/>
            <a:ext cx="2040795" cy="873913"/>
          </a:xfrm>
          <a:prstGeom prst="rect">
            <a:avLst/>
          </a:prstGeom>
        </p:spPr>
        <p:txBody>
          <a:bodyPr lIns="0" tIns="0" rIns="0" bIns="0" rtlCol="0" anchor="t">
            <a:spAutoFit/>
          </a:bodyPr>
          <a:lstStyle/>
          <a:p>
            <a:pPr algn="l">
              <a:lnSpc>
                <a:spcPts val="2306"/>
              </a:lnSpc>
            </a:pPr>
            <a:r>
              <a:rPr lang="en-US" sz="1774" dirty="0" err="1">
                <a:solidFill>
                  <a:srgbClr val="000000"/>
                </a:solidFill>
                <a:latin typeface="DM Sans"/>
                <a:ea typeface="DM Sans"/>
                <a:cs typeface="DM Sans"/>
                <a:sym typeface="DM Sans"/>
              </a:rPr>
              <a:t>Ceph</a:t>
            </a:r>
            <a:r>
              <a:rPr lang="en-US" sz="1774" dirty="0">
                <a:solidFill>
                  <a:srgbClr val="000000"/>
                </a:solidFill>
                <a:latin typeface="DM Sans"/>
                <a:ea typeface="DM Sans"/>
                <a:cs typeface="DM Sans"/>
                <a:sym typeface="DM Sans"/>
              </a:rPr>
              <a:t> Reef - </a:t>
            </a:r>
            <a:r>
              <a:rPr lang="en-US" sz="1774" dirty="0" err="1">
                <a:solidFill>
                  <a:srgbClr val="000000"/>
                </a:solidFill>
                <a:latin typeface="DM Sans"/>
                <a:ea typeface="DM Sans"/>
                <a:cs typeface="DM Sans"/>
                <a:sym typeface="DM Sans"/>
              </a:rPr>
              <a:t>Stockage</a:t>
            </a:r>
            <a:r>
              <a:rPr lang="en-US" sz="1774" dirty="0">
                <a:solidFill>
                  <a:srgbClr val="000000"/>
                </a:solidFill>
                <a:latin typeface="DM Sans"/>
                <a:ea typeface="DM Sans"/>
                <a:cs typeface="DM Sans"/>
                <a:sym typeface="DM Sans"/>
              </a:rPr>
              <a:t> </a:t>
            </a:r>
            <a:r>
              <a:rPr lang="en-US" sz="1774" dirty="0" err="1">
                <a:solidFill>
                  <a:srgbClr val="000000"/>
                </a:solidFill>
                <a:latin typeface="DM Sans"/>
                <a:ea typeface="DM Sans"/>
                <a:cs typeface="DM Sans"/>
                <a:sym typeface="DM Sans"/>
              </a:rPr>
              <a:t>Distribué</a:t>
            </a:r>
            <a:endParaRPr lang="en-US" sz="1774" dirty="0">
              <a:solidFill>
                <a:srgbClr val="000000"/>
              </a:solidFill>
              <a:latin typeface="DM Sans"/>
              <a:ea typeface="DM Sans"/>
              <a:cs typeface="DM Sans"/>
              <a:sym typeface="DM Sans"/>
            </a:endParaRPr>
          </a:p>
          <a:p>
            <a:pPr algn="l">
              <a:lnSpc>
                <a:spcPts val="2306"/>
              </a:lnSpc>
            </a:pPr>
            <a:r>
              <a:rPr lang="en-US" sz="1774" dirty="0">
                <a:solidFill>
                  <a:srgbClr val="000000"/>
                </a:solidFill>
                <a:latin typeface="DM Sans"/>
                <a:ea typeface="DM Sans"/>
                <a:cs typeface="DM Sans"/>
                <a:sym typeface="DM Sans"/>
              </a:rPr>
              <a:t>OSD.1 · 500 GB</a:t>
            </a:r>
          </a:p>
        </p:txBody>
      </p:sp>
      <p:sp>
        <p:nvSpPr>
          <p:cNvPr id="169" name="TextBox 73"/>
          <p:cNvSpPr txBox="1"/>
          <p:nvPr/>
        </p:nvSpPr>
        <p:spPr>
          <a:xfrm>
            <a:off x="1355430" y="6802262"/>
            <a:ext cx="1727420" cy="512961"/>
          </a:xfrm>
          <a:prstGeom prst="rect">
            <a:avLst/>
          </a:prstGeom>
        </p:spPr>
        <p:txBody>
          <a:bodyPr lIns="0" tIns="0" rIns="0" bIns="0" rtlCol="0" anchor="t">
            <a:spAutoFit/>
          </a:bodyPr>
          <a:lstStyle/>
          <a:p>
            <a:pPr algn="l">
              <a:lnSpc>
                <a:spcPts val="1952"/>
              </a:lnSpc>
            </a:pPr>
            <a:r>
              <a:rPr lang="en-US" sz="1501" dirty="0" err="1" smtClean="0">
                <a:solidFill>
                  <a:srgbClr val="000000"/>
                </a:solidFill>
                <a:latin typeface="DM Sans"/>
                <a:ea typeface="DM Sans"/>
                <a:cs typeface="DM Sans"/>
                <a:sym typeface="DM Sans"/>
              </a:rPr>
              <a:t>Stockage</a:t>
            </a:r>
            <a:r>
              <a:rPr lang="en-US" sz="1501" dirty="0" smtClean="0">
                <a:solidFill>
                  <a:srgbClr val="000000"/>
                </a:solidFill>
                <a:latin typeface="DM Sans"/>
                <a:ea typeface="DM Sans"/>
                <a:cs typeface="DM Sans"/>
                <a:sym typeface="DM Sans"/>
              </a:rPr>
              <a:t> </a:t>
            </a:r>
            <a:r>
              <a:rPr lang="en-US" sz="1501" dirty="0" err="1">
                <a:solidFill>
                  <a:srgbClr val="000000"/>
                </a:solidFill>
                <a:latin typeface="DM Sans"/>
                <a:ea typeface="DM Sans"/>
                <a:cs typeface="DM Sans"/>
                <a:sym typeface="DM Sans"/>
              </a:rPr>
              <a:t>Distribué</a:t>
            </a:r>
            <a:endParaRPr lang="en-US" sz="1501" dirty="0">
              <a:solidFill>
                <a:srgbClr val="000000"/>
              </a:solidFill>
              <a:latin typeface="DM Sans"/>
              <a:ea typeface="DM Sans"/>
              <a:cs typeface="DM Sans"/>
              <a:sym typeface="DM Sans"/>
            </a:endParaRPr>
          </a:p>
          <a:p>
            <a:pPr algn="l">
              <a:lnSpc>
                <a:spcPts val="1952"/>
              </a:lnSpc>
            </a:pPr>
            <a:r>
              <a:rPr lang="en-US" sz="1501" dirty="0">
                <a:solidFill>
                  <a:srgbClr val="000000"/>
                </a:solidFill>
                <a:latin typeface="DM Sans"/>
                <a:ea typeface="DM Sans"/>
                <a:cs typeface="DM Sans"/>
                <a:sym typeface="DM Sans"/>
              </a:rPr>
              <a:t>OSD.3 · 500 GB</a:t>
            </a:r>
          </a:p>
        </p:txBody>
      </p:sp>
      <p:sp>
        <p:nvSpPr>
          <p:cNvPr id="170" name="TextBox 74"/>
          <p:cNvSpPr txBox="1"/>
          <p:nvPr/>
        </p:nvSpPr>
        <p:spPr>
          <a:xfrm>
            <a:off x="8676320" y="4171086"/>
            <a:ext cx="3020357" cy="424164"/>
          </a:xfrm>
          <a:prstGeom prst="rect">
            <a:avLst/>
          </a:prstGeom>
        </p:spPr>
        <p:txBody>
          <a:bodyPr lIns="0" tIns="0" rIns="0" bIns="0" rtlCol="0" anchor="t">
            <a:spAutoFit/>
          </a:bodyPr>
          <a:lstStyle/>
          <a:p>
            <a:pPr algn="l">
              <a:lnSpc>
                <a:spcPts val="1664"/>
              </a:lnSpc>
            </a:pPr>
            <a:r>
              <a:rPr lang="en-US" sz="1280" dirty="0">
                <a:solidFill>
                  <a:srgbClr val="000000"/>
                </a:solidFill>
                <a:latin typeface="DM Sans"/>
                <a:ea typeface="DM Sans"/>
                <a:cs typeface="DM Sans"/>
                <a:sym typeface="DM Sans"/>
              </a:rPr>
              <a:t>vmbr1 10.10.10.x/24</a:t>
            </a:r>
          </a:p>
          <a:p>
            <a:pPr algn="l">
              <a:lnSpc>
                <a:spcPts val="1664"/>
              </a:lnSpc>
            </a:pPr>
            <a:r>
              <a:rPr lang="en-US" sz="1280" dirty="0" err="1">
                <a:solidFill>
                  <a:srgbClr val="000000"/>
                </a:solidFill>
                <a:latin typeface="DM Sans"/>
                <a:ea typeface="DM Sans"/>
                <a:cs typeface="DM Sans"/>
                <a:sym typeface="DM Sans"/>
              </a:rPr>
              <a:t>Réplication</a:t>
            </a:r>
            <a:r>
              <a:rPr lang="en-US" sz="1280" dirty="0">
                <a:solidFill>
                  <a:srgbClr val="000000"/>
                </a:solidFill>
                <a:latin typeface="DM Sans"/>
                <a:ea typeface="DM Sans"/>
                <a:cs typeface="DM Sans"/>
                <a:sym typeface="DM Sans"/>
              </a:rPr>
              <a:t> </a:t>
            </a:r>
            <a:r>
              <a:rPr lang="en-US" sz="1280" dirty="0" err="1">
                <a:solidFill>
                  <a:srgbClr val="000000"/>
                </a:solidFill>
                <a:latin typeface="DM Sans"/>
                <a:ea typeface="DM Sans"/>
                <a:cs typeface="DM Sans"/>
                <a:sym typeface="DM Sans"/>
              </a:rPr>
              <a:t>Ceph</a:t>
            </a:r>
            <a:r>
              <a:rPr lang="en-US" sz="1280" dirty="0">
                <a:solidFill>
                  <a:srgbClr val="000000"/>
                </a:solidFill>
                <a:latin typeface="DM Sans"/>
                <a:ea typeface="DM Sans"/>
                <a:cs typeface="DM Sans"/>
                <a:sym typeface="DM Sans"/>
              </a:rPr>
              <a:t> — </a:t>
            </a:r>
            <a:r>
              <a:rPr lang="en-US" sz="1280" dirty="0" err="1">
                <a:solidFill>
                  <a:srgbClr val="000000"/>
                </a:solidFill>
                <a:latin typeface="DM Sans"/>
                <a:ea typeface="DM Sans"/>
                <a:cs typeface="DM Sans"/>
                <a:sym typeface="DM Sans"/>
              </a:rPr>
              <a:t>réseau</a:t>
            </a:r>
            <a:r>
              <a:rPr lang="en-US" sz="1280" dirty="0">
                <a:solidFill>
                  <a:srgbClr val="000000"/>
                </a:solidFill>
                <a:latin typeface="DM Sans"/>
                <a:ea typeface="DM Sans"/>
                <a:cs typeface="DM Sans"/>
                <a:sym typeface="DM Sans"/>
              </a:rPr>
              <a:t> </a:t>
            </a:r>
            <a:r>
              <a:rPr lang="en-US" sz="1280" dirty="0" err="1">
                <a:solidFill>
                  <a:srgbClr val="000000"/>
                </a:solidFill>
                <a:latin typeface="DM Sans"/>
                <a:ea typeface="DM Sans"/>
                <a:cs typeface="DM Sans"/>
                <a:sym typeface="DM Sans"/>
              </a:rPr>
              <a:t>isolé</a:t>
            </a:r>
            <a:r>
              <a:rPr lang="en-US" sz="1280" dirty="0">
                <a:solidFill>
                  <a:srgbClr val="000000"/>
                </a:solidFill>
                <a:latin typeface="DM Sans"/>
                <a:ea typeface="DM Sans"/>
                <a:cs typeface="DM Sans"/>
                <a:sym typeface="DM Sans"/>
              </a:rPr>
              <a:t> </a:t>
            </a:r>
            <a:r>
              <a:rPr lang="en-US" sz="1280" dirty="0" err="1">
                <a:solidFill>
                  <a:srgbClr val="000000"/>
                </a:solidFill>
                <a:latin typeface="DM Sans"/>
                <a:ea typeface="DM Sans"/>
                <a:cs typeface="DM Sans"/>
                <a:sym typeface="DM Sans"/>
              </a:rPr>
              <a:t>dédié</a:t>
            </a:r>
            <a:endParaRPr lang="en-US" sz="1280" dirty="0">
              <a:solidFill>
                <a:srgbClr val="000000"/>
              </a:solidFill>
              <a:latin typeface="DM Sans"/>
              <a:ea typeface="DM Sans"/>
              <a:cs typeface="DM Sans"/>
              <a:sym typeface="DM Sans"/>
            </a:endParaRPr>
          </a:p>
        </p:txBody>
      </p:sp>
      <p:sp>
        <p:nvSpPr>
          <p:cNvPr id="171" name="TextBox 75"/>
          <p:cNvSpPr txBox="1"/>
          <p:nvPr/>
        </p:nvSpPr>
        <p:spPr>
          <a:xfrm>
            <a:off x="12146460" y="4208419"/>
            <a:ext cx="2663549" cy="424164"/>
          </a:xfrm>
          <a:prstGeom prst="rect">
            <a:avLst/>
          </a:prstGeom>
        </p:spPr>
        <p:txBody>
          <a:bodyPr lIns="0" tIns="0" rIns="0" bIns="0" rtlCol="0" anchor="t">
            <a:spAutoFit/>
          </a:bodyPr>
          <a:lstStyle/>
          <a:p>
            <a:pPr algn="l">
              <a:lnSpc>
                <a:spcPts val="1664"/>
              </a:lnSpc>
            </a:pPr>
            <a:r>
              <a:rPr lang="en-US" sz="1280">
                <a:solidFill>
                  <a:srgbClr val="000000"/>
                </a:solidFill>
                <a:latin typeface="DM Sans"/>
                <a:ea typeface="DM Sans"/>
                <a:cs typeface="DM Sans"/>
                <a:sym typeface="DM Sans"/>
              </a:rPr>
              <a:t>vmbr2</a:t>
            </a:r>
          </a:p>
          <a:p>
            <a:pPr algn="l">
              <a:lnSpc>
                <a:spcPts val="1664"/>
              </a:lnSpc>
            </a:pPr>
            <a:r>
              <a:rPr lang="en-US" sz="1280">
                <a:solidFill>
                  <a:srgbClr val="000000"/>
                </a:solidFill>
                <a:latin typeface="DM Sans"/>
                <a:ea typeface="DM Sans"/>
                <a:cs typeface="DM Sans"/>
                <a:sym typeface="DM Sans"/>
              </a:rPr>
              <a:t>Trafic tenants · VLAN 10/20/30/40 </a:t>
            </a:r>
          </a:p>
        </p:txBody>
      </p:sp>
      <p:sp>
        <p:nvSpPr>
          <p:cNvPr id="172" name="Freeform 76"/>
          <p:cNvSpPr/>
          <p:nvPr/>
        </p:nvSpPr>
        <p:spPr>
          <a:xfrm>
            <a:off x="8676320" y="5643013"/>
            <a:ext cx="434906" cy="434906"/>
          </a:xfrm>
          <a:custGeom>
            <a:avLst/>
            <a:gdLst/>
            <a:ahLst/>
            <a:cxnLst/>
            <a:rect l="l" t="t" r="r" b="b"/>
            <a:pathLst>
              <a:path w="434906" h="434906">
                <a:moveTo>
                  <a:pt x="0" y="0"/>
                </a:moveTo>
                <a:lnTo>
                  <a:pt x="434906" y="0"/>
                </a:lnTo>
                <a:lnTo>
                  <a:pt x="434906" y="434905"/>
                </a:lnTo>
                <a:lnTo>
                  <a:pt x="0" y="43490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173" name="Freeform 77"/>
          <p:cNvSpPr/>
          <p:nvPr/>
        </p:nvSpPr>
        <p:spPr>
          <a:xfrm>
            <a:off x="12205986" y="5643013"/>
            <a:ext cx="434906" cy="434906"/>
          </a:xfrm>
          <a:custGeom>
            <a:avLst/>
            <a:gdLst/>
            <a:ahLst/>
            <a:cxnLst/>
            <a:rect l="l" t="t" r="r" b="b"/>
            <a:pathLst>
              <a:path w="434906" h="434906">
                <a:moveTo>
                  <a:pt x="0" y="0"/>
                </a:moveTo>
                <a:lnTo>
                  <a:pt x="434906" y="0"/>
                </a:lnTo>
                <a:lnTo>
                  <a:pt x="434906" y="434905"/>
                </a:lnTo>
                <a:lnTo>
                  <a:pt x="0" y="43490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134" name="Freeform 38"/>
          <p:cNvSpPr/>
          <p:nvPr/>
        </p:nvSpPr>
        <p:spPr>
          <a:xfrm>
            <a:off x="12278819" y="7919924"/>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68" name="TextBox 72"/>
          <p:cNvSpPr txBox="1"/>
          <p:nvPr/>
        </p:nvSpPr>
        <p:spPr>
          <a:xfrm>
            <a:off x="12566666" y="8804618"/>
            <a:ext cx="2040795" cy="873913"/>
          </a:xfrm>
          <a:prstGeom prst="rect">
            <a:avLst/>
          </a:prstGeom>
        </p:spPr>
        <p:txBody>
          <a:bodyPr lIns="0" tIns="0" rIns="0" bIns="0" rtlCol="0" anchor="t">
            <a:spAutoFit/>
          </a:bodyPr>
          <a:lstStyle/>
          <a:p>
            <a:pPr algn="l">
              <a:lnSpc>
                <a:spcPts val="2306"/>
              </a:lnSpc>
            </a:pPr>
            <a:r>
              <a:rPr lang="en-US" sz="1774" dirty="0" err="1">
                <a:solidFill>
                  <a:srgbClr val="000000"/>
                </a:solidFill>
                <a:latin typeface="DM Sans"/>
                <a:ea typeface="DM Sans"/>
                <a:cs typeface="DM Sans"/>
                <a:sym typeface="DM Sans"/>
              </a:rPr>
              <a:t>Ceph</a:t>
            </a:r>
            <a:r>
              <a:rPr lang="en-US" sz="1774" dirty="0">
                <a:solidFill>
                  <a:srgbClr val="000000"/>
                </a:solidFill>
                <a:latin typeface="DM Sans"/>
                <a:ea typeface="DM Sans"/>
                <a:cs typeface="DM Sans"/>
                <a:sym typeface="DM Sans"/>
              </a:rPr>
              <a:t> Reef - </a:t>
            </a:r>
            <a:r>
              <a:rPr lang="en-US" sz="1774" dirty="0" err="1">
                <a:solidFill>
                  <a:srgbClr val="000000"/>
                </a:solidFill>
                <a:latin typeface="DM Sans"/>
                <a:ea typeface="DM Sans"/>
                <a:cs typeface="DM Sans"/>
                <a:sym typeface="DM Sans"/>
              </a:rPr>
              <a:t>Stockage</a:t>
            </a:r>
            <a:r>
              <a:rPr lang="en-US" sz="1774" dirty="0">
                <a:solidFill>
                  <a:srgbClr val="000000"/>
                </a:solidFill>
                <a:latin typeface="DM Sans"/>
                <a:ea typeface="DM Sans"/>
                <a:cs typeface="DM Sans"/>
                <a:sym typeface="DM Sans"/>
              </a:rPr>
              <a:t> </a:t>
            </a:r>
            <a:r>
              <a:rPr lang="en-US" sz="1774" dirty="0" err="1">
                <a:solidFill>
                  <a:srgbClr val="000000"/>
                </a:solidFill>
                <a:latin typeface="DM Sans"/>
                <a:ea typeface="DM Sans"/>
                <a:cs typeface="DM Sans"/>
                <a:sym typeface="DM Sans"/>
              </a:rPr>
              <a:t>Distribué</a:t>
            </a:r>
            <a:endParaRPr lang="en-US" sz="1774" dirty="0">
              <a:solidFill>
                <a:srgbClr val="000000"/>
              </a:solidFill>
              <a:latin typeface="DM Sans"/>
              <a:ea typeface="DM Sans"/>
              <a:cs typeface="DM Sans"/>
              <a:sym typeface="DM Sans"/>
            </a:endParaRPr>
          </a:p>
          <a:p>
            <a:pPr algn="l">
              <a:lnSpc>
                <a:spcPts val="2306"/>
              </a:lnSpc>
            </a:pPr>
            <a:r>
              <a:rPr lang="en-US" sz="1774" dirty="0">
                <a:solidFill>
                  <a:srgbClr val="000000"/>
                </a:solidFill>
                <a:latin typeface="DM Sans"/>
                <a:ea typeface="DM Sans"/>
                <a:cs typeface="DM Sans"/>
                <a:sym typeface="DM Sans"/>
              </a:rPr>
              <a:t>OSD.2 ·250 GB</a:t>
            </a:r>
          </a:p>
        </p:txBody>
      </p:sp>
      <p:sp>
        <p:nvSpPr>
          <p:cNvPr id="126" name="Freeform 30"/>
          <p:cNvSpPr/>
          <p:nvPr/>
        </p:nvSpPr>
        <p:spPr>
          <a:xfrm>
            <a:off x="5118892" y="7919924"/>
            <a:ext cx="2384438" cy="1093861"/>
          </a:xfrm>
          <a:custGeom>
            <a:avLst/>
            <a:gdLst/>
            <a:ahLst/>
            <a:cxnLst/>
            <a:rect l="l" t="t" r="r" b="b"/>
            <a:pathLst>
              <a:path w="2384438" h="1093861">
                <a:moveTo>
                  <a:pt x="0" y="0"/>
                </a:moveTo>
                <a:lnTo>
                  <a:pt x="2384438" y="0"/>
                </a:lnTo>
                <a:lnTo>
                  <a:pt x="2384438" y="1093861"/>
                </a:lnTo>
                <a:lnTo>
                  <a:pt x="0" y="109386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66" name="TextBox 70"/>
          <p:cNvSpPr txBox="1"/>
          <p:nvPr/>
        </p:nvSpPr>
        <p:spPr>
          <a:xfrm>
            <a:off x="5315457" y="8804618"/>
            <a:ext cx="2040795" cy="873913"/>
          </a:xfrm>
          <a:prstGeom prst="rect">
            <a:avLst/>
          </a:prstGeom>
        </p:spPr>
        <p:txBody>
          <a:bodyPr lIns="0" tIns="0" rIns="0" bIns="0" rtlCol="0" anchor="t">
            <a:spAutoFit/>
          </a:bodyPr>
          <a:lstStyle/>
          <a:p>
            <a:pPr algn="l">
              <a:lnSpc>
                <a:spcPts val="2306"/>
              </a:lnSpc>
            </a:pPr>
            <a:r>
              <a:rPr lang="en-US" sz="1774" dirty="0" err="1">
                <a:solidFill>
                  <a:srgbClr val="363A3B"/>
                </a:solidFill>
                <a:latin typeface="DM Sans"/>
                <a:ea typeface="DM Sans"/>
                <a:cs typeface="DM Sans"/>
                <a:sym typeface="DM Sans"/>
              </a:rPr>
              <a:t>Ceph</a:t>
            </a:r>
            <a:r>
              <a:rPr lang="en-US" sz="1774" dirty="0">
                <a:solidFill>
                  <a:srgbClr val="363A3B"/>
                </a:solidFill>
                <a:latin typeface="DM Sans"/>
                <a:ea typeface="DM Sans"/>
                <a:cs typeface="DM Sans"/>
                <a:sym typeface="DM Sans"/>
              </a:rPr>
              <a:t> Reef - </a:t>
            </a:r>
            <a:r>
              <a:rPr lang="en-US" sz="1774" dirty="0" err="1">
                <a:solidFill>
                  <a:srgbClr val="363A3B"/>
                </a:solidFill>
                <a:latin typeface="DM Sans"/>
                <a:ea typeface="DM Sans"/>
                <a:cs typeface="DM Sans"/>
                <a:sym typeface="DM Sans"/>
              </a:rPr>
              <a:t>Stockage</a:t>
            </a:r>
            <a:r>
              <a:rPr lang="en-US" sz="1774" dirty="0">
                <a:solidFill>
                  <a:srgbClr val="363A3B"/>
                </a:solidFill>
                <a:latin typeface="DM Sans"/>
                <a:ea typeface="DM Sans"/>
                <a:cs typeface="DM Sans"/>
                <a:sym typeface="DM Sans"/>
              </a:rPr>
              <a:t> </a:t>
            </a:r>
            <a:r>
              <a:rPr lang="en-US" sz="1774" dirty="0" err="1">
                <a:solidFill>
                  <a:srgbClr val="363A3B"/>
                </a:solidFill>
                <a:latin typeface="DM Sans"/>
                <a:ea typeface="DM Sans"/>
                <a:cs typeface="DM Sans"/>
                <a:sym typeface="DM Sans"/>
              </a:rPr>
              <a:t>Distribué</a:t>
            </a:r>
            <a:endParaRPr lang="en-US" sz="1774" dirty="0">
              <a:solidFill>
                <a:srgbClr val="363A3B"/>
              </a:solidFill>
              <a:latin typeface="DM Sans"/>
              <a:ea typeface="DM Sans"/>
              <a:cs typeface="DM Sans"/>
              <a:sym typeface="DM Sans"/>
            </a:endParaRPr>
          </a:p>
          <a:p>
            <a:pPr algn="l">
              <a:lnSpc>
                <a:spcPts val="2306"/>
              </a:lnSpc>
            </a:pPr>
            <a:r>
              <a:rPr lang="en-US" sz="1774" dirty="0">
                <a:solidFill>
                  <a:srgbClr val="363A3B"/>
                </a:solidFill>
                <a:latin typeface="DM Sans"/>
                <a:ea typeface="DM Sans"/>
                <a:cs typeface="DM Sans"/>
                <a:sym typeface="DM Sans"/>
              </a:rPr>
              <a:t>OSD.0 · 500 GB</a:t>
            </a:r>
          </a:p>
        </p:txBody>
      </p:sp>
      <p:sp>
        <p:nvSpPr>
          <p:cNvPr id="176" name="TextBox 63"/>
          <p:cNvSpPr txBox="1"/>
          <p:nvPr/>
        </p:nvSpPr>
        <p:spPr>
          <a:xfrm>
            <a:off x="6007553" y="5711721"/>
            <a:ext cx="1407266" cy="332666"/>
          </a:xfrm>
          <a:prstGeom prst="rect">
            <a:avLst/>
          </a:prstGeom>
        </p:spPr>
        <p:txBody>
          <a:bodyPr lIns="0" tIns="0" rIns="0" bIns="0" rtlCol="0" anchor="t">
            <a:spAutoFit/>
          </a:bodyPr>
          <a:lstStyle/>
          <a:p>
            <a:pPr algn="l">
              <a:lnSpc>
                <a:spcPts val="2654"/>
              </a:lnSpc>
            </a:pPr>
            <a:r>
              <a:rPr lang="en-US" sz="2211" dirty="0" smtClean="0">
                <a:solidFill>
                  <a:srgbClr val="FFFFFF"/>
                </a:solidFill>
                <a:latin typeface="Neue Machina"/>
                <a:ea typeface="Neue Machina"/>
                <a:cs typeface="Neue Machina"/>
                <a:sym typeface="Neue Machina"/>
              </a:rPr>
              <a:t>SERVE1</a:t>
            </a:r>
            <a:endParaRPr lang="en-US" sz="2211" dirty="0">
              <a:solidFill>
                <a:srgbClr val="FFFFFF"/>
              </a:solidFill>
              <a:latin typeface="Neue Machina"/>
              <a:ea typeface="Neue Machina"/>
              <a:cs typeface="Neue Machina"/>
              <a:sym typeface="Neue Machina"/>
            </a:endParaRPr>
          </a:p>
        </p:txBody>
      </p:sp>
      <p:sp>
        <p:nvSpPr>
          <p:cNvPr id="4" name="Espace réservé du numéro de diapositive 3"/>
          <p:cNvSpPr>
            <a:spLocks noGrp="1"/>
          </p:cNvSpPr>
          <p:nvPr>
            <p:ph type="sldNum" sz="quarter" idx="12"/>
          </p:nvPr>
        </p:nvSpPr>
        <p:spPr/>
        <p:txBody>
          <a:bodyPr/>
          <a:lstStyle/>
          <a:p>
            <a:fld id="{B6F15528-21DE-4FAA-801E-634DDDAF4B2B}" type="slidenum">
              <a:rPr lang="en-US" sz="2400" b="1" smtClean="0"/>
              <a:pPr/>
              <a:t>8</a:t>
            </a:fld>
            <a:endParaRPr lang="en-US" sz="2400" b="1" dirty="0"/>
          </a:p>
        </p:txBody>
      </p:sp>
    </p:spTree>
    <p:extLst>
      <p:ext uri="{BB962C8B-B14F-4D97-AF65-F5344CB8AC3E}">
        <p14:creationId xmlns:p14="http://schemas.microsoft.com/office/powerpoint/2010/main" val="2130228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fade">
                                      <p:cBhvr>
                                        <p:cTn id="7" dur="1000"/>
                                        <p:tgtEl>
                                          <p:spTgt spid="142"/>
                                        </p:tgtEl>
                                      </p:cBhvr>
                                    </p:animEffect>
                                    <p:anim calcmode="lin" valueType="num">
                                      <p:cBhvr>
                                        <p:cTn id="8" dur="1000" fill="hold"/>
                                        <p:tgtEl>
                                          <p:spTgt spid="142"/>
                                        </p:tgtEl>
                                        <p:attrNameLst>
                                          <p:attrName>ppt_x</p:attrName>
                                        </p:attrNameLst>
                                      </p:cBhvr>
                                      <p:tavLst>
                                        <p:tav tm="0">
                                          <p:val>
                                            <p:strVal val="#ppt_x"/>
                                          </p:val>
                                        </p:tav>
                                        <p:tav tm="100000">
                                          <p:val>
                                            <p:strVal val="#ppt_x"/>
                                          </p:val>
                                        </p:tav>
                                      </p:tavLst>
                                    </p:anim>
                                    <p:anim calcmode="lin" valueType="num">
                                      <p:cBhvr>
                                        <p:cTn id="9" dur="1000" fill="hold"/>
                                        <p:tgtEl>
                                          <p:spTgt spid="14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nodeType="clickEffect">
                                  <p:stCondLst>
                                    <p:cond delay="0"/>
                                  </p:stCondLst>
                                  <p:childTnLst>
                                    <p:set>
                                      <p:cBhvr>
                                        <p:cTn id="13" dur="1" fill="hold">
                                          <p:stCondLst>
                                            <p:cond delay="0"/>
                                          </p:stCondLst>
                                        </p:cTn>
                                        <p:tgtEl>
                                          <p:spTgt spid="155"/>
                                        </p:tgtEl>
                                        <p:attrNameLst>
                                          <p:attrName>style.visibility</p:attrName>
                                        </p:attrNameLst>
                                      </p:cBhvr>
                                      <p:to>
                                        <p:strVal val="visible"/>
                                      </p:to>
                                    </p:set>
                                    <p:animEffect transition="in" filter="barn(inVertical)">
                                      <p:cBhvr>
                                        <p:cTn id="14" dur="500"/>
                                        <p:tgtEl>
                                          <p:spTgt spid="155"/>
                                        </p:tgtEl>
                                      </p:cBhvr>
                                    </p:animEffect>
                                  </p:childTnLst>
                                </p:cTn>
                              </p:par>
                              <p:par>
                                <p:cTn id="15" presetID="16" presetClass="entr" presetSubtype="21" fill="hold" nodeType="withEffect">
                                  <p:stCondLst>
                                    <p:cond delay="0"/>
                                  </p:stCondLst>
                                  <p:childTnLst>
                                    <p:set>
                                      <p:cBhvr>
                                        <p:cTn id="16" dur="1" fill="hold">
                                          <p:stCondLst>
                                            <p:cond delay="0"/>
                                          </p:stCondLst>
                                        </p:cTn>
                                        <p:tgtEl>
                                          <p:spTgt spid="156"/>
                                        </p:tgtEl>
                                        <p:attrNameLst>
                                          <p:attrName>style.visibility</p:attrName>
                                        </p:attrNameLst>
                                      </p:cBhvr>
                                      <p:to>
                                        <p:strVal val="visible"/>
                                      </p:to>
                                    </p:set>
                                    <p:animEffect transition="in" filter="barn(inVertical)">
                                      <p:cBhvr>
                                        <p:cTn id="17" dur="500"/>
                                        <p:tgtEl>
                                          <p:spTgt spid="156"/>
                                        </p:tgtEl>
                                      </p:cBhvr>
                                    </p:animEffect>
                                  </p:childTnLst>
                                </p:cTn>
                              </p:par>
                              <p:par>
                                <p:cTn id="18" presetID="16" presetClass="entr" presetSubtype="21" fill="hold" nodeType="withEffect">
                                  <p:stCondLst>
                                    <p:cond delay="0"/>
                                  </p:stCondLst>
                                  <p:childTnLst>
                                    <p:set>
                                      <p:cBhvr>
                                        <p:cTn id="19" dur="1" fill="hold">
                                          <p:stCondLst>
                                            <p:cond delay="0"/>
                                          </p:stCondLst>
                                        </p:cTn>
                                        <p:tgtEl>
                                          <p:spTgt spid="157"/>
                                        </p:tgtEl>
                                        <p:attrNameLst>
                                          <p:attrName>style.visibility</p:attrName>
                                        </p:attrNameLst>
                                      </p:cBhvr>
                                      <p:to>
                                        <p:strVal val="visible"/>
                                      </p:to>
                                    </p:set>
                                    <p:animEffect transition="in" filter="barn(inVertical)">
                                      <p:cBhvr>
                                        <p:cTn id="20" dur="500"/>
                                        <p:tgtEl>
                                          <p:spTgt spid="157"/>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171"/>
                                        </p:tgtEl>
                                        <p:attrNameLst>
                                          <p:attrName>style.visibility</p:attrName>
                                        </p:attrNameLst>
                                      </p:cBhvr>
                                      <p:to>
                                        <p:strVal val="visible"/>
                                      </p:to>
                                    </p:set>
                                    <p:animEffect transition="in" filter="barn(inVertical)">
                                      <p:cBhvr>
                                        <p:cTn id="23" dur="500"/>
                                        <p:tgtEl>
                                          <p:spTgt spid="171"/>
                                        </p:tgtEl>
                                      </p:cBhvr>
                                    </p:animEffect>
                                  </p:childTnLst>
                                </p:cTn>
                              </p:par>
                              <p:par>
                                <p:cTn id="24" presetID="16" presetClass="entr" presetSubtype="21" fill="hold" grpId="0" nodeType="withEffect">
                                  <p:stCondLst>
                                    <p:cond delay="0"/>
                                  </p:stCondLst>
                                  <p:childTnLst>
                                    <p:set>
                                      <p:cBhvr>
                                        <p:cTn id="25" dur="1" fill="hold">
                                          <p:stCondLst>
                                            <p:cond delay="0"/>
                                          </p:stCondLst>
                                        </p:cTn>
                                        <p:tgtEl>
                                          <p:spTgt spid="170"/>
                                        </p:tgtEl>
                                        <p:attrNameLst>
                                          <p:attrName>style.visibility</p:attrName>
                                        </p:attrNameLst>
                                      </p:cBhvr>
                                      <p:to>
                                        <p:strVal val="visible"/>
                                      </p:to>
                                    </p:set>
                                    <p:animEffect transition="in" filter="barn(inVertical)">
                                      <p:cBhvr>
                                        <p:cTn id="26" dur="500"/>
                                        <p:tgtEl>
                                          <p:spTgt spid="170"/>
                                        </p:tgtEl>
                                      </p:cBhvr>
                                    </p:animEffect>
                                  </p:childTnLst>
                                </p:cTn>
                              </p:par>
                              <p:par>
                                <p:cTn id="27" presetID="16" presetClass="entr" presetSubtype="21" fill="hold" grpId="0" nodeType="withEffect">
                                  <p:stCondLst>
                                    <p:cond delay="0"/>
                                  </p:stCondLst>
                                  <p:childTnLst>
                                    <p:set>
                                      <p:cBhvr>
                                        <p:cTn id="28" dur="1" fill="hold">
                                          <p:stCondLst>
                                            <p:cond delay="0"/>
                                          </p:stCondLst>
                                        </p:cTn>
                                        <p:tgtEl>
                                          <p:spTgt spid="148"/>
                                        </p:tgtEl>
                                        <p:attrNameLst>
                                          <p:attrName>style.visibility</p:attrName>
                                        </p:attrNameLst>
                                      </p:cBhvr>
                                      <p:to>
                                        <p:strVal val="visible"/>
                                      </p:to>
                                    </p:set>
                                    <p:animEffect transition="in" filter="barn(inVertical)">
                                      <p:cBhvr>
                                        <p:cTn id="29" dur="500"/>
                                        <p:tgtEl>
                                          <p:spTgt spid="148"/>
                                        </p:tgtEl>
                                      </p:cBhvr>
                                    </p:animEffect>
                                  </p:childTnLst>
                                </p:cTn>
                              </p:par>
                              <p:par>
                                <p:cTn id="30" presetID="16" presetClass="entr" presetSubtype="21" fill="hold" nodeType="withEffect">
                                  <p:stCondLst>
                                    <p:cond delay="0"/>
                                  </p:stCondLst>
                                  <p:childTnLst>
                                    <p:set>
                                      <p:cBhvr>
                                        <p:cTn id="31" dur="1" fill="hold">
                                          <p:stCondLst>
                                            <p:cond delay="0"/>
                                          </p:stCondLst>
                                        </p:cTn>
                                        <p:tgtEl>
                                          <p:spTgt spid="145"/>
                                        </p:tgtEl>
                                        <p:attrNameLst>
                                          <p:attrName>style.visibility</p:attrName>
                                        </p:attrNameLst>
                                      </p:cBhvr>
                                      <p:to>
                                        <p:strVal val="visible"/>
                                      </p:to>
                                    </p:set>
                                    <p:animEffect transition="in" filter="barn(inVertical)">
                                      <p:cBhvr>
                                        <p:cTn id="32" dur="500"/>
                                        <p:tgtEl>
                                          <p:spTgt spid="145"/>
                                        </p:tgtEl>
                                      </p:cBhvr>
                                    </p:animEffect>
                                  </p:childTnLst>
                                </p:cTn>
                              </p:par>
                              <p:par>
                                <p:cTn id="33" presetID="16" presetClass="entr" presetSubtype="21" fill="hold" nodeType="withEffect">
                                  <p:stCondLst>
                                    <p:cond delay="0"/>
                                  </p:stCondLst>
                                  <p:childTnLst>
                                    <p:set>
                                      <p:cBhvr>
                                        <p:cTn id="34" dur="1" fill="hold">
                                          <p:stCondLst>
                                            <p:cond delay="0"/>
                                          </p:stCondLst>
                                        </p:cTn>
                                        <p:tgtEl>
                                          <p:spTgt spid="149"/>
                                        </p:tgtEl>
                                        <p:attrNameLst>
                                          <p:attrName>style.visibility</p:attrName>
                                        </p:attrNameLst>
                                      </p:cBhvr>
                                      <p:to>
                                        <p:strVal val="visible"/>
                                      </p:to>
                                    </p:set>
                                    <p:animEffect transition="in" filter="barn(inVertical)">
                                      <p:cBhvr>
                                        <p:cTn id="35" dur="500"/>
                                        <p:tgtEl>
                                          <p:spTgt spid="149"/>
                                        </p:tgtEl>
                                      </p:cBhvr>
                                    </p:animEffect>
                                  </p:childTnLst>
                                </p:cTn>
                              </p:par>
                              <p:par>
                                <p:cTn id="36" presetID="16" presetClass="entr" presetSubtype="21" fill="hold" nodeType="withEffect">
                                  <p:stCondLst>
                                    <p:cond delay="0"/>
                                  </p:stCondLst>
                                  <p:childTnLst>
                                    <p:set>
                                      <p:cBhvr>
                                        <p:cTn id="37" dur="1" fill="hold">
                                          <p:stCondLst>
                                            <p:cond delay="0"/>
                                          </p:stCondLst>
                                        </p:cTn>
                                        <p:tgtEl>
                                          <p:spTgt spid="152"/>
                                        </p:tgtEl>
                                        <p:attrNameLst>
                                          <p:attrName>style.visibility</p:attrName>
                                        </p:attrNameLst>
                                      </p:cBhvr>
                                      <p:to>
                                        <p:strVal val="visible"/>
                                      </p:to>
                                    </p:set>
                                    <p:animEffect transition="in" filter="barn(inVertical)">
                                      <p:cBhvr>
                                        <p:cTn id="38" dur="500"/>
                                        <p:tgtEl>
                                          <p:spTgt spid="152"/>
                                        </p:tgtEl>
                                      </p:cBhvr>
                                    </p:animEffect>
                                  </p:childTnLst>
                                </p:cTn>
                              </p:par>
                              <p:par>
                                <p:cTn id="39" presetID="16" presetClass="entr" presetSubtype="21" fill="hold" nodeType="withEffect">
                                  <p:stCondLst>
                                    <p:cond delay="0"/>
                                  </p:stCondLst>
                                  <p:childTnLst>
                                    <p:set>
                                      <p:cBhvr>
                                        <p:cTn id="40" dur="1" fill="hold">
                                          <p:stCondLst>
                                            <p:cond delay="0"/>
                                          </p:stCondLst>
                                        </p:cTn>
                                        <p:tgtEl>
                                          <p:spTgt spid="102"/>
                                        </p:tgtEl>
                                        <p:attrNameLst>
                                          <p:attrName>style.visibility</p:attrName>
                                        </p:attrNameLst>
                                      </p:cBhvr>
                                      <p:to>
                                        <p:strVal val="visible"/>
                                      </p:to>
                                    </p:set>
                                    <p:animEffect transition="in" filter="barn(inVertical)">
                                      <p:cBhvr>
                                        <p:cTn id="41" dur="500"/>
                                        <p:tgtEl>
                                          <p:spTgt spid="102"/>
                                        </p:tgtEl>
                                      </p:cBhvr>
                                    </p:animEffect>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76"/>
                                        </p:tgtEl>
                                        <p:attrNameLst>
                                          <p:attrName>style.visibility</p:attrName>
                                        </p:attrNameLst>
                                      </p:cBhvr>
                                      <p:to>
                                        <p:strVal val="visible"/>
                                      </p:to>
                                    </p:set>
                                    <p:animEffect transition="in" filter="fade">
                                      <p:cBhvr>
                                        <p:cTn id="46" dur="1000"/>
                                        <p:tgtEl>
                                          <p:spTgt spid="176"/>
                                        </p:tgtEl>
                                      </p:cBhvr>
                                    </p:animEffect>
                                    <p:anim calcmode="lin" valueType="num">
                                      <p:cBhvr>
                                        <p:cTn id="47" dur="1000" fill="hold"/>
                                        <p:tgtEl>
                                          <p:spTgt spid="176"/>
                                        </p:tgtEl>
                                        <p:attrNameLst>
                                          <p:attrName>ppt_x</p:attrName>
                                        </p:attrNameLst>
                                      </p:cBhvr>
                                      <p:tavLst>
                                        <p:tav tm="0">
                                          <p:val>
                                            <p:strVal val="#ppt_x"/>
                                          </p:val>
                                        </p:tav>
                                        <p:tav tm="100000">
                                          <p:val>
                                            <p:strVal val="#ppt_x"/>
                                          </p:val>
                                        </p:tav>
                                      </p:tavLst>
                                    </p:anim>
                                    <p:anim calcmode="lin" valueType="num">
                                      <p:cBhvr>
                                        <p:cTn id="48" dur="1000" fill="hold"/>
                                        <p:tgtEl>
                                          <p:spTgt spid="176"/>
                                        </p:tgtEl>
                                        <p:attrNameLst>
                                          <p:attrName>ppt_y</p:attrName>
                                        </p:attrNameLst>
                                      </p:cBhvr>
                                      <p:tavLst>
                                        <p:tav tm="0">
                                          <p:val>
                                            <p:strVal val="#ppt_y+.1"/>
                                          </p:val>
                                        </p:tav>
                                        <p:tav tm="100000">
                                          <p:val>
                                            <p:strVal val="#ppt_y"/>
                                          </p:val>
                                        </p:tav>
                                      </p:tavLst>
                                    </p:anim>
                                  </p:childTnLst>
                                </p:cTn>
                              </p:par>
                              <p:par>
                                <p:cTn id="49" presetID="42" presetClass="entr" presetSubtype="0" fill="hold" nodeType="withEffect">
                                  <p:stCondLst>
                                    <p:cond delay="0"/>
                                  </p:stCondLst>
                                  <p:childTnLst>
                                    <p:set>
                                      <p:cBhvr>
                                        <p:cTn id="50" dur="1" fill="hold">
                                          <p:stCondLst>
                                            <p:cond delay="0"/>
                                          </p:stCondLst>
                                        </p:cTn>
                                        <p:tgtEl>
                                          <p:spTgt spid="158"/>
                                        </p:tgtEl>
                                        <p:attrNameLst>
                                          <p:attrName>style.visibility</p:attrName>
                                        </p:attrNameLst>
                                      </p:cBhvr>
                                      <p:to>
                                        <p:strVal val="visible"/>
                                      </p:to>
                                    </p:set>
                                    <p:animEffect transition="in" filter="fade">
                                      <p:cBhvr>
                                        <p:cTn id="51" dur="1000"/>
                                        <p:tgtEl>
                                          <p:spTgt spid="158"/>
                                        </p:tgtEl>
                                      </p:cBhvr>
                                    </p:animEffect>
                                    <p:anim calcmode="lin" valueType="num">
                                      <p:cBhvr>
                                        <p:cTn id="52" dur="1000" fill="hold"/>
                                        <p:tgtEl>
                                          <p:spTgt spid="158"/>
                                        </p:tgtEl>
                                        <p:attrNameLst>
                                          <p:attrName>ppt_x</p:attrName>
                                        </p:attrNameLst>
                                      </p:cBhvr>
                                      <p:tavLst>
                                        <p:tav tm="0">
                                          <p:val>
                                            <p:strVal val="#ppt_x"/>
                                          </p:val>
                                        </p:tav>
                                        <p:tav tm="100000">
                                          <p:val>
                                            <p:strVal val="#ppt_x"/>
                                          </p:val>
                                        </p:tav>
                                      </p:tavLst>
                                    </p:anim>
                                    <p:anim calcmode="lin" valueType="num">
                                      <p:cBhvr>
                                        <p:cTn id="53" dur="1000" fill="hold"/>
                                        <p:tgtEl>
                                          <p:spTgt spid="158"/>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1000"/>
                                        <p:tgtEl>
                                          <p:spTgt spid="160"/>
                                        </p:tgtEl>
                                      </p:cBhvr>
                                    </p:animEffect>
                                    <p:anim calcmode="lin" valueType="num">
                                      <p:cBhvr>
                                        <p:cTn id="57" dur="1000" fill="hold"/>
                                        <p:tgtEl>
                                          <p:spTgt spid="160"/>
                                        </p:tgtEl>
                                        <p:attrNameLst>
                                          <p:attrName>ppt_x</p:attrName>
                                        </p:attrNameLst>
                                      </p:cBhvr>
                                      <p:tavLst>
                                        <p:tav tm="0">
                                          <p:val>
                                            <p:strVal val="#ppt_x"/>
                                          </p:val>
                                        </p:tav>
                                        <p:tav tm="100000">
                                          <p:val>
                                            <p:strVal val="#ppt_x"/>
                                          </p:val>
                                        </p:tav>
                                      </p:tavLst>
                                    </p:anim>
                                    <p:anim calcmode="lin" valueType="num">
                                      <p:cBhvr>
                                        <p:cTn id="58" dur="1000" fill="hold"/>
                                        <p:tgtEl>
                                          <p:spTgt spid="160"/>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05"/>
                                        </p:tgtEl>
                                        <p:attrNameLst>
                                          <p:attrName>style.visibility</p:attrName>
                                        </p:attrNameLst>
                                      </p:cBhvr>
                                      <p:to>
                                        <p:strVal val="visible"/>
                                      </p:to>
                                    </p:set>
                                    <p:animEffect transition="in" filter="fade">
                                      <p:cBhvr>
                                        <p:cTn id="61" dur="1000"/>
                                        <p:tgtEl>
                                          <p:spTgt spid="105"/>
                                        </p:tgtEl>
                                      </p:cBhvr>
                                    </p:animEffect>
                                    <p:anim calcmode="lin" valueType="num">
                                      <p:cBhvr>
                                        <p:cTn id="62" dur="1000" fill="hold"/>
                                        <p:tgtEl>
                                          <p:spTgt spid="105"/>
                                        </p:tgtEl>
                                        <p:attrNameLst>
                                          <p:attrName>ppt_x</p:attrName>
                                        </p:attrNameLst>
                                      </p:cBhvr>
                                      <p:tavLst>
                                        <p:tav tm="0">
                                          <p:val>
                                            <p:strVal val="#ppt_x"/>
                                          </p:val>
                                        </p:tav>
                                        <p:tav tm="100000">
                                          <p:val>
                                            <p:strVal val="#ppt_x"/>
                                          </p:val>
                                        </p:tav>
                                      </p:tavLst>
                                    </p:anim>
                                    <p:anim calcmode="lin" valueType="num">
                                      <p:cBhvr>
                                        <p:cTn id="63" dur="1000" fill="hold"/>
                                        <p:tgtEl>
                                          <p:spTgt spid="105"/>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97"/>
                                        </p:tgtEl>
                                        <p:attrNameLst>
                                          <p:attrName>style.visibility</p:attrName>
                                        </p:attrNameLst>
                                      </p:cBhvr>
                                      <p:to>
                                        <p:strVal val="visible"/>
                                      </p:to>
                                    </p:set>
                                    <p:animEffect transition="in" filter="fade">
                                      <p:cBhvr>
                                        <p:cTn id="66" dur="1000"/>
                                        <p:tgtEl>
                                          <p:spTgt spid="97"/>
                                        </p:tgtEl>
                                      </p:cBhvr>
                                    </p:animEffect>
                                    <p:anim calcmode="lin" valueType="num">
                                      <p:cBhvr>
                                        <p:cTn id="67" dur="1000" fill="hold"/>
                                        <p:tgtEl>
                                          <p:spTgt spid="97"/>
                                        </p:tgtEl>
                                        <p:attrNameLst>
                                          <p:attrName>ppt_x</p:attrName>
                                        </p:attrNameLst>
                                      </p:cBhvr>
                                      <p:tavLst>
                                        <p:tav tm="0">
                                          <p:val>
                                            <p:strVal val="#ppt_x"/>
                                          </p:val>
                                        </p:tav>
                                        <p:tav tm="100000">
                                          <p:val>
                                            <p:strVal val="#ppt_x"/>
                                          </p:val>
                                        </p:tav>
                                      </p:tavLst>
                                    </p:anim>
                                    <p:anim calcmode="lin" valueType="num">
                                      <p:cBhvr>
                                        <p:cTn id="68" dur="1000" fill="hold"/>
                                        <p:tgtEl>
                                          <p:spTgt spid="97"/>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62"/>
                                        </p:tgtEl>
                                        <p:attrNameLst>
                                          <p:attrName>style.visibility</p:attrName>
                                        </p:attrNameLst>
                                      </p:cBhvr>
                                      <p:to>
                                        <p:strVal val="visible"/>
                                      </p:to>
                                    </p:set>
                                    <p:animEffect transition="in" filter="fade">
                                      <p:cBhvr>
                                        <p:cTn id="71" dur="1000"/>
                                        <p:tgtEl>
                                          <p:spTgt spid="162"/>
                                        </p:tgtEl>
                                      </p:cBhvr>
                                    </p:animEffect>
                                    <p:anim calcmode="lin" valueType="num">
                                      <p:cBhvr>
                                        <p:cTn id="72" dur="1000" fill="hold"/>
                                        <p:tgtEl>
                                          <p:spTgt spid="162"/>
                                        </p:tgtEl>
                                        <p:attrNameLst>
                                          <p:attrName>ppt_x</p:attrName>
                                        </p:attrNameLst>
                                      </p:cBhvr>
                                      <p:tavLst>
                                        <p:tav tm="0">
                                          <p:val>
                                            <p:strVal val="#ppt_x"/>
                                          </p:val>
                                        </p:tav>
                                        <p:tav tm="100000">
                                          <p:val>
                                            <p:strVal val="#ppt_x"/>
                                          </p:val>
                                        </p:tav>
                                      </p:tavLst>
                                    </p:anim>
                                    <p:anim calcmode="lin" valueType="num">
                                      <p:cBhvr>
                                        <p:cTn id="73" dur="1000" fill="hold"/>
                                        <p:tgtEl>
                                          <p:spTgt spid="162"/>
                                        </p:tgtEl>
                                        <p:attrNameLst>
                                          <p:attrName>ppt_y</p:attrName>
                                        </p:attrNameLst>
                                      </p:cBhvr>
                                      <p:tavLst>
                                        <p:tav tm="0">
                                          <p:val>
                                            <p:strVal val="#ppt_y+.1"/>
                                          </p:val>
                                        </p:tav>
                                        <p:tav tm="100000">
                                          <p:val>
                                            <p:strVal val="#ppt_y"/>
                                          </p:val>
                                        </p:tav>
                                      </p:tavLst>
                                    </p:anim>
                                  </p:childTnLst>
                                </p:cTn>
                              </p:par>
                              <p:par>
                                <p:cTn id="74" presetID="42" presetClass="entr" presetSubtype="0" fill="hold" nodeType="withEffect">
                                  <p:stCondLst>
                                    <p:cond delay="0"/>
                                  </p:stCondLst>
                                  <p:childTnLst>
                                    <p:set>
                                      <p:cBhvr>
                                        <p:cTn id="75" dur="1" fill="hold">
                                          <p:stCondLst>
                                            <p:cond delay="0"/>
                                          </p:stCondLst>
                                        </p:cTn>
                                        <p:tgtEl>
                                          <p:spTgt spid="172"/>
                                        </p:tgtEl>
                                        <p:attrNameLst>
                                          <p:attrName>style.visibility</p:attrName>
                                        </p:attrNameLst>
                                      </p:cBhvr>
                                      <p:to>
                                        <p:strVal val="visible"/>
                                      </p:to>
                                    </p:set>
                                    <p:animEffect transition="in" filter="fade">
                                      <p:cBhvr>
                                        <p:cTn id="76" dur="1000"/>
                                        <p:tgtEl>
                                          <p:spTgt spid="172"/>
                                        </p:tgtEl>
                                      </p:cBhvr>
                                    </p:animEffect>
                                    <p:anim calcmode="lin" valueType="num">
                                      <p:cBhvr>
                                        <p:cTn id="77" dur="1000" fill="hold"/>
                                        <p:tgtEl>
                                          <p:spTgt spid="172"/>
                                        </p:tgtEl>
                                        <p:attrNameLst>
                                          <p:attrName>ppt_x</p:attrName>
                                        </p:attrNameLst>
                                      </p:cBhvr>
                                      <p:tavLst>
                                        <p:tav tm="0">
                                          <p:val>
                                            <p:strVal val="#ppt_x"/>
                                          </p:val>
                                        </p:tav>
                                        <p:tav tm="100000">
                                          <p:val>
                                            <p:strVal val="#ppt_x"/>
                                          </p:val>
                                        </p:tav>
                                      </p:tavLst>
                                    </p:anim>
                                    <p:anim calcmode="lin" valueType="num">
                                      <p:cBhvr>
                                        <p:cTn id="78" dur="1000" fill="hold"/>
                                        <p:tgtEl>
                                          <p:spTgt spid="172"/>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161"/>
                                        </p:tgtEl>
                                        <p:attrNameLst>
                                          <p:attrName>style.visibility</p:attrName>
                                        </p:attrNameLst>
                                      </p:cBhvr>
                                      <p:to>
                                        <p:strVal val="visible"/>
                                      </p:to>
                                    </p:set>
                                    <p:animEffect transition="in" filter="fade">
                                      <p:cBhvr>
                                        <p:cTn id="81" dur="1000"/>
                                        <p:tgtEl>
                                          <p:spTgt spid="161"/>
                                        </p:tgtEl>
                                      </p:cBhvr>
                                    </p:animEffect>
                                    <p:anim calcmode="lin" valueType="num">
                                      <p:cBhvr>
                                        <p:cTn id="82" dur="1000" fill="hold"/>
                                        <p:tgtEl>
                                          <p:spTgt spid="161"/>
                                        </p:tgtEl>
                                        <p:attrNameLst>
                                          <p:attrName>ppt_x</p:attrName>
                                        </p:attrNameLst>
                                      </p:cBhvr>
                                      <p:tavLst>
                                        <p:tav tm="0">
                                          <p:val>
                                            <p:strVal val="#ppt_x"/>
                                          </p:val>
                                        </p:tav>
                                        <p:tav tm="100000">
                                          <p:val>
                                            <p:strVal val="#ppt_x"/>
                                          </p:val>
                                        </p:tav>
                                      </p:tavLst>
                                    </p:anim>
                                    <p:anim calcmode="lin" valueType="num">
                                      <p:cBhvr>
                                        <p:cTn id="83" dur="1000" fill="hold"/>
                                        <p:tgtEl>
                                          <p:spTgt spid="161"/>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106"/>
                                        </p:tgtEl>
                                        <p:attrNameLst>
                                          <p:attrName>style.visibility</p:attrName>
                                        </p:attrNameLst>
                                      </p:cBhvr>
                                      <p:to>
                                        <p:strVal val="visible"/>
                                      </p:to>
                                    </p:set>
                                    <p:animEffect transition="in" filter="fade">
                                      <p:cBhvr>
                                        <p:cTn id="86" dur="1000"/>
                                        <p:tgtEl>
                                          <p:spTgt spid="106"/>
                                        </p:tgtEl>
                                      </p:cBhvr>
                                    </p:animEffect>
                                    <p:anim calcmode="lin" valueType="num">
                                      <p:cBhvr>
                                        <p:cTn id="87" dur="1000" fill="hold"/>
                                        <p:tgtEl>
                                          <p:spTgt spid="106"/>
                                        </p:tgtEl>
                                        <p:attrNameLst>
                                          <p:attrName>ppt_x</p:attrName>
                                        </p:attrNameLst>
                                      </p:cBhvr>
                                      <p:tavLst>
                                        <p:tav tm="0">
                                          <p:val>
                                            <p:strVal val="#ppt_x"/>
                                          </p:val>
                                        </p:tav>
                                        <p:tav tm="100000">
                                          <p:val>
                                            <p:strVal val="#ppt_x"/>
                                          </p:val>
                                        </p:tav>
                                      </p:tavLst>
                                    </p:anim>
                                    <p:anim calcmode="lin" valueType="num">
                                      <p:cBhvr>
                                        <p:cTn id="88" dur="1000" fill="hold"/>
                                        <p:tgtEl>
                                          <p:spTgt spid="106"/>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114"/>
                                        </p:tgtEl>
                                        <p:attrNameLst>
                                          <p:attrName>style.visibility</p:attrName>
                                        </p:attrNameLst>
                                      </p:cBhvr>
                                      <p:to>
                                        <p:strVal val="visible"/>
                                      </p:to>
                                    </p:set>
                                    <p:animEffect transition="in" filter="fade">
                                      <p:cBhvr>
                                        <p:cTn id="91" dur="1000"/>
                                        <p:tgtEl>
                                          <p:spTgt spid="114"/>
                                        </p:tgtEl>
                                      </p:cBhvr>
                                    </p:animEffect>
                                    <p:anim calcmode="lin" valueType="num">
                                      <p:cBhvr>
                                        <p:cTn id="92" dur="1000" fill="hold"/>
                                        <p:tgtEl>
                                          <p:spTgt spid="114"/>
                                        </p:tgtEl>
                                        <p:attrNameLst>
                                          <p:attrName>ppt_x</p:attrName>
                                        </p:attrNameLst>
                                      </p:cBhvr>
                                      <p:tavLst>
                                        <p:tav tm="0">
                                          <p:val>
                                            <p:strVal val="#ppt_x"/>
                                          </p:val>
                                        </p:tav>
                                        <p:tav tm="100000">
                                          <p:val>
                                            <p:strVal val="#ppt_x"/>
                                          </p:val>
                                        </p:tav>
                                      </p:tavLst>
                                    </p:anim>
                                    <p:anim calcmode="lin" valueType="num">
                                      <p:cBhvr>
                                        <p:cTn id="93" dur="1000" fill="hold"/>
                                        <p:tgtEl>
                                          <p:spTgt spid="114"/>
                                        </p:tgtEl>
                                        <p:attrNameLst>
                                          <p:attrName>ppt_y</p:attrName>
                                        </p:attrNameLst>
                                      </p:cBhvr>
                                      <p:tavLst>
                                        <p:tav tm="0">
                                          <p:val>
                                            <p:strVal val="#ppt_y+.1"/>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163"/>
                                        </p:tgtEl>
                                        <p:attrNameLst>
                                          <p:attrName>style.visibility</p:attrName>
                                        </p:attrNameLst>
                                      </p:cBhvr>
                                      <p:to>
                                        <p:strVal val="visible"/>
                                      </p:to>
                                    </p:set>
                                    <p:animEffect transition="in" filter="fade">
                                      <p:cBhvr>
                                        <p:cTn id="96" dur="1000"/>
                                        <p:tgtEl>
                                          <p:spTgt spid="163"/>
                                        </p:tgtEl>
                                      </p:cBhvr>
                                    </p:animEffect>
                                    <p:anim calcmode="lin" valueType="num">
                                      <p:cBhvr>
                                        <p:cTn id="97" dur="1000" fill="hold"/>
                                        <p:tgtEl>
                                          <p:spTgt spid="163"/>
                                        </p:tgtEl>
                                        <p:attrNameLst>
                                          <p:attrName>ppt_x</p:attrName>
                                        </p:attrNameLst>
                                      </p:cBhvr>
                                      <p:tavLst>
                                        <p:tav tm="0">
                                          <p:val>
                                            <p:strVal val="#ppt_x"/>
                                          </p:val>
                                        </p:tav>
                                        <p:tav tm="100000">
                                          <p:val>
                                            <p:strVal val="#ppt_x"/>
                                          </p:val>
                                        </p:tav>
                                      </p:tavLst>
                                    </p:anim>
                                    <p:anim calcmode="lin" valueType="num">
                                      <p:cBhvr>
                                        <p:cTn id="98" dur="1000" fill="hold"/>
                                        <p:tgtEl>
                                          <p:spTgt spid="163"/>
                                        </p:tgtEl>
                                        <p:attrNameLst>
                                          <p:attrName>ppt_y</p:attrName>
                                        </p:attrNameLst>
                                      </p:cBhvr>
                                      <p:tavLst>
                                        <p:tav tm="0">
                                          <p:val>
                                            <p:strVal val="#ppt_y+.1"/>
                                          </p:val>
                                        </p:tav>
                                        <p:tav tm="100000">
                                          <p:val>
                                            <p:strVal val="#ppt_y"/>
                                          </p:val>
                                        </p:tav>
                                      </p:tavLst>
                                    </p:anim>
                                  </p:childTnLst>
                                </p:cTn>
                              </p:par>
                              <p:par>
                                <p:cTn id="99" presetID="42" presetClass="entr" presetSubtype="0" fill="hold" nodeType="withEffect">
                                  <p:stCondLst>
                                    <p:cond delay="0"/>
                                  </p:stCondLst>
                                  <p:childTnLst>
                                    <p:set>
                                      <p:cBhvr>
                                        <p:cTn id="100" dur="1" fill="hold">
                                          <p:stCondLst>
                                            <p:cond delay="0"/>
                                          </p:stCondLst>
                                        </p:cTn>
                                        <p:tgtEl>
                                          <p:spTgt spid="115"/>
                                        </p:tgtEl>
                                        <p:attrNameLst>
                                          <p:attrName>style.visibility</p:attrName>
                                        </p:attrNameLst>
                                      </p:cBhvr>
                                      <p:to>
                                        <p:strVal val="visible"/>
                                      </p:to>
                                    </p:set>
                                    <p:animEffect transition="in" filter="fade">
                                      <p:cBhvr>
                                        <p:cTn id="101" dur="1000"/>
                                        <p:tgtEl>
                                          <p:spTgt spid="115"/>
                                        </p:tgtEl>
                                      </p:cBhvr>
                                    </p:animEffect>
                                    <p:anim calcmode="lin" valueType="num">
                                      <p:cBhvr>
                                        <p:cTn id="102" dur="1000" fill="hold"/>
                                        <p:tgtEl>
                                          <p:spTgt spid="115"/>
                                        </p:tgtEl>
                                        <p:attrNameLst>
                                          <p:attrName>ppt_x</p:attrName>
                                        </p:attrNameLst>
                                      </p:cBhvr>
                                      <p:tavLst>
                                        <p:tav tm="0">
                                          <p:val>
                                            <p:strVal val="#ppt_x"/>
                                          </p:val>
                                        </p:tav>
                                        <p:tav tm="100000">
                                          <p:val>
                                            <p:strVal val="#ppt_x"/>
                                          </p:val>
                                        </p:tav>
                                      </p:tavLst>
                                    </p:anim>
                                    <p:anim calcmode="lin" valueType="num">
                                      <p:cBhvr>
                                        <p:cTn id="103" dur="1000" fill="hold"/>
                                        <p:tgtEl>
                                          <p:spTgt spid="115"/>
                                        </p:tgtEl>
                                        <p:attrNameLst>
                                          <p:attrName>ppt_y</p:attrName>
                                        </p:attrNameLst>
                                      </p:cBhvr>
                                      <p:tavLst>
                                        <p:tav tm="0">
                                          <p:val>
                                            <p:strVal val="#ppt_y+.1"/>
                                          </p:val>
                                        </p:tav>
                                        <p:tav tm="100000">
                                          <p:val>
                                            <p:strVal val="#ppt_y"/>
                                          </p:val>
                                        </p:tav>
                                      </p:tavLst>
                                    </p:anim>
                                  </p:childTnLst>
                                </p:cTn>
                              </p:par>
                              <p:par>
                                <p:cTn id="104" presetID="42" presetClass="entr" presetSubtype="0" fill="hold" nodeType="withEffect">
                                  <p:stCondLst>
                                    <p:cond delay="0"/>
                                  </p:stCondLst>
                                  <p:childTnLst>
                                    <p:set>
                                      <p:cBhvr>
                                        <p:cTn id="105" dur="1" fill="hold">
                                          <p:stCondLst>
                                            <p:cond delay="0"/>
                                          </p:stCondLst>
                                        </p:cTn>
                                        <p:tgtEl>
                                          <p:spTgt spid="173"/>
                                        </p:tgtEl>
                                        <p:attrNameLst>
                                          <p:attrName>style.visibility</p:attrName>
                                        </p:attrNameLst>
                                      </p:cBhvr>
                                      <p:to>
                                        <p:strVal val="visible"/>
                                      </p:to>
                                    </p:set>
                                    <p:animEffect transition="in" filter="fade">
                                      <p:cBhvr>
                                        <p:cTn id="106" dur="1000"/>
                                        <p:tgtEl>
                                          <p:spTgt spid="173"/>
                                        </p:tgtEl>
                                      </p:cBhvr>
                                    </p:animEffect>
                                    <p:anim calcmode="lin" valueType="num">
                                      <p:cBhvr>
                                        <p:cTn id="107" dur="1000" fill="hold"/>
                                        <p:tgtEl>
                                          <p:spTgt spid="173"/>
                                        </p:tgtEl>
                                        <p:attrNameLst>
                                          <p:attrName>ppt_x</p:attrName>
                                        </p:attrNameLst>
                                      </p:cBhvr>
                                      <p:tavLst>
                                        <p:tav tm="0">
                                          <p:val>
                                            <p:strVal val="#ppt_x"/>
                                          </p:val>
                                        </p:tav>
                                        <p:tav tm="100000">
                                          <p:val>
                                            <p:strVal val="#ppt_x"/>
                                          </p:val>
                                        </p:tav>
                                      </p:tavLst>
                                    </p:anim>
                                    <p:anim calcmode="lin" valueType="num">
                                      <p:cBhvr>
                                        <p:cTn id="108" dur="1000" fill="hold"/>
                                        <p:tgtEl>
                                          <p:spTgt spid="173"/>
                                        </p:tgtEl>
                                        <p:attrNameLst>
                                          <p:attrName>ppt_y</p:attrName>
                                        </p:attrNameLst>
                                      </p:cBhvr>
                                      <p:tavLst>
                                        <p:tav tm="0">
                                          <p:val>
                                            <p:strVal val="#ppt_y+.1"/>
                                          </p:val>
                                        </p:tav>
                                        <p:tav tm="100000">
                                          <p:val>
                                            <p:strVal val="#ppt_y"/>
                                          </p:val>
                                        </p:tav>
                                      </p:tavLst>
                                    </p:anim>
                                  </p:childTnLst>
                                </p:cTn>
                              </p:par>
                              <p:par>
                                <p:cTn id="109" presetID="42" presetClass="entr" presetSubtype="0" fill="hold" grpId="0" nodeType="withEffect">
                                  <p:stCondLst>
                                    <p:cond delay="0"/>
                                  </p:stCondLst>
                                  <p:childTnLst>
                                    <p:set>
                                      <p:cBhvr>
                                        <p:cTn id="110" dur="1" fill="hold">
                                          <p:stCondLst>
                                            <p:cond delay="0"/>
                                          </p:stCondLst>
                                        </p:cTn>
                                        <p:tgtEl>
                                          <p:spTgt spid="164"/>
                                        </p:tgtEl>
                                        <p:attrNameLst>
                                          <p:attrName>style.visibility</p:attrName>
                                        </p:attrNameLst>
                                      </p:cBhvr>
                                      <p:to>
                                        <p:strVal val="visible"/>
                                      </p:to>
                                    </p:set>
                                    <p:animEffect transition="in" filter="fade">
                                      <p:cBhvr>
                                        <p:cTn id="111" dur="1000"/>
                                        <p:tgtEl>
                                          <p:spTgt spid="164"/>
                                        </p:tgtEl>
                                      </p:cBhvr>
                                    </p:animEffect>
                                    <p:anim calcmode="lin" valueType="num">
                                      <p:cBhvr>
                                        <p:cTn id="112" dur="1000" fill="hold"/>
                                        <p:tgtEl>
                                          <p:spTgt spid="164"/>
                                        </p:tgtEl>
                                        <p:attrNameLst>
                                          <p:attrName>ppt_x</p:attrName>
                                        </p:attrNameLst>
                                      </p:cBhvr>
                                      <p:tavLst>
                                        <p:tav tm="0">
                                          <p:val>
                                            <p:strVal val="#ppt_x"/>
                                          </p:val>
                                        </p:tav>
                                        <p:tav tm="100000">
                                          <p:val>
                                            <p:strVal val="#ppt_x"/>
                                          </p:val>
                                        </p:tav>
                                      </p:tavLst>
                                    </p:anim>
                                    <p:anim calcmode="lin" valueType="num">
                                      <p:cBhvr>
                                        <p:cTn id="113" dur="1000" fill="hold"/>
                                        <p:tgtEl>
                                          <p:spTgt spid="164"/>
                                        </p:tgtEl>
                                        <p:attrNameLst>
                                          <p:attrName>ppt_y</p:attrName>
                                        </p:attrNameLst>
                                      </p:cBhvr>
                                      <p:tavLst>
                                        <p:tav tm="0">
                                          <p:val>
                                            <p:strVal val="#ppt_y+.1"/>
                                          </p:val>
                                        </p:tav>
                                        <p:tav tm="100000">
                                          <p:val>
                                            <p:strVal val="#ppt_y"/>
                                          </p:val>
                                        </p:tav>
                                      </p:tavLst>
                                    </p:anim>
                                  </p:childTnLst>
                                </p:cTn>
                              </p:par>
                              <p:par>
                                <p:cTn id="114" presetID="42" presetClass="entr" presetSubtype="0" fill="hold" nodeType="withEffect">
                                  <p:stCondLst>
                                    <p:cond delay="0"/>
                                  </p:stCondLst>
                                  <p:childTnLst>
                                    <p:set>
                                      <p:cBhvr>
                                        <p:cTn id="115" dur="1" fill="hold">
                                          <p:stCondLst>
                                            <p:cond delay="0"/>
                                          </p:stCondLst>
                                        </p:cTn>
                                        <p:tgtEl>
                                          <p:spTgt spid="110"/>
                                        </p:tgtEl>
                                        <p:attrNameLst>
                                          <p:attrName>style.visibility</p:attrName>
                                        </p:attrNameLst>
                                      </p:cBhvr>
                                      <p:to>
                                        <p:strVal val="visible"/>
                                      </p:to>
                                    </p:set>
                                    <p:animEffect transition="in" filter="fade">
                                      <p:cBhvr>
                                        <p:cTn id="116" dur="1000"/>
                                        <p:tgtEl>
                                          <p:spTgt spid="110"/>
                                        </p:tgtEl>
                                      </p:cBhvr>
                                    </p:animEffect>
                                    <p:anim calcmode="lin" valueType="num">
                                      <p:cBhvr>
                                        <p:cTn id="117" dur="1000" fill="hold"/>
                                        <p:tgtEl>
                                          <p:spTgt spid="110"/>
                                        </p:tgtEl>
                                        <p:attrNameLst>
                                          <p:attrName>ppt_x</p:attrName>
                                        </p:attrNameLst>
                                      </p:cBhvr>
                                      <p:tavLst>
                                        <p:tav tm="0">
                                          <p:val>
                                            <p:strVal val="#ppt_x"/>
                                          </p:val>
                                        </p:tav>
                                        <p:tav tm="100000">
                                          <p:val>
                                            <p:strVal val="#ppt_x"/>
                                          </p:val>
                                        </p:tav>
                                      </p:tavLst>
                                    </p:anim>
                                    <p:anim calcmode="lin" valueType="num">
                                      <p:cBhvr>
                                        <p:cTn id="118" dur="1000" fill="hold"/>
                                        <p:tgtEl>
                                          <p:spTgt spid="110"/>
                                        </p:tgtEl>
                                        <p:attrNameLst>
                                          <p:attrName>ppt_y</p:attrName>
                                        </p:attrNameLst>
                                      </p:cBhvr>
                                      <p:tavLst>
                                        <p:tav tm="0">
                                          <p:val>
                                            <p:strVal val="#ppt_y+.1"/>
                                          </p:val>
                                        </p:tav>
                                        <p:tav tm="100000">
                                          <p:val>
                                            <p:strVal val="#ppt_y"/>
                                          </p:val>
                                        </p:tav>
                                      </p:tavLst>
                                    </p:anim>
                                  </p:childTnLst>
                                </p:cTn>
                              </p:par>
                              <p:par>
                                <p:cTn id="119" presetID="42" presetClass="entr" presetSubtype="0" fill="hold" nodeType="withEffect">
                                  <p:stCondLst>
                                    <p:cond delay="0"/>
                                  </p:stCondLst>
                                  <p:childTnLst>
                                    <p:set>
                                      <p:cBhvr>
                                        <p:cTn id="120" dur="1" fill="hold">
                                          <p:stCondLst>
                                            <p:cond delay="0"/>
                                          </p:stCondLst>
                                        </p:cTn>
                                        <p:tgtEl>
                                          <p:spTgt spid="116"/>
                                        </p:tgtEl>
                                        <p:attrNameLst>
                                          <p:attrName>style.visibility</p:attrName>
                                        </p:attrNameLst>
                                      </p:cBhvr>
                                      <p:to>
                                        <p:strVal val="visible"/>
                                      </p:to>
                                    </p:set>
                                    <p:animEffect transition="in" filter="fade">
                                      <p:cBhvr>
                                        <p:cTn id="121" dur="1000"/>
                                        <p:tgtEl>
                                          <p:spTgt spid="116"/>
                                        </p:tgtEl>
                                      </p:cBhvr>
                                    </p:animEffect>
                                    <p:anim calcmode="lin" valueType="num">
                                      <p:cBhvr>
                                        <p:cTn id="122" dur="1000" fill="hold"/>
                                        <p:tgtEl>
                                          <p:spTgt spid="116"/>
                                        </p:tgtEl>
                                        <p:attrNameLst>
                                          <p:attrName>ppt_x</p:attrName>
                                        </p:attrNameLst>
                                      </p:cBhvr>
                                      <p:tavLst>
                                        <p:tav tm="0">
                                          <p:val>
                                            <p:strVal val="#ppt_x"/>
                                          </p:val>
                                        </p:tav>
                                        <p:tav tm="100000">
                                          <p:val>
                                            <p:strVal val="#ppt_x"/>
                                          </p:val>
                                        </p:tav>
                                      </p:tavLst>
                                    </p:anim>
                                    <p:anim calcmode="lin" valueType="num">
                                      <p:cBhvr>
                                        <p:cTn id="123" dur="1000" fill="hold"/>
                                        <p:tgtEl>
                                          <p:spTgt spid="116"/>
                                        </p:tgtEl>
                                        <p:attrNameLst>
                                          <p:attrName>ppt_y</p:attrName>
                                        </p:attrNameLst>
                                      </p:cBhvr>
                                      <p:tavLst>
                                        <p:tav tm="0">
                                          <p:val>
                                            <p:strVal val="#ppt_y+.1"/>
                                          </p:val>
                                        </p:tav>
                                        <p:tav tm="100000">
                                          <p:val>
                                            <p:strVal val="#ppt_y"/>
                                          </p:val>
                                        </p:tav>
                                      </p:tavLst>
                                    </p:anim>
                                  </p:childTnLst>
                                </p:cTn>
                              </p:par>
                              <p:par>
                                <p:cTn id="124" presetID="42" presetClass="entr" presetSubtype="0" fill="hold" nodeType="withEffect">
                                  <p:stCondLst>
                                    <p:cond delay="0"/>
                                  </p:stCondLst>
                                  <p:childTnLst>
                                    <p:set>
                                      <p:cBhvr>
                                        <p:cTn id="125" dur="1" fill="hold">
                                          <p:stCondLst>
                                            <p:cond delay="0"/>
                                          </p:stCondLst>
                                        </p:cTn>
                                        <p:tgtEl>
                                          <p:spTgt spid="117"/>
                                        </p:tgtEl>
                                        <p:attrNameLst>
                                          <p:attrName>style.visibility</p:attrName>
                                        </p:attrNameLst>
                                      </p:cBhvr>
                                      <p:to>
                                        <p:strVal val="visible"/>
                                      </p:to>
                                    </p:set>
                                    <p:animEffect transition="in" filter="fade">
                                      <p:cBhvr>
                                        <p:cTn id="126" dur="1000"/>
                                        <p:tgtEl>
                                          <p:spTgt spid="117"/>
                                        </p:tgtEl>
                                      </p:cBhvr>
                                    </p:animEffect>
                                    <p:anim calcmode="lin" valueType="num">
                                      <p:cBhvr>
                                        <p:cTn id="127" dur="1000" fill="hold"/>
                                        <p:tgtEl>
                                          <p:spTgt spid="117"/>
                                        </p:tgtEl>
                                        <p:attrNameLst>
                                          <p:attrName>ppt_x</p:attrName>
                                        </p:attrNameLst>
                                      </p:cBhvr>
                                      <p:tavLst>
                                        <p:tav tm="0">
                                          <p:val>
                                            <p:strVal val="#ppt_x"/>
                                          </p:val>
                                        </p:tav>
                                        <p:tav tm="100000">
                                          <p:val>
                                            <p:strVal val="#ppt_x"/>
                                          </p:val>
                                        </p:tav>
                                      </p:tavLst>
                                    </p:anim>
                                    <p:anim calcmode="lin" valueType="num">
                                      <p:cBhvr>
                                        <p:cTn id="128" dur="1000" fill="hold"/>
                                        <p:tgtEl>
                                          <p:spTgt spid="117"/>
                                        </p:tgtEl>
                                        <p:attrNameLst>
                                          <p:attrName>ppt_y</p:attrName>
                                        </p:attrNameLst>
                                      </p:cBhvr>
                                      <p:tavLst>
                                        <p:tav tm="0">
                                          <p:val>
                                            <p:strVal val="#ppt_y+.1"/>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22" presetClass="entr" presetSubtype="4" fill="hold" nodeType="clickEffect">
                                  <p:stCondLst>
                                    <p:cond delay="0"/>
                                  </p:stCondLst>
                                  <p:childTnLst>
                                    <p:set>
                                      <p:cBhvr>
                                        <p:cTn id="132" dur="1" fill="hold">
                                          <p:stCondLst>
                                            <p:cond delay="0"/>
                                          </p:stCondLst>
                                        </p:cTn>
                                        <p:tgtEl>
                                          <p:spTgt spid="127"/>
                                        </p:tgtEl>
                                        <p:attrNameLst>
                                          <p:attrName>style.visibility</p:attrName>
                                        </p:attrNameLst>
                                      </p:cBhvr>
                                      <p:to>
                                        <p:strVal val="visible"/>
                                      </p:to>
                                    </p:set>
                                    <p:animEffect transition="in" filter="wipe(down)">
                                      <p:cBhvr>
                                        <p:cTn id="133" dur="500"/>
                                        <p:tgtEl>
                                          <p:spTgt spid="127"/>
                                        </p:tgtEl>
                                      </p:cBhvr>
                                    </p:animEffect>
                                  </p:childTnLst>
                                </p:cTn>
                              </p:par>
                              <p:par>
                                <p:cTn id="134" presetID="22" presetClass="entr" presetSubtype="4" fill="hold" nodeType="withEffect">
                                  <p:stCondLst>
                                    <p:cond delay="0"/>
                                  </p:stCondLst>
                                  <p:childTnLst>
                                    <p:set>
                                      <p:cBhvr>
                                        <p:cTn id="135" dur="1" fill="hold">
                                          <p:stCondLst>
                                            <p:cond delay="0"/>
                                          </p:stCondLst>
                                        </p:cTn>
                                        <p:tgtEl>
                                          <p:spTgt spid="131"/>
                                        </p:tgtEl>
                                        <p:attrNameLst>
                                          <p:attrName>style.visibility</p:attrName>
                                        </p:attrNameLst>
                                      </p:cBhvr>
                                      <p:to>
                                        <p:strVal val="visible"/>
                                      </p:to>
                                    </p:set>
                                    <p:animEffect transition="in" filter="wipe(down)">
                                      <p:cBhvr>
                                        <p:cTn id="136" dur="500"/>
                                        <p:tgtEl>
                                          <p:spTgt spid="131"/>
                                        </p:tgtEl>
                                      </p:cBhvr>
                                    </p:animEffect>
                                  </p:childTnLst>
                                </p:cTn>
                              </p:par>
                              <p:par>
                                <p:cTn id="137" presetID="22" presetClass="entr" presetSubtype="4"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animEffect transition="in" filter="wipe(down)">
                                      <p:cBhvr>
                                        <p:cTn id="139" dur="500"/>
                                        <p:tgtEl>
                                          <p:spTgt spid="135"/>
                                        </p:tgtEl>
                                      </p:cBhvr>
                                    </p:animEffect>
                                  </p:childTnLst>
                                </p:cTn>
                              </p:par>
                              <p:par>
                                <p:cTn id="140" presetID="22" presetClass="entr" presetSubtype="4" fill="hold" nodeType="withEffect">
                                  <p:stCondLst>
                                    <p:cond delay="0"/>
                                  </p:stCondLst>
                                  <p:childTnLst>
                                    <p:set>
                                      <p:cBhvr>
                                        <p:cTn id="141" dur="1" fill="hold">
                                          <p:stCondLst>
                                            <p:cond delay="0"/>
                                          </p:stCondLst>
                                        </p:cTn>
                                        <p:tgtEl>
                                          <p:spTgt spid="126"/>
                                        </p:tgtEl>
                                        <p:attrNameLst>
                                          <p:attrName>style.visibility</p:attrName>
                                        </p:attrNameLst>
                                      </p:cBhvr>
                                      <p:to>
                                        <p:strVal val="visible"/>
                                      </p:to>
                                    </p:set>
                                    <p:animEffect transition="in" filter="wipe(down)">
                                      <p:cBhvr>
                                        <p:cTn id="142" dur="500"/>
                                        <p:tgtEl>
                                          <p:spTgt spid="126"/>
                                        </p:tgtEl>
                                      </p:cBhvr>
                                    </p:animEffect>
                                  </p:childTnLst>
                                </p:cTn>
                              </p:par>
                              <p:par>
                                <p:cTn id="143" presetID="22" presetClass="entr" presetSubtype="4" fill="hold" nodeType="withEffect">
                                  <p:stCondLst>
                                    <p:cond delay="0"/>
                                  </p:stCondLst>
                                  <p:childTnLst>
                                    <p:set>
                                      <p:cBhvr>
                                        <p:cTn id="144" dur="1" fill="hold">
                                          <p:stCondLst>
                                            <p:cond delay="0"/>
                                          </p:stCondLst>
                                        </p:cTn>
                                        <p:tgtEl>
                                          <p:spTgt spid="125"/>
                                        </p:tgtEl>
                                        <p:attrNameLst>
                                          <p:attrName>style.visibility</p:attrName>
                                        </p:attrNameLst>
                                      </p:cBhvr>
                                      <p:to>
                                        <p:strVal val="visible"/>
                                      </p:to>
                                    </p:set>
                                    <p:animEffect transition="in" filter="wipe(down)">
                                      <p:cBhvr>
                                        <p:cTn id="145" dur="500"/>
                                        <p:tgtEl>
                                          <p:spTgt spid="125"/>
                                        </p:tgtEl>
                                      </p:cBhvr>
                                    </p:animEffect>
                                  </p:childTnLst>
                                </p:cTn>
                              </p:par>
                              <p:par>
                                <p:cTn id="146" presetID="22" presetClass="entr" presetSubtype="4" fill="hold" nodeType="withEffect">
                                  <p:stCondLst>
                                    <p:cond delay="0"/>
                                  </p:stCondLst>
                                  <p:childTnLst>
                                    <p:set>
                                      <p:cBhvr>
                                        <p:cTn id="147" dur="1" fill="hold">
                                          <p:stCondLst>
                                            <p:cond delay="0"/>
                                          </p:stCondLst>
                                        </p:cTn>
                                        <p:tgtEl>
                                          <p:spTgt spid="124"/>
                                        </p:tgtEl>
                                        <p:attrNameLst>
                                          <p:attrName>style.visibility</p:attrName>
                                        </p:attrNameLst>
                                      </p:cBhvr>
                                      <p:to>
                                        <p:strVal val="visible"/>
                                      </p:to>
                                    </p:set>
                                    <p:animEffect transition="in" filter="wipe(down)">
                                      <p:cBhvr>
                                        <p:cTn id="148" dur="500"/>
                                        <p:tgtEl>
                                          <p:spTgt spid="124"/>
                                        </p:tgtEl>
                                      </p:cBhvr>
                                    </p:animEffect>
                                  </p:childTnLst>
                                </p:cTn>
                              </p:par>
                              <p:par>
                                <p:cTn id="149" presetID="22" presetClass="entr" presetSubtype="4" fill="hold" grpId="0" nodeType="withEffect">
                                  <p:stCondLst>
                                    <p:cond delay="0"/>
                                  </p:stCondLst>
                                  <p:childTnLst>
                                    <p:set>
                                      <p:cBhvr>
                                        <p:cTn id="150" dur="1" fill="hold">
                                          <p:stCondLst>
                                            <p:cond delay="0"/>
                                          </p:stCondLst>
                                        </p:cTn>
                                        <p:tgtEl>
                                          <p:spTgt spid="166"/>
                                        </p:tgtEl>
                                        <p:attrNameLst>
                                          <p:attrName>style.visibility</p:attrName>
                                        </p:attrNameLst>
                                      </p:cBhvr>
                                      <p:to>
                                        <p:strVal val="visible"/>
                                      </p:to>
                                    </p:set>
                                    <p:animEffect transition="in" filter="wipe(down)">
                                      <p:cBhvr>
                                        <p:cTn id="151" dur="500"/>
                                        <p:tgtEl>
                                          <p:spTgt spid="166"/>
                                        </p:tgtEl>
                                      </p:cBhvr>
                                    </p:animEffect>
                                  </p:childTnLst>
                                </p:cTn>
                              </p:par>
                              <p:par>
                                <p:cTn id="152" presetID="22" presetClass="entr" presetSubtype="4" fill="hold" nodeType="withEffect">
                                  <p:stCondLst>
                                    <p:cond delay="0"/>
                                  </p:stCondLst>
                                  <p:childTnLst>
                                    <p:set>
                                      <p:cBhvr>
                                        <p:cTn id="153" dur="1" fill="hold">
                                          <p:stCondLst>
                                            <p:cond delay="0"/>
                                          </p:stCondLst>
                                        </p:cTn>
                                        <p:tgtEl>
                                          <p:spTgt spid="130"/>
                                        </p:tgtEl>
                                        <p:attrNameLst>
                                          <p:attrName>style.visibility</p:attrName>
                                        </p:attrNameLst>
                                      </p:cBhvr>
                                      <p:to>
                                        <p:strVal val="visible"/>
                                      </p:to>
                                    </p:set>
                                    <p:animEffect transition="in" filter="wipe(down)">
                                      <p:cBhvr>
                                        <p:cTn id="154" dur="500"/>
                                        <p:tgtEl>
                                          <p:spTgt spid="130"/>
                                        </p:tgtEl>
                                      </p:cBhvr>
                                    </p:animEffect>
                                  </p:childTnLst>
                                </p:cTn>
                              </p:par>
                              <p:par>
                                <p:cTn id="155" presetID="22" presetClass="entr" presetSubtype="4" fill="hold" nodeType="withEffect">
                                  <p:stCondLst>
                                    <p:cond delay="0"/>
                                  </p:stCondLst>
                                  <p:childTnLst>
                                    <p:set>
                                      <p:cBhvr>
                                        <p:cTn id="156" dur="1" fill="hold">
                                          <p:stCondLst>
                                            <p:cond delay="0"/>
                                          </p:stCondLst>
                                        </p:cTn>
                                        <p:tgtEl>
                                          <p:spTgt spid="129"/>
                                        </p:tgtEl>
                                        <p:attrNameLst>
                                          <p:attrName>style.visibility</p:attrName>
                                        </p:attrNameLst>
                                      </p:cBhvr>
                                      <p:to>
                                        <p:strVal val="visible"/>
                                      </p:to>
                                    </p:set>
                                    <p:animEffect transition="in" filter="wipe(down)">
                                      <p:cBhvr>
                                        <p:cTn id="157" dur="500"/>
                                        <p:tgtEl>
                                          <p:spTgt spid="129"/>
                                        </p:tgtEl>
                                      </p:cBhvr>
                                    </p:animEffect>
                                  </p:childTnLst>
                                </p:cTn>
                              </p:par>
                              <p:par>
                                <p:cTn id="158" presetID="22" presetClass="entr" presetSubtype="4" fill="hold" nodeType="withEffect">
                                  <p:stCondLst>
                                    <p:cond delay="0"/>
                                  </p:stCondLst>
                                  <p:childTnLst>
                                    <p:set>
                                      <p:cBhvr>
                                        <p:cTn id="159" dur="1" fill="hold">
                                          <p:stCondLst>
                                            <p:cond delay="0"/>
                                          </p:stCondLst>
                                        </p:cTn>
                                        <p:tgtEl>
                                          <p:spTgt spid="128"/>
                                        </p:tgtEl>
                                        <p:attrNameLst>
                                          <p:attrName>style.visibility</p:attrName>
                                        </p:attrNameLst>
                                      </p:cBhvr>
                                      <p:to>
                                        <p:strVal val="visible"/>
                                      </p:to>
                                    </p:set>
                                    <p:animEffect transition="in" filter="wipe(down)">
                                      <p:cBhvr>
                                        <p:cTn id="160" dur="500"/>
                                        <p:tgtEl>
                                          <p:spTgt spid="128"/>
                                        </p:tgtEl>
                                      </p:cBhvr>
                                    </p:animEffect>
                                  </p:childTnLst>
                                </p:cTn>
                              </p:par>
                              <p:par>
                                <p:cTn id="161" presetID="22" presetClass="entr" presetSubtype="4" fill="hold" grpId="0" nodeType="withEffect">
                                  <p:stCondLst>
                                    <p:cond delay="0"/>
                                  </p:stCondLst>
                                  <p:childTnLst>
                                    <p:set>
                                      <p:cBhvr>
                                        <p:cTn id="162" dur="1" fill="hold">
                                          <p:stCondLst>
                                            <p:cond delay="0"/>
                                          </p:stCondLst>
                                        </p:cTn>
                                        <p:tgtEl>
                                          <p:spTgt spid="167"/>
                                        </p:tgtEl>
                                        <p:attrNameLst>
                                          <p:attrName>style.visibility</p:attrName>
                                        </p:attrNameLst>
                                      </p:cBhvr>
                                      <p:to>
                                        <p:strVal val="visible"/>
                                      </p:to>
                                    </p:set>
                                    <p:animEffect transition="in" filter="wipe(down)">
                                      <p:cBhvr>
                                        <p:cTn id="163" dur="500"/>
                                        <p:tgtEl>
                                          <p:spTgt spid="167"/>
                                        </p:tgtEl>
                                      </p:cBhvr>
                                    </p:animEffect>
                                  </p:childTnLst>
                                </p:cTn>
                              </p:par>
                              <p:par>
                                <p:cTn id="164" presetID="22" presetClass="entr" presetSubtype="4" fill="hold" grpId="0" nodeType="withEffect">
                                  <p:stCondLst>
                                    <p:cond delay="0"/>
                                  </p:stCondLst>
                                  <p:childTnLst>
                                    <p:set>
                                      <p:cBhvr>
                                        <p:cTn id="165" dur="1" fill="hold">
                                          <p:stCondLst>
                                            <p:cond delay="0"/>
                                          </p:stCondLst>
                                        </p:cTn>
                                        <p:tgtEl>
                                          <p:spTgt spid="168"/>
                                        </p:tgtEl>
                                        <p:attrNameLst>
                                          <p:attrName>style.visibility</p:attrName>
                                        </p:attrNameLst>
                                      </p:cBhvr>
                                      <p:to>
                                        <p:strVal val="visible"/>
                                      </p:to>
                                    </p:set>
                                    <p:animEffect transition="in" filter="wipe(down)">
                                      <p:cBhvr>
                                        <p:cTn id="166" dur="500"/>
                                        <p:tgtEl>
                                          <p:spTgt spid="168"/>
                                        </p:tgtEl>
                                      </p:cBhvr>
                                    </p:animEffect>
                                  </p:childTnLst>
                                </p:cTn>
                              </p:par>
                              <p:par>
                                <p:cTn id="167" presetID="22" presetClass="entr" presetSubtype="4" fill="hold" nodeType="withEffect">
                                  <p:stCondLst>
                                    <p:cond delay="0"/>
                                  </p:stCondLst>
                                  <p:childTnLst>
                                    <p:set>
                                      <p:cBhvr>
                                        <p:cTn id="168" dur="1" fill="hold">
                                          <p:stCondLst>
                                            <p:cond delay="0"/>
                                          </p:stCondLst>
                                        </p:cTn>
                                        <p:tgtEl>
                                          <p:spTgt spid="134"/>
                                        </p:tgtEl>
                                        <p:attrNameLst>
                                          <p:attrName>style.visibility</p:attrName>
                                        </p:attrNameLst>
                                      </p:cBhvr>
                                      <p:to>
                                        <p:strVal val="visible"/>
                                      </p:to>
                                    </p:set>
                                    <p:animEffect transition="in" filter="wipe(down)">
                                      <p:cBhvr>
                                        <p:cTn id="169" dur="500"/>
                                        <p:tgtEl>
                                          <p:spTgt spid="134"/>
                                        </p:tgtEl>
                                      </p:cBhvr>
                                    </p:animEffect>
                                  </p:childTnLst>
                                </p:cTn>
                              </p:par>
                              <p:par>
                                <p:cTn id="170" presetID="22" presetClass="entr" presetSubtype="4" fill="hold" nodeType="withEffect">
                                  <p:stCondLst>
                                    <p:cond delay="0"/>
                                  </p:stCondLst>
                                  <p:childTnLst>
                                    <p:set>
                                      <p:cBhvr>
                                        <p:cTn id="171" dur="1" fill="hold">
                                          <p:stCondLst>
                                            <p:cond delay="0"/>
                                          </p:stCondLst>
                                        </p:cTn>
                                        <p:tgtEl>
                                          <p:spTgt spid="133"/>
                                        </p:tgtEl>
                                        <p:attrNameLst>
                                          <p:attrName>style.visibility</p:attrName>
                                        </p:attrNameLst>
                                      </p:cBhvr>
                                      <p:to>
                                        <p:strVal val="visible"/>
                                      </p:to>
                                    </p:set>
                                    <p:animEffect transition="in" filter="wipe(down)">
                                      <p:cBhvr>
                                        <p:cTn id="172" dur="500"/>
                                        <p:tgtEl>
                                          <p:spTgt spid="133"/>
                                        </p:tgtEl>
                                      </p:cBhvr>
                                    </p:animEffect>
                                  </p:childTnLst>
                                </p:cTn>
                              </p:par>
                              <p:par>
                                <p:cTn id="173" presetID="22" presetClass="entr" presetSubtype="4" fill="hold" nodeType="withEffect">
                                  <p:stCondLst>
                                    <p:cond delay="0"/>
                                  </p:stCondLst>
                                  <p:childTnLst>
                                    <p:set>
                                      <p:cBhvr>
                                        <p:cTn id="174" dur="1" fill="hold">
                                          <p:stCondLst>
                                            <p:cond delay="0"/>
                                          </p:stCondLst>
                                        </p:cTn>
                                        <p:tgtEl>
                                          <p:spTgt spid="132"/>
                                        </p:tgtEl>
                                        <p:attrNameLst>
                                          <p:attrName>style.visibility</p:attrName>
                                        </p:attrNameLst>
                                      </p:cBhvr>
                                      <p:to>
                                        <p:strVal val="visible"/>
                                      </p:to>
                                    </p:set>
                                    <p:animEffect transition="in" filter="wipe(down)">
                                      <p:cBhvr>
                                        <p:cTn id="175" dur="500"/>
                                        <p:tgtEl>
                                          <p:spTgt spid="132"/>
                                        </p:tgtEl>
                                      </p:cBhvr>
                                    </p:animEffect>
                                  </p:childTnLst>
                                </p:cTn>
                              </p:par>
                              <p:par>
                                <p:cTn id="176" presetID="22" presetClass="entr" presetSubtype="4" fill="hold" nodeType="withEffect">
                                  <p:stCondLst>
                                    <p:cond delay="0"/>
                                  </p:stCondLst>
                                  <p:childTnLst>
                                    <p:set>
                                      <p:cBhvr>
                                        <p:cTn id="177" dur="1" fill="hold">
                                          <p:stCondLst>
                                            <p:cond delay="0"/>
                                          </p:stCondLst>
                                        </p:cTn>
                                        <p:tgtEl>
                                          <p:spTgt spid="141"/>
                                        </p:tgtEl>
                                        <p:attrNameLst>
                                          <p:attrName>style.visibility</p:attrName>
                                        </p:attrNameLst>
                                      </p:cBhvr>
                                      <p:to>
                                        <p:strVal val="visible"/>
                                      </p:to>
                                    </p:set>
                                    <p:animEffect transition="in" filter="wipe(down)">
                                      <p:cBhvr>
                                        <p:cTn id="178" dur="500"/>
                                        <p:tgtEl>
                                          <p:spTgt spid="141"/>
                                        </p:tgtEl>
                                      </p:cBhvr>
                                    </p:animEffect>
                                  </p:childTnLst>
                                </p:cTn>
                              </p:par>
                              <p:par>
                                <p:cTn id="179" presetID="22" presetClass="entr" presetSubtype="4" fill="hold" nodeType="withEffect">
                                  <p:stCondLst>
                                    <p:cond delay="0"/>
                                  </p:stCondLst>
                                  <p:childTnLst>
                                    <p:set>
                                      <p:cBhvr>
                                        <p:cTn id="180" dur="1" fill="hold">
                                          <p:stCondLst>
                                            <p:cond delay="0"/>
                                          </p:stCondLst>
                                        </p:cTn>
                                        <p:tgtEl>
                                          <p:spTgt spid="140"/>
                                        </p:tgtEl>
                                        <p:attrNameLst>
                                          <p:attrName>style.visibility</p:attrName>
                                        </p:attrNameLst>
                                      </p:cBhvr>
                                      <p:to>
                                        <p:strVal val="visible"/>
                                      </p:to>
                                    </p:set>
                                    <p:animEffect transition="in" filter="wipe(down)">
                                      <p:cBhvr>
                                        <p:cTn id="181" dur="500"/>
                                        <p:tgtEl>
                                          <p:spTgt spid="140"/>
                                        </p:tgtEl>
                                      </p:cBhvr>
                                    </p:animEffect>
                                  </p:childTnLst>
                                </p:cTn>
                              </p:par>
                            </p:childTnLst>
                          </p:cTn>
                        </p:par>
                      </p:childTnLst>
                    </p:cTn>
                  </p:par>
                  <p:par>
                    <p:cTn id="182" fill="hold">
                      <p:stCondLst>
                        <p:cond delay="indefinite"/>
                      </p:stCondLst>
                      <p:childTnLst>
                        <p:par>
                          <p:cTn id="183" fill="hold">
                            <p:stCondLst>
                              <p:cond delay="0"/>
                            </p:stCondLst>
                            <p:childTnLst>
                              <p:par>
                                <p:cTn id="184" presetID="42" presetClass="entr" presetSubtype="0" fill="hold" grpId="0" nodeType="clickEffect">
                                  <p:stCondLst>
                                    <p:cond delay="0"/>
                                  </p:stCondLst>
                                  <p:childTnLst>
                                    <p:set>
                                      <p:cBhvr>
                                        <p:cTn id="185" dur="1" fill="hold">
                                          <p:stCondLst>
                                            <p:cond delay="0"/>
                                          </p:stCondLst>
                                        </p:cTn>
                                        <p:tgtEl>
                                          <p:spTgt spid="165"/>
                                        </p:tgtEl>
                                        <p:attrNameLst>
                                          <p:attrName>style.visibility</p:attrName>
                                        </p:attrNameLst>
                                      </p:cBhvr>
                                      <p:to>
                                        <p:strVal val="visible"/>
                                      </p:to>
                                    </p:set>
                                    <p:animEffect transition="in" filter="fade">
                                      <p:cBhvr>
                                        <p:cTn id="186" dur="1000"/>
                                        <p:tgtEl>
                                          <p:spTgt spid="165"/>
                                        </p:tgtEl>
                                      </p:cBhvr>
                                    </p:animEffect>
                                    <p:anim calcmode="lin" valueType="num">
                                      <p:cBhvr>
                                        <p:cTn id="187" dur="1000" fill="hold"/>
                                        <p:tgtEl>
                                          <p:spTgt spid="165"/>
                                        </p:tgtEl>
                                        <p:attrNameLst>
                                          <p:attrName>ppt_x</p:attrName>
                                        </p:attrNameLst>
                                      </p:cBhvr>
                                      <p:tavLst>
                                        <p:tav tm="0">
                                          <p:val>
                                            <p:strVal val="#ppt_x"/>
                                          </p:val>
                                        </p:tav>
                                        <p:tav tm="100000">
                                          <p:val>
                                            <p:strVal val="#ppt_x"/>
                                          </p:val>
                                        </p:tav>
                                      </p:tavLst>
                                    </p:anim>
                                    <p:anim calcmode="lin" valueType="num">
                                      <p:cBhvr>
                                        <p:cTn id="188" dur="1000" fill="hold"/>
                                        <p:tgtEl>
                                          <p:spTgt spid="165"/>
                                        </p:tgtEl>
                                        <p:attrNameLst>
                                          <p:attrName>ppt_y</p:attrName>
                                        </p:attrNameLst>
                                      </p:cBhvr>
                                      <p:tavLst>
                                        <p:tav tm="0">
                                          <p:val>
                                            <p:strVal val="#ppt_y+.1"/>
                                          </p:val>
                                        </p:tav>
                                        <p:tav tm="100000">
                                          <p:val>
                                            <p:strVal val="#ppt_y"/>
                                          </p:val>
                                        </p:tav>
                                      </p:tavLst>
                                    </p:anim>
                                  </p:childTnLst>
                                </p:cTn>
                              </p:par>
                              <p:par>
                                <p:cTn id="189" presetID="42" presetClass="entr" presetSubtype="0" fill="hold" nodeType="withEffect">
                                  <p:stCondLst>
                                    <p:cond delay="0"/>
                                  </p:stCondLst>
                                  <p:childTnLst>
                                    <p:set>
                                      <p:cBhvr>
                                        <p:cTn id="190" dur="1" fill="hold">
                                          <p:stCondLst>
                                            <p:cond delay="0"/>
                                          </p:stCondLst>
                                        </p:cTn>
                                        <p:tgtEl>
                                          <p:spTgt spid="118"/>
                                        </p:tgtEl>
                                        <p:attrNameLst>
                                          <p:attrName>style.visibility</p:attrName>
                                        </p:attrNameLst>
                                      </p:cBhvr>
                                      <p:to>
                                        <p:strVal val="visible"/>
                                      </p:to>
                                    </p:set>
                                    <p:animEffect transition="in" filter="fade">
                                      <p:cBhvr>
                                        <p:cTn id="191" dur="1000"/>
                                        <p:tgtEl>
                                          <p:spTgt spid="118"/>
                                        </p:tgtEl>
                                      </p:cBhvr>
                                    </p:animEffect>
                                    <p:anim calcmode="lin" valueType="num">
                                      <p:cBhvr>
                                        <p:cTn id="192" dur="1000" fill="hold"/>
                                        <p:tgtEl>
                                          <p:spTgt spid="118"/>
                                        </p:tgtEl>
                                        <p:attrNameLst>
                                          <p:attrName>ppt_x</p:attrName>
                                        </p:attrNameLst>
                                      </p:cBhvr>
                                      <p:tavLst>
                                        <p:tav tm="0">
                                          <p:val>
                                            <p:strVal val="#ppt_x"/>
                                          </p:val>
                                        </p:tav>
                                        <p:tav tm="100000">
                                          <p:val>
                                            <p:strVal val="#ppt_x"/>
                                          </p:val>
                                        </p:tav>
                                      </p:tavLst>
                                    </p:anim>
                                    <p:anim calcmode="lin" valueType="num">
                                      <p:cBhvr>
                                        <p:cTn id="193" dur="1000" fill="hold"/>
                                        <p:tgtEl>
                                          <p:spTgt spid="118"/>
                                        </p:tgtEl>
                                        <p:attrNameLst>
                                          <p:attrName>ppt_y</p:attrName>
                                        </p:attrNameLst>
                                      </p:cBhvr>
                                      <p:tavLst>
                                        <p:tav tm="0">
                                          <p:val>
                                            <p:strVal val="#ppt_y+.1"/>
                                          </p:val>
                                        </p:tav>
                                        <p:tav tm="100000">
                                          <p:val>
                                            <p:strVal val="#ppt_y"/>
                                          </p:val>
                                        </p:tav>
                                      </p:tavLst>
                                    </p:anim>
                                  </p:childTnLst>
                                </p:cTn>
                              </p:par>
                            </p:childTnLst>
                          </p:cTn>
                        </p:par>
                      </p:childTnLst>
                    </p:cTn>
                  </p:par>
                  <p:par>
                    <p:cTn id="194" fill="hold">
                      <p:stCondLst>
                        <p:cond delay="indefinite"/>
                      </p:stCondLst>
                      <p:childTnLst>
                        <p:par>
                          <p:cTn id="195" fill="hold">
                            <p:stCondLst>
                              <p:cond delay="0"/>
                            </p:stCondLst>
                            <p:childTnLst>
                              <p:par>
                                <p:cTn id="196" presetID="22" presetClass="entr" presetSubtype="4" fill="hold" nodeType="clickEffect">
                                  <p:stCondLst>
                                    <p:cond delay="0"/>
                                  </p:stCondLst>
                                  <p:childTnLst>
                                    <p:set>
                                      <p:cBhvr>
                                        <p:cTn id="197" dur="1" fill="hold">
                                          <p:stCondLst>
                                            <p:cond delay="0"/>
                                          </p:stCondLst>
                                        </p:cTn>
                                        <p:tgtEl>
                                          <p:spTgt spid="123"/>
                                        </p:tgtEl>
                                        <p:attrNameLst>
                                          <p:attrName>style.visibility</p:attrName>
                                        </p:attrNameLst>
                                      </p:cBhvr>
                                      <p:to>
                                        <p:strVal val="visible"/>
                                      </p:to>
                                    </p:set>
                                    <p:animEffect transition="in" filter="wipe(down)">
                                      <p:cBhvr>
                                        <p:cTn id="198" dur="500"/>
                                        <p:tgtEl>
                                          <p:spTgt spid="123"/>
                                        </p:tgtEl>
                                      </p:cBhvr>
                                    </p:animEffect>
                                  </p:childTnLst>
                                </p:cTn>
                              </p:par>
                              <p:par>
                                <p:cTn id="199" presetID="22" presetClass="entr" presetSubtype="4" fill="hold" nodeType="withEffect">
                                  <p:stCondLst>
                                    <p:cond delay="0"/>
                                  </p:stCondLst>
                                  <p:childTnLst>
                                    <p:set>
                                      <p:cBhvr>
                                        <p:cTn id="200" dur="1" fill="hold">
                                          <p:stCondLst>
                                            <p:cond delay="0"/>
                                          </p:stCondLst>
                                        </p:cTn>
                                        <p:tgtEl>
                                          <p:spTgt spid="121"/>
                                        </p:tgtEl>
                                        <p:attrNameLst>
                                          <p:attrName>style.visibility</p:attrName>
                                        </p:attrNameLst>
                                      </p:cBhvr>
                                      <p:to>
                                        <p:strVal val="visible"/>
                                      </p:to>
                                    </p:set>
                                    <p:animEffect transition="in" filter="wipe(down)">
                                      <p:cBhvr>
                                        <p:cTn id="201" dur="500"/>
                                        <p:tgtEl>
                                          <p:spTgt spid="121"/>
                                        </p:tgtEl>
                                      </p:cBhvr>
                                    </p:animEffect>
                                  </p:childTnLst>
                                </p:cTn>
                              </p:par>
                              <p:par>
                                <p:cTn id="202" presetID="22" presetClass="entr" presetSubtype="4" fill="hold" nodeType="withEffect">
                                  <p:stCondLst>
                                    <p:cond delay="0"/>
                                  </p:stCondLst>
                                  <p:childTnLst>
                                    <p:set>
                                      <p:cBhvr>
                                        <p:cTn id="203" dur="1" fill="hold">
                                          <p:stCondLst>
                                            <p:cond delay="0"/>
                                          </p:stCondLst>
                                        </p:cTn>
                                        <p:tgtEl>
                                          <p:spTgt spid="122"/>
                                        </p:tgtEl>
                                        <p:attrNameLst>
                                          <p:attrName>style.visibility</p:attrName>
                                        </p:attrNameLst>
                                      </p:cBhvr>
                                      <p:to>
                                        <p:strVal val="visible"/>
                                      </p:to>
                                    </p:set>
                                    <p:animEffect transition="in" filter="wipe(down)">
                                      <p:cBhvr>
                                        <p:cTn id="204" dur="500"/>
                                        <p:tgtEl>
                                          <p:spTgt spid="122"/>
                                        </p:tgtEl>
                                      </p:cBhvr>
                                    </p:animEffect>
                                  </p:childTnLst>
                                </p:cTn>
                              </p:par>
                            </p:childTnLst>
                          </p:cTn>
                        </p:par>
                      </p:childTnLst>
                    </p:cTn>
                  </p:par>
                  <p:par>
                    <p:cTn id="205" fill="hold">
                      <p:stCondLst>
                        <p:cond delay="indefinite"/>
                      </p:stCondLst>
                      <p:childTnLst>
                        <p:par>
                          <p:cTn id="206" fill="hold">
                            <p:stCondLst>
                              <p:cond delay="0"/>
                            </p:stCondLst>
                            <p:childTnLst>
                              <p:par>
                                <p:cTn id="207" presetID="22" presetClass="entr" presetSubtype="4" fill="hold" nodeType="clickEffect">
                                  <p:stCondLst>
                                    <p:cond delay="0"/>
                                  </p:stCondLst>
                                  <p:childTnLst>
                                    <p:set>
                                      <p:cBhvr>
                                        <p:cTn id="208" dur="1" fill="hold">
                                          <p:stCondLst>
                                            <p:cond delay="0"/>
                                          </p:stCondLst>
                                        </p:cTn>
                                        <p:tgtEl>
                                          <p:spTgt spid="139"/>
                                        </p:tgtEl>
                                        <p:attrNameLst>
                                          <p:attrName>style.visibility</p:attrName>
                                        </p:attrNameLst>
                                      </p:cBhvr>
                                      <p:to>
                                        <p:strVal val="visible"/>
                                      </p:to>
                                    </p:set>
                                    <p:animEffect transition="in" filter="wipe(down)">
                                      <p:cBhvr>
                                        <p:cTn id="209" dur="500"/>
                                        <p:tgtEl>
                                          <p:spTgt spid="139"/>
                                        </p:tgtEl>
                                      </p:cBhvr>
                                    </p:animEffect>
                                  </p:childTnLst>
                                </p:cTn>
                              </p:par>
                              <p:par>
                                <p:cTn id="210" presetID="22" presetClass="entr" presetSubtype="4" fill="hold" nodeType="withEffect">
                                  <p:stCondLst>
                                    <p:cond delay="0"/>
                                  </p:stCondLst>
                                  <p:childTnLst>
                                    <p:set>
                                      <p:cBhvr>
                                        <p:cTn id="211" dur="1" fill="hold">
                                          <p:stCondLst>
                                            <p:cond delay="0"/>
                                          </p:stCondLst>
                                        </p:cTn>
                                        <p:tgtEl>
                                          <p:spTgt spid="138"/>
                                        </p:tgtEl>
                                        <p:attrNameLst>
                                          <p:attrName>style.visibility</p:attrName>
                                        </p:attrNameLst>
                                      </p:cBhvr>
                                      <p:to>
                                        <p:strVal val="visible"/>
                                      </p:to>
                                    </p:set>
                                    <p:animEffect transition="in" filter="wipe(down)">
                                      <p:cBhvr>
                                        <p:cTn id="212" dur="500"/>
                                        <p:tgtEl>
                                          <p:spTgt spid="138"/>
                                        </p:tgtEl>
                                      </p:cBhvr>
                                    </p:animEffect>
                                  </p:childTnLst>
                                </p:cTn>
                              </p:par>
                              <p:par>
                                <p:cTn id="213" presetID="22" presetClass="entr" presetSubtype="4" fill="hold" grpId="0" nodeType="withEffect">
                                  <p:stCondLst>
                                    <p:cond delay="0"/>
                                  </p:stCondLst>
                                  <p:childTnLst>
                                    <p:set>
                                      <p:cBhvr>
                                        <p:cTn id="214" dur="1" fill="hold">
                                          <p:stCondLst>
                                            <p:cond delay="0"/>
                                          </p:stCondLst>
                                        </p:cTn>
                                        <p:tgtEl>
                                          <p:spTgt spid="169"/>
                                        </p:tgtEl>
                                        <p:attrNameLst>
                                          <p:attrName>style.visibility</p:attrName>
                                        </p:attrNameLst>
                                      </p:cBhvr>
                                      <p:to>
                                        <p:strVal val="visible"/>
                                      </p:to>
                                    </p:set>
                                    <p:animEffect transition="in" filter="wipe(down)">
                                      <p:cBhvr>
                                        <p:cTn id="215" dur="500"/>
                                        <p:tgtEl>
                                          <p:spTgt spid="169"/>
                                        </p:tgtEl>
                                      </p:cBhvr>
                                    </p:animEffect>
                                  </p:childTnLst>
                                </p:cTn>
                              </p:par>
                              <p:par>
                                <p:cTn id="216" presetID="22" presetClass="entr" presetSubtype="4" fill="hold" nodeType="withEffect">
                                  <p:stCondLst>
                                    <p:cond delay="0"/>
                                  </p:stCondLst>
                                  <p:childTnLst>
                                    <p:set>
                                      <p:cBhvr>
                                        <p:cTn id="217" dur="1" fill="hold">
                                          <p:stCondLst>
                                            <p:cond delay="0"/>
                                          </p:stCondLst>
                                        </p:cTn>
                                        <p:tgtEl>
                                          <p:spTgt spid="137"/>
                                        </p:tgtEl>
                                        <p:attrNameLst>
                                          <p:attrName>style.visibility</p:attrName>
                                        </p:attrNameLst>
                                      </p:cBhvr>
                                      <p:to>
                                        <p:strVal val="visible"/>
                                      </p:to>
                                    </p:set>
                                    <p:animEffect transition="in" filter="wipe(down)">
                                      <p:cBhvr>
                                        <p:cTn id="218" dur="500"/>
                                        <p:tgtEl>
                                          <p:spTgt spid="137"/>
                                        </p:tgtEl>
                                      </p:cBhvr>
                                    </p:animEffect>
                                  </p:childTnLst>
                                </p:cTn>
                              </p:par>
                              <p:par>
                                <p:cTn id="219" presetID="22" presetClass="entr" presetSubtype="4" fill="hold" nodeType="withEffect">
                                  <p:stCondLst>
                                    <p:cond delay="0"/>
                                  </p:stCondLst>
                                  <p:childTnLst>
                                    <p:set>
                                      <p:cBhvr>
                                        <p:cTn id="220" dur="1" fill="hold">
                                          <p:stCondLst>
                                            <p:cond delay="0"/>
                                          </p:stCondLst>
                                        </p:cTn>
                                        <p:tgtEl>
                                          <p:spTgt spid="136"/>
                                        </p:tgtEl>
                                        <p:attrNameLst>
                                          <p:attrName>style.visibility</p:attrName>
                                        </p:attrNameLst>
                                      </p:cBhvr>
                                      <p:to>
                                        <p:strVal val="visible"/>
                                      </p:to>
                                    </p:set>
                                    <p:animEffect transition="in" filter="wipe(down)">
                                      <p:cBhvr>
                                        <p:cTn id="221" dur="5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8" grpId="0"/>
      <p:bldP spid="160" grpId="0"/>
      <p:bldP spid="161" grpId="0"/>
      <p:bldP spid="162" grpId="0"/>
      <p:bldP spid="163" grpId="0"/>
      <p:bldP spid="164" grpId="0"/>
      <p:bldP spid="165" grpId="0"/>
      <p:bldP spid="167" grpId="0"/>
      <p:bldP spid="169" grpId="0"/>
      <p:bldP spid="170" grpId="0"/>
      <p:bldP spid="171" grpId="0"/>
      <p:bldP spid="168" grpId="0"/>
      <p:bldP spid="166" grpId="0"/>
      <p:bldP spid="17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33268" y="869574"/>
            <a:ext cx="18321267" cy="9417425"/>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txBody>
          <a:bodyPr/>
          <a:lstStyle/>
          <a:p>
            <a:r>
              <a:rPr lang="en-US" smtClean="0"/>
              <a:t>``</a:t>
            </a:r>
            <a:endParaRPr lang="fr-FR" dirty="0"/>
          </a:p>
        </p:txBody>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solidFill>
                <a:sym typeface="TT Fors Bold"/>
              </a:rPr>
              <a:t>Architecture</a:t>
            </a:r>
            <a:r>
              <a:rPr lang="en-US" sz="2400" b="1" dirty="0">
                <a:solidFill>
                  <a:schemeClr val="bg1">
                    <a:lumMod val="50000"/>
                  </a:schemeClr>
                </a:solidFill>
                <a:sym typeface="TT Fors Bold"/>
              </a:rPr>
              <a:t> </a:t>
            </a:r>
            <a:r>
              <a:rPr lang="en-US" sz="2400" b="1" dirty="0">
                <a:solidFill>
                  <a:schemeClr val="bg1"/>
                </a:solidFill>
                <a:sym typeface="TT Fors Bold"/>
              </a:rPr>
              <a:t>&amp; </a:t>
            </a:r>
            <a:r>
              <a:rPr lang="en-US" sz="2400" b="1" dirty="0" err="1">
                <a:solidFill>
                  <a:schemeClr val="bg1"/>
                </a:solidFill>
                <a:sym typeface="TT Fors Bold"/>
              </a:rPr>
              <a:t>Déploiement</a:t>
            </a:r>
            <a:endParaRPr lang="fr-FR" sz="2400" b="1" dirty="0">
              <a:solidFill>
                <a:schemeClr val="bg1"/>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34244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graphicFrame>
        <p:nvGraphicFramePr>
          <p:cNvPr id="2" name="Tableau 1"/>
          <p:cNvGraphicFramePr>
            <a:graphicFrameLocks noGrp="1"/>
          </p:cNvGraphicFramePr>
          <p:nvPr>
            <p:extLst>
              <p:ext uri="{D42A27DB-BD31-4B8C-83A1-F6EECF244321}">
                <p14:modId xmlns:p14="http://schemas.microsoft.com/office/powerpoint/2010/main" val="2932701092"/>
              </p:ext>
            </p:extLst>
          </p:nvPr>
        </p:nvGraphicFramePr>
        <p:xfrm>
          <a:off x="902003" y="5716139"/>
          <a:ext cx="16996942" cy="3897022"/>
        </p:xfrm>
        <a:graphic>
          <a:graphicData uri="http://schemas.openxmlformats.org/drawingml/2006/table">
            <a:tbl>
              <a:tblPr firstRow="1" firstCol="1" bandRow="1">
                <a:tableStyleId>{5C22544A-7EE6-4342-B048-85BDC9FD1C3A}</a:tableStyleId>
              </a:tblPr>
              <a:tblGrid>
                <a:gridCol w="2776170">
                  <a:extLst>
                    <a:ext uri="{9D8B030D-6E8A-4147-A177-3AD203B41FA5}">
                      <a16:colId xmlns:a16="http://schemas.microsoft.com/office/drawing/2014/main" val="896339620"/>
                    </a:ext>
                  </a:extLst>
                </a:gridCol>
                <a:gridCol w="4403582">
                  <a:extLst>
                    <a:ext uri="{9D8B030D-6E8A-4147-A177-3AD203B41FA5}">
                      <a16:colId xmlns:a16="http://schemas.microsoft.com/office/drawing/2014/main" val="1503775906"/>
                    </a:ext>
                  </a:extLst>
                </a:gridCol>
                <a:gridCol w="3366620">
                  <a:extLst>
                    <a:ext uri="{9D8B030D-6E8A-4147-A177-3AD203B41FA5}">
                      <a16:colId xmlns:a16="http://schemas.microsoft.com/office/drawing/2014/main" val="1366178219"/>
                    </a:ext>
                  </a:extLst>
                </a:gridCol>
                <a:gridCol w="6450570">
                  <a:extLst>
                    <a:ext uri="{9D8B030D-6E8A-4147-A177-3AD203B41FA5}">
                      <a16:colId xmlns:a16="http://schemas.microsoft.com/office/drawing/2014/main" val="3036084356"/>
                    </a:ext>
                  </a:extLst>
                </a:gridCol>
              </a:tblGrid>
              <a:tr h="648256">
                <a:tc>
                  <a:txBody>
                    <a:bodyPr/>
                    <a:lstStyle/>
                    <a:p>
                      <a:pPr>
                        <a:lnSpc>
                          <a:spcPct val="107000"/>
                        </a:lnSpc>
                        <a:spcAft>
                          <a:spcPts val="0"/>
                        </a:spcAft>
                      </a:pPr>
                      <a:r>
                        <a:rPr lang="fr-FR" sz="3200">
                          <a:effectLst/>
                        </a:rPr>
                        <a:t>Pool</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dirty="0">
                          <a:effectLst/>
                        </a:rPr>
                        <a:t>Réplication</a:t>
                      </a:r>
                      <a:endParaRPr lang="fr-FR" sz="32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a:effectLst/>
                        </a:rPr>
                        <a:t>Utilisation</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a:effectLst/>
                        </a:rPr>
                        <a:t>Usage</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65910118"/>
                  </a:ext>
                </a:extLst>
              </a:tr>
              <a:tr h="648256">
                <a:tc>
                  <a:txBody>
                    <a:bodyPr/>
                    <a:lstStyle/>
                    <a:p>
                      <a:pPr>
                        <a:lnSpc>
                          <a:spcPct val="107000"/>
                        </a:lnSpc>
                        <a:spcAft>
                          <a:spcPts val="0"/>
                        </a:spcAft>
                      </a:pPr>
                      <a:r>
                        <a:rPr lang="fr-FR" sz="3200" dirty="0">
                          <a:effectLst/>
                        </a:rPr>
                        <a:t>pool-finance</a:t>
                      </a:r>
                      <a:endParaRPr lang="fr-FR" sz="32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a:effectLst/>
                        </a:rPr>
                        <a:t>Size 3/2</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a:effectLst/>
                        </a:rPr>
                        <a:t>88.89 GiB (14.47%)</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a:effectLst/>
                        </a:rPr>
                        <a:t>Disques VMs tenant Finance</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44465476"/>
                  </a:ext>
                </a:extLst>
              </a:tr>
              <a:tr h="648256">
                <a:tc>
                  <a:txBody>
                    <a:bodyPr/>
                    <a:lstStyle/>
                    <a:p>
                      <a:pPr>
                        <a:lnSpc>
                          <a:spcPct val="107000"/>
                        </a:lnSpc>
                        <a:spcAft>
                          <a:spcPts val="0"/>
                        </a:spcAft>
                      </a:pPr>
                      <a:r>
                        <a:rPr lang="fr-FR" sz="3200" dirty="0">
                          <a:effectLst/>
                        </a:rPr>
                        <a:t>pool-audit</a:t>
                      </a:r>
                      <a:endParaRPr lang="fr-FR" sz="32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dirty="0">
                          <a:effectLst/>
                        </a:rPr>
                        <a:t>Size 3/2</a:t>
                      </a:r>
                      <a:endParaRPr lang="fr-FR" sz="32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a:effectLst/>
                        </a:rPr>
                        <a:t>192.09 GiB (26.77%)</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a:effectLst/>
                        </a:rPr>
                        <a:t>Disques VMs tenant Audit</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10119175"/>
                  </a:ext>
                </a:extLst>
              </a:tr>
              <a:tr h="655742">
                <a:tc>
                  <a:txBody>
                    <a:bodyPr/>
                    <a:lstStyle/>
                    <a:p>
                      <a:pPr>
                        <a:lnSpc>
                          <a:spcPct val="107000"/>
                        </a:lnSpc>
                        <a:spcAft>
                          <a:spcPts val="0"/>
                        </a:spcAft>
                      </a:pPr>
                      <a:r>
                        <a:rPr lang="fr-FR" sz="3200">
                          <a:effectLst/>
                        </a:rPr>
                        <a:t>pool-pfsense</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a:effectLst/>
                        </a:rPr>
                        <a:t>Size 3/2</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a:effectLst/>
                        </a:rPr>
                        <a:t>27.99 GiB (5.06%)</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a:effectLst/>
                        </a:rPr>
                        <a:t>VM pfSense firewall</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1296974"/>
                  </a:ext>
                </a:extLst>
              </a:tr>
              <a:tr h="648256">
                <a:tc>
                  <a:txBody>
                    <a:bodyPr/>
                    <a:lstStyle/>
                    <a:p>
                      <a:pPr>
                        <a:lnSpc>
                          <a:spcPct val="107000"/>
                        </a:lnSpc>
                        <a:spcAft>
                          <a:spcPts val="0"/>
                        </a:spcAft>
                      </a:pPr>
                      <a:r>
                        <a:rPr lang="fr-FR" sz="3200">
                          <a:effectLst/>
                        </a:rPr>
                        <a:t>pool-keycloak</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a:effectLst/>
                        </a:rPr>
                        <a:t>Size 3/2</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a:effectLst/>
                        </a:rPr>
                        <a:t>29.53 GiB (5.32%)</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dirty="0">
                          <a:effectLst/>
                        </a:rPr>
                        <a:t>VM </a:t>
                      </a:r>
                      <a:r>
                        <a:rPr lang="fr-FR" sz="2400" dirty="0" err="1">
                          <a:effectLst/>
                        </a:rPr>
                        <a:t>Keycloak</a:t>
                      </a:r>
                      <a:r>
                        <a:rPr lang="fr-FR" sz="2400" dirty="0">
                          <a:effectLst/>
                        </a:rPr>
                        <a:t> IAM</a:t>
                      </a:r>
                      <a:endParaRPr lang="fr-FR" sz="32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9728385"/>
                  </a:ext>
                </a:extLst>
              </a:tr>
              <a:tr h="648256">
                <a:tc>
                  <a:txBody>
                    <a:bodyPr/>
                    <a:lstStyle/>
                    <a:p>
                      <a:pPr>
                        <a:lnSpc>
                          <a:spcPct val="107000"/>
                        </a:lnSpc>
                        <a:spcAft>
                          <a:spcPts val="0"/>
                        </a:spcAft>
                      </a:pPr>
                      <a:r>
                        <a:rPr lang="fr-FR" sz="3200">
                          <a:effectLst/>
                        </a:rPr>
                        <a:t>TOTAL</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3200">
                          <a:effectLst/>
                        </a:rPr>
                        <a:t> </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a:effectLst/>
                        </a:rPr>
                        <a:t>347.36 GiB</a:t>
                      </a:r>
                      <a:endParaRPr lang="fr-FR" sz="32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2400" dirty="0">
                          <a:effectLst/>
                        </a:rPr>
                        <a:t>Capacité totale utilisée</a:t>
                      </a:r>
                      <a:endParaRPr lang="fr-FR" sz="32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34203262"/>
                  </a:ext>
                </a:extLst>
              </a:tr>
            </a:tbl>
          </a:graphicData>
        </a:graphic>
      </p:graphicFrame>
      <p:sp>
        <p:nvSpPr>
          <p:cNvPr id="90" name="Freeform 3"/>
          <p:cNvSpPr/>
          <p:nvPr/>
        </p:nvSpPr>
        <p:spPr>
          <a:xfrm>
            <a:off x="11731215" y="5119569"/>
            <a:ext cx="4470829" cy="421207"/>
          </a:xfrm>
          <a:custGeom>
            <a:avLst/>
            <a:gdLst/>
            <a:ahLst/>
            <a:cxnLst/>
            <a:rect l="l" t="t" r="r" b="b"/>
            <a:pathLst>
              <a:path w="4470829" h="421207">
                <a:moveTo>
                  <a:pt x="0" y="0"/>
                </a:moveTo>
                <a:lnTo>
                  <a:pt x="4470829" y="0"/>
                </a:lnTo>
                <a:lnTo>
                  <a:pt x="4470829" y="421207"/>
                </a:lnTo>
                <a:lnTo>
                  <a:pt x="0" y="421207"/>
                </a:lnTo>
                <a:lnTo>
                  <a:pt x="0" y="0"/>
                </a:lnTo>
                <a:close/>
              </a:path>
            </a:pathLst>
          </a:custGeom>
          <a:blipFill>
            <a:blip r:embed="rId4">
              <a:alphaModFix amt="67000"/>
            </a:blip>
            <a:stretch>
              <a:fillRect l="-1816" r="-1816"/>
            </a:stretch>
          </a:blipFill>
        </p:spPr>
      </p:sp>
      <p:sp>
        <p:nvSpPr>
          <p:cNvPr id="91" name="Freeform 4"/>
          <p:cNvSpPr/>
          <p:nvPr/>
        </p:nvSpPr>
        <p:spPr>
          <a:xfrm>
            <a:off x="6741907" y="5119569"/>
            <a:ext cx="4470829" cy="421207"/>
          </a:xfrm>
          <a:custGeom>
            <a:avLst/>
            <a:gdLst/>
            <a:ahLst/>
            <a:cxnLst/>
            <a:rect l="l" t="t" r="r" b="b"/>
            <a:pathLst>
              <a:path w="4470829" h="421207">
                <a:moveTo>
                  <a:pt x="0" y="0"/>
                </a:moveTo>
                <a:lnTo>
                  <a:pt x="4470829" y="0"/>
                </a:lnTo>
                <a:lnTo>
                  <a:pt x="4470829" y="421207"/>
                </a:lnTo>
                <a:lnTo>
                  <a:pt x="0" y="421207"/>
                </a:lnTo>
                <a:lnTo>
                  <a:pt x="0" y="0"/>
                </a:lnTo>
                <a:close/>
              </a:path>
            </a:pathLst>
          </a:custGeom>
          <a:blipFill>
            <a:blip r:embed="rId4">
              <a:alphaModFix amt="67000"/>
            </a:blip>
            <a:stretch>
              <a:fillRect l="-1816" r="-1816"/>
            </a:stretch>
          </a:blipFill>
        </p:spPr>
      </p:sp>
      <p:grpSp>
        <p:nvGrpSpPr>
          <p:cNvPr id="92" name="Group 5"/>
          <p:cNvGrpSpPr/>
          <p:nvPr/>
        </p:nvGrpSpPr>
        <p:grpSpPr>
          <a:xfrm>
            <a:off x="11731215" y="2612005"/>
            <a:ext cx="4470829" cy="2617132"/>
            <a:chOff x="0" y="0"/>
            <a:chExt cx="911221" cy="533410"/>
          </a:xfrm>
        </p:grpSpPr>
        <p:sp>
          <p:nvSpPr>
            <p:cNvPr id="93" name="Freeform 6"/>
            <p:cNvSpPr/>
            <p:nvPr/>
          </p:nvSpPr>
          <p:spPr>
            <a:xfrm>
              <a:off x="0" y="0"/>
              <a:ext cx="911221" cy="533410"/>
            </a:xfrm>
            <a:custGeom>
              <a:avLst/>
              <a:gdLst/>
              <a:ahLst/>
              <a:cxnLst/>
              <a:rect l="l" t="t" r="r" b="b"/>
              <a:pathLst>
                <a:path w="911221" h="533410">
                  <a:moveTo>
                    <a:pt x="32901" y="0"/>
                  </a:moveTo>
                  <a:lnTo>
                    <a:pt x="878320" y="0"/>
                  </a:lnTo>
                  <a:cubicBezTo>
                    <a:pt x="896491" y="0"/>
                    <a:pt x="911221" y="14730"/>
                    <a:pt x="911221" y="32901"/>
                  </a:cubicBezTo>
                  <a:lnTo>
                    <a:pt x="911221" y="500509"/>
                  </a:lnTo>
                  <a:cubicBezTo>
                    <a:pt x="911221" y="518680"/>
                    <a:pt x="896491" y="533410"/>
                    <a:pt x="878320" y="533410"/>
                  </a:cubicBezTo>
                  <a:lnTo>
                    <a:pt x="32901" y="533410"/>
                  </a:lnTo>
                  <a:cubicBezTo>
                    <a:pt x="14730" y="533410"/>
                    <a:pt x="0" y="518680"/>
                    <a:pt x="0" y="500509"/>
                  </a:cubicBezTo>
                  <a:lnTo>
                    <a:pt x="0" y="32901"/>
                  </a:lnTo>
                  <a:cubicBezTo>
                    <a:pt x="0" y="14730"/>
                    <a:pt x="14730" y="0"/>
                    <a:pt x="32901" y="0"/>
                  </a:cubicBezTo>
                  <a:close/>
                </a:path>
              </a:pathLst>
            </a:custGeom>
            <a:solidFill>
              <a:srgbClr val="FFFFFF"/>
            </a:solidFill>
          </p:spPr>
        </p:sp>
        <p:sp>
          <p:nvSpPr>
            <p:cNvPr id="94" name="TextBox 7"/>
            <p:cNvSpPr txBox="1"/>
            <p:nvPr/>
          </p:nvSpPr>
          <p:spPr>
            <a:xfrm>
              <a:off x="0" y="-38100"/>
              <a:ext cx="911221" cy="571510"/>
            </a:xfrm>
            <a:prstGeom prst="rect">
              <a:avLst/>
            </a:prstGeom>
          </p:spPr>
          <p:txBody>
            <a:bodyPr lIns="50800" tIns="50800" rIns="50800" bIns="50800" rtlCol="0" anchor="ctr"/>
            <a:lstStyle/>
            <a:p>
              <a:pPr algn="ctr">
                <a:lnSpc>
                  <a:spcPts val="2520"/>
                </a:lnSpc>
              </a:pPr>
              <a:endParaRPr/>
            </a:p>
          </p:txBody>
        </p:sp>
      </p:grpSp>
      <p:grpSp>
        <p:nvGrpSpPr>
          <p:cNvPr id="95" name="Group 8"/>
          <p:cNvGrpSpPr/>
          <p:nvPr/>
        </p:nvGrpSpPr>
        <p:grpSpPr>
          <a:xfrm>
            <a:off x="6741907" y="2610331"/>
            <a:ext cx="4470829" cy="2617132"/>
            <a:chOff x="0" y="0"/>
            <a:chExt cx="911221" cy="533410"/>
          </a:xfrm>
        </p:grpSpPr>
        <p:sp>
          <p:nvSpPr>
            <p:cNvPr id="96" name="Freeform 9"/>
            <p:cNvSpPr/>
            <p:nvPr/>
          </p:nvSpPr>
          <p:spPr>
            <a:xfrm>
              <a:off x="0" y="0"/>
              <a:ext cx="911221" cy="533410"/>
            </a:xfrm>
            <a:custGeom>
              <a:avLst/>
              <a:gdLst/>
              <a:ahLst/>
              <a:cxnLst/>
              <a:rect l="l" t="t" r="r" b="b"/>
              <a:pathLst>
                <a:path w="911221" h="533410">
                  <a:moveTo>
                    <a:pt x="32901" y="0"/>
                  </a:moveTo>
                  <a:lnTo>
                    <a:pt x="878320" y="0"/>
                  </a:lnTo>
                  <a:cubicBezTo>
                    <a:pt x="896491" y="0"/>
                    <a:pt x="911221" y="14730"/>
                    <a:pt x="911221" y="32901"/>
                  </a:cubicBezTo>
                  <a:lnTo>
                    <a:pt x="911221" y="500509"/>
                  </a:lnTo>
                  <a:cubicBezTo>
                    <a:pt x="911221" y="518680"/>
                    <a:pt x="896491" y="533410"/>
                    <a:pt x="878320" y="533410"/>
                  </a:cubicBezTo>
                  <a:lnTo>
                    <a:pt x="32901" y="533410"/>
                  </a:lnTo>
                  <a:cubicBezTo>
                    <a:pt x="14730" y="533410"/>
                    <a:pt x="0" y="518680"/>
                    <a:pt x="0" y="500509"/>
                  </a:cubicBezTo>
                  <a:lnTo>
                    <a:pt x="0" y="32901"/>
                  </a:lnTo>
                  <a:cubicBezTo>
                    <a:pt x="0" y="14730"/>
                    <a:pt x="14730" y="0"/>
                    <a:pt x="32901" y="0"/>
                  </a:cubicBezTo>
                  <a:close/>
                </a:path>
              </a:pathLst>
            </a:custGeom>
            <a:solidFill>
              <a:srgbClr val="FFFFFF"/>
            </a:solidFill>
          </p:spPr>
        </p:sp>
        <p:sp>
          <p:nvSpPr>
            <p:cNvPr id="159" name="TextBox 10"/>
            <p:cNvSpPr txBox="1"/>
            <p:nvPr/>
          </p:nvSpPr>
          <p:spPr>
            <a:xfrm>
              <a:off x="0" y="-38100"/>
              <a:ext cx="911221" cy="571510"/>
            </a:xfrm>
            <a:prstGeom prst="rect">
              <a:avLst/>
            </a:prstGeom>
          </p:spPr>
          <p:txBody>
            <a:bodyPr lIns="50800" tIns="50800" rIns="50800" bIns="50800" rtlCol="0" anchor="ctr"/>
            <a:lstStyle/>
            <a:p>
              <a:pPr algn="ctr">
                <a:lnSpc>
                  <a:spcPts val="2520"/>
                </a:lnSpc>
              </a:pPr>
              <a:endParaRPr/>
            </a:p>
          </p:txBody>
        </p:sp>
      </p:grpSp>
      <p:grpSp>
        <p:nvGrpSpPr>
          <p:cNvPr id="174" name="Group 11"/>
          <p:cNvGrpSpPr/>
          <p:nvPr/>
        </p:nvGrpSpPr>
        <p:grpSpPr>
          <a:xfrm rot="-5400000">
            <a:off x="10880516" y="3843139"/>
            <a:ext cx="1701399" cy="154865"/>
            <a:chOff x="0" y="0"/>
            <a:chExt cx="4464845" cy="406400"/>
          </a:xfrm>
        </p:grpSpPr>
        <p:sp>
          <p:nvSpPr>
            <p:cNvPr id="175" name="Freeform 12"/>
            <p:cNvSpPr/>
            <p:nvPr/>
          </p:nvSpPr>
          <p:spPr>
            <a:xfrm>
              <a:off x="0" y="0"/>
              <a:ext cx="4464845" cy="406400"/>
            </a:xfrm>
            <a:custGeom>
              <a:avLst/>
              <a:gdLst/>
              <a:ahLst/>
              <a:cxnLst/>
              <a:rect l="l" t="t" r="r" b="b"/>
              <a:pathLst>
                <a:path w="4464845" h="406400">
                  <a:moveTo>
                    <a:pt x="4261645" y="0"/>
                  </a:moveTo>
                  <a:cubicBezTo>
                    <a:pt x="4373869" y="0"/>
                    <a:pt x="4464845" y="90976"/>
                    <a:pt x="4464845" y="203200"/>
                  </a:cubicBezTo>
                  <a:cubicBezTo>
                    <a:pt x="4464845" y="315424"/>
                    <a:pt x="4373869" y="406400"/>
                    <a:pt x="4261645" y="406400"/>
                  </a:cubicBezTo>
                  <a:lnTo>
                    <a:pt x="203200" y="406400"/>
                  </a:lnTo>
                  <a:cubicBezTo>
                    <a:pt x="90976" y="406400"/>
                    <a:pt x="0" y="315424"/>
                    <a:pt x="0" y="203200"/>
                  </a:cubicBezTo>
                  <a:cubicBezTo>
                    <a:pt x="0" y="90976"/>
                    <a:pt x="90976" y="0"/>
                    <a:pt x="203200" y="0"/>
                  </a:cubicBezTo>
                  <a:close/>
                </a:path>
              </a:pathLst>
            </a:custGeom>
            <a:solidFill>
              <a:srgbClr val="528EF9"/>
            </a:solidFill>
          </p:spPr>
        </p:sp>
        <p:sp>
          <p:nvSpPr>
            <p:cNvPr id="177" name="TextBox 13"/>
            <p:cNvSpPr txBox="1"/>
            <p:nvPr/>
          </p:nvSpPr>
          <p:spPr>
            <a:xfrm>
              <a:off x="0" y="-38100"/>
              <a:ext cx="4464845" cy="444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78" name="Group 14"/>
          <p:cNvGrpSpPr/>
          <p:nvPr/>
        </p:nvGrpSpPr>
        <p:grpSpPr>
          <a:xfrm rot="-5400000">
            <a:off x="5891208" y="3841465"/>
            <a:ext cx="1701399" cy="154865"/>
            <a:chOff x="0" y="0"/>
            <a:chExt cx="4464845" cy="406400"/>
          </a:xfrm>
        </p:grpSpPr>
        <p:sp>
          <p:nvSpPr>
            <p:cNvPr id="179" name="Freeform 15"/>
            <p:cNvSpPr/>
            <p:nvPr/>
          </p:nvSpPr>
          <p:spPr>
            <a:xfrm>
              <a:off x="0" y="0"/>
              <a:ext cx="4464845" cy="406400"/>
            </a:xfrm>
            <a:custGeom>
              <a:avLst/>
              <a:gdLst/>
              <a:ahLst/>
              <a:cxnLst/>
              <a:rect l="l" t="t" r="r" b="b"/>
              <a:pathLst>
                <a:path w="4464845" h="406400">
                  <a:moveTo>
                    <a:pt x="4261645" y="0"/>
                  </a:moveTo>
                  <a:cubicBezTo>
                    <a:pt x="4373869" y="0"/>
                    <a:pt x="4464845" y="90976"/>
                    <a:pt x="4464845" y="203200"/>
                  </a:cubicBezTo>
                  <a:cubicBezTo>
                    <a:pt x="4464845" y="315424"/>
                    <a:pt x="4373869" y="406400"/>
                    <a:pt x="4261645" y="406400"/>
                  </a:cubicBezTo>
                  <a:lnTo>
                    <a:pt x="203200" y="406400"/>
                  </a:lnTo>
                  <a:cubicBezTo>
                    <a:pt x="90976" y="406400"/>
                    <a:pt x="0" y="315424"/>
                    <a:pt x="0" y="203200"/>
                  </a:cubicBezTo>
                  <a:cubicBezTo>
                    <a:pt x="0" y="90976"/>
                    <a:pt x="90976" y="0"/>
                    <a:pt x="203200" y="0"/>
                  </a:cubicBezTo>
                  <a:close/>
                </a:path>
              </a:pathLst>
            </a:custGeom>
            <a:solidFill>
              <a:srgbClr val="528EF9"/>
            </a:solidFill>
          </p:spPr>
        </p:sp>
        <p:sp>
          <p:nvSpPr>
            <p:cNvPr id="180" name="TextBox 16"/>
            <p:cNvSpPr txBox="1"/>
            <p:nvPr/>
          </p:nvSpPr>
          <p:spPr>
            <a:xfrm>
              <a:off x="0" y="-38100"/>
              <a:ext cx="4464845" cy="444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81" name="Group 17"/>
          <p:cNvGrpSpPr/>
          <p:nvPr/>
        </p:nvGrpSpPr>
        <p:grpSpPr>
          <a:xfrm rot="-5400000">
            <a:off x="11704567" y="3734036"/>
            <a:ext cx="426368" cy="373072"/>
            <a:chOff x="0" y="0"/>
            <a:chExt cx="812800" cy="711200"/>
          </a:xfrm>
        </p:grpSpPr>
        <p:sp>
          <p:nvSpPr>
            <p:cNvPr id="182" name="Freeform 18"/>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solidFill>
              <a:srgbClr val="528EF9">
                <a:alpha val="71765"/>
              </a:srgbClr>
            </a:solidFill>
          </p:spPr>
        </p:sp>
        <p:sp>
          <p:nvSpPr>
            <p:cNvPr id="183" name="TextBox 19"/>
            <p:cNvSpPr txBox="1"/>
            <p:nvPr/>
          </p:nvSpPr>
          <p:spPr>
            <a:xfrm>
              <a:off x="127000" y="12700"/>
              <a:ext cx="558800" cy="3683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84" name="Group 20"/>
          <p:cNvGrpSpPr/>
          <p:nvPr/>
        </p:nvGrpSpPr>
        <p:grpSpPr>
          <a:xfrm rot="-5400000">
            <a:off x="6715259" y="3732361"/>
            <a:ext cx="426368" cy="373072"/>
            <a:chOff x="0" y="0"/>
            <a:chExt cx="812800" cy="711200"/>
          </a:xfrm>
        </p:grpSpPr>
        <p:sp>
          <p:nvSpPr>
            <p:cNvPr id="185" name="Freeform 21"/>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solidFill>
              <a:srgbClr val="528EF9">
                <a:alpha val="71765"/>
              </a:srgbClr>
            </a:solidFill>
          </p:spPr>
        </p:sp>
        <p:sp>
          <p:nvSpPr>
            <p:cNvPr id="186" name="TextBox 22"/>
            <p:cNvSpPr txBox="1"/>
            <p:nvPr/>
          </p:nvSpPr>
          <p:spPr>
            <a:xfrm>
              <a:off x="127000" y="12700"/>
              <a:ext cx="558800" cy="3683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87" name="Freeform 23"/>
          <p:cNvSpPr/>
          <p:nvPr/>
        </p:nvSpPr>
        <p:spPr>
          <a:xfrm>
            <a:off x="1752600" y="5119569"/>
            <a:ext cx="4470829" cy="421207"/>
          </a:xfrm>
          <a:custGeom>
            <a:avLst/>
            <a:gdLst/>
            <a:ahLst/>
            <a:cxnLst/>
            <a:rect l="l" t="t" r="r" b="b"/>
            <a:pathLst>
              <a:path w="4470829" h="421207">
                <a:moveTo>
                  <a:pt x="0" y="0"/>
                </a:moveTo>
                <a:lnTo>
                  <a:pt x="4470828" y="0"/>
                </a:lnTo>
                <a:lnTo>
                  <a:pt x="4470828" y="421207"/>
                </a:lnTo>
                <a:lnTo>
                  <a:pt x="0" y="421207"/>
                </a:lnTo>
                <a:lnTo>
                  <a:pt x="0" y="0"/>
                </a:lnTo>
                <a:close/>
              </a:path>
            </a:pathLst>
          </a:custGeom>
          <a:blipFill>
            <a:blip r:embed="rId4">
              <a:alphaModFix amt="67000"/>
            </a:blip>
            <a:stretch>
              <a:fillRect l="-1816" r="-1816"/>
            </a:stretch>
          </a:blipFill>
        </p:spPr>
      </p:sp>
      <p:grpSp>
        <p:nvGrpSpPr>
          <p:cNvPr id="188" name="Group 24"/>
          <p:cNvGrpSpPr/>
          <p:nvPr/>
        </p:nvGrpSpPr>
        <p:grpSpPr>
          <a:xfrm>
            <a:off x="1752600" y="2610331"/>
            <a:ext cx="4470829" cy="2617132"/>
            <a:chOff x="0" y="0"/>
            <a:chExt cx="911221" cy="533410"/>
          </a:xfrm>
        </p:grpSpPr>
        <p:sp>
          <p:nvSpPr>
            <p:cNvPr id="189" name="Freeform 25"/>
            <p:cNvSpPr/>
            <p:nvPr/>
          </p:nvSpPr>
          <p:spPr>
            <a:xfrm>
              <a:off x="0" y="0"/>
              <a:ext cx="911221" cy="533410"/>
            </a:xfrm>
            <a:custGeom>
              <a:avLst/>
              <a:gdLst/>
              <a:ahLst/>
              <a:cxnLst/>
              <a:rect l="l" t="t" r="r" b="b"/>
              <a:pathLst>
                <a:path w="911221" h="533410">
                  <a:moveTo>
                    <a:pt x="32901" y="0"/>
                  </a:moveTo>
                  <a:lnTo>
                    <a:pt x="878320" y="0"/>
                  </a:lnTo>
                  <a:cubicBezTo>
                    <a:pt x="896491" y="0"/>
                    <a:pt x="911221" y="14730"/>
                    <a:pt x="911221" y="32901"/>
                  </a:cubicBezTo>
                  <a:lnTo>
                    <a:pt x="911221" y="500509"/>
                  </a:lnTo>
                  <a:cubicBezTo>
                    <a:pt x="911221" y="518680"/>
                    <a:pt x="896491" y="533410"/>
                    <a:pt x="878320" y="533410"/>
                  </a:cubicBezTo>
                  <a:lnTo>
                    <a:pt x="32901" y="533410"/>
                  </a:lnTo>
                  <a:cubicBezTo>
                    <a:pt x="14730" y="533410"/>
                    <a:pt x="0" y="518680"/>
                    <a:pt x="0" y="500509"/>
                  </a:cubicBezTo>
                  <a:lnTo>
                    <a:pt x="0" y="32901"/>
                  </a:lnTo>
                  <a:cubicBezTo>
                    <a:pt x="0" y="14730"/>
                    <a:pt x="14730" y="0"/>
                    <a:pt x="32901" y="0"/>
                  </a:cubicBezTo>
                  <a:close/>
                </a:path>
              </a:pathLst>
            </a:custGeom>
            <a:solidFill>
              <a:srgbClr val="FFFFFF"/>
            </a:solidFill>
          </p:spPr>
        </p:sp>
        <p:sp>
          <p:nvSpPr>
            <p:cNvPr id="190" name="TextBox 26"/>
            <p:cNvSpPr txBox="1"/>
            <p:nvPr/>
          </p:nvSpPr>
          <p:spPr>
            <a:xfrm>
              <a:off x="0" y="-38100"/>
              <a:ext cx="911221" cy="571510"/>
            </a:xfrm>
            <a:prstGeom prst="rect">
              <a:avLst/>
            </a:prstGeom>
          </p:spPr>
          <p:txBody>
            <a:bodyPr lIns="50800" tIns="50800" rIns="50800" bIns="50800" rtlCol="0" anchor="ctr"/>
            <a:lstStyle/>
            <a:p>
              <a:pPr algn="ctr">
                <a:lnSpc>
                  <a:spcPts val="2520"/>
                </a:lnSpc>
              </a:pPr>
              <a:endParaRPr/>
            </a:p>
          </p:txBody>
        </p:sp>
      </p:grpSp>
      <p:grpSp>
        <p:nvGrpSpPr>
          <p:cNvPr id="191" name="Group 27"/>
          <p:cNvGrpSpPr/>
          <p:nvPr/>
        </p:nvGrpSpPr>
        <p:grpSpPr>
          <a:xfrm rot="-5400000">
            <a:off x="901900" y="3841465"/>
            <a:ext cx="1701399" cy="154865"/>
            <a:chOff x="0" y="0"/>
            <a:chExt cx="4464845" cy="406400"/>
          </a:xfrm>
        </p:grpSpPr>
        <p:sp>
          <p:nvSpPr>
            <p:cNvPr id="192" name="Freeform 28"/>
            <p:cNvSpPr/>
            <p:nvPr/>
          </p:nvSpPr>
          <p:spPr>
            <a:xfrm>
              <a:off x="0" y="0"/>
              <a:ext cx="4464845" cy="406400"/>
            </a:xfrm>
            <a:custGeom>
              <a:avLst/>
              <a:gdLst/>
              <a:ahLst/>
              <a:cxnLst/>
              <a:rect l="l" t="t" r="r" b="b"/>
              <a:pathLst>
                <a:path w="4464845" h="406400">
                  <a:moveTo>
                    <a:pt x="4261645" y="0"/>
                  </a:moveTo>
                  <a:cubicBezTo>
                    <a:pt x="4373869" y="0"/>
                    <a:pt x="4464845" y="90976"/>
                    <a:pt x="4464845" y="203200"/>
                  </a:cubicBezTo>
                  <a:cubicBezTo>
                    <a:pt x="4464845" y="315424"/>
                    <a:pt x="4373869" y="406400"/>
                    <a:pt x="4261645" y="406400"/>
                  </a:cubicBezTo>
                  <a:lnTo>
                    <a:pt x="203200" y="406400"/>
                  </a:lnTo>
                  <a:cubicBezTo>
                    <a:pt x="90976" y="406400"/>
                    <a:pt x="0" y="315424"/>
                    <a:pt x="0" y="203200"/>
                  </a:cubicBezTo>
                  <a:cubicBezTo>
                    <a:pt x="0" y="90976"/>
                    <a:pt x="90976" y="0"/>
                    <a:pt x="203200" y="0"/>
                  </a:cubicBezTo>
                  <a:close/>
                </a:path>
              </a:pathLst>
            </a:custGeom>
            <a:solidFill>
              <a:srgbClr val="518EF8"/>
            </a:solidFill>
          </p:spPr>
        </p:sp>
        <p:sp>
          <p:nvSpPr>
            <p:cNvPr id="193" name="TextBox 29"/>
            <p:cNvSpPr txBox="1"/>
            <p:nvPr/>
          </p:nvSpPr>
          <p:spPr>
            <a:xfrm>
              <a:off x="0" y="-38100"/>
              <a:ext cx="4464845" cy="4445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94" name="Group 30"/>
          <p:cNvGrpSpPr/>
          <p:nvPr/>
        </p:nvGrpSpPr>
        <p:grpSpPr>
          <a:xfrm rot="-5400000">
            <a:off x="1725952" y="3732361"/>
            <a:ext cx="426368" cy="373072"/>
            <a:chOff x="0" y="0"/>
            <a:chExt cx="812800" cy="711200"/>
          </a:xfrm>
        </p:grpSpPr>
        <p:sp>
          <p:nvSpPr>
            <p:cNvPr id="195" name="Freeform 31"/>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solidFill>
              <a:srgbClr val="528EF9">
                <a:alpha val="71765"/>
              </a:srgbClr>
            </a:solidFill>
          </p:spPr>
        </p:sp>
        <p:sp>
          <p:nvSpPr>
            <p:cNvPr id="196" name="TextBox 32"/>
            <p:cNvSpPr txBox="1"/>
            <p:nvPr/>
          </p:nvSpPr>
          <p:spPr>
            <a:xfrm>
              <a:off x="127000" y="12700"/>
              <a:ext cx="558800" cy="3683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97" name="TextBox 33"/>
          <p:cNvSpPr txBox="1"/>
          <p:nvPr/>
        </p:nvSpPr>
        <p:spPr>
          <a:xfrm>
            <a:off x="2270407" y="3685530"/>
            <a:ext cx="3217414" cy="786289"/>
          </a:xfrm>
          <a:prstGeom prst="rect">
            <a:avLst/>
          </a:prstGeom>
        </p:spPr>
        <p:txBody>
          <a:bodyPr lIns="0" tIns="0" rIns="0" bIns="0" rtlCol="0" anchor="t">
            <a:spAutoFit/>
          </a:bodyPr>
          <a:lstStyle/>
          <a:p>
            <a:pPr marL="0" lvl="0" indent="0" algn="l">
              <a:lnSpc>
                <a:spcPts val="3162"/>
              </a:lnSpc>
              <a:spcBef>
                <a:spcPct val="0"/>
              </a:spcBef>
            </a:pPr>
            <a:r>
              <a:rPr lang="en-US" sz="2258">
                <a:solidFill>
                  <a:srgbClr val="000000"/>
                </a:solidFill>
                <a:latin typeface="Proxima Nova"/>
                <a:ea typeface="Proxima Nova"/>
                <a:cs typeface="Proxima Nova"/>
                <a:sym typeface="Proxima Nova"/>
              </a:rPr>
              <a:t>Utilisé : 24.94%</a:t>
            </a:r>
          </a:p>
          <a:p>
            <a:pPr marL="0" lvl="0" indent="0" algn="l">
              <a:lnSpc>
                <a:spcPts val="3162"/>
              </a:lnSpc>
              <a:spcBef>
                <a:spcPct val="0"/>
              </a:spcBef>
            </a:pPr>
            <a:r>
              <a:rPr lang="en-US" sz="2258" u="none" strike="noStrike">
                <a:solidFill>
                  <a:srgbClr val="000000"/>
                </a:solidFill>
                <a:latin typeface="Proxima Nova"/>
                <a:ea typeface="Proxima Nova"/>
                <a:cs typeface="Proxima Nova"/>
                <a:sym typeface="Proxima Nova"/>
              </a:rPr>
              <a:t>La Capacité   500 GB</a:t>
            </a:r>
          </a:p>
        </p:txBody>
      </p:sp>
      <p:sp>
        <p:nvSpPr>
          <p:cNvPr id="198" name="TextBox 34"/>
          <p:cNvSpPr txBox="1"/>
          <p:nvPr/>
        </p:nvSpPr>
        <p:spPr>
          <a:xfrm>
            <a:off x="2274522" y="3168706"/>
            <a:ext cx="3217414" cy="406917"/>
          </a:xfrm>
          <a:prstGeom prst="rect">
            <a:avLst/>
          </a:prstGeom>
        </p:spPr>
        <p:txBody>
          <a:bodyPr lIns="0" tIns="0" rIns="0" bIns="0" rtlCol="0" anchor="t">
            <a:spAutoFit/>
          </a:bodyPr>
          <a:lstStyle/>
          <a:p>
            <a:pPr marL="0" lvl="0" indent="0" algn="l">
              <a:lnSpc>
                <a:spcPts val="3320"/>
              </a:lnSpc>
              <a:spcBef>
                <a:spcPct val="0"/>
              </a:spcBef>
            </a:pPr>
            <a:r>
              <a:rPr lang="en-US" sz="2371" b="1">
                <a:solidFill>
                  <a:srgbClr val="000000"/>
                </a:solidFill>
                <a:latin typeface="Proxima Nova Bold"/>
                <a:ea typeface="Proxima Nova Bold"/>
                <a:cs typeface="Proxima Nova Bold"/>
                <a:sym typeface="Proxima Nova Bold"/>
              </a:rPr>
              <a:t>OSD.0 — server1</a:t>
            </a:r>
          </a:p>
        </p:txBody>
      </p:sp>
      <p:sp>
        <p:nvSpPr>
          <p:cNvPr id="199" name="TextBox 36"/>
          <p:cNvSpPr txBox="1"/>
          <p:nvPr/>
        </p:nvSpPr>
        <p:spPr>
          <a:xfrm>
            <a:off x="7556026" y="3760352"/>
            <a:ext cx="3217414" cy="786289"/>
          </a:xfrm>
          <a:prstGeom prst="rect">
            <a:avLst/>
          </a:prstGeom>
        </p:spPr>
        <p:txBody>
          <a:bodyPr lIns="0" tIns="0" rIns="0" bIns="0" rtlCol="0" anchor="t">
            <a:spAutoFit/>
          </a:bodyPr>
          <a:lstStyle/>
          <a:p>
            <a:pPr marL="0" lvl="0" indent="0" algn="l">
              <a:lnSpc>
                <a:spcPts val="3162"/>
              </a:lnSpc>
              <a:spcBef>
                <a:spcPct val="0"/>
              </a:spcBef>
            </a:pPr>
            <a:r>
              <a:rPr lang="en-US" sz="2258">
                <a:solidFill>
                  <a:srgbClr val="000000"/>
                </a:solidFill>
                <a:latin typeface="Proxima Nova"/>
                <a:ea typeface="Proxima Nova"/>
                <a:cs typeface="Proxima Nova"/>
                <a:sym typeface="Proxima Nova"/>
              </a:rPr>
              <a:t>Utilisé : 24.92%</a:t>
            </a:r>
          </a:p>
          <a:p>
            <a:pPr marL="0" lvl="0" indent="0" algn="l">
              <a:lnSpc>
                <a:spcPts val="3162"/>
              </a:lnSpc>
              <a:spcBef>
                <a:spcPct val="0"/>
              </a:spcBef>
            </a:pPr>
            <a:r>
              <a:rPr lang="en-US" sz="2258" u="none" strike="noStrike">
                <a:solidFill>
                  <a:srgbClr val="000000"/>
                </a:solidFill>
                <a:latin typeface="Proxima Nova"/>
                <a:ea typeface="Proxima Nova"/>
                <a:cs typeface="Proxima Nova"/>
                <a:sym typeface="Proxima Nova"/>
              </a:rPr>
              <a:t>La Capacité   500 GB</a:t>
            </a:r>
          </a:p>
        </p:txBody>
      </p:sp>
      <p:sp>
        <p:nvSpPr>
          <p:cNvPr id="200" name="TextBox 37"/>
          <p:cNvSpPr txBox="1"/>
          <p:nvPr/>
        </p:nvSpPr>
        <p:spPr>
          <a:xfrm>
            <a:off x="7560142" y="3243528"/>
            <a:ext cx="3217414" cy="406917"/>
          </a:xfrm>
          <a:prstGeom prst="rect">
            <a:avLst/>
          </a:prstGeom>
        </p:spPr>
        <p:txBody>
          <a:bodyPr lIns="0" tIns="0" rIns="0" bIns="0" rtlCol="0" anchor="t">
            <a:spAutoFit/>
          </a:bodyPr>
          <a:lstStyle/>
          <a:p>
            <a:pPr marL="0" lvl="0" indent="0" algn="l">
              <a:lnSpc>
                <a:spcPts val="3320"/>
              </a:lnSpc>
              <a:spcBef>
                <a:spcPct val="0"/>
              </a:spcBef>
            </a:pPr>
            <a:r>
              <a:rPr lang="en-US" sz="2371" b="1">
                <a:solidFill>
                  <a:srgbClr val="000000"/>
                </a:solidFill>
                <a:latin typeface="Proxima Nova Bold"/>
                <a:ea typeface="Proxima Nova Bold"/>
                <a:cs typeface="Proxima Nova Bold"/>
                <a:sym typeface="Proxima Nova Bold"/>
              </a:rPr>
              <a:t>OSD.1 — server2</a:t>
            </a:r>
          </a:p>
        </p:txBody>
      </p:sp>
      <p:sp>
        <p:nvSpPr>
          <p:cNvPr id="201" name="TextBox 38"/>
          <p:cNvSpPr txBox="1"/>
          <p:nvPr/>
        </p:nvSpPr>
        <p:spPr>
          <a:xfrm>
            <a:off x="12545334" y="3760352"/>
            <a:ext cx="3217414" cy="786289"/>
          </a:xfrm>
          <a:prstGeom prst="rect">
            <a:avLst/>
          </a:prstGeom>
        </p:spPr>
        <p:txBody>
          <a:bodyPr lIns="0" tIns="0" rIns="0" bIns="0" rtlCol="0" anchor="t">
            <a:spAutoFit/>
          </a:bodyPr>
          <a:lstStyle/>
          <a:p>
            <a:pPr marL="0" lvl="0" indent="0" algn="l">
              <a:lnSpc>
                <a:spcPts val="3162"/>
              </a:lnSpc>
              <a:spcBef>
                <a:spcPct val="0"/>
              </a:spcBef>
            </a:pPr>
            <a:r>
              <a:rPr lang="en-US" sz="2258">
                <a:solidFill>
                  <a:srgbClr val="000000"/>
                </a:solidFill>
                <a:latin typeface="Proxima Nova"/>
                <a:ea typeface="Proxima Nova"/>
                <a:cs typeface="Proxima Nova"/>
                <a:sym typeface="Proxima Nova"/>
              </a:rPr>
              <a:t>Utilisé : 48.84%</a:t>
            </a:r>
          </a:p>
          <a:p>
            <a:pPr marL="0" lvl="0" indent="0" algn="l">
              <a:lnSpc>
                <a:spcPts val="3162"/>
              </a:lnSpc>
              <a:spcBef>
                <a:spcPct val="0"/>
              </a:spcBef>
            </a:pPr>
            <a:r>
              <a:rPr lang="en-US" sz="2258" u="none" strike="noStrike">
                <a:solidFill>
                  <a:srgbClr val="000000"/>
                </a:solidFill>
                <a:latin typeface="Proxima Nova"/>
                <a:ea typeface="Proxima Nova"/>
                <a:cs typeface="Proxima Nova"/>
                <a:sym typeface="Proxima Nova"/>
              </a:rPr>
              <a:t>La Capacité   250 GB</a:t>
            </a:r>
          </a:p>
        </p:txBody>
      </p:sp>
      <p:sp>
        <p:nvSpPr>
          <p:cNvPr id="202" name="TextBox 39"/>
          <p:cNvSpPr txBox="1"/>
          <p:nvPr/>
        </p:nvSpPr>
        <p:spPr>
          <a:xfrm>
            <a:off x="12549449" y="3243528"/>
            <a:ext cx="3217414" cy="406917"/>
          </a:xfrm>
          <a:prstGeom prst="rect">
            <a:avLst/>
          </a:prstGeom>
        </p:spPr>
        <p:txBody>
          <a:bodyPr lIns="0" tIns="0" rIns="0" bIns="0" rtlCol="0" anchor="t">
            <a:spAutoFit/>
          </a:bodyPr>
          <a:lstStyle/>
          <a:p>
            <a:pPr marL="0" lvl="0" indent="0" algn="l">
              <a:lnSpc>
                <a:spcPts val="3320"/>
              </a:lnSpc>
              <a:spcBef>
                <a:spcPct val="0"/>
              </a:spcBef>
            </a:pPr>
            <a:r>
              <a:rPr lang="en-US" sz="2371" b="1">
                <a:solidFill>
                  <a:srgbClr val="000000"/>
                </a:solidFill>
                <a:latin typeface="Proxima Nova Bold"/>
                <a:ea typeface="Proxima Nova Bold"/>
                <a:cs typeface="Proxima Nova Bold"/>
                <a:sym typeface="Proxima Nova Bold"/>
              </a:rPr>
              <a:t>OSD.4 — server1</a:t>
            </a:r>
          </a:p>
        </p:txBody>
      </p:sp>
      <p:sp>
        <p:nvSpPr>
          <p:cNvPr id="203" name="TextBox 35"/>
          <p:cNvSpPr txBox="1"/>
          <p:nvPr/>
        </p:nvSpPr>
        <p:spPr>
          <a:xfrm>
            <a:off x="6820762" y="1546293"/>
            <a:ext cx="6285638" cy="641201"/>
          </a:xfrm>
          <a:prstGeom prst="rect">
            <a:avLst/>
          </a:prstGeom>
        </p:spPr>
        <p:txBody>
          <a:bodyPr wrap="square" lIns="0" tIns="0" rIns="0" bIns="0" rtlCol="0" anchor="t">
            <a:spAutoFit/>
          </a:bodyPr>
          <a:lstStyle/>
          <a:p>
            <a:pPr algn="ctr">
              <a:lnSpc>
                <a:spcPts val="5039"/>
              </a:lnSpc>
              <a:spcBef>
                <a:spcPct val="0"/>
              </a:spcBef>
            </a:pPr>
            <a:r>
              <a:rPr lang="fr-FR" sz="3599" b="1" dirty="0" smtClean="0">
                <a:solidFill>
                  <a:srgbClr val="000000"/>
                </a:solidFill>
                <a:latin typeface="Proxima Nova Bold"/>
                <a:ea typeface="Proxima Nova Bold"/>
                <a:cs typeface="Proxima Nova Bold"/>
              </a:rPr>
              <a:t>Pools </a:t>
            </a:r>
            <a:r>
              <a:rPr lang="fr-FR" sz="3599" b="1" dirty="0" err="1">
                <a:solidFill>
                  <a:srgbClr val="000000"/>
                </a:solidFill>
                <a:latin typeface="Proxima Nova Bold"/>
                <a:ea typeface="Proxima Nova Bold"/>
                <a:cs typeface="Proxima Nova Bold"/>
              </a:rPr>
              <a:t>Ceph</a:t>
            </a:r>
            <a:r>
              <a:rPr lang="fr-FR" sz="3599" b="1" dirty="0">
                <a:solidFill>
                  <a:srgbClr val="000000"/>
                </a:solidFill>
                <a:latin typeface="Proxima Nova Bold"/>
                <a:ea typeface="Proxima Nova Bold"/>
                <a:cs typeface="Proxima Nova Bold"/>
              </a:rPr>
              <a:t> &amp; Utilisation</a:t>
            </a:r>
            <a:endParaRPr lang="en-US" sz="3599" b="1" dirty="0">
              <a:solidFill>
                <a:srgbClr val="000000"/>
              </a:solidFill>
              <a:latin typeface="Proxima Nova Bold"/>
              <a:ea typeface="Proxima Nova Bold"/>
              <a:cs typeface="Proxima Nova Bold"/>
              <a:sym typeface="Proxima Nova Bold"/>
            </a:endParaRPr>
          </a:p>
        </p:txBody>
      </p:sp>
      <p:sp>
        <p:nvSpPr>
          <p:cNvPr id="5" name="Espace réservé du numéro de diapositive 4"/>
          <p:cNvSpPr>
            <a:spLocks noGrp="1"/>
          </p:cNvSpPr>
          <p:nvPr>
            <p:ph type="sldNum" sz="quarter" idx="12"/>
          </p:nvPr>
        </p:nvSpPr>
        <p:spPr/>
        <p:txBody>
          <a:bodyPr/>
          <a:lstStyle/>
          <a:p>
            <a:fld id="{B6F15528-21DE-4FAA-801E-634DDDAF4B2B}" type="slidenum">
              <a:rPr lang="en-US" sz="2800" b="1" smtClean="0"/>
              <a:pPr/>
              <a:t>9</a:t>
            </a:fld>
            <a:endParaRPr lang="en-US" sz="2800" b="1" dirty="0"/>
          </a:p>
        </p:txBody>
      </p:sp>
    </p:spTree>
    <p:extLst>
      <p:ext uri="{BB962C8B-B14F-4D97-AF65-F5344CB8AC3E}">
        <p14:creationId xmlns:p14="http://schemas.microsoft.com/office/powerpoint/2010/main" val="36794249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75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266700"/>
            <a:ext cx="18287999" cy="100203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64" name="Freeform 2"/>
          <p:cNvSpPr/>
          <p:nvPr/>
        </p:nvSpPr>
        <p:spPr>
          <a:xfrm flipH="1" flipV="1">
            <a:off x="13786009" y="4465220"/>
            <a:ext cx="2189588" cy="250807"/>
          </a:xfrm>
          <a:custGeom>
            <a:avLst/>
            <a:gdLst/>
            <a:ahLst/>
            <a:cxnLst/>
            <a:rect l="l" t="t" r="r" b="b"/>
            <a:pathLst>
              <a:path w="2189588" h="250807">
                <a:moveTo>
                  <a:pt x="2189587" y="250808"/>
                </a:moveTo>
                <a:lnTo>
                  <a:pt x="0" y="250808"/>
                </a:lnTo>
                <a:lnTo>
                  <a:pt x="0" y="0"/>
                </a:lnTo>
                <a:lnTo>
                  <a:pt x="2189587" y="0"/>
                </a:lnTo>
                <a:lnTo>
                  <a:pt x="2189587" y="250808"/>
                </a:lnTo>
                <a:close/>
              </a:path>
            </a:pathLst>
          </a:custGeom>
          <a:blipFill>
            <a:blip r:embed="rId4"/>
            <a:stretch>
              <a:fillRect/>
            </a:stretch>
          </a:blipFill>
        </p:spPr>
      </p:sp>
      <p:grpSp>
        <p:nvGrpSpPr>
          <p:cNvPr id="65" name="Group 3"/>
          <p:cNvGrpSpPr/>
          <p:nvPr/>
        </p:nvGrpSpPr>
        <p:grpSpPr>
          <a:xfrm>
            <a:off x="13904962" y="2042661"/>
            <a:ext cx="2189588" cy="2547963"/>
            <a:chOff x="0" y="0"/>
            <a:chExt cx="646475" cy="752285"/>
          </a:xfrm>
        </p:grpSpPr>
        <p:sp>
          <p:nvSpPr>
            <p:cNvPr id="66" name="Freeform 4"/>
            <p:cNvSpPr/>
            <p:nvPr/>
          </p:nvSpPr>
          <p:spPr>
            <a:xfrm>
              <a:off x="0" y="0"/>
              <a:ext cx="646475" cy="752285"/>
            </a:xfrm>
            <a:custGeom>
              <a:avLst/>
              <a:gdLst/>
              <a:ahLst/>
              <a:cxnLst/>
              <a:rect l="l" t="t" r="r" b="b"/>
              <a:pathLst>
                <a:path w="646475" h="752285">
                  <a:moveTo>
                    <a:pt x="91931" y="0"/>
                  </a:moveTo>
                  <a:lnTo>
                    <a:pt x="554544" y="0"/>
                  </a:lnTo>
                  <a:cubicBezTo>
                    <a:pt x="578926" y="0"/>
                    <a:pt x="602309" y="9686"/>
                    <a:pt x="619549" y="26926"/>
                  </a:cubicBezTo>
                  <a:cubicBezTo>
                    <a:pt x="636789" y="44166"/>
                    <a:pt x="646475" y="67549"/>
                    <a:pt x="646475" y="91931"/>
                  </a:cubicBezTo>
                  <a:lnTo>
                    <a:pt x="646475" y="660354"/>
                  </a:lnTo>
                  <a:cubicBezTo>
                    <a:pt x="646475" y="684736"/>
                    <a:pt x="636789" y="708119"/>
                    <a:pt x="619549" y="725359"/>
                  </a:cubicBezTo>
                  <a:cubicBezTo>
                    <a:pt x="602309" y="742599"/>
                    <a:pt x="578926" y="752285"/>
                    <a:pt x="554544" y="752285"/>
                  </a:cubicBezTo>
                  <a:lnTo>
                    <a:pt x="91931" y="752285"/>
                  </a:lnTo>
                  <a:cubicBezTo>
                    <a:pt x="67549" y="752285"/>
                    <a:pt x="44166" y="742599"/>
                    <a:pt x="26926" y="725359"/>
                  </a:cubicBezTo>
                  <a:cubicBezTo>
                    <a:pt x="9686" y="708119"/>
                    <a:pt x="0" y="684736"/>
                    <a:pt x="0" y="660354"/>
                  </a:cubicBezTo>
                  <a:lnTo>
                    <a:pt x="0" y="91931"/>
                  </a:lnTo>
                  <a:cubicBezTo>
                    <a:pt x="0" y="67549"/>
                    <a:pt x="9686" y="44166"/>
                    <a:pt x="26926" y="26926"/>
                  </a:cubicBezTo>
                  <a:cubicBezTo>
                    <a:pt x="44166" y="9686"/>
                    <a:pt x="67549" y="0"/>
                    <a:pt x="91931" y="0"/>
                  </a:cubicBezTo>
                  <a:close/>
                </a:path>
              </a:pathLst>
            </a:custGeom>
            <a:solidFill>
              <a:srgbClr val="FFFFFF"/>
            </a:solidFill>
          </p:spPr>
        </p:sp>
        <p:sp>
          <p:nvSpPr>
            <p:cNvPr id="67" name="TextBox 5"/>
            <p:cNvSpPr txBox="1"/>
            <p:nvPr/>
          </p:nvSpPr>
          <p:spPr>
            <a:xfrm>
              <a:off x="0" y="-38100"/>
              <a:ext cx="646475" cy="790385"/>
            </a:xfrm>
            <a:prstGeom prst="rect">
              <a:avLst/>
            </a:prstGeom>
          </p:spPr>
          <p:txBody>
            <a:bodyPr lIns="50800" tIns="50800" rIns="50800" bIns="50800" rtlCol="0" anchor="ctr"/>
            <a:lstStyle/>
            <a:p>
              <a:pPr algn="ctr">
                <a:lnSpc>
                  <a:spcPts val="2520"/>
                </a:lnSpc>
              </a:pPr>
              <a:endParaRPr/>
            </a:p>
          </p:txBody>
        </p:sp>
      </p:grpSp>
      <p:sp>
        <p:nvSpPr>
          <p:cNvPr id="68" name="Freeform 6"/>
          <p:cNvSpPr/>
          <p:nvPr/>
        </p:nvSpPr>
        <p:spPr>
          <a:xfrm flipH="1" flipV="1">
            <a:off x="10983487" y="4465220"/>
            <a:ext cx="2189588" cy="250807"/>
          </a:xfrm>
          <a:custGeom>
            <a:avLst/>
            <a:gdLst/>
            <a:ahLst/>
            <a:cxnLst/>
            <a:rect l="l" t="t" r="r" b="b"/>
            <a:pathLst>
              <a:path w="2189588" h="250807">
                <a:moveTo>
                  <a:pt x="2189588" y="250808"/>
                </a:moveTo>
                <a:lnTo>
                  <a:pt x="0" y="250808"/>
                </a:lnTo>
                <a:lnTo>
                  <a:pt x="0" y="0"/>
                </a:lnTo>
                <a:lnTo>
                  <a:pt x="2189588" y="0"/>
                </a:lnTo>
                <a:lnTo>
                  <a:pt x="2189588" y="250808"/>
                </a:lnTo>
                <a:close/>
              </a:path>
            </a:pathLst>
          </a:custGeom>
          <a:blipFill>
            <a:blip r:embed="rId4"/>
            <a:stretch>
              <a:fillRect/>
            </a:stretch>
          </a:blipFill>
        </p:spPr>
      </p:sp>
      <p:grpSp>
        <p:nvGrpSpPr>
          <p:cNvPr id="69" name="Group 7"/>
          <p:cNvGrpSpPr/>
          <p:nvPr/>
        </p:nvGrpSpPr>
        <p:grpSpPr>
          <a:xfrm>
            <a:off x="13179616" y="2897979"/>
            <a:ext cx="873109" cy="837327"/>
            <a:chOff x="0" y="0"/>
            <a:chExt cx="584518" cy="560562"/>
          </a:xfrm>
        </p:grpSpPr>
        <p:sp>
          <p:nvSpPr>
            <p:cNvPr id="70" name="Freeform 8"/>
            <p:cNvSpPr/>
            <p:nvPr/>
          </p:nvSpPr>
          <p:spPr>
            <a:xfrm>
              <a:off x="0" y="0"/>
              <a:ext cx="584518" cy="560562"/>
            </a:xfrm>
            <a:custGeom>
              <a:avLst/>
              <a:gdLst/>
              <a:ahLst/>
              <a:cxnLst/>
              <a:rect l="l" t="t" r="r" b="b"/>
              <a:pathLst>
                <a:path w="584518" h="560562">
                  <a:moveTo>
                    <a:pt x="381318" y="0"/>
                  </a:moveTo>
                  <a:lnTo>
                    <a:pt x="0" y="0"/>
                  </a:lnTo>
                  <a:lnTo>
                    <a:pt x="0" y="560562"/>
                  </a:lnTo>
                  <a:lnTo>
                    <a:pt x="381318" y="560562"/>
                  </a:lnTo>
                  <a:lnTo>
                    <a:pt x="584518" y="280281"/>
                  </a:lnTo>
                  <a:lnTo>
                    <a:pt x="381318" y="0"/>
                  </a:lnTo>
                  <a:close/>
                </a:path>
              </a:pathLst>
            </a:custGeom>
            <a:solidFill>
              <a:srgbClr val="3D6298"/>
            </a:solidFill>
          </p:spPr>
        </p:sp>
        <p:sp>
          <p:nvSpPr>
            <p:cNvPr id="71" name="TextBox 9"/>
            <p:cNvSpPr txBox="1"/>
            <p:nvPr/>
          </p:nvSpPr>
          <p:spPr>
            <a:xfrm>
              <a:off x="0" y="-38100"/>
              <a:ext cx="470218" cy="59866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72" name="Group 10"/>
          <p:cNvGrpSpPr/>
          <p:nvPr/>
        </p:nvGrpSpPr>
        <p:grpSpPr>
          <a:xfrm>
            <a:off x="11102441" y="2042661"/>
            <a:ext cx="2189588" cy="2547963"/>
            <a:chOff x="0" y="0"/>
            <a:chExt cx="646475" cy="752285"/>
          </a:xfrm>
        </p:grpSpPr>
        <p:sp>
          <p:nvSpPr>
            <p:cNvPr id="73" name="Freeform 11"/>
            <p:cNvSpPr/>
            <p:nvPr/>
          </p:nvSpPr>
          <p:spPr>
            <a:xfrm>
              <a:off x="0" y="0"/>
              <a:ext cx="646475" cy="752285"/>
            </a:xfrm>
            <a:custGeom>
              <a:avLst/>
              <a:gdLst/>
              <a:ahLst/>
              <a:cxnLst/>
              <a:rect l="l" t="t" r="r" b="b"/>
              <a:pathLst>
                <a:path w="646475" h="752285">
                  <a:moveTo>
                    <a:pt x="91931" y="0"/>
                  </a:moveTo>
                  <a:lnTo>
                    <a:pt x="554544" y="0"/>
                  </a:lnTo>
                  <a:cubicBezTo>
                    <a:pt x="578926" y="0"/>
                    <a:pt x="602309" y="9686"/>
                    <a:pt x="619549" y="26926"/>
                  </a:cubicBezTo>
                  <a:cubicBezTo>
                    <a:pt x="636789" y="44166"/>
                    <a:pt x="646475" y="67549"/>
                    <a:pt x="646475" y="91931"/>
                  </a:cubicBezTo>
                  <a:lnTo>
                    <a:pt x="646475" y="660354"/>
                  </a:lnTo>
                  <a:cubicBezTo>
                    <a:pt x="646475" y="684736"/>
                    <a:pt x="636789" y="708119"/>
                    <a:pt x="619549" y="725359"/>
                  </a:cubicBezTo>
                  <a:cubicBezTo>
                    <a:pt x="602309" y="742599"/>
                    <a:pt x="578926" y="752285"/>
                    <a:pt x="554544" y="752285"/>
                  </a:cubicBezTo>
                  <a:lnTo>
                    <a:pt x="91931" y="752285"/>
                  </a:lnTo>
                  <a:cubicBezTo>
                    <a:pt x="67549" y="752285"/>
                    <a:pt x="44166" y="742599"/>
                    <a:pt x="26926" y="725359"/>
                  </a:cubicBezTo>
                  <a:cubicBezTo>
                    <a:pt x="9686" y="708119"/>
                    <a:pt x="0" y="684736"/>
                    <a:pt x="0" y="660354"/>
                  </a:cubicBezTo>
                  <a:lnTo>
                    <a:pt x="0" y="91931"/>
                  </a:lnTo>
                  <a:cubicBezTo>
                    <a:pt x="0" y="67549"/>
                    <a:pt x="9686" y="44166"/>
                    <a:pt x="26926" y="26926"/>
                  </a:cubicBezTo>
                  <a:cubicBezTo>
                    <a:pt x="44166" y="9686"/>
                    <a:pt x="67549" y="0"/>
                    <a:pt x="91931" y="0"/>
                  </a:cubicBezTo>
                  <a:close/>
                </a:path>
              </a:pathLst>
            </a:custGeom>
            <a:solidFill>
              <a:srgbClr val="FFFFFF"/>
            </a:solidFill>
          </p:spPr>
        </p:sp>
        <p:sp>
          <p:nvSpPr>
            <p:cNvPr id="74" name="TextBox 12"/>
            <p:cNvSpPr txBox="1"/>
            <p:nvPr/>
          </p:nvSpPr>
          <p:spPr>
            <a:xfrm>
              <a:off x="0" y="-38100"/>
              <a:ext cx="646475" cy="790385"/>
            </a:xfrm>
            <a:prstGeom prst="rect">
              <a:avLst/>
            </a:prstGeom>
          </p:spPr>
          <p:txBody>
            <a:bodyPr lIns="50800" tIns="50800" rIns="50800" bIns="50800" rtlCol="0" anchor="ctr"/>
            <a:lstStyle/>
            <a:p>
              <a:pPr algn="ctr">
                <a:lnSpc>
                  <a:spcPts val="2520"/>
                </a:lnSpc>
              </a:pPr>
              <a:endParaRPr/>
            </a:p>
          </p:txBody>
        </p:sp>
      </p:grpSp>
      <p:sp>
        <p:nvSpPr>
          <p:cNvPr id="75" name="Freeform 13"/>
          <p:cNvSpPr/>
          <p:nvPr/>
        </p:nvSpPr>
        <p:spPr>
          <a:xfrm flipH="1" flipV="1">
            <a:off x="8180966" y="4465220"/>
            <a:ext cx="2189588" cy="250807"/>
          </a:xfrm>
          <a:custGeom>
            <a:avLst/>
            <a:gdLst/>
            <a:ahLst/>
            <a:cxnLst/>
            <a:rect l="l" t="t" r="r" b="b"/>
            <a:pathLst>
              <a:path w="2189588" h="250807">
                <a:moveTo>
                  <a:pt x="2189587" y="250808"/>
                </a:moveTo>
                <a:lnTo>
                  <a:pt x="0" y="250808"/>
                </a:lnTo>
                <a:lnTo>
                  <a:pt x="0" y="0"/>
                </a:lnTo>
                <a:lnTo>
                  <a:pt x="2189587" y="0"/>
                </a:lnTo>
                <a:lnTo>
                  <a:pt x="2189587" y="250808"/>
                </a:lnTo>
                <a:close/>
              </a:path>
            </a:pathLst>
          </a:custGeom>
          <a:blipFill>
            <a:blip r:embed="rId4"/>
            <a:stretch>
              <a:fillRect/>
            </a:stretch>
          </a:blipFill>
        </p:spPr>
      </p:sp>
      <p:grpSp>
        <p:nvGrpSpPr>
          <p:cNvPr id="76" name="Group 14"/>
          <p:cNvGrpSpPr/>
          <p:nvPr/>
        </p:nvGrpSpPr>
        <p:grpSpPr>
          <a:xfrm>
            <a:off x="10377094" y="2897979"/>
            <a:ext cx="873109" cy="837327"/>
            <a:chOff x="0" y="0"/>
            <a:chExt cx="584518" cy="560562"/>
          </a:xfrm>
        </p:grpSpPr>
        <p:sp>
          <p:nvSpPr>
            <p:cNvPr id="77" name="Freeform 15"/>
            <p:cNvSpPr/>
            <p:nvPr/>
          </p:nvSpPr>
          <p:spPr>
            <a:xfrm>
              <a:off x="0" y="0"/>
              <a:ext cx="584518" cy="560562"/>
            </a:xfrm>
            <a:custGeom>
              <a:avLst/>
              <a:gdLst/>
              <a:ahLst/>
              <a:cxnLst/>
              <a:rect l="l" t="t" r="r" b="b"/>
              <a:pathLst>
                <a:path w="584518" h="560562">
                  <a:moveTo>
                    <a:pt x="381318" y="0"/>
                  </a:moveTo>
                  <a:lnTo>
                    <a:pt x="0" y="0"/>
                  </a:lnTo>
                  <a:lnTo>
                    <a:pt x="0" y="560562"/>
                  </a:lnTo>
                  <a:lnTo>
                    <a:pt x="381318" y="560562"/>
                  </a:lnTo>
                  <a:lnTo>
                    <a:pt x="584518" y="280281"/>
                  </a:lnTo>
                  <a:lnTo>
                    <a:pt x="381318" y="0"/>
                  </a:lnTo>
                  <a:close/>
                </a:path>
              </a:pathLst>
            </a:custGeom>
            <a:solidFill>
              <a:srgbClr val="122359"/>
            </a:solidFill>
          </p:spPr>
        </p:sp>
        <p:sp>
          <p:nvSpPr>
            <p:cNvPr id="80" name="TextBox 16"/>
            <p:cNvSpPr txBox="1"/>
            <p:nvPr/>
          </p:nvSpPr>
          <p:spPr>
            <a:xfrm>
              <a:off x="0" y="-38100"/>
              <a:ext cx="470218" cy="598662"/>
            </a:xfrm>
            <a:prstGeom prst="rect">
              <a:avLst/>
            </a:prstGeom>
          </p:spPr>
          <p:txBody>
            <a:bodyPr lIns="50800" tIns="50800" rIns="50800" bIns="50800" rtlCol="0" anchor="ctr"/>
            <a:lstStyle/>
            <a:p>
              <a:pPr algn="ctr">
                <a:lnSpc>
                  <a:spcPts val="2520"/>
                </a:lnSpc>
              </a:pPr>
              <a:endParaRPr/>
            </a:p>
          </p:txBody>
        </p:sp>
      </p:grpSp>
      <p:grpSp>
        <p:nvGrpSpPr>
          <p:cNvPr id="83" name="Group 17"/>
          <p:cNvGrpSpPr/>
          <p:nvPr/>
        </p:nvGrpSpPr>
        <p:grpSpPr>
          <a:xfrm>
            <a:off x="8299920" y="2042661"/>
            <a:ext cx="2189588" cy="2547963"/>
            <a:chOff x="0" y="0"/>
            <a:chExt cx="646475" cy="752285"/>
          </a:xfrm>
        </p:grpSpPr>
        <p:sp>
          <p:nvSpPr>
            <p:cNvPr id="86" name="Freeform 18"/>
            <p:cNvSpPr/>
            <p:nvPr/>
          </p:nvSpPr>
          <p:spPr>
            <a:xfrm>
              <a:off x="0" y="0"/>
              <a:ext cx="646475" cy="752285"/>
            </a:xfrm>
            <a:custGeom>
              <a:avLst/>
              <a:gdLst/>
              <a:ahLst/>
              <a:cxnLst/>
              <a:rect l="l" t="t" r="r" b="b"/>
              <a:pathLst>
                <a:path w="646475" h="752285">
                  <a:moveTo>
                    <a:pt x="91931" y="0"/>
                  </a:moveTo>
                  <a:lnTo>
                    <a:pt x="554544" y="0"/>
                  </a:lnTo>
                  <a:cubicBezTo>
                    <a:pt x="578926" y="0"/>
                    <a:pt x="602309" y="9686"/>
                    <a:pt x="619549" y="26926"/>
                  </a:cubicBezTo>
                  <a:cubicBezTo>
                    <a:pt x="636789" y="44166"/>
                    <a:pt x="646475" y="67549"/>
                    <a:pt x="646475" y="91931"/>
                  </a:cubicBezTo>
                  <a:lnTo>
                    <a:pt x="646475" y="660354"/>
                  </a:lnTo>
                  <a:cubicBezTo>
                    <a:pt x="646475" y="684736"/>
                    <a:pt x="636789" y="708119"/>
                    <a:pt x="619549" y="725359"/>
                  </a:cubicBezTo>
                  <a:cubicBezTo>
                    <a:pt x="602309" y="742599"/>
                    <a:pt x="578926" y="752285"/>
                    <a:pt x="554544" y="752285"/>
                  </a:cubicBezTo>
                  <a:lnTo>
                    <a:pt x="91931" y="752285"/>
                  </a:lnTo>
                  <a:cubicBezTo>
                    <a:pt x="67549" y="752285"/>
                    <a:pt x="44166" y="742599"/>
                    <a:pt x="26926" y="725359"/>
                  </a:cubicBezTo>
                  <a:cubicBezTo>
                    <a:pt x="9686" y="708119"/>
                    <a:pt x="0" y="684736"/>
                    <a:pt x="0" y="660354"/>
                  </a:cubicBezTo>
                  <a:lnTo>
                    <a:pt x="0" y="91931"/>
                  </a:lnTo>
                  <a:cubicBezTo>
                    <a:pt x="0" y="67549"/>
                    <a:pt x="9686" y="44166"/>
                    <a:pt x="26926" y="26926"/>
                  </a:cubicBezTo>
                  <a:cubicBezTo>
                    <a:pt x="44166" y="9686"/>
                    <a:pt x="67549" y="0"/>
                    <a:pt x="91931" y="0"/>
                  </a:cubicBezTo>
                  <a:close/>
                </a:path>
              </a:pathLst>
            </a:custGeom>
            <a:solidFill>
              <a:srgbClr val="FFFFFF"/>
            </a:solidFill>
          </p:spPr>
        </p:sp>
        <p:sp>
          <p:nvSpPr>
            <p:cNvPr id="87" name="TextBox 19"/>
            <p:cNvSpPr txBox="1"/>
            <p:nvPr/>
          </p:nvSpPr>
          <p:spPr>
            <a:xfrm>
              <a:off x="0" y="-38100"/>
              <a:ext cx="646475" cy="790385"/>
            </a:xfrm>
            <a:prstGeom prst="rect">
              <a:avLst/>
            </a:prstGeom>
          </p:spPr>
          <p:txBody>
            <a:bodyPr lIns="50800" tIns="50800" rIns="50800" bIns="50800" rtlCol="0" anchor="ctr"/>
            <a:lstStyle/>
            <a:p>
              <a:pPr algn="ctr">
                <a:lnSpc>
                  <a:spcPts val="2520"/>
                </a:lnSpc>
              </a:pPr>
              <a:endParaRPr/>
            </a:p>
          </p:txBody>
        </p:sp>
      </p:grpSp>
      <p:grpSp>
        <p:nvGrpSpPr>
          <p:cNvPr id="88" name="Group 20"/>
          <p:cNvGrpSpPr/>
          <p:nvPr/>
        </p:nvGrpSpPr>
        <p:grpSpPr>
          <a:xfrm>
            <a:off x="8950648" y="1556552"/>
            <a:ext cx="888130" cy="888130"/>
            <a:chOff x="0" y="0"/>
            <a:chExt cx="812800" cy="812800"/>
          </a:xfrm>
        </p:grpSpPr>
        <p:sp>
          <p:nvSpPr>
            <p:cNvPr id="89"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22359"/>
            </a:solidFill>
          </p:spPr>
        </p:sp>
        <p:sp>
          <p:nvSpPr>
            <p:cNvPr id="90" name="TextBox 22"/>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699" b="1">
                  <a:solidFill>
                    <a:srgbClr val="FFFFFF"/>
                  </a:solidFill>
                  <a:latin typeface="DM Sans Bold"/>
                  <a:ea typeface="DM Sans Bold"/>
                  <a:cs typeface="DM Sans Bold"/>
                  <a:sym typeface="DM Sans Bold"/>
                </a:rPr>
                <a:t>01</a:t>
              </a:r>
            </a:p>
          </p:txBody>
        </p:sp>
      </p:grpSp>
      <p:grpSp>
        <p:nvGrpSpPr>
          <p:cNvPr id="91" name="Group 23"/>
          <p:cNvGrpSpPr/>
          <p:nvPr/>
        </p:nvGrpSpPr>
        <p:grpSpPr>
          <a:xfrm>
            <a:off x="11753170" y="1556552"/>
            <a:ext cx="888130" cy="888130"/>
            <a:chOff x="0" y="0"/>
            <a:chExt cx="812800" cy="812800"/>
          </a:xfrm>
        </p:grpSpPr>
        <p:sp>
          <p:nvSpPr>
            <p:cNvPr id="92"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D6298"/>
            </a:solidFill>
          </p:spPr>
        </p:sp>
        <p:sp>
          <p:nvSpPr>
            <p:cNvPr id="93" name="TextBox 25"/>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699" b="1">
                  <a:solidFill>
                    <a:srgbClr val="FFFFFF"/>
                  </a:solidFill>
                  <a:latin typeface="DM Sans Bold"/>
                  <a:ea typeface="DM Sans Bold"/>
                  <a:cs typeface="DM Sans Bold"/>
                  <a:sym typeface="DM Sans Bold"/>
                </a:rPr>
                <a:t>02</a:t>
              </a:r>
            </a:p>
          </p:txBody>
        </p:sp>
      </p:grpSp>
      <p:grpSp>
        <p:nvGrpSpPr>
          <p:cNvPr id="94" name="Group 26"/>
          <p:cNvGrpSpPr/>
          <p:nvPr/>
        </p:nvGrpSpPr>
        <p:grpSpPr>
          <a:xfrm>
            <a:off x="14555691" y="1556552"/>
            <a:ext cx="888130" cy="888130"/>
            <a:chOff x="0" y="0"/>
            <a:chExt cx="812800" cy="812800"/>
          </a:xfrm>
        </p:grpSpPr>
        <p:sp>
          <p:nvSpPr>
            <p:cNvPr id="95"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EC8DA"/>
            </a:solidFill>
          </p:spPr>
        </p:sp>
        <p:sp>
          <p:nvSpPr>
            <p:cNvPr id="96" name="TextBox 28"/>
            <p:cNvSpPr txBox="1"/>
            <p:nvPr/>
          </p:nvSpPr>
          <p:spPr>
            <a:xfrm>
              <a:off x="76200" y="28575"/>
              <a:ext cx="660400" cy="708025"/>
            </a:xfrm>
            <a:prstGeom prst="rect">
              <a:avLst/>
            </a:prstGeom>
          </p:spPr>
          <p:txBody>
            <a:bodyPr lIns="50800" tIns="50800" rIns="50800" bIns="50800" rtlCol="0" anchor="ctr"/>
            <a:lstStyle/>
            <a:p>
              <a:pPr marL="0" lvl="0" indent="0" algn="ctr">
                <a:lnSpc>
                  <a:spcPts val="3779"/>
                </a:lnSpc>
                <a:spcBef>
                  <a:spcPct val="0"/>
                </a:spcBef>
              </a:pPr>
              <a:r>
                <a:rPr lang="en-US" sz="2699" b="1">
                  <a:solidFill>
                    <a:srgbClr val="122359"/>
                  </a:solidFill>
                  <a:latin typeface="DM Sans Bold"/>
                  <a:ea typeface="DM Sans Bold"/>
                  <a:cs typeface="DM Sans Bold"/>
                  <a:sym typeface="DM Sans Bold"/>
                </a:rPr>
                <a:t>03</a:t>
              </a:r>
            </a:p>
          </p:txBody>
        </p:sp>
      </p:grpSp>
      <p:sp>
        <p:nvSpPr>
          <p:cNvPr id="97" name="TextBox 29"/>
          <p:cNvSpPr txBox="1"/>
          <p:nvPr/>
        </p:nvSpPr>
        <p:spPr>
          <a:xfrm>
            <a:off x="952500" y="3946198"/>
            <a:ext cx="5017568" cy="1227131"/>
          </a:xfrm>
          <a:prstGeom prst="rect">
            <a:avLst/>
          </a:prstGeom>
        </p:spPr>
        <p:txBody>
          <a:bodyPr lIns="0" tIns="0" rIns="0" bIns="0" rtlCol="0" anchor="t">
            <a:spAutoFit/>
          </a:bodyPr>
          <a:lstStyle/>
          <a:p>
            <a:pPr algn="l">
              <a:lnSpc>
                <a:spcPts val="5040"/>
              </a:lnSpc>
            </a:pPr>
            <a:r>
              <a:rPr lang="en-US" sz="3599" b="1" dirty="0">
                <a:solidFill>
                  <a:srgbClr val="000000"/>
                </a:solidFill>
                <a:latin typeface="Proxima Nova Bold"/>
                <a:ea typeface="Proxima Nova Bold"/>
                <a:cs typeface="Proxima Nova Bold"/>
                <a:sym typeface="DM Sans Bold"/>
              </a:rPr>
              <a:t>Architecture</a:t>
            </a:r>
            <a:r>
              <a:rPr lang="en-US" sz="3600" b="1" dirty="0">
                <a:solidFill>
                  <a:srgbClr val="112F8D"/>
                </a:solidFill>
                <a:latin typeface="DM Sans Bold"/>
                <a:ea typeface="DM Sans Bold"/>
                <a:cs typeface="DM Sans Bold"/>
                <a:sym typeface="DM Sans Bold"/>
              </a:rPr>
              <a:t> </a:t>
            </a:r>
            <a:r>
              <a:rPr lang="en-US" sz="3599" b="1" dirty="0">
                <a:solidFill>
                  <a:srgbClr val="000000"/>
                </a:solidFill>
                <a:latin typeface="Proxima Nova Bold"/>
                <a:ea typeface="Proxima Nova Bold"/>
                <a:cs typeface="Proxima Nova Bold"/>
                <a:sym typeface="DM Sans Bold"/>
              </a:rPr>
              <a:t>Zero-Trust</a:t>
            </a:r>
            <a:r>
              <a:rPr lang="en-US" sz="3600" b="1" dirty="0">
                <a:solidFill>
                  <a:srgbClr val="112F8D"/>
                </a:solidFill>
                <a:latin typeface="DM Sans Bold"/>
                <a:ea typeface="DM Sans Bold"/>
                <a:cs typeface="DM Sans Bold"/>
                <a:sym typeface="DM Sans Bold"/>
              </a:rPr>
              <a:t> : </a:t>
            </a:r>
            <a:r>
              <a:rPr lang="en-US" sz="3599" b="1" dirty="0">
                <a:solidFill>
                  <a:srgbClr val="000000"/>
                </a:solidFill>
                <a:latin typeface="Proxima Nova Bold"/>
                <a:ea typeface="Proxima Nova Bold"/>
                <a:cs typeface="Proxima Nova Bold"/>
                <a:sym typeface="DM Sans Bold"/>
              </a:rPr>
              <a:t>Les 3 </a:t>
            </a:r>
            <a:r>
              <a:rPr lang="en-US" sz="3599" b="1" dirty="0" smtClean="0">
                <a:solidFill>
                  <a:srgbClr val="000000"/>
                </a:solidFill>
                <a:latin typeface="Proxima Nova Bold"/>
                <a:ea typeface="Proxima Nova Bold"/>
                <a:cs typeface="Proxima Nova Bold"/>
                <a:sym typeface="DM Sans Bold"/>
              </a:rPr>
              <a:t>Couches</a:t>
            </a:r>
            <a:endParaRPr lang="en-US" sz="3599" b="1" dirty="0">
              <a:solidFill>
                <a:srgbClr val="000000"/>
              </a:solidFill>
              <a:latin typeface="Proxima Nova Bold"/>
              <a:ea typeface="Proxima Nova Bold"/>
              <a:cs typeface="Proxima Nova Bold"/>
              <a:sym typeface="DM Sans Bold"/>
            </a:endParaRPr>
          </a:p>
        </p:txBody>
      </p:sp>
      <p:sp>
        <p:nvSpPr>
          <p:cNvPr id="98" name="TextBox 30"/>
          <p:cNvSpPr txBox="1"/>
          <p:nvPr/>
        </p:nvSpPr>
        <p:spPr>
          <a:xfrm>
            <a:off x="8556582" y="2913517"/>
            <a:ext cx="1840352" cy="1282402"/>
          </a:xfrm>
          <a:prstGeom prst="rect">
            <a:avLst/>
          </a:prstGeom>
        </p:spPr>
        <p:txBody>
          <a:bodyPr wrap="square" lIns="0" tIns="0" rIns="0" bIns="0" rtlCol="0" anchor="t">
            <a:spAutoFit/>
          </a:bodyPr>
          <a:lstStyle/>
          <a:p>
            <a:pPr algn="l">
              <a:lnSpc>
                <a:spcPts val="1998"/>
              </a:lnSpc>
              <a:spcBef>
                <a:spcPct val="0"/>
              </a:spcBef>
            </a:pPr>
            <a:r>
              <a:rPr lang="en-US" sz="1427" dirty="0" err="1">
                <a:solidFill>
                  <a:srgbClr val="000000"/>
                </a:solidFill>
                <a:latin typeface="DM Sans"/>
                <a:ea typeface="DM Sans"/>
                <a:cs typeface="DM Sans"/>
                <a:sym typeface="DM Sans"/>
              </a:rPr>
              <a:t>pfSense</a:t>
            </a:r>
            <a:r>
              <a:rPr lang="en-US" sz="1427" dirty="0">
                <a:solidFill>
                  <a:srgbClr val="000000"/>
                </a:solidFill>
                <a:latin typeface="DM Sans"/>
                <a:ea typeface="DM Sans"/>
                <a:cs typeface="DM Sans"/>
                <a:sym typeface="DM Sans"/>
              </a:rPr>
              <a:t> Firewall</a:t>
            </a:r>
          </a:p>
          <a:p>
            <a:pPr algn="l">
              <a:lnSpc>
                <a:spcPts val="1998"/>
              </a:lnSpc>
              <a:spcBef>
                <a:spcPct val="0"/>
              </a:spcBef>
            </a:pPr>
            <a:r>
              <a:rPr lang="en-US" sz="1427" dirty="0">
                <a:solidFill>
                  <a:srgbClr val="000000"/>
                </a:solidFill>
                <a:latin typeface="DM Sans"/>
                <a:ea typeface="DM Sans"/>
                <a:cs typeface="DM Sans"/>
                <a:sym typeface="DM Sans"/>
              </a:rPr>
              <a:t>Micro-segmentation, IDS/IPS (</a:t>
            </a:r>
            <a:r>
              <a:rPr lang="en-US" sz="1427" dirty="0" err="1">
                <a:solidFill>
                  <a:srgbClr val="000000"/>
                </a:solidFill>
                <a:latin typeface="DM Sans"/>
                <a:ea typeface="DM Sans"/>
                <a:cs typeface="DM Sans"/>
                <a:sym typeface="DM Sans"/>
              </a:rPr>
              <a:t>Suricata</a:t>
            </a:r>
            <a:r>
              <a:rPr lang="en-US" sz="1427" dirty="0">
                <a:solidFill>
                  <a:srgbClr val="000000"/>
                </a:solidFill>
                <a:latin typeface="DM Sans"/>
                <a:ea typeface="DM Sans"/>
                <a:cs typeface="DM Sans"/>
                <a:sym typeface="DM Sans"/>
              </a:rPr>
              <a:t>) et isolation </a:t>
            </a:r>
            <a:r>
              <a:rPr lang="en-US" sz="1427" dirty="0" err="1">
                <a:solidFill>
                  <a:srgbClr val="000000"/>
                </a:solidFill>
                <a:latin typeface="DM Sans"/>
                <a:ea typeface="DM Sans"/>
                <a:cs typeface="DM Sans"/>
                <a:sym typeface="DM Sans"/>
              </a:rPr>
              <a:t>granulaire</a:t>
            </a:r>
            <a:r>
              <a:rPr lang="en-US" sz="1427" dirty="0">
                <a:solidFill>
                  <a:srgbClr val="000000"/>
                </a:solidFill>
                <a:latin typeface="DM Sans"/>
                <a:ea typeface="DM Sans"/>
                <a:cs typeface="DM Sans"/>
                <a:sym typeface="DM Sans"/>
              </a:rPr>
              <a:t> des flux </a:t>
            </a:r>
            <a:r>
              <a:rPr lang="en-US" sz="1427" dirty="0" err="1">
                <a:solidFill>
                  <a:srgbClr val="000000"/>
                </a:solidFill>
                <a:latin typeface="DM Sans"/>
                <a:ea typeface="DM Sans"/>
                <a:cs typeface="DM Sans"/>
                <a:sym typeface="DM Sans"/>
              </a:rPr>
              <a:t>réseau</a:t>
            </a:r>
            <a:r>
              <a:rPr lang="en-US" sz="1427" dirty="0">
                <a:solidFill>
                  <a:srgbClr val="000000"/>
                </a:solidFill>
                <a:latin typeface="DM Sans"/>
                <a:ea typeface="DM Sans"/>
                <a:cs typeface="DM Sans"/>
                <a:sym typeface="DM Sans"/>
              </a:rPr>
              <a:t>.</a:t>
            </a:r>
          </a:p>
        </p:txBody>
      </p:sp>
      <p:sp>
        <p:nvSpPr>
          <p:cNvPr id="100" name="TextBox 31"/>
          <p:cNvSpPr txBox="1"/>
          <p:nvPr/>
        </p:nvSpPr>
        <p:spPr>
          <a:xfrm>
            <a:off x="8488803" y="2500486"/>
            <a:ext cx="1777932" cy="277706"/>
          </a:xfrm>
          <a:prstGeom prst="rect">
            <a:avLst/>
          </a:prstGeom>
        </p:spPr>
        <p:txBody>
          <a:bodyPr lIns="0" tIns="0" rIns="0" bIns="0" rtlCol="0" anchor="t">
            <a:spAutoFit/>
          </a:bodyPr>
          <a:lstStyle/>
          <a:p>
            <a:pPr algn="ctr">
              <a:lnSpc>
                <a:spcPts val="2247"/>
              </a:lnSpc>
              <a:spcBef>
                <a:spcPct val="0"/>
              </a:spcBef>
            </a:pPr>
            <a:r>
              <a:rPr lang="en-US" sz="1605" b="1">
                <a:solidFill>
                  <a:srgbClr val="000000"/>
                </a:solidFill>
                <a:latin typeface="DM Sans Bold"/>
                <a:ea typeface="DM Sans Bold"/>
                <a:cs typeface="DM Sans Bold"/>
                <a:sym typeface="DM Sans Bold"/>
              </a:rPr>
              <a:t>Couche 1 : Réseau</a:t>
            </a:r>
          </a:p>
        </p:txBody>
      </p:sp>
      <p:sp>
        <p:nvSpPr>
          <p:cNvPr id="103" name="TextBox 40"/>
          <p:cNvSpPr txBox="1"/>
          <p:nvPr/>
        </p:nvSpPr>
        <p:spPr>
          <a:xfrm>
            <a:off x="952500" y="5536817"/>
            <a:ext cx="3639834" cy="1107996"/>
          </a:xfrm>
          <a:prstGeom prst="rect">
            <a:avLst/>
          </a:prstGeom>
        </p:spPr>
        <p:txBody>
          <a:bodyPr lIns="0" tIns="0" rIns="0" bIns="0" rtlCol="0" anchor="t">
            <a:spAutoFit/>
          </a:bodyPr>
          <a:lstStyle/>
          <a:p>
            <a:r>
              <a:rPr lang="fr-FR" sz="2400" b="1" dirty="0"/>
              <a:t>adopté une architecture </a:t>
            </a:r>
            <a:r>
              <a:rPr lang="fr-FR" sz="2400" b="1" dirty="0" err="1"/>
              <a:t>Zero</a:t>
            </a:r>
            <a:r>
              <a:rPr lang="fr-FR" sz="2400" b="1" dirty="0"/>
              <a:t>-Trust basée sur trois couches complémentaires.</a:t>
            </a:r>
            <a:endParaRPr lang="fr-FR" sz="3200" dirty="0">
              <a:effectLst/>
            </a:endParaRPr>
          </a:p>
        </p:txBody>
      </p:sp>
      <p:sp>
        <p:nvSpPr>
          <p:cNvPr id="104" name="TextBox 41"/>
          <p:cNvSpPr txBox="1"/>
          <p:nvPr/>
        </p:nvSpPr>
        <p:spPr>
          <a:xfrm>
            <a:off x="14127735" y="3250711"/>
            <a:ext cx="1966815" cy="968147"/>
          </a:xfrm>
          <a:prstGeom prst="rect">
            <a:avLst/>
          </a:prstGeom>
        </p:spPr>
        <p:txBody>
          <a:bodyPr lIns="0" tIns="0" rIns="0" bIns="0" rtlCol="0" anchor="t">
            <a:spAutoFit/>
          </a:bodyPr>
          <a:lstStyle/>
          <a:p>
            <a:pPr algn="l">
              <a:lnSpc>
                <a:spcPts val="1998"/>
              </a:lnSpc>
              <a:spcBef>
                <a:spcPct val="0"/>
              </a:spcBef>
            </a:pPr>
            <a:r>
              <a:rPr lang="en-US" sz="1427" dirty="0" err="1">
                <a:solidFill>
                  <a:srgbClr val="000000"/>
                </a:solidFill>
                <a:latin typeface="DM Sans"/>
                <a:ea typeface="DM Sans"/>
                <a:cs typeface="DM Sans"/>
                <a:sym typeface="DM Sans"/>
              </a:rPr>
              <a:t>Cloudflare</a:t>
            </a:r>
            <a:r>
              <a:rPr lang="en-US" sz="1427" dirty="0">
                <a:solidFill>
                  <a:srgbClr val="000000"/>
                </a:solidFill>
                <a:latin typeface="DM Sans"/>
                <a:ea typeface="DM Sans"/>
                <a:cs typeface="DM Sans"/>
                <a:sym typeface="DM Sans"/>
              </a:rPr>
              <a:t> , Tunnels </a:t>
            </a:r>
            <a:r>
              <a:rPr lang="en-US" sz="1427" dirty="0" err="1">
                <a:solidFill>
                  <a:srgbClr val="000000"/>
                </a:solidFill>
                <a:latin typeface="DM Sans"/>
                <a:ea typeface="DM Sans"/>
                <a:cs typeface="DM Sans"/>
                <a:sym typeface="DM Sans"/>
              </a:rPr>
              <a:t>sécurisés</a:t>
            </a:r>
            <a:r>
              <a:rPr lang="en-US" sz="1427" dirty="0">
                <a:solidFill>
                  <a:srgbClr val="000000"/>
                </a:solidFill>
                <a:latin typeface="DM Sans"/>
                <a:ea typeface="DM Sans"/>
                <a:cs typeface="DM Sans"/>
                <a:sym typeface="DM Sans"/>
              </a:rPr>
              <a:t> et </a:t>
            </a:r>
            <a:r>
              <a:rPr lang="en-US" sz="1427" dirty="0" err="1">
                <a:solidFill>
                  <a:srgbClr val="000000"/>
                </a:solidFill>
                <a:latin typeface="DM Sans"/>
                <a:ea typeface="DM Sans"/>
                <a:cs typeface="DM Sans"/>
                <a:sym typeface="DM Sans"/>
              </a:rPr>
              <a:t>politiques</a:t>
            </a:r>
            <a:r>
              <a:rPr lang="en-US" sz="1427" dirty="0">
                <a:solidFill>
                  <a:srgbClr val="000000"/>
                </a:solidFill>
                <a:latin typeface="DM Sans"/>
                <a:ea typeface="DM Sans"/>
                <a:cs typeface="DM Sans"/>
                <a:sym typeface="DM Sans"/>
              </a:rPr>
              <a:t> </a:t>
            </a:r>
            <a:r>
              <a:rPr lang="en-US" sz="1427" dirty="0" err="1">
                <a:solidFill>
                  <a:srgbClr val="000000"/>
                </a:solidFill>
                <a:latin typeface="DM Sans"/>
                <a:ea typeface="DM Sans"/>
                <a:cs typeface="DM Sans"/>
                <a:sym typeface="DM Sans"/>
              </a:rPr>
              <a:t>d'accès</a:t>
            </a:r>
            <a:r>
              <a:rPr lang="en-US" sz="1427" dirty="0">
                <a:solidFill>
                  <a:srgbClr val="000000"/>
                </a:solidFill>
                <a:latin typeface="DM Sans"/>
                <a:ea typeface="DM Sans"/>
                <a:cs typeface="DM Sans"/>
                <a:sym typeface="DM Sans"/>
              </a:rPr>
              <a:t> </a:t>
            </a:r>
            <a:r>
              <a:rPr lang="en-US" sz="1427" dirty="0" err="1">
                <a:solidFill>
                  <a:srgbClr val="000000"/>
                </a:solidFill>
                <a:latin typeface="DM Sans"/>
                <a:ea typeface="DM Sans"/>
                <a:cs typeface="DM Sans"/>
                <a:sym typeface="DM Sans"/>
              </a:rPr>
              <a:t>contextuelles</a:t>
            </a:r>
            <a:r>
              <a:rPr lang="en-US" sz="1427" dirty="0">
                <a:solidFill>
                  <a:srgbClr val="000000"/>
                </a:solidFill>
                <a:latin typeface="DM Sans"/>
                <a:ea typeface="DM Sans"/>
                <a:cs typeface="DM Sans"/>
                <a:sym typeface="DM Sans"/>
              </a:rPr>
              <a:t> sans VPN</a:t>
            </a:r>
          </a:p>
        </p:txBody>
      </p:sp>
      <p:sp>
        <p:nvSpPr>
          <p:cNvPr id="105" name="TextBox 42"/>
          <p:cNvSpPr txBox="1"/>
          <p:nvPr/>
        </p:nvSpPr>
        <p:spPr>
          <a:xfrm>
            <a:off x="13904962" y="2620290"/>
            <a:ext cx="2189588" cy="277706"/>
          </a:xfrm>
          <a:prstGeom prst="rect">
            <a:avLst/>
          </a:prstGeom>
        </p:spPr>
        <p:txBody>
          <a:bodyPr lIns="0" tIns="0" rIns="0" bIns="0" rtlCol="0" anchor="t">
            <a:spAutoFit/>
          </a:bodyPr>
          <a:lstStyle/>
          <a:p>
            <a:pPr algn="ctr">
              <a:lnSpc>
                <a:spcPts val="2247"/>
              </a:lnSpc>
              <a:spcBef>
                <a:spcPct val="0"/>
              </a:spcBef>
            </a:pPr>
            <a:r>
              <a:rPr lang="en-US" sz="1605" b="1">
                <a:solidFill>
                  <a:srgbClr val="000000"/>
                </a:solidFill>
                <a:latin typeface="DM Sans Bold"/>
                <a:ea typeface="DM Sans Bold"/>
                <a:cs typeface="DM Sans Bold"/>
                <a:sym typeface="DM Sans Bold"/>
              </a:rPr>
              <a:t>Couche 3 : Accès</a:t>
            </a:r>
          </a:p>
        </p:txBody>
      </p:sp>
      <p:sp>
        <p:nvSpPr>
          <p:cNvPr id="106" name="TextBox 43"/>
          <p:cNvSpPr txBox="1"/>
          <p:nvPr/>
        </p:nvSpPr>
        <p:spPr>
          <a:xfrm>
            <a:off x="11325117" y="3127543"/>
            <a:ext cx="1885486" cy="1214485"/>
          </a:xfrm>
          <a:prstGeom prst="rect">
            <a:avLst/>
          </a:prstGeom>
        </p:spPr>
        <p:txBody>
          <a:bodyPr lIns="0" tIns="0" rIns="0" bIns="0" rtlCol="0" anchor="t">
            <a:spAutoFit/>
          </a:bodyPr>
          <a:lstStyle/>
          <a:p>
            <a:pPr algn="just">
              <a:lnSpc>
                <a:spcPts val="1998"/>
              </a:lnSpc>
              <a:spcBef>
                <a:spcPct val="0"/>
              </a:spcBef>
            </a:pPr>
            <a:r>
              <a:rPr lang="en-US" sz="1427" dirty="0" err="1">
                <a:solidFill>
                  <a:srgbClr val="000000"/>
                </a:solidFill>
                <a:latin typeface="DM Sans"/>
                <a:ea typeface="DM Sans"/>
                <a:cs typeface="DM Sans"/>
                <a:sym typeface="DM Sans"/>
              </a:rPr>
              <a:t>Keycloak</a:t>
            </a:r>
            <a:r>
              <a:rPr lang="en-US" sz="1427" dirty="0">
                <a:solidFill>
                  <a:srgbClr val="000000"/>
                </a:solidFill>
                <a:latin typeface="DM Sans"/>
                <a:ea typeface="DM Sans"/>
                <a:cs typeface="DM Sans"/>
                <a:sym typeface="DM Sans"/>
              </a:rPr>
              <a:t> </a:t>
            </a:r>
          </a:p>
          <a:p>
            <a:pPr algn="just">
              <a:lnSpc>
                <a:spcPts val="1998"/>
              </a:lnSpc>
              <a:spcBef>
                <a:spcPct val="0"/>
              </a:spcBef>
            </a:pPr>
            <a:r>
              <a:rPr lang="en-US" sz="1427" dirty="0" err="1">
                <a:solidFill>
                  <a:srgbClr val="000000"/>
                </a:solidFill>
                <a:latin typeface="DM Sans"/>
                <a:ea typeface="DM Sans"/>
                <a:cs typeface="DM Sans"/>
                <a:sym typeface="DM Sans"/>
              </a:rPr>
              <a:t>Gestion</a:t>
            </a:r>
            <a:r>
              <a:rPr lang="en-US" sz="1427" dirty="0">
                <a:solidFill>
                  <a:srgbClr val="000000"/>
                </a:solidFill>
                <a:latin typeface="DM Sans"/>
                <a:ea typeface="DM Sans"/>
                <a:cs typeface="DM Sans"/>
                <a:sym typeface="DM Sans"/>
              </a:rPr>
              <a:t> </a:t>
            </a:r>
            <a:r>
              <a:rPr lang="en-US" sz="1427" dirty="0" err="1">
                <a:solidFill>
                  <a:srgbClr val="000000"/>
                </a:solidFill>
                <a:latin typeface="DM Sans"/>
                <a:ea typeface="DM Sans"/>
                <a:cs typeface="DM Sans"/>
                <a:sym typeface="DM Sans"/>
              </a:rPr>
              <a:t>centralisée</a:t>
            </a:r>
            <a:r>
              <a:rPr lang="en-US" sz="1427" dirty="0">
                <a:solidFill>
                  <a:srgbClr val="000000"/>
                </a:solidFill>
                <a:latin typeface="DM Sans"/>
                <a:ea typeface="DM Sans"/>
                <a:cs typeface="DM Sans"/>
                <a:sym typeface="DM Sans"/>
              </a:rPr>
              <a:t>, MFA, OTP et SSO pour </a:t>
            </a:r>
            <a:r>
              <a:rPr lang="en-US" sz="1427" dirty="0" err="1">
                <a:solidFill>
                  <a:srgbClr val="000000"/>
                </a:solidFill>
                <a:latin typeface="DM Sans"/>
                <a:ea typeface="DM Sans"/>
                <a:cs typeface="DM Sans"/>
                <a:sym typeface="DM Sans"/>
              </a:rPr>
              <a:t>une</a:t>
            </a:r>
            <a:r>
              <a:rPr lang="en-US" sz="1427" dirty="0">
                <a:solidFill>
                  <a:srgbClr val="000000"/>
                </a:solidFill>
                <a:latin typeface="DM Sans"/>
                <a:ea typeface="DM Sans"/>
                <a:cs typeface="DM Sans"/>
                <a:sym typeface="DM Sans"/>
              </a:rPr>
              <a:t> </a:t>
            </a:r>
            <a:r>
              <a:rPr lang="en-US" sz="1427" dirty="0" err="1">
                <a:solidFill>
                  <a:srgbClr val="000000"/>
                </a:solidFill>
                <a:latin typeface="DM Sans"/>
                <a:ea typeface="DM Sans"/>
                <a:cs typeface="DM Sans"/>
                <a:sym typeface="DM Sans"/>
              </a:rPr>
              <a:t>authentification</a:t>
            </a:r>
            <a:r>
              <a:rPr lang="en-US" sz="1427" dirty="0">
                <a:solidFill>
                  <a:srgbClr val="000000"/>
                </a:solidFill>
                <a:latin typeface="DM Sans"/>
                <a:ea typeface="DM Sans"/>
                <a:cs typeface="DM Sans"/>
                <a:sym typeface="DM Sans"/>
              </a:rPr>
              <a:t> </a:t>
            </a:r>
            <a:r>
              <a:rPr lang="en-US" sz="1427" dirty="0" err="1">
                <a:solidFill>
                  <a:srgbClr val="000000"/>
                </a:solidFill>
                <a:latin typeface="DM Sans"/>
                <a:ea typeface="DM Sans"/>
                <a:cs typeface="DM Sans"/>
                <a:sym typeface="DM Sans"/>
              </a:rPr>
              <a:t>unifiée</a:t>
            </a:r>
            <a:r>
              <a:rPr lang="en-US" sz="1427" dirty="0">
                <a:solidFill>
                  <a:srgbClr val="000000"/>
                </a:solidFill>
                <a:latin typeface="DM Sans"/>
                <a:ea typeface="DM Sans"/>
                <a:cs typeface="DM Sans"/>
                <a:sym typeface="DM Sans"/>
              </a:rPr>
              <a:t>.</a:t>
            </a:r>
          </a:p>
        </p:txBody>
      </p:sp>
      <p:sp>
        <p:nvSpPr>
          <p:cNvPr id="107" name="TextBox 44"/>
          <p:cNvSpPr txBox="1"/>
          <p:nvPr/>
        </p:nvSpPr>
        <p:spPr>
          <a:xfrm>
            <a:off x="11154605" y="2620290"/>
            <a:ext cx="2085066" cy="277706"/>
          </a:xfrm>
          <a:prstGeom prst="rect">
            <a:avLst/>
          </a:prstGeom>
        </p:spPr>
        <p:txBody>
          <a:bodyPr lIns="0" tIns="0" rIns="0" bIns="0" rtlCol="0" anchor="t">
            <a:spAutoFit/>
          </a:bodyPr>
          <a:lstStyle/>
          <a:p>
            <a:pPr algn="ctr">
              <a:lnSpc>
                <a:spcPts val="2247"/>
              </a:lnSpc>
              <a:spcBef>
                <a:spcPct val="0"/>
              </a:spcBef>
            </a:pPr>
            <a:r>
              <a:rPr lang="en-US" sz="1605" b="1">
                <a:solidFill>
                  <a:srgbClr val="000000"/>
                </a:solidFill>
                <a:latin typeface="DM Sans Bold"/>
                <a:ea typeface="DM Sans Bold"/>
                <a:cs typeface="DM Sans Bold"/>
                <a:sym typeface="DM Sans Bold"/>
              </a:rPr>
              <a:t>Couche 2 : Identité</a:t>
            </a:r>
          </a:p>
        </p:txBody>
      </p:sp>
      <p:sp>
        <p:nvSpPr>
          <p:cNvPr id="109" name="Freeform 35"/>
          <p:cNvSpPr/>
          <p:nvPr/>
        </p:nvSpPr>
        <p:spPr>
          <a:xfrm>
            <a:off x="6963772" y="5586254"/>
            <a:ext cx="11188532" cy="4306883"/>
          </a:xfrm>
          <a:custGeom>
            <a:avLst/>
            <a:gdLst/>
            <a:ahLst/>
            <a:cxnLst/>
            <a:rect l="l" t="t" r="r" b="b"/>
            <a:pathLst>
              <a:path w="11188532" h="4306883">
                <a:moveTo>
                  <a:pt x="0" y="0"/>
                </a:moveTo>
                <a:lnTo>
                  <a:pt x="11188532" y="0"/>
                </a:lnTo>
                <a:lnTo>
                  <a:pt x="11188532" y="4306882"/>
                </a:lnTo>
                <a:lnTo>
                  <a:pt x="0" y="4306882"/>
                </a:lnTo>
                <a:lnTo>
                  <a:pt x="0" y="0"/>
                </a:lnTo>
                <a:close/>
              </a:path>
            </a:pathLst>
          </a:custGeom>
          <a:blipFill>
            <a:blip r:embed="rId5"/>
            <a:stretch>
              <a:fillRect/>
            </a:stretch>
          </a:blipFill>
        </p:spPr>
      </p:sp>
      <p:sp>
        <p:nvSpPr>
          <p:cNvPr id="110" name="Freeform 36"/>
          <p:cNvSpPr/>
          <p:nvPr/>
        </p:nvSpPr>
        <p:spPr>
          <a:xfrm>
            <a:off x="8488803" y="6189474"/>
            <a:ext cx="8482322" cy="3392929"/>
          </a:xfrm>
          <a:custGeom>
            <a:avLst/>
            <a:gdLst/>
            <a:ahLst/>
            <a:cxnLst/>
            <a:rect l="l" t="t" r="r" b="b"/>
            <a:pathLst>
              <a:path w="8482322" h="3392929">
                <a:moveTo>
                  <a:pt x="0" y="0"/>
                </a:moveTo>
                <a:lnTo>
                  <a:pt x="8482322" y="0"/>
                </a:lnTo>
                <a:lnTo>
                  <a:pt x="8482322" y="3392929"/>
                </a:lnTo>
                <a:lnTo>
                  <a:pt x="0" y="3392929"/>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grpSp>
        <p:nvGrpSpPr>
          <p:cNvPr id="111" name="Group 37"/>
          <p:cNvGrpSpPr/>
          <p:nvPr/>
        </p:nvGrpSpPr>
        <p:grpSpPr>
          <a:xfrm>
            <a:off x="10396934" y="6297457"/>
            <a:ext cx="6267739" cy="2500698"/>
            <a:chOff x="0" y="0"/>
            <a:chExt cx="4274128" cy="1705289"/>
          </a:xfrm>
        </p:grpSpPr>
        <p:sp>
          <p:nvSpPr>
            <p:cNvPr id="112" name="Freeform 38"/>
            <p:cNvSpPr/>
            <p:nvPr/>
          </p:nvSpPr>
          <p:spPr>
            <a:xfrm>
              <a:off x="0" y="0"/>
              <a:ext cx="4274127" cy="1705289"/>
            </a:xfrm>
            <a:custGeom>
              <a:avLst/>
              <a:gdLst/>
              <a:ahLst/>
              <a:cxnLst/>
              <a:rect l="l" t="t" r="r" b="b"/>
              <a:pathLst>
                <a:path w="4274127" h="1705289">
                  <a:moveTo>
                    <a:pt x="2137064" y="0"/>
                  </a:moveTo>
                  <a:cubicBezTo>
                    <a:pt x="956796" y="0"/>
                    <a:pt x="0" y="381742"/>
                    <a:pt x="0" y="852644"/>
                  </a:cubicBezTo>
                  <a:cubicBezTo>
                    <a:pt x="0" y="1323547"/>
                    <a:pt x="956796" y="1705289"/>
                    <a:pt x="2137064" y="1705289"/>
                  </a:cubicBezTo>
                  <a:cubicBezTo>
                    <a:pt x="3317332" y="1705289"/>
                    <a:pt x="4274127" y="1323547"/>
                    <a:pt x="4274127" y="852644"/>
                  </a:cubicBezTo>
                  <a:cubicBezTo>
                    <a:pt x="4274127" y="381742"/>
                    <a:pt x="3317332" y="0"/>
                    <a:pt x="2137064" y="0"/>
                  </a:cubicBezTo>
                  <a:close/>
                </a:path>
              </a:pathLst>
            </a:custGeom>
            <a:solidFill>
              <a:srgbClr val="3D6298"/>
            </a:solidFill>
          </p:spPr>
        </p:sp>
        <p:sp>
          <p:nvSpPr>
            <p:cNvPr id="113" name="TextBox 39"/>
            <p:cNvSpPr txBox="1"/>
            <p:nvPr/>
          </p:nvSpPr>
          <p:spPr>
            <a:xfrm>
              <a:off x="400699" y="121771"/>
              <a:ext cx="3472729" cy="1423647"/>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14" name="Freeform 45"/>
          <p:cNvSpPr/>
          <p:nvPr/>
        </p:nvSpPr>
        <p:spPr>
          <a:xfrm>
            <a:off x="8336804" y="5958020"/>
            <a:ext cx="9508900" cy="3803560"/>
          </a:xfrm>
          <a:custGeom>
            <a:avLst/>
            <a:gdLst/>
            <a:ahLst/>
            <a:cxnLst/>
            <a:rect l="l" t="t" r="r" b="b"/>
            <a:pathLst>
              <a:path w="9508900" h="3803560">
                <a:moveTo>
                  <a:pt x="0" y="0"/>
                </a:moveTo>
                <a:lnTo>
                  <a:pt x="9508900" y="0"/>
                </a:lnTo>
                <a:lnTo>
                  <a:pt x="9508900" y="3803560"/>
                </a:lnTo>
                <a:lnTo>
                  <a:pt x="0" y="3803560"/>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grpSp>
        <p:nvGrpSpPr>
          <p:cNvPr id="115" name="Group 46"/>
          <p:cNvGrpSpPr/>
          <p:nvPr/>
        </p:nvGrpSpPr>
        <p:grpSpPr>
          <a:xfrm>
            <a:off x="3088993" y="3545618"/>
            <a:ext cx="13882132" cy="4679608"/>
            <a:chOff x="262606" y="84286"/>
            <a:chExt cx="9513110" cy="3206829"/>
          </a:xfrm>
        </p:grpSpPr>
        <p:sp>
          <p:nvSpPr>
            <p:cNvPr id="116" name="Freeform 47"/>
            <p:cNvSpPr/>
            <p:nvPr/>
          </p:nvSpPr>
          <p:spPr>
            <a:xfrm>
              <a:off x="6974587" y="1985662"/>
              <a:ext cx="2801129" cy="1305453"/>
            </a:xfrm>
            <a:custGeom>
              <a:avLst/>
              <a:gdLst/>
              <a:ahLst/>
              <a:cxnLst/>
              <a:rect l="l" t="t" r="r" b="b"/>
              <a:pathLst>
                <a:path w="2801129" h="1305453">
                  <a:moveTo>
                    <a:pt x="1400565" y="0"/>
                  </a:moveTo>
                  <a:cubicBezTo>
                    <a:pt x="627054" y="0"/>
                    <a:pt x="0" y="292236"/>
                    <a:pt x="0" y="652727"/>
                  </a:cubicBezTo>
                  <a:cubicBezTo>
                    <a:pt x="0" y="1013218"/>
                    <a:pt x="627054" y="1305453"/>
                    <a:pt x="1400565" y="1305453"/>
                  </a:cubicBezTo>
                  <a:cubicBezTo>
                    <a:pt x="2174075" y="1305453"/>
                    <a:pt x="2801129" y="1013218"/>
                    <a:pt x="2801129" y="652727"/>
                  </a:cubicBezTo>
                  <a:cubicBezTo>
                    <a:pt x="2801129" y="292236"/>
                    <a:pt x="2174075" y="0"/>
                    <a:pt x="1400565" y="0"/>
                  </a:cubicBezTo>
                  <a:close/>
                </a:path>
              </a:pathLst>
            </a:custGeom>
            <a:solidFill>
              <a:srgbClr val="BEC8DA"/>
            </a:solidFill>
          </p:spPr>
        </p:sp>
        <p:sp>
          <p:nvSpPr>
            <p:cNvPr id="117" name="TextBox 48"/>
            <p:cNvSpPr txBox="1"/>
            <p:nvPr/>
          </p:nvSpPr>
          <p:spPr>
            <a:xfrm>
              <a:off x="262606" y="84286"/>
              <a:ext cx="2275917" cy="1098781"/>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08" name="Freeform 32"/>
          <p:cNvSpPr/>
          <p:nvPr/>
        </p:nvSpPr>
        <p:spPr>
          <a:xfrm flipH="1">
            <a:off x="9605389" y="4590624"/>
            <a:ext cx="316551" cy="2360466"/>
          </a:xfrm>
          <a:custGeom>
            <a:avLst/>
            <a:gdLst/>
            <a:ahLst/>
            <a:cxnLst/>
            <a:rect l="l" t="t" r="r" b="b"/>
            <a:pathLst>
              <a:path w="303875" h="2360466">
                <a:moveTo>
                  <a:pt x="303875" y="0"/>
                </a:moveTo>
                <a:lnTo>
                  <a:pt x="303875" y="807912"/>
                </a:lnTo>
                <a:cubicBezTo>
                  <a:pt x="303875" y="891824"/>
                  <a:pt x="235851" y="959849"/>
                  <a:pt x="151938" y="959849"/>
                </a:cubicBezTo>
                <a:lnTo>
                  <a:pt x="151938" y="959849"/>
                </a:lnTo>
                <a:cubicBezTo>
                  <a:pt x="68024" y="959849"/>
                  <a:pt x="0" y="1027874"/>
                  <a:pt x="0" y="1111787"/>
                </a:cubicBezTo>
                <a:lnTo>
                  <a:pt x="0" y="2360465"/>
                </a:lnTo>
              </a:path>
            </a:pathLst>
          </a:custGeom>
          <a:ln w="28575" cap="flat">
            <a:solidFill>
              <a:srgbClr val="A9B4CD"/>
            </a:solidFill>
            <a:prstDash val="solid"/>
            <a:headEnd type="none" w="sm" len="sm"/>
            <a:tailEnd type="oval" w="lg" len="lg"/>
          </a:ln>
        </p:spPr>
      </p:sp>
      <p:sp>
        <p:nvSpPr>
          <p:cNvPr id="101" name="Freeform 33"/>
          <p:cNvSpPr/>
          <p:nvPr/>
        </p:nvSpPr>
        <p:spPr>
          <a:xfrm>
            <a:off x="11743586" y="4590624"/>
            <a:ext cx="453649" cy="2053954"/>
          </a:xfrm>
          <a:custGeom>
            <a:avLst/>
            <a:gdLst/>
            <a:ahLst/>
            <a:cxnLst/>
            <a:rect l="l" t="t" r="r" b="b"/>
            <a:pathLst>
              <a:path w="1065985" h="2053954">
                <a:moveTo>
                  <a:pt x="1065985" y="0"/>
                </a:moveTo>
                <a:lnTo>
                  <a:pt x="1065985" y="623877"/>
                </a:lnTo>
                <a:cubicBezTo>
                  <a:pt x="1065985" y="734348"/>
                  <a:pt x="976431" y="823902"/>
                  <a:pt x="865960" y="823902"/>
                </a:cubicBezTo>
                <a:lnTo>
                  <a:pt x="200025" y="823902"/>
                </a:lnTo>
                <a:cubicBezTo>
                  <a:pt x="89554" y="823902"/>
                  <a:pt x="0" y="913456"/>
                  <a:pt x="0" y="1023927"/>
                </a:cubicBezTo>
                <a:lnTo>
                  <a:pt x="0" y="2053954"/>
                </a:lnTo>
              </a:path>
            </a:pathLst>
          </a:custGeom>
          <a:ln w="28575" cap="flat">
            <a:solidFill>
              <a:srgbClr val="A9B4CD"/>
            </a:solidFill>
            <a:prstDash val="solid"/>
            <a:headEnd type="none" w="sm" len="sm"/>
            <a:tailEnd type="oval" w="lg" len="lg"/>
          </a:ln>
        </p:spPr>
      </p:sp>
      <p:sp>
        <p:nvSpPr>
          <p:cNvPr id="102" name="Freeform 34"/>
          <p:cNvSpPr/>
          <p:nvPr/>
        </p:nvSpPr>
        <p:spPr>
          <a:xfrm>
            <a:off x="14026345" y="4590624"/>
            <a:ext cx="973411" cy="2053954"/>
          </a:xfrm>
          <a:custGeom>
            <a:avLst/>
            <a:gdLst/>
            <a:ahLst/>
            <a:cxnLst/>
            <a:rect l="l" t="t" r="r" b="b"/>
            <a:pathLst>
              <a:path w="1507235" h="2053954">
                <a:moveTo>
                  <a:pt x="1507235" y="0"/>
                </a:moveTo>
                <a:lnTo>
                  <a:pt x="1507235" y="759824"/>
                </a:lnTo>
                <a:cubicBezTo>
                  <a:pt x="1507235" y="870295"/>
                  <a:pt x="1417681" y="959849"/>
                  <a:pt x="1307210" y="959849"/>
                </a:cubicBezTo>
                <a:lnTo>
                  <a:pt x="200025" y="959849"/>
                </a:lnTo>
                <a:cubicBezTo>
                  <a:pt x="89554" y="959849"/>
                  <a:pt x="0" y="1049404"/>
                  <a:pt x="0" y="1159874"/>
                </a:cubicBezTo>
                <a:lnTo>
                  <a:pt x="0" y="2053954"/>
                </a:lnTo>
              </a:path>
            </a:pathLst>
          </a:custGeom>
          <a:ln w="28575" cap="flat">
            <a:solidFill>
              <a:srgbClr val="A9B4CD"/>
            </a:solidFill>
            <a:prstDash val="solid"/>
            <a:headEnd type="none" w="sm" len="sm"/>
            <a:tailEnd type="oval" w="lg" len="lg"/>
          </a:ln>
        </p:spPr>
      </p:sp>
      <p:sp>
        <p:nvSpPr>
          <p:cNvPr id="4" name="Espace réservé du numéro de diapositive 3"/>
          <p:cNvSpPr>
            <a:spLocks noGrp="1"/>
          </p:cNvSpPr>
          <p:nvPr>
            <p:ph type="sldNum" sz="quarter" idx="12"/>
          </p:nvPr>
        </p:nvSpPr>
        <p:spPr>
          <a:xfrm>
            <a:off x="15993304" y="9827795"/>
            <a:ext cx="2133600" cy="365125"/>
          </a:xfrm>
        </p:spPr>
        <p:txBody>
          <a:bodyPr/>
          <a:lstStyle/>
          <a:p>
            <a:fld id="{B6F15528-21DE-4FAA-801E-634DDDAF4B2B}" type="slidenum">
              <a:rPr lang="en-US" sz="2400" b="1" smtClean="0"/>
              <a:pPr/>
              <a:t>10</a:t>
            </a:fld>
            <a:endParaRPr lang="en-US" sz="2400" b="1" dirty="0"/>
          </a:p>
        </p:txBody>
      </p:sp>
    </p:spTree>
    <p:extLst>
      <p:ext uri="{BB962C8B-B14F-4D97-AF65-F5344CB8AC3E}">
        <p14:creationId xmlns:p14="http://schemas.microsoft.com/office/powerpoint/2010/main" val="30618232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1000"/>
                                        <p:tgtEl>
                                          <p:spTgt spid="33"/>
                                        </p:tgtEl>
                                      </p:cBhvr>
                                    </p:animEffect>
                                    <p:anim calcmode="lin" valueType="num">
                                      <p:cBhvr>
                                        <p:cTn id="8" dur="1000" fill="hold"/>
                                        <p:tgtEl>
                                          <p:spTgt spid="33"/>
                                        </p:tgtEl>
                                        <p:attrNameLst>
                                          <p:attrName>ppt_x</p:attrName>
                                        </p:attrNameLst>
                                      </p:cBhvr>
                                      <p:tavLst>
                                        <p:tav tm="0">
                                          <p:val>
                                            <p:strVal val="#ppt_x"/>
                                          </p:val>
                                        </p:tav>
                                        <p:tav tm="100000">
                                          <p:val>
                                            <p:strVal val="#ppt_x"/>
                                          </p:val>
                                        </p:tav>
                                      </p:tavLst>
                                    </p:anim>
                                    <p:anim calcmode="lin" valueType="num">
                                      <p:cBhvr>
                                        <p:cTn id="9" dur="10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nodeType="clickEffect">
                                  <p:stCondLst>
                                    <p:cond delay="0"/>
                                  </p:stCondLst>
                                  <p:childTnLst>
                                    <p:set>
                                      <p:cBhvr>
                                        <p:cTn id="13" dur="1" fill="hold">
                                          <p:stCondLst>
                                            <p:cond delay="0"/>
                                          </p:stCondLst>
                                        </p:cTn>
                                        <p:tgtEl>
                                          <p:spTgt spid="75"/>
                                        </p:tgtEl>
                                        <p:attrNameLst>
                                          <p:attrName>style.visibility</p:attrName>
                                        </p:attrNameLst>
                                      </p:cBhvr>
                                      <p:to>
                                        <p:strVal val="visible"/>
                                      </p:to>
                                    </p:set>
                                    <p:animEffect transition="in" filter="fade">
                                      <p:cBhvr>
                                        <p:cTn id="14" dur="500"/>
                                        <p:tgtEl>
                                          <p:spTgt spid="75"/>
                                        </p:tgtEl>
                                      </p:cBhvr>
                                    </p:animEffect>
                                  </p:childTnLst>
                                </p:cTn>
                              </p:par>
                              <p:par>
                                <p:cTn id="15" presetID="10" presetClass="entr" presetSubtype="0" fill="hold" nodeType="withEffect">
                                  <p:stCondLst>
                                    <p:cond delay="0"/>
                                  </p:stCondLst>
                                  <p:childTnLst>
                                    <p:set>
                                      <p:cBhvr>
                                        <p:cTn id="16" dur="1" fill="hold">
                                          <p:stCondLst>
                                            <p:cond delay="0"/>
                                          </p:stCondLst>
                                        </p:cTn>
                                        <p:tgtEl>
                                          <p:spTgt spid="108"/>
                                        </p:tgtEl>
                                        <p:attrNameLst>
                                          <p:attrName>style.visibility</p:attrName>
                                        </p:attrNameLst>
                                      </p:cBhvr>
                                      <p:to>
                                        <p:strVal val="visible"/>
                                      </p:to>
                                    </p:set>
                                    <p:animEffect transition="in" filter="fade">
                                      <p:cBhvr>
                                        <p:cTn id="17" dur="500"/>
                                        <p:tgtEl>
                                          <p:spTgt spid="108"/>
                                        </p:tgtEl>
                                      </p:cBhvr>
                                    </p:animEffect>
                                  </p:childTnLst>
                                </p:cTn>
                              </p:par>
                              <p:par>
                                <p:cTn id="18" presetID="10" presetClass="entr" presetSubtype="0" fill="hold" nodeType="withEffect">
                                  <p:stCondLst>
                                    <p:cond delay="0"/>
                                  </p:stCondLst>
                                  <p:childTnLst>
                                    <p:set>
                                      <p:cBhvr>
                                        <p:cTn id="19" dur="1" fill="hold">
                                          <p:stCondLst>
                                            <p:cond delay="0"/>
                                          </p:stCondLst>
                                        </p:cTn>
                                        <p:tgtEl>
                                          <p:spTgt spid="109"/>
                                        </p:tgtEl>
                                        <p:attrNameLst>
                                          <p:attrName>style.visibility</p:attrName>
                                        </p:attrNameLst>
                                      </p:cBhvr>
                                      <p:to>
                                        <p:strVal val="visible"/>
                                      </p:to>
                                    </p:set>
                                    <p:animEffect transition="in" filter="fade">
                                      <p:cBhvr>
                                        <p:cTn id="20" dur="500"/>
                                        <p:tgtEl>
                                          <p:spTgt spid="10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fade">
                                      <p:cBhvr>
                                        <p:cTn id="23" dur="500"/>
                                        <p:tgtEl>
                                          <p:spTgt spid="9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0"/>
                                        </p:tgtEl>
                                        <p:attrNameLst>
                                          <p:attrName>style.visibility</p:attrName>
                                        </p:attrNameLst>
                                      </p:cBhvr>
                                      <p:to>
                                        <p:strVal val="visible"/>
                                      </p:to>
                                    </p:set>
                                    <p:animEffect transition="in" filter="fade">
                                      <p:cBhvr>
                                        <p:cTn id="26" dur="500"/>
                                        <p:tgtEl>
                                          <p:spTgt spid="100"/>
                                        </p:tgtEl>
                                      </p:cBhvr>
                                    </p:animEffect>
                                  </p:childTnLst>
                                </p:cTn>
                              </p:par>
                              <p:par>
                                <p:cTn id="27" presetID="10" presetClass="entr" presetSubtype="0" fill="hold" nodeType="withEffect">
                                  <p:stCondLst>
                                    <p:cond delay="0"/>
                                  </p:stCondLst>
                                  <p:childTnLst>
                                    <p:set>
                                      <p:cBhvr>
                                        <p:cTn id="28" dur="1" fill="hold">
                                          <p:stCondLst>
                                            <p:cond delay="0"/>
                                          </p:stCondLst>
                                        </p:cTn>
                                        <p:tgtEl>
                                          <p:spTgt spid="88"/>
                                        </p:tgtEl>
                                        <p:attrNameLst>
                                          <p:attrName>style.visibility</p:attrName>
                                        </p:attrNameLst>
                                      </p:cBhvr>
                                      <p:to>
                                        <p:strVal val="visible"/>
                                      </p:to>
                                    </p:set>
                                    <p:animEffect transition="in" filter="fade">
                                      <p:cBhvr>
                                        <p:cTn id="29" dur="500"/>
                                        <p:tgtEl>
                                          <p:spTgt spid="88"/>
                                        </p:tgtEl>
                                      </p:cBhvr>
                                    </p:animEffect>
                                  </p:childTnLst>
                                </p:cTn>
                              </p:par>
                              <p:par>
                                <p:cTn id="30" presetID="10" presetClass="entr" presetSubtype="0" fill="hold" nodeType="withEffect">
                                  <p:stCondLst>
                                    <p:cond delay="0"/>
                                  </p:stCondLst>
                                  <p:childTnLst>
                                    <p:set>
                                      <p:cBhvr>
                                        <p:cTn id="31" dur="1" fill="hold">
                                          <p:stCondLst>
                                            <p:cond delay="0"/>
                                          </p:stCondLst>
                                        </p:cTn>
                                        <p:tgtEl>
                                          <p:spTgt spid="83"/>
                                        </p:tgtEl>
                                        <p:attrNameLst>
                                          <p:attrName>style.visibility</p:attrName>
                                        </p:attrNameLst>
                                      </p:cBhvr>
                                      <p:to>
                                        <p:strVal val="visible"/>
                                      </p:to>
                                    </p:set>
                                    <p:animEffect transition="in" filter="fade">
                                      <p:cBhvr>
                                        <p:cTn id="32" dur="500"/>
                                        <p:tgtEl>
                                          <p:spTgt spid="83"/>
                                        </p:tgtEl>
                                      </p:cBhvr>
                                    </p:animEffect>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110"/>
                                        </p:tgtEl>
                                        <p:attrNameLst>
                                          <p:attrName>style.visibility</p:attrName>
                                        </p:attrNameLst>
                                      </p:cBhvr>
                                      <p:to>
                                        <p:strVal val="visible"/>
                                      </p:to>
                                    </p:set>
                                    <p:anim calcmode="lin" valueType="num">
                                      <p:cBhvr additive="base">
                                        <p:cTn id="37" dur="500" fill="hold"/>
                                        <p:tgtEl>
                                          <p:spTgt spid="110"/>
                                        </p:tgtEl>
                                        <p:attrNameLst>
                                          <p:attrName>ppt_x</p:attrName>
                                        </p:attrNameLst>
                                      </p:cBhvr>
                                      <p:tavLst>
                                        <p:tav tm="0">
                                          <p:val>
                                            <p:strVal val="0-#ppt_w/2"/>
                                          </p:val>
                                        </p:tav>
                                        <p:tav tm="100000">
                                          <p:val>
                                            <p:strVal val="#ppt_x"/>
                                          </p:val>
                                        </p:tav>
                                      </p:tavLst>
                                    </p:anim>
                                    <p:anim calcmode="lin" valueType="num">
                                      <p:cBhvr additive="base">
                                        <p:cTn id="38" dur="500" fill="hold"/>
                                        <p:tgtEl>
                                          <p:spTgt spid="110"/>
                                        </p:tgtEl>
                                        <p:attrNameLst>
                                          <p:attrName>ppt_y</p:attrName>
                                        </p:attrNameLst>
                                      </p:cBhvr>
                                      <p:tavLst>
                                        <p:tav tm="0">
                                          <p:val>
                                            <p:strVal val="#ppt_y"/>
                                          </p:val>
                                        </p:tav>
                                        <p:tav tm="100000">
                                          <p:val>
                                            <p:strVal val="#ppt_y"/>
                                          </p:val>
                                        </p:tav>
                                      </p:tavLst>
                                    </p:anim>
                                  </p:childTnLst>
                                </p:cTn>
                              </p:par>
                              <p:par>
                                <p:cTn id="39" presetID="2" presetClass="entr" presetSubtype="8" fill="hold" nodeType="withEffect">
                                  <p:stCondLst>
                                    <p:cond delay="0"/>
                                  </p:stCondLst>
                                  <p:childTnLst>
                                    <p:set>
                                      <p:cBhvr>
                                        <p:cTn id="40" dur="1" fill="hold">
                                          <p:stCondLst>
                                            <p:cond delay="0"/>
                                          </p:stCondLst>
                                        </p:cTn>
                                        <p:tgtEl>
                                          <p:spTgt spid="111"/>
                                        </p:tgtEl>
                                        <p:attrNameLst>
                                          <p:attrName>style.visibility</p:attrName>
                                        </p:attrNameLst>
                                      </p:cBhvr>
                                      <p:to>
                                        <p:strVal val="visible"/>
                                      </p:to>
                                    </p:set>
                                    <p:anim calcmode="lin" valueType="num">
                                      <p:cBhvr additive="base">
                                        <p:cTn id="41" dur="500" fill="hold"/>
                                        <p:tgtEl>
                                          <p:spTgt spid="111"/>
                                        </p:tgtEl>
                                        <p:attrNameLst>
                                          <p:attrName>ppt_x</p:attrName>
                                        </p:attrNameLst>
                                      </p:cBhvr>
                                      <p:tavLst>
                                        <p:tav tm="0">
                                          <p:val>
                                            <p:strVal val="0-#ppt_w/2"/>
                                          </p:val>
                                        </p:tav>
                                        <p:tav tm="100000">
                                          <p:val>
                                            <p:strVal val="#ppt_x"/>
                                          </p:val>
                                        </p:tav>
                                      </p:tavLst>
                                    </p:anim>
                                    <p:anim calcmode="lin" valueType="num">
                                      <p:cBhvr additive="base">
                                        <p:cTn id="42" dur="500" fill="hold"/>
                                        <p:tgtEl>
                                          <p:spTgt spid="111"/>
                                        </p:tgtEl>
                                        <p:attrNameLst>
                                          <p:attrName>ppt_y</p:attrName>
                                        </p:attrNameLst>
                                      </p:cBhvr>
                                      <p:tavLst>
                                        <p:tav tm="0">
                                          <p:val>
                                            <p:strVal val="#ppt_y"/>
                                          </p:val>
                                        </p:tav>
                                        <p:tav tm="100000">
                                          <p:val>
                                            <p:strVal val="#ppt_y"/>
                                          </p:val>
                                        </p:tav>
                                      </p:tavLst>
                                    </p:anim>
                                  </p:childTnLst>
                                </p:cTn>
                              </p:par>
                              <p:par>
                                <p:cTn id="43" presetID="2" presetClass="entr" presetSubtype="8" fill="hold" nodeType="withEffect">
                                  <p:stCondLst>
                                    <p:cond delay="0"/>
                                  </p:stCondLst>
                                  <p:childTnLst>
                                    <p:set>
                                      <p:cBhvr>
                                        <p:cTn id="44" dur="1" fill="hold">
                                          <p:stCondLst>
                                            <p:cond delay="0"/>
                                          </p:stCondLst>
                                        </p:cTn>
                                        <p:tgtEl>
                                          <p:spTgt spid="101"/>
                                        </p:tgtEl>
                                        <p:attrNameLst>
                                          <p:attrName>style.visibility</p:attrName>
                                        </p:attrNameLst>
                                      </p:cBhvr>
                                      <p:to>
                                        <p:strVal val="visible"/>
                                      </p:to>
                                    </p:set>
                                    <p:anim calcmode="lin" valueType="num">
                                      <p:cBhvr additive="base">
                                        <p:cTn id="45" dur="500" fill="hold"/>
                                        <p:tgtEl>
                                          <p:spTgt spid="101"/>
                                        </p:tgtEl>
                                        <p:attrNameLst>
                                          <p:attrName>ppt_x</p:attrName>
                                        </p:attrNameLst>
                                      </p:cBhvr>
                                      <p:tavLst>
                                        <p:tav tm="0">
                                          <p:val>
                                            <p:strVal val="0-#ppt_w/2"/>
                                          </p:val>
                                        </p:tav>
                                        <p:tav tm="100000">
                                          <p:val>
                                            <p:strVal val="#ppt_x"/>
                                          </p:val>
                                        </p:tav>
                                      </p:tavLst>
                                    </p:anim>
                                    <p:anim calcmode="lin" valueType="num">
                                      <p:cBhvr additive="base">
                                        <p:cTn id="46" dur="500" fill="hold"/>
                                        <p:tgtEl>
                                          <p:spTgt spid="101"/>
                                        </p:tgtEl>
                                        <p:attrNameLst>
                                          <p:attrName>ppt_y</p:attrName>
                                        </p:attrNameLst>
                                      </p:cBhvr>
                                      <p:tavLst>
                                        <p:tav tm="0">
                                          <p:val>
                                            <p:strVal val="#ppt_y"/>
                                          </p:val>
                                        </p:tav>
                                        <p:tav tm="100000">
                                          <p:val>
                                            <p:strVal val="#ppt_y"/>
                                          </p:val>
                                        </p:tav>
                                      </p:tavLst>
                                    </p:anim>
                                  </p:childTnLst>
                                </p:cTn>
                              </p:par>
                              <p:par>
                                <p:cTn id="47" presetID="2" presetClass="entr" presetSubtype="8" fill="hold" nodeType="withEffect">
                                  <p:stCondLst>
                                    <p:cond delay="0"/>
                                  </p:stCondLst>
                                  <p:childTnLst>
                                    <p:set>
                                      <p:cBhvr>
                                        <p:cTn id="48" dur="1" fill="hold">
                                          <p:stCondLst>
                                            <p:cond delay="0"/>
                                          </p:stCondLst>
                                        </p:cTn>
                                        <p:tgtEl>
                                          <p:spTgt spid="76"/>
                                        </p:tgtEl>
                                        <p:attrNameLst>
                                          <p:attrName>style.visibility</p:attrName>
                                        </p:attrNameLst>
                                      </p:cBhvr>
                                      <p:to>
                                        <p:strVal val="visible"/>
                                      </p:to>
                                    </p:set>
                                    <p:anim calcmode="lin" valueType="num">
                                      <p:cBhvr additive="base">
                                        <p:cTn id="49" dur="500" fill="hold"/>
                                        <p:tgtEl>
                                          <p:spTgt spid="76"/>
                                        </p:tgtEl>
                                        <p:attrNameLst>
                                          <p:attrName>ppt_x</p:attrName>
                                        </p:attrNameLst>
                                      </p:cBhvr>
                                      <p:tavLst>
                                        <p:tav tm="0">
                                          <p:val>
                                            <p:strVal val="0-#ppt_w/2"/>
                                          </p:val>
                                        </p:tav>
                                        <p:tav tm="100000">
                                          <p:val>
                                            <p:strVal val="#ppt_x"/>
                                          </p:val>
                                        </p:tav>
                                      </p:tavLst>
                                    </p:anim>
                                    <p:anim calcmode="lin" valueType="num">
                                      <p:cBhvr additive="base">
                                        <p:cTn id="50" dur="500" fill="hold"/>
                                        <p:tgtEl>
                                          <p:spTgt spid="76"/>
                                        </p:tgtEl>
                                        <p:attrNameLst>
                                          <p:attrName>ppt_y</p:attrName>
                                        </p:attrNameLst>
                                      </p:cBhvr>
                                      <p:tavLst>
                                        <p:tav tm="0">
                                          <p:val>
                                            <p:strVal val="#ppt_y"/>
                                          </p:val>
                                        </p:tav>
                                        <p:tav tm="100000">
                                          <p:val>
                                            <p:strVal val="#ppt_y"/>
                                          </p:val>
                                        </p:tav>
                                      </p:tavLst>
                                    </p:anim>
                                  </p:childTnLst>
                                </p:cTn>
                              </p:par>
                              <p:par>
                                <p:cTn id="51" presetID="2" presetClass="entr" presetSubtype="8" fill="hold" nodeType="withEffect">
                                  <p:stCondLst>
                                    <p:cond delay="0"/>
                                  </p:stCondLst>
                                  <p:childTnLst>
                                    <p:set>
                                      <p:cBhvr>
                                        <p:cTn id="52" dur="1" fill="hold">
                                          <p:stCondLst>
                                            <p:cond delay="0"/>
                                          </p:stCondLst>
                                        </p:cTn>
                                        <p:tgtEl>
                                          <p:spTgt spid="68"/>
                                        </p:tgtEl>
                                        <p:attrNameLst>
                                          <p:attrName>style.visibility</p:attrName>
                                        </p:attrNameLst>
                                      </p:cBhvr>
                                      <p:to>
                                        <p:strVal val="visible"/>
                                      </p:to>
                                    </p:set>
                                    <p:anim calcmode="lin" valueType="num">
                                      <p:cBhvr additive="base">
                                        <p:cTn id="53" dur="500" fill="hold"/>
                                        <p:tgtEl>
                                          <p:spTgt spid="68"/>
                                        </p:tgtEl>
                                        <p:attrNameLst>
                                          <p:attrName>ppt_x</p:attrName>
                                        </p:attrNameLst>
                                      </p:cBhvr>
                                      <p:tavLst>
                                        <p:tav tm="0">
                                          <p:val>
                                            <p:strVal val="0-#ppt_w/2"/>
                                          </p:val>
                                        </p:tav>
                                        <p:tav tm="100000">
                                          <p:val>
                                            <p:strVal val="#ppt_x"/>
                                          </p:val>
                                        </p:tav>
                                      </p:tavLst>
                                    </p:anim>
                                    <p:anim calcmode="lin" valueType="num">
                                      <p:cBhvr additive="base">
                                        <p:cTn id="54" dur="500" fill="hold"/>
                                        <p:tgtEl>
                                          <p:spTgt spid="68"/>
                                        </p:tgtEl>
                                        <p:attrNameLst>
                                          <p:attrName>ppt_y</p:attrName>
                                        </p:attrNameLst>
                                      </p:cBhvr>
                                      <p:tavLst>
                                        <p:tav tm="0">
                                          <p:val>
                                            <p:strVal val="#ppt_y"/>
                                          </p:val>
                                        </p:tav>
                                        <p:tav tm="100000">
                                          <p:val>
                                            <p:strVal val="#ppt_y"/>
                                          </p:val>
                                        </p:tav>
                                      </p:tavLst>
                                    </p:anim>
                                  </p:childTnLst>
                                </p:cTn>
                              </p:par>
                              <p:par>
                                <p:cTn id="55" presetID="2" presetClass="entr" presetSubtype="8" fill="hold" grpId="0" nodeType="withEffect">
                                  <p:stCondLst>
                                    <p:cond delay="0"/>
                                  </p:stCondLst>
                                  <p:childTnLst>
                                    <p:set>
                                      <p:cBhvr>
                                        <p:cTn id="56" dur="1" fill="hold">
                                          <p:stCondLst>
                                            <p:cond delay="0"/>
                                          </p:stCondLst>
                                        </p:cTn>
                                        <p:tgtEl>
                                          <p:spTgt spid="106"/>
                                        </p:tgtEl>
                                        <p:attrNameLst>
                                          <p:attrName>style.visibility</p:attrName>
                                        </p:attrNameLst>
                                      </p:cBhvr>
                                      <p:to>
                                        <p:strVal val="visible"/>
                                      </p:to>
                                    </p:set>
                                    <p:anim calcmode="lin" valueType="num">
                                      <p:cBhvr additive="base">
                                        <p:cTn id="57" dur="500" fill="hold"/>
                                        <p:tgtEl>
                                          <p:spTgt spid="106"/>
                                        </p:tgtEl>
                                        <p:attrNameLst>
                                          <p:attrName>ppt_x</p:attrName>
                                        </p:attrNameLst>
                                      </p:cBhvr>
                                      <p:tavLst>
                                        <p:tav tm="0">
                                          <p:val>
                                            <p:strVal val="0-#ppt_w/2"/>
                                          </p:val>
                                        </p:tav>
                                        <p:tav tm="100000">
                                          <p:val>
                                            <p:strVal val="#ppt_x"/>
                                          </p:val>
                                        </p:tav>
                                      </p:tavLst>
                                    </p:anim>
                                    <p:anim calcmode="lin" valueType="num">
                                      <p:cBhvr additive="base">
                                        <p:cTn id="58" dur="500" fill="hold"/>
                                        <p:tgtEl>
                                          <p:spTgt spid="106"/>
                                        </p:tgtEl>
                                        <p:attrNameLst>
                                          <p:attrName>ppt_y</p:attrName>
                                        </p:attrNameLst>
                                      </p:cBhvr>
                                      <p:tavLst>
                                        <p:tav tm="0">
                                          <p:val>
                                            <p:strVal val="#ppt_y"/>
                                          </p:val>
                                        </p:tav>
                                        <p:tav tm="100000">
                                          <p:val>
                                            <p:strVal val="#ppt_y"/>
                                          </p:val>
                                        </p:tav>
                                      </p:tavLst>
                                    </p:anim>
                                  </p:childTnLst>
                                </p:cTn>
                              </p:par>
                              <p:par>
                                <p:cTn id="59" presetID="2" presetClass="entr" presetSubtype="8" fill="hold" grpId="0" nodeType="withEffect">
                                  <p:stCondLst>
                                    <p:cond delay="0"/>
                                  </p:stCondLst>
                                  <p:childTnLst>
                                    <p:set>
                                      <p:cBhvr>
                                        <p:cTn id="60" dur="1" fill="hold">
                                          <p:stCondLst>
                                            <p:cond delay="0"/>
                                          </p:stCondLst>
                                        </p:cTn>
                                        <p:tgtEl>
                                          <p:spTgt spid="107"/>
                                        </p:tgtEl>
                                        <p:attrNameLst>
                                          <p:attrName>style.visibility</p:attrName>
                                        </p:attrNameLst>
                                      </p:cBhvr>
                                      <p:to>
                                        <p:strVal val="visible"/>
                                      </p:to>
                                    </p:set>
                                    <p:anim calcmode="lin" valueType="num">
                                      <p:cBhvr additive="base">
                                        <p:cTn id="61" dur="500" fill="hold"/>
                                        <p:tgtEl>
                                          <p:spTgt spid="107"/>
                                        </p:tgtEl>
                                        <p:attrNameLst>
                                          <p:attrName>ppt_x</p:attrName>
                                        </p:attrNameLst>
                                      </p:cBhvr>
                                      <p:tavLst>
                                        <p:tav tm="0">
                                          <p:val>
                                            <p:strVal val="0-#ppt_w/2"/>
                                          </p:val>
                                        </p:tav>
                                        <p:tav tm="100000">
                                          <p:val>
                                            <p:strVal val="#ppt_x"/>
                                          </p:val>
                                        </p:tav>
                                      </p:tavLst>
                                    </p:anim>
                                    <p:anim calcmode="lin" valueType="num">
                                      <p:cBhvr additive="base">
                                        <p:cTn id="62" dur="500" fill="hold"/>
                                        <p:tgtEl>
                                          <p:spTgt spid="107"/>
                                        </p:tgtEl>
                                        <p:attrNameLst>
                                          <p:attrName>ppt_y</p:attrName>
                                        </p:attrNameLst>
                                      </p:cBhvr>
                                      <p:tavLst>
                                        <p:tav tm="0">
                                          <p:val>
                                            <p:strVal val="#ppt_y"/>
                                          </p:val>
                                        </p:tav>
                                        <p:tav tm="100000">
                                          <p:val>
                                            <p:strVal val="#ppt_y"/>
                                          </p:val>
                                        </p:tav>
                                      </p:tavLst>
                                    </p:anim>
                                  </p:childTnLst>
                                </p:cTn>
                              </p:par>
                              <p:par>
                                <p:cTn id="63" presetID="2" presetClass="entr" presetSubtype="8" fill="hold" nodeType="withEffect">
                                  <p:stCondLst>
                                    <p:cond delay="0"/>
                                  </p:stCondLst>
                                  <p:childTnLst>
                                    <p:set>
                                      <p:cBhvr>
                                        <p:cTn id="64" dur="1" fill="hold">
                                          <p:stCondLst>
                                            <p:cond delay="0"/>
                                          </p:stCondLst>
                                        </p:cTn>
                                        <p:tgtEl>
                                          <p:spTgt spid="72"/>
                                        </p:tgtEl>
                                        <p:attrNameLst>
                                          <p:attrName>style.visibility</p:attrName>
                                        </p:attrNameLst>
                                      </p:cBhvr>
                                      <p:to>
                                        <p:strVal val="visible"/>
                                      </p:to>
                                    </p:set>
                                    <p:anim calcmode="lin" valueType="num">
                                      <p:cBhvr additive="base">
                                        <p:cTn id="65" dur="500" fill="hold"/>
                                        <p:tgtEl>
                                          <p:spTgt spid="72"/>
                                        </p:tgtEl>
                                        <p:attrNameLst>
                                          <p:attrName>ppt_x</p:attrName>
                                        </p:attrNameLst>
                                      </p:cBhvr>
                                      <p:tavLst>
                                        <p:tav tm="0">
                                          <p:val>
                                            <p:strVal val="0-#ppt_w/2"/>
                                          </p:val>
                                        </p:tav>
                                        <p:tav tm="100000">
                                          <p:val>
                                            <p:strVal val="#ppt_x"/>
                                          </p:val>
                                        </p:tav>
                                      </p:tavLst>
                                    </p:anim>
                                    <p:anim calcmode="lin" valueType="num">
                                      <p:cBhvr additive="base">
                                        <p:cTn id="66" dur="500" fill="hold"/>
                                        <p:tgtEl>
                                          <p:spTgt spid="72"/>
                                        </p:tgtEl>
                                        <p:attrNameLst>
                                          <p:attrName>ppt_y</p:attrName>
                                        </p:attrNameLst>
                                      </p:cBhvr>
                                      <p:tavLst>
                                        <p:tav tm="0">
                                          <p:val>
                                            <p:strVal val="#ppt_y"/>
                                          </p:val>
                                        </p:tav>
                                        <p:tav tm="100000">
                                          <p:val>
                                            <p:strVal val="#ppt_y"/>
                                          </p:val>
                                        </p:tav>
                                      </p:tavLst>
                                    </p:anim>
                                  </p:childTnLst>
                                </p:cTn>
                              </p:par>
                              <p:par>
                                <p:cTn id="67" presetID="2" presetClass="entr" presetSubtype="8" fill="hold" nodeType="withEffect">
                                  <p:stCondLst>
                                    <p:cond delay="0"/>
                                  </p:stCondLst>
                                  <p:childTnLst>
                                    <p:set>
                                      <p:cBhvr>
                                        <p:cTn id="68" dur="1" fill="hold">
                                          <p:stCondLst>
                                            <p:cond delay="0"/>
                                          </p:stCondLst>
                                        </p:cTn>
                                        <p:tgtEl>
                                          <p:spTgt spid="91"/>
                                        </p:tgtEl>
                                        <p:attrNameLst>
                                          <p:attrName>style.visibility</p:attrName>
                                        </p:attrNameLst>
                                      </p:cBhvr>
                                      <p:to>
                                        <p:strVal val="visible"/>
                                      </p:to>
                                    </p:set>
                                    <p:anim calcmode="lin" valueType="num">
                                      <p:cBhvr additive="base">
                                        <p:cTn id="69" dur="500" fill="hold"/>
                                        <p:tgtEl>
                                          <p:spTgt spid="91"/>
                                        </p:tgtEl>
                                        <p:attrNameLst>
                                          <p:attrName>ppt_x</p:attrName>
                                        </p:attrNameLst>
                                      </p:cBhvr>
                                      <p:tavLst>
                                        <p:tav tm="0">
                                          <p:val>
                                            <p:strVal val="0-#ppt_w/2"/>
                                          </p:val>
                                        </p:tav>
                                        <p:tav tm="100000">
                                          <p:val>
                                            <p:strVal val="#ppt_x"/>
                                          </p:val>
                                        </p:tav>
                                      </p:tavLst>
                                    </p:anim>
                                    <p:anim calcmode="lin" valueType="num">
                                      <p:cBhvr additive="base">
                                        <p:cTn id="70" dur="500" fill="hold"/>
                                        <p:tgtEl>
                                          <p:spTgt spid="91"/>
                                        </p:tgtEl>
                                        <p:attrNameLst>
                                          <p:attrName>ppt_y</p:attrName>
                                        </p:attrNameLst>
                                      </p:cBhvr>
                                      <p:tavLst>
                                        <p:tav tm="0">
                                          <p:val>
                                            <p:strVal val="#ppt_y"/>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2" presetClass="entr" presetSubtype="8" fill="hold" nodeType="clickEffect">
                                  <p:stCondLst>
                                    <p:cond delay="0"/>
                                  </p:stCondLst>
                                  <p:childTnLst>
                                    <p:set>
                                      <p:cBhvr>
                                        <p:cTn id="74" dur="1" fill="hold">
                                          <p:stCondLst>
                                            <p:cond delay="0"/>
                                          </p:stCondLst>
                                        </p:cTn>
                                        <p:tgtEl>
                                          <p:spTgt spid="115"/>
                                        </p:tgtEl>
                                        <p:attrNameLst>
                                          <p:attrName>style.visibility</p:attrName>
                                        </p:attrNameLst>
                                      </p:cBhvr>
                                      <p:to>
                                        <p:strVal val="visible"/>
                                      </p:to>
                                    </p:set>
                                    <p:anim calcmode="lin" valueType="num">
                                      <p:cBhvr additive="base">
                                        <p:cTn id="75" dur="500" fill="hold"/>
                                        <p:tgtEl>
                                          <p:spTgt spid="115"/>
                                        </p:tgtEl>
                                        <p:attrNameLst>
                                          <p:attrName>ppt_x</p:attrName>
                                        </p:attrNameLst>
                                      </p:cBhvr>
                                      <p:tavLst>
                                        <p:tav tm="0">
                                          <p:val>
                                            <p:strVal val="0-#ppt_w/2"/>
                                          </p:val>
                                        </p:tav>
                                        <p:tav tm="100000">
                                          <p:val>
                                            <p:strVal val="#ppt_x"/>
                                          </p:val>
                                        </p:tav>
                                      </p:tavLst>
                                    </p:anim>
                                    <p:anim calcmode="lin" valueType="num">
                                      <p:cBhvr additive="base">
                                        <p:cTn id="76" dur="500" fill="hold"/>
                                        <p:tgtEl>
                                          <p:spTgt spid="115"/>
                                        </p:tgtEl>
                                        <p:attrNameLst>
                                          <p:attrName>ppt_y</p:attrName>
                                        </p:attrNameLst>
                                      </p:cBhvr>
                                      <p:tavLst>
                                        <p:tav tm="0">
                                          <p:val>
                                            <p:strVal val="#ppt_y"/>
                                          </p:val>
                                        </p:tav>
                                        <p:tav tm="100000">
                                          <p:val>
                                            <p:strVal val="#ppt_y"/>
                                          </p:val>
                                        </p:tav>
                                      </p:tavLst>
                                    </p:anim>
                                  </p:childTnLst>
                                </p:cTn>
                              </p:par>
                              <p:par>
                                <p:cTn id="77" presetID="2" presetClass="entr" presetSubtype="8" fill="hold" nodeType="withEffect">
                                  <p:stCondLst>
                                    <p:cond delay="0"/>
                                  </p:stCondLst>
                                  <p:childTnLst>
                                    <p:set>
                                      <p:cBhvr>
                                        <p:cTn id="78" dur="1" fill="hold">
                                          <p:stCondLst>
                                            <p:cond delay="0"/>
                                          </p:stCondLst>
                                        </p:cTn>
                                        <p:tgtEl>
                                          <p:spTgt spid="114"/>
                                        </p:tgtEl>
                                        <p:attrNameLst>
                                          <p:attrName>style.visibility</p:attrName>
                                        </p:attrNameLst>
                                      </p:cBhvr>
                                      <p:to>
                                        <p:strVal val="visible"/>
                                      </p:to>
                                    </p:set>
                                    <p:anim calcmode="lin" valueType="num">
                                      <p:cBhvr additive="base">
                                        <p:cTn id="79" dur="500" fill="hold"/>
                                        <p:tgtEl>
                                          <p:spTgt spid="114"/>
                                        </p:tgtEl>
                                        <p:attrNameLst>
                                          <p:attrName>ppt_x</p:attrName>
                                        </p:attrNameLst>
                                      </p:cBhvr>
                                      <p:tavLst>
                                        <p:tav tm="0">
                                          <p:val>
                                            <p:strVal val="0-#ppt_w/2"/>
                                          </p:val>
                                        </p:tav>
                                        <p:tav tm="100000">
                                          <p:val>
                                            <p:strVal val="#ppt_x"/>
                                          </p:val>
                                        </p:tav>
                                      </p:tavLst>
                                    </p:anim>
                                    <p:anim calcmode="lin" valueType="num">
                                      <p:cBhvr additive="base">
                                        <p:cTn id="80" dur="500" fill="hold"/>
                                        <p:tgtEl>
                                          <p:spTgt spid="114"/>
                                        </p:tgtEl>
                                        <p:attrNameLst>
                                          <p:attrName>ppt_y</p:attrName>
                                        </p:attrNameLst>
                                      </p:cBhvr>
                                      <p:tavLst>
                                        <p:tav tm="0">
                                          <p:val>
                                            <p:strVal val="#ppt_y"/>
                                          </p:val>
                                        </p:tav>
                                        <p:tav tm="100000">
                                          <p:val>
                                            <p:strVal val="#ppt_y"/>
                                          </p:val>
                                        </p:tav>
                                      </p:tavLst>
                                    </p:anim>
                                  </p:childTnLst>
                                </p:cTn>
                              </p:par>
                              <p:par>
                                <p:cTn id="81" presetID="2" presetClass="entr" presetSubtype="8" fill="hold" grpId="0" nodeType="withEffect">
                                  <p:stCondLst>
                                    <p:cond delay="0"/>
                                  </p:stCondLst>
                                  <p:childTnLst>
                                    <p:set>
                                      <p:cBhvr>
                                        <p:cTn id="82" dur="1" fill="hold">
                                          <p:stCondLst>
                                            <p:cond delay="0"/>
                                          </p:stCondLst>
                                        </p:cTn>
                                        <p:tgtEl>
                                          <p:spTgt spid="105"/>
                                        </p:tgtEl>
                                        <p:attrNameLst>
                                          <p:attrName>style.visibility</p:attrName>
                                        </p:attrNameLst>
                                      </p:cBhvr>
                                      <p:to>
                                        <p:strVal val="visible"/>
                                      </p:to>
                                    </p:set>
                                    <p:anim calcmode="lin" valueType="num">
                                      <p:cBhvr additive="base">
                                        <p:cTn id="83" dur="500" fill="hold"/>
                                        <p:tgtEl>
                                          <p:spTgt spid="105"/>
                                        </p:tgtEl>
                                        <p:attrNameLst>
                                          <p:attrName>ppt_x</p:attrName>
                                        </p:attrNameLst>
                                      </p:cBhvr>
                                      <p:tavLst>
                                        <p:tav tm="0">
                                          <p:val>
                                            <p:strVal val="0-#ppt_w/2"/>
                                          </p:val>
                                        </p:tav>
                                        <p:tav tm="100000">
                                          <p:val>
                                            <p:strVal val="#ppt_x"/>
                                          </p:val>
                                        </p:tav>
                                      </p:tavLst>
                                    </p:anim>
                                    <p:anim calcmode="lin" valueType="num">
                                      <p:cBhvr additive="base">
                                        <p:cTn id="84" dur="500" fill="hold"/>
                                        <p:tgtEl>
                                          <p:spTgt spid="105"/>
                                        </p:tgtEl>
                                        <p:attrNameLst>
                                          <p:attrName>ppt_y</p:attrName>
                                        </p:attrNameLst>
                                      </p:cBhvr>
                                      <p:tavLst>
                                        <p:tav tm="0">
                                          <p:val>
                                            <p:strVal val="#ppt_y"/>
                                          </p:val>
                                        </p:tav>
                                        <p:tav tm="100000">
                                          <p:val>
                                            <p:strVal val="#ppt_y"/>
                                          </p:val>
                                        </p:tav>
                                      </p:tavLst>
                                    </p:anim>
                                  </p:childTnLst>
                                </p:cTn>
                              </p:par>
                              <p:par>
                                <p:cTn id="85" presetID="2" presetClass="entr" presetSubtype="8" fill="hold" grpId="0" nodeType="withEffect">
                                  <p:stCondLst>
                                    <p:cond delay="0"/>
                                  </p:stCondLst>
                                  <p:childTnLst>
                                    <p:set>
                                      <p:cBhvr>
                                        <p:cTn id="86" dur="1" fill="hold">
                                          <p:stCondLst>
                                            <p:cond delay="0"/>
                                          </p:stCondLst>
                                        </p:cTn>
                                        <p:tgtEl>
                                          <p:spTgt spid="104"/>
                                        </p:tgtEl>
                                        <p:attrNameLst>
                                          <p:attrName>style.visibility</p:attrName>
                                        </p:attrNameLst>
                                      </p:cBhvr>
                                      <p:to>
                                        <p:strVal val="visible"/>
                                      </p:to>
                                    </p:set>
                                    <p:anim calcmode="lin" valueType="num">
                                      <p:cBhvr additive="base">
                                        <p:cTn id="87" dur="500" fill="hold"/>
                                        <p:tgtEl>
                                          <p:spTgt spid="104"/>
                                        </p:tgtEl>
                                        <p:attrNameLst>
                                          <p:attrName>ppt_x</p:attrName>
                                        </p:attrNameLst>
                                      </p:cBhvr>
                                      <p:tavLst>
                                        <p:tav tm="0">
                                          <p:val>
                                            <p:strVal val="0-#ppt_w/2"/>
                                          </p:val>
                                        </p:tav>
                                        <p:tav tm="100000">
                                          <p:val>
                                            <p:strVal val="#ppt_x"/>
                                          </p:val>
                                        </p:tav>
                                      </p:tavLst>
                                    </p:anim>
                                    <p:anim calcmode="lin" valueType="num">
                                      <p:cBhvr additive="base">
                                        <p:cTn id="88" dur="500" fill="hold"/>
                                        <p:tgtEl>
                                          <p:spTgt spid="104"/>
                                        </p:tgtEl>
                                        <p:attrNameLst>
                                          <p:attrName>ppt_y</p:attrName>
                                        </p:attrNameLst>
                                      </p:cBhvr>
                                      <p:tavLst>
                                        <p:tav tm="0">
                                          <p:val>
                                            <p:strVal val="#ppt_y"/>
                                          </p:val>
                                        </p:tav>
                                        <p:tav tm="100000">
                                          <p:val>
                                            <p:strVal val="#ppt_y"/>
                                          </p:val>
                                        </p:tav>
                                      </p:tavLst>
                                    </p:anim>
                                  </p:childTnLst>
                                </p:cTn>
                              </p:par>
                              <p:par>
                                <p:cTn id="89" presetID="2" presetClass="entr" presetSubtype="8" fill="hold" nodeType="withEffect">
                                  <p:stCondLst>
                                    <p:cond delay="0"/>
                                  </p:stCondLst>
                                  <p:childTnLst>
                                    <p:set>
                                      <p:cBhvr>
                                        <p:cTn id="90" dur="1" fill="hold">
                                          <p:stCondLst>
                                            <p:cond delay="0"/>
                                          </p:stCondLst>
                                        </p:cTn>
                                        <p:tgtEl>
                                          <p:spTgt spid="94"/>
                                        </p:tgtEl>
                                        <p:attrNameLst>
                                          <p:attrName>style.visibility</p:attrName>
                                        </p:attrNameLst>
                                      </p:cBhvr>
                                      <p:to>
                                        <p:strVal val="visible"/>
                                      </p:to>
                                    </p:set>
                                    <p:anim calcmode="lin" valueType="num">
                                      <p:cBhvr additive="base">
                                        <p:cTn id="91" dur="500" fill="hold"/>
                                        <p:tgtEl>
                                          <p:spTgt spid="94"/>
                                        </p:tgtEl>
                                        <p:attrNameLst>
                                          <p:attrName>ppt_x</p:attrName>
                                        </p:attrNameLst>
                                      </p:cBhvr>
                                      <p:tavLst>
                                        <p:tav tm="0">
                                          <p:val>
                                            <p:strVal val="0-#ppt_w/2"/>
                                          </p:val>
                                        </p:tav>
                                        <p:tav tm="100000">
                                          <p:val>
                                            <p:strVal val="#ppt_x"/>
                                          </p:val>
                                        </p:tav>
                                      </p:tavLst>
                                    </p:anim>
                                    <p:anim calcmode="lin" valueType="num">
                                      <p:cBhvr additive="base">
                                        <p:cTn id="92" dur="500" fill="hold"/>
                                        <p:tgtEl>
                                          <p:spTgt spid="94"/>
                                        </p:tgtEl>
                                        <p:attrNameLst>
                                          <p:attrName>ppt_y</p:attrName>
                                        </p:attrNameLst>
                                      </p:cBhvr>
                                      <p:tavLst>
                                        <p:tav tm="0">
                                          <p:val>
                                            <p:strVal val="#ppt_y"/>
                                          </p:val>
                                        </p:tav>
                                        <p:tav tm="100000">
                                          <p:val>
                                            <p:strVal val="#ppt_y"/>
                                          </p:val>
                                        </p:tav>
                                      </p:tavLst>
                                    </p:anim>
                                  </p:childTnLst>
                                </p:cTn>
                              </p:par>
                              <p:par>
                                <p:cTn id="93" presetID="2" presetClass="entr" presetSubtype="8" fill="hold" nodeType="withEffect">
                                  <p:stCondLst>
                                    <p:cond delay="0"/>
                                  </p:stCondLst>
                                  <p:childTnLst>
                                    <p:set>
                                      <p:cBhvr>
                                        <p:cTn id="94" dur="1" fill="hold">
                                          <p:stCondLst>
                                            <p:cond delay="0"/>
                                          </p:stCondLst>
                                        </p:cTn>
                                        <p:tgtEl>
                                          <p:spTgt spid="65"/>
                                        </p:tgtEl>
                                        <p:attrNameLst>
                                          <p:attrName>style.visibility</p:attrName>
                                        </p:attrNameLst>
                                      </p:cBhvr>
                                      <p:to>
                                        <p:strVal val="visible"/>
                                      </p:to>
                                    </p:set>
                                    <p:anim calcmode="lin" valueType="num">
                                      <p:cBhvr additive="base">
                                        <p:cTn id="95" dur="500" fill="hold"/>
                                        <p:tgtEl>
                                          <p:spTgt spid="65"/>
                                        </p:tgtEl>
                                        <p:attrNameLst>
                                          <p:attrName>ppt_x</p:attrName>
                                        </p:attrNameLst>
                                      </p:cBhvr>
                                      <p:tavLst>
                                        <p:tav tm="0">
                                          <p:val>
                                            <p:strVal val="0-#ppt_w/2"/>
                                          </p:val>
                                        </p:tav>
                                        <p:tav tm="100000">
                                          <p:val>
                                            <p:strVal val="#ppt_x"/>
                                          </p:val>
                                        </p:tav>
                                      </p:tavLst>
                                    </p:anim>
                                    <p:anim calcmode="lin" valueType="num">
                                      <p:cBhvr additive="base">
                                        <p:cTn id="96" dur="500" fill="hold"/>
                                        <p:tgtEl>
                                          <p:spTgt spid="65"/>
                                        </p:tgtEl>
                                        <p:attrNameLst>
                                          <p:attrName>ppt_y</p:attrName>
                                        </p:attrNameLst>
                                      </p:cBhvr>
                                      <p:tavLst>
                                        <p:tav tm="0">
                                          <p:val>
                                            <p:strVal val="#ppt_y"/>
                                          </p:val>
                                        </p:tav>
                                        <p:tav tm="100000">
                                          <p:val>
                                            <p:strVal val="#ppt_y"/>
                                          </p:val>
                                        </p:tav>
                                      </p:tavLst>
                                    </p:anim>
                                  </p:childTnLst>
                                </p:cTn>
                              </p:par>
                              <p:par>
                                <p:cTn id="97" presetID="2" presetClass="entr" presetSubtype="8" fill="hold" nodeType="withEffect">
                                  <p:stCondLst>
                                    <p:cond delay="0"/>
                                  </p:stCondLst>
                                  <p:childTnLst>
                                    <p:set>
                                      <p:cBhvr>
                                        <p:cTn id="98" dur="1" fill="hold">
                                          <p:stCondLst>
                                            <p:cond delay="0"/>
                                          </p:stCondLst>
                                        </p:cTn>
                                        <p:tgtEl>
                                          <p:spTgt spid="69"/>
                                        </p:tgtEl>
                                        <p:attrNameLst>
                                          <p:attrName>style.visibility</p:attrName>
                                        </p:attrNameLst>
                                      </p:cBhvr>
                                      <p:to>
                                        <p:strVal val="visible"/>
                                      </p:to>
                                    </p:set>
                                    <p:anim calcmode="lin" valueType="num">
                                      <p:cBhvr additive="base">
                                        <p:cTn id="99" dur="500" fill="hold"/>
                                        <p:tgtEl>
                                          <p:spTgt spid="69"/>
                                        </p:tgtEl>
                                        <p:attrNameLst>
                                          <p:attrName>ppt_x</p:attrName>
                                        </p:attrNameLst>
                                      </p:cBhvr>
                                      <p:tavLst>
                                        <p:tav tm="0">
                                          <p:val>
                                            <p:strVal val="0-#ppt_w/2"/>
                                          </p:val>
                                        </p:tav>
                                        <p:tav tm="100000">
                                          <p:val>
                                            <p:strVal val="#ppt_x"/>
                                          </p:val>
                                        </p:tav>
                                      </p:tavLst>
                                    </p:anim>
                                    <p:anim calcmode="lin" valueType="num">
                                      <p:cBhvr additive="base">
                                        <p:cTn id="100" dur="500" fill="hold"/>
                                        <p:tgtEl>
                                          <p:spTgt spid="69"/>
                                        </p:tgtEl>
                                        <p:attrNameLst>
                                          <p:attrName>ppt_y</p:attrName>
                                        </p:attrNameLst>
                                      </p:cBhvr>
                                      <p:tavLst>
                                        <p:tav tm="0">
                                          <p:val>
                                            <p:strVal val="#ppt_y"/>
                                          </p:val>
                                        </p:tav>
                                        <p:tav tm="100000">
                                          <p:val>
                                            <p:strVal val="#ppt_y"/>
                                          </p:val>
                                        </p:tav>
                                      </p:tavLst>
                                    </p:anim>
                                  </p:childTnLst>
                                </p:cTn>
                              </p:par>
                              <p:par>
                                <p:cTn id="101" presetID="2" presetClass="entr" presetSubtype="8" fill="hold" nodeType="withEffect">
                                  <p:stCondLst>
                                    <p:cond delay="0"/>
                                  </p:stCondLst>
                                  <p:childTnLst>
                                    <p:set>
                                      <p:cBhvr>
                                        <p:cTn id="102" dur="1" fill="hold">
                                          <p:stCondLst>
                                            <p:cond delay="0"/>
                                          </p:stCondLst>
                                        </p:cTn>
                                        <p:tgtEl>
                                          <p:spTgt spid="64"/>
                                        </p:tgtEl>
                                        <p:attrNameLst>
                                          <p:attrName>style.visibility</p:attrName>
                                        </p:attrNameLst>
                                      </p:cBhvr>
                                      <p:to>
                                        <p:strVal val="visible"/>
                                      </p:to>
                                    </p:set>
                                    <p:anim calcmode="lin" valueType="num">
                                      <p:cBhvr additive="base">
                                        <p:cTn id="103" dur="500" fill="hold"/>
                                        <p:tgtEl>
                                          <p:spTgt spid="64"/>
                                        </p:tgtEl>
                                        <p:attrNameLst>
                                          <p:attrName>ppt_x</p:attrName>
                                        </p:attrNameLst>
                                      </p:cBhvr>
                                      <p:tavLst>
                                        <p:tav tm="0">
                                          <p:val>
                                            <p:strVal val="0-#ppt_w/2"/>
                                          </p:val>
                                        </p:tav>
                                        <p:tav tm="100000">
                                          <p:val>
                                            <p:strVal val="#ppt_x"/>
                                          </p:val>
                                        </p:tav>
                                      </p:tavLst>
                                    </p:anim>
                                    <p:anim calcmode="lin" valueType="num">
                                      <p:cBhvr additive="base">
                                        <p:cTn id="104" dur="500" fill="hold"/>
                                        <p:tgtEl>
                                          <p:spTgt spid="64"/>
                                        </p:tgtEl>
                                        <p:attrNameLst>
                                          <p:attrName>ppt_y</p:attrName>
                                        </p:attrNameLst>
                                      </p:cBhvr>
                                      <p:tavLst>
                                        <p:tav tm="0">
                                          <p:val>
                                            <p:strVal val="#ppt_y"/>
                                          </p:val>
                                        </p:tav>
                                        <p:tav tm="100000">
                                          <p:val>
                                            <p:strVal val="#ppt_y"/>
                                          </p:val>
                                        </p:tav>
                                      </p:tavLst>
                                    </p:anim>
                                  </p:childTnLst>
                                </p:cTn>
                              </p:par>
                              <p:par>
                                <p:cTn id="105" presetID="2" presetClass="entr" presetSubtype="8" fill="hold" nodeType="withEffect">
                                  <p:stCondLst>
                                    <p:cond delay="0"/>
                                  </p:stCondLst>
                                  <p:childTnLst>
                                    <p:set>
                                      <p:cBhvr>
                                        <p:cTn id="106" dur="1" fill="hold">
                                          <p:stCondLst>
                                            <p:cond delay="0"/>
                                          </p:stCondLst>
                                        </p:cTn>
                                        <p:tgtEl>
                                          <p:spTgt spid="102"/>
                                        </p:tgtEl>
                                        <p:attrNameLst>
                                          <p:attrName>style.visibility</p:attrName>
                                        </p:attrNameLst>
                                      </p:cBhvr>
                                      <p:to>
                                        <p:strVal val="visible"/>
                                      </p:to>
                                    </p:set>
                                    <p:anim calcmode="lin" valueType="num">
                                      <p:cBhvr additive="base">
                                        <p:cTn id="107" dur="500" fill="hold"/>
                                        <p:tgtEl>
                                          <p:spTgt spid="102"/>
                                        </p:tgtEl>
                                        <p:attrNameLst>
                                          <p:attrName>ppt_x</p:attrName>
                                        </p:attrNameLst>
                                      </p:cBhvr>
                                      <p:tavLst>
                                        <p:tav tm="0">
                                          <p:val>
                                            <p:strVal val="0-#ppt_w/2"/>
                                          </p:val>
                                        </p:tav>
                                        <p:tav tm="100000">
                                          <p:val>
                                            <p:strVal val="#ppt_x"/>
                                          </p:val>
                                        </p:tav>
                                      </p:tavLst>
                                    </p:anim>
                                    <p:anim calcmode="lin" valueType="num">
                                      <p:cBhvr additive="base">
                                        <p:cTn id="108" dur="500" fill="hold"/>
                                        <p:tgtEl>
                                          <p:spTgt spid="10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 grpId="0"/>
      <p:bldP spid="100" grpId="0"/>
      <p:bldP spid="104" grpId="0"/>
      <p:bldP spid="105" grpId="0"/>
      <p:bldP spid="106" grpId="0"/>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342900"/>
            <a:ext cx="18288000" cy="9944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59" name="TextBox 66"/>
          <p:cNvSpPr txBox="1"/>
          <p:nvPr/>
        </p:nvSpPr>
        <p:spPr>
          <a:xfrm>
            <a:off x="3669615" y="1513622"/>
            <a:ext cx="10948769" cy="599203"/>
          </a:xfrm>
          <a:prstGeom prst="rect">
            <a:avLst/>
          </a:prstGeom>
        </p:spPr>
        <p:txBody>
          <a:bodyPr lIns="0" tIns="0" rIns="0" bIns="0" rtlCol="0" anchor="t">
            <a:spAutoFit/>
          </a:bodyPr>
          <a:lstStyle/>
          <a:p>
            <a:pPr algn="ctr">
              <a:lnSpc>
                <a:spcPts val="5040"/>
              </a:lnSpc>
              <a:spcBef>
                <a:spcPct val="0"/>
              </a:spcBef>
            </a:pPr>
            <a:r>
              <a:rPr lang="fr-FR" sz="3600" dirty="0">
                <a:solidFill>
                  <a:srgbClr val="000000"/>
                </a:solidFill>
                <a:latin typeface="Open Sauce Bold"/>
                <a:ea typeface="Open Sauce Bold"/>
                <a:cs typeface="Open Sauce Bold"/>
              </a:rPr>
              <a:t>Couche</a:t>
            </a:r>
            <a:r>
              <a:rPr lang="fr-FR" sz="3600" dirty="0" smtClean="0"/>
              <a:t> </a:t>
            </a:r>
            <a:r>
              <a:rPr lang="fr-FR" sz="3600" dirty="0">
                <a:solidFill>
                  <a:srgbClr val="000000"/>
                </a:solidFill>
                <a:latin typeface="Open Sauce Bold"/>
                <a:ea typeface="Open Sauce Bold"/>
                <a:cs typeface="Open Sauce Bold"/>
              </a:rPr>
              <a:t>1 : Réseau &amp; Micro-Segmentation</a:t>
            </a:r>
          </a:p>
        </p:txBody>
      </p:sp>
      <p:sp>
        <p:nvSpPr>
          <p:cNvPr id="60" name="TextBox 5"/>
          <p:cNvSpPr txBox="1"/>
          <p:nvPr/>
        </p:nvSpPr>
        <p:spPr>
          <a:xfrm>
            <a:off x="1125372" y="2953467"/>
            <a:ext cx="6355510" cy="461665"/>
          </a:xfrm>
          <a:prstGeom prst="rect">
            <a:avLst/>
          </a:prstGeom>
          <a:noFill/>
        </p:spPr>
        <p:txBody>
          <a:bodyPr wrap="square">
            <a:spAutoFit/>
          </a:bodyPr>
          <a:lstStyle/>
          <a:p>
            <a:pPr algn="l">
              <a:defRPr sz="1800" b="1">
                <a:solidFill>
                  <a:srgbClr val="2C5282"/>
                </a:solidFill>
                <a:latin typeface="Calibri"/>
              </a:defRPr>
            </a:pPr>
            <a:r>
              <a:rPr sz="2400" dirty="0" err="1"/>
              <a:t>pfSense</a:t>
            </a:r>
            <a:r>
              <a:rPr sz="2400" dirty="0"/>
              <a:t> — Firewall de Nouvelle </a:t>
            </a:r>
            <a:r>
              <a:rPr sz="2400" dirty="0" err="1"/>
              <a:t>Génération</a:t>
            </a:r>
            <a:endParaRPr sz="2400" dirty="0"/>
          </a:p>
        </p:txBody>
      </p:sp>
      <p:sp>
        <p:nvSpPr>
          <p:cNvPr id="61" name="TextBox 6"/>
          <p:cNvSpPr txBox="1"/>
          <p:nvPr/>
        </p:nvSpPr>
        <p:spPr>
          <a:xfrm>
            <a:off x="1146671" y="3473129"/>
            <a:ext cx="6172631" cy="2660728"/>
          </a:xfrm>
          <a:prstGeom prst="rect">
            <a:avLst/>
          </a:prstGeom>
          <a:noFill/>
        </p:spPr>
        <p:txBody>
          <a:bodyPr wrap="square">
            <a:spAutoFit/>
          </a:bodyPr>
          <a:lstStyle/>
          <a:p>
            <a:pPr>
              <a:lnSpc>
                <a:spcPct val="150000"/>
              </a:lnSpc>
              <a:spcAft>
                <a:spcPts val="600"/>
              </a:spcAft>
              <a:defRPr sz="1200">
                <a:solidFill>
                  <a:srgbClr val="2D3748"/>
                </a:solidFill>
                <a:latin typeface="Calibri"/>
              </a:defRPr>
            </a:pPr>
            <a:r>
              <a:rPr sz="2000" dirty="0"/>
              <a:t>• </a:t>
            </a:r>
            <a:r>
              <a:rPr sz="2000" dirty="0" smtClean="0"/>
              <a:t>VM</a:t>
            </a:r>
            <a:r>
              <a:rPr lang="en-US" sz="2000" dirty="0" smtClean="0"/>
              <a:t> </a:t>
            </a:r>
            <a:r>
              <a:rPr sz="2000" dirty="0" smtClean="0"/>
              <a:t> sur </a:t>
            </a:r>
            <a:r>
              <a:rPr sz="2000" dirty="0" err="1"/>
              <a:t>Proxmox</a:t>
            </a:r>
            <a:r>
              <a:rPr sz="2000" dirty="0"/>
              <a:t> (</a:t>
            </a:r>
            <a:r>
              <a:rPr sz="2000" dirty="0" smtClean="0"/>
              <a:t>IP</a:t>
            </a:r>
            <a:r>
              <a:rPr lang="en-US" sz="2000" dirty="0" smtClean="0"/>
              <a:t> </a:t>
            </a:r>
            <a:r>
              <a:rPr lang="en-US" sz="2000" dirty="0" err="1" smtClean="0"/>
              <a:t>lAN</a:t>
            </a:r>
            <a:r>
              <a:rPr sz="2000" dirty="0" smtClean="0"/>
              <a:t> </a:t>
            </a:r>
            <a:r>
              <a:rPr sz="2000" dirty="0"/>
              <a:t>: 192.168.101.1)</a:t>
            </a:r>
          </a:p>
          <a:p>
            <a:pPr>
              <a:lnSpc>
                <a:spcPct val="150000"/>
              </a:lnSpc>
              <a:spcAft>
                <a:spcPts val="600"/>
              </a:spcAft>
              <a:defRPr sz="1200">
                <a:solidFill>
                  <a:srgbClr val="2D3748"/>
                </a:solidFill>
                <a:latin typeface="Calibri"/>
              </a:defRPr>
            </a:pPr>
            <a:r>
              <a:rPr sz="2000" dirty="0"/>
              <a:t>• </a:t>
            </a:r>
            <a:r>
              <a:rPr sz="2000" dirty="0" err="1"/>
              <a:t>Contrôle</a:t>
            </a:r>
            <a:r>
              <a:rPr sz="2000" dirty="0"/>
              <a:t> </a:t>
            </a:r>
            <a:r>
              <a:rPr sz="2000" dirty="0" err="1"/>
              <a:t>granulaire</a:t>
            </a:r>
            <a:r>
              <a:rPr sz="2000" dirty="0"/>
              <a:t> des flux </a:t>
            </a:r>
            <a:r>
              <a:rPr sz="2000" dirty="0" err="1"/>
              <a:t>réseau</a:t>
            </a:r>
            <a:endParaRPr sz="2000" dirty="0"/>
          </a:p>
          <a:p>
            <a:pPr>
              <a:lnSpc>
                <a:spcPct val="150000"/>
              </a:lnSpc>
              <a:spcAft>
                <a:spcPts val="600"/>
              </a:spcAft>
              <a:defRPr sz="1200">
                <a:solidFill>
                  <a:srgbClr val="2D3748"/>
                </a:solidFill>
                <a:latin typeface="Calibri"/>
              </a:defRPr>
            </a:pPr>
            <a:r>
              <a:rPr sz="2000" dirty="0"/>
              <a:t>• </a:t>
            </a:r>
            <a:r>
              <a:rPr sz="2000" dirty="0" err="1"/>
              <a:t>Gestion</a:t>
            </a:r>
            <a:r>
              <a:rPr sz="2000" dirty="0"/>
              <a:t> VLAN + </a:t>
            </a:r>
            <a:r>
              <a:rPr sz="2000" dirty="0" err="1"/>
              <a:t>Routage</a:t>
            </a:r>
            <a:r>
              <a:rPr sz="2000" dirty="0"/>
              <a:t> inter-VLAN</a:t>
            </a:r>
          </a:p>
          <a:p>
            <a:pPr>
              <a:lnSpc>
                <a:spcPct val="150000"/>
              </a:lnSpc>
              <a:spcAft>
                <a:spcPts val="600"/>
              </a:spcAft>
              <a:defRPr sz="1200">
                <a:solidFill>
                  <a:srgbClr val="2D3748"/>
                </a:solidFill>
                <a:latin typeface="Calibri"/>
              </a:defRPr>
            </a:pPr>
            <a:r>
              <a:rPr sz="2000" dirty="0" smtClean="0"/>
              <a:t>• </a:t>
            </a:r>
            <a:r>
              <a:rPr lang="fr-FR" sz="2000" dirty="0"/>
              <a:t>contrôler l'ensemble des communications </a:t>
            </a:r>
            <a:endParaRPr lang="fr-FR" sz="2000" dirty="0" smtClean="0"/>
          </a:p>
          <a:p>
            <a:pPr>
              <a:lnSpc>
                <a:spcPct val="150000"/>
              </a:lnSpc>
              <a:spcAft>
                <a:spcPts val="600"/>
              </a:spcAft>
              <a:defRPr sz="1200">
                <a:solidFill>
                  <a:srgbClr val="2D3748"/>
                </a:solidFill>
                <a:latin typeface="Calibri"/>
              </a:defRPr>
            </a:pPr>
            <a:r>
              <a:rPr sz="2000" dirty="0" smtClean="0"/>
              <a:t>• </a:t>
            </a:r>
            <a:r>
              <a:rPr sz="2000" dirty="0"/>
              <a:t>IDS/IPS </a:t>
            </a:r>
            <a:r>
              <a:rPr sz="2000" dirty="0" err="1"/>
              <a:t>Suricata</a:t>
            </a:r>
            <a:r>
              <a:rPr sz="2000" dirty="0"/>
              <a:t> </a:t>
            </a:r>
            <a:r>
              <a:rPr sz="2000" dirty="0" err="1"/>
              <a:t>intégré</a:t>
            </a:r>
            <a:endParaRPr sz="2000" dirty="0"/>
          </a:p>
        </p:txBody>
      </p:sp>
      <p:sp>
        <p:nvSpPr>
          <p:cNvPr id="62" name="TextBox 7"/>
          <p:cNvSpPr txBox="1"/>
          <p:nvPr/>
        </p:nvSpPr>
        <p:spPr>
          <a:xfrm>
            <a:off x="9869730" y="2826767"/>
            <a:ext cx="5486400" cy="461665"/>
          </a:xfrm>
          <a:prstGeom prst="rect">
            <a:avLst/>
          </a:prstGeom>
          <a:noFill/>
        </p:spPr>
        <p:txBody>
          <a:bodyPr wrap="square">
            <a:spAutoFit/>
          </a:bodyPr>
          <a:lstStyle/>
          <a:p>
            <a:pPr algn="l">
              <a:defRPr sz="1800" b="1">
                <a:solidFill>
                  <a:srgbClr val="2C5282"/>
                </a:solidFill>
                <a:latin typeface="Calibri"/>
              </a:defRPr>
            </a:pPr>
            <a:r>
              <a:rPr sz="2400" dirty="0"/>
              <a:t>Micro-Segmentation — VLANs </a:t>
            </a:r>
            <a:r>
              <a:rPr sz="2400" dirty="0" err="1"/>
              <a:t>Déployés</a:t>
            </a:r>
            <a:endParaRPr sz="2400" dirty="0"/>
          </a:p>
        </p:txBody>
      </p:sp>
      <p:graphicFrame>
        <p:nvGraphicFramePr>
          <p:cNvPr id="63" name="Table 8"/>
          <p:cNvGraphicFramePr>
            <a:graphicFrameLocks noGrp="1"/>
          </p:cNvGraphicFramePr>
          <p:nvPr>
            <p:extLst>
              <p:ext uri="{D42A27DB-BD31-4B8C-83A1-F6EECF244321}">
                <p14:modId xmlns:p14="http://schemas.microsoft.com/office/powerpoint/2010/main" val="1676303403"/>
              </p:ext>
            </p:extLst>
          </p:nvPr>
        </p:nvGraphicFramePr>
        <p:xfrm>
          <a:off x="9991136" y="3460552"/>
          <a:ext cx="7763463" cy="2709704"/>
        </p:xfrm>
        <a:graphic>
          <a:graphicData uri="http://schemas.openxmlformats.org/drawingml/2006/table">
            <a:tbl>
              <a:tblPr firstRow="1" bandRow="1">
                <a:tableStyleId>{5C22544A-7EE6-4342-B048-85BDC9FD1C3A}</a:tableStyleId>
              </a:tblPr>
              <a:tblGrid>
                <a:gridCol w="2587821">
                  <a:extLst>
                    <a:ext uri="{9D8B030D-6E8A-4147-A177-3AD203B41FA5}">
                      <a16:colId xmlns:a16="http://schemas.microsoft.com/office/drawing/2014/main" val="20000"/>
                    </a:ext>
                  </a:extLst>
                </a:gridCol>
                <a:gridCol w="2587821">
                  <a:extLst>
                    <a:ext uri="{9D8B030D-6E8A-4147-A177-3AD203B41FA5}">
                      <a16:colId xmlns:a16="http://schemas.microsoft.com/office/drawing/2014/main" val="20001"/>
                    </a:ext>
                  </a:extLst>
                </a:gridCol>
                <a:gridCol w="2587821">
                  <a:extLst>
                    <a:ext uri="{9D8B030D-6E8A-4147-A177-3AD203B41FA5}">
                      <a16:colId xmlns:a16="http://schemas.microsoft.com/office/drawing/2014/main" val="20002"/>
                    </a:ext>
                  </a:extLst>
                </a:gridCol>
              </a:tblGrid>
              <a:tr h="451616">
                <a:tc>
                  <a:txBody>
                    <a:bodyPr/>
                    <a:lstStyle/>
                    <a:p>
                      <a:pPr algn="ctr">
                        <a:defRPr sz="1100" b="1">
                          <a:solidFill>
                            <a:srgbClr val="FFFFFF"/>
                          </a:solidFill>
                          <a:latin typeface="Calibri"/>
                        </a:defRPr>
                      </a:pPr>
                      <a:r>
                        <a:rPr sz="1600"/>
                        <a:t>VLAN</a:t>
                      </a:r>
                    </a:p>
                  </a:txBody>
                  <a:tcPr anchor="ctr">
                    <a:solidFill>
                      <a:srgbClr val="2C5282"/>
                    </a:solidFill>
                  </a:tcPr>
                </a:tc>
                <a:tc>
                  <a:txBody>
                    <a:bodyPr/>
                    <a:lstStyle/>
                    <a:p>
                      <a:pPr algn="ctr">
                        <a:defRPr sz="1100" b="1">
                          <a:solidFill>
                            <a:srgbClr val="FFFFFF"/>
                          </a:solidFill>
                          <a:latin typeface="Calibri"/>
                        </a:defRPr>
                      </a:pPr>
                      <a:r>
                        <a:rPr sz="1600"/>
                        <a:t>Service</a:t>
                      </a:r>
                    </a:p>
                  </a:txBody>
                  <a:tcPr anchor="ctr">
                    <a:solidFill>
                      <a:srgbClr val="2C5282"/>
                    </a:solidFill>
                  </a:tcPr>
                </a:tc>
                <a:tc>
                  <a:txBody>
                    <a:bodyPr/>
                    <a:lstStyle/>
                    <a:p>
                      <a:pPr algn="ctr">
                        <a:defRPr sz="1100" b="1">
                          <a:solidFill>
                            <a:srgbClr val="FFFFFF"/>
                          </a:solidFill>
                          <a:latin typeface="Calibri"/>
                        </a:defRPr>
                      </a:pPr>
                      <a:r>
                        <a:rPr sz="1600"/>
                        <a:t>Accès autorisé</a:t>
                      </a:r>
                    </a:p>
                  </a:txBody>
                  <a:tcPr anchor="ctr">
                    <a:solidFill>
                      <a:srgbClr val="2C5282"/>
                    </a:solidFill>
                  </a:tcPr>
                </a:tc>
                <a:extLst>
                  <a:ext uri="{0D108BD9-81ED-4DB2-BD59-A6C34878D82A}">
                    <a16:rowId xmlns:a16="http://schemas.microsoft.com/office/drawing/2014/main" val="10000"/>
                  </a:ext>
                </a:extLst>
              </a:tr>
              <a:tr h="451616">
                <a:tc>
                  <a:txBody>
                    <a:bodyPr/>
                    <a:lstStyle/>
                    <a:p>
                      <a:pPr algn="l">
                        <a:defRPr sz="1000">
                          <a:solidFill>
                            <a:srgbClr val="2D3748"/>
                          </a:solidFill>
                          <a:latin typeface="Calibri"/>
                        </a:defRPr>
                      </a:pPr>
                      <a:r>
                        <a:rPr sz="1600" dirty="0"/>
                        <a:t>VLAN 10</a:t>
                      </a:r>
                    </a:p>
                  </a:txBody>
                  <a:tcPr anchor="ctr">
                    <a:solidFill>
                      <a:srgbClr val="F7FAFC"/>
                    </a:solidFill>
                  </a:tcPr>
                </a:tc>
                <a:tc>
                  <a:txBody>
                    <a:bodyPr/>
                    <a:lstStyle/>
                    <a:p>
                      <a:pPr algn="ctr">
                        <a:defRPr sz="1000">
                          <a:solidFill>
                            <a:srgbClr val="2D3748"/>
                          </a:solidFill>
                          <a:latin typeface="Calibri"/>
                        </a:defRPr>
                      </a:pPr>
                      <a:r>
                        <a:rPr sz="1600"/>
                        <a:t>Finance</a:t>
                      </a:r>
                    </a:p>
                  </a:txBody>
                  <a:tcPr anchor="ctr">
                    <a:solidFill>
                      <a:srgbClr val="F7FAFC"/>
                    </a:solidFill>
                  </a:tcPr>
                </a:tc>
                <a:tc>
                  <a:txBody>
                    <a:bodyPr/>
                    <a:lstStyle/>
                    <a:p>
                      <a:pPr algn="ctr">
                        <a:defRPr sz="1000">
                          <a:solidFill>
                            <a:srgbClr val="2D3748"/>
                          </a:solidFill>
                          <a:latin typeface="Calibri"/>
                        </a:defRPr>
                      </a:pPr>
                      <a:r>
                        <a:rPr sz="1600"/>
                        <a:t>Keycloak, DNS, Internet</a:t>
                      </a:r>
                    </a:p>
                  </a:txBody>
                  <a:tcPr anchor="ctr">
                    <a:solidFill>
                      <a:srgbClr val="F7FAFC"/>
                    </a:solidFill>
                  </a:tcPr>
                </a:tc>
                <a:extLst>
                  <a:ext uri="{0D108BD9-81ED-4DB2-BD59-A6C34878D82A}">
                    <a16:rowId xmlns:a16="http://schemas.microsoft.com/office/drawing/2014/main" val="10001"/>
                  </a:ext>
                </a:extLst>
              </a:tr>
              <a:tr h="451616">
                <a:tc>
                  <a:txBody>
                    <a:bodyPr/>
                    <a:lstStyle/>
                    <a:p>
                      <a:pPr algn="l">
                        <a:defRPr sz="1000">
                          <a:solidFill>
                            <a:srgbClr val="2D3748"/>
                          </a:solidFill>
                          <a:latin typeface="Calibri"/>
                        </a:defRPr>
                      </a:pPr>
                      <a:r>
                        <a:rPr sz="1600"/>
                        <a:t>VLAN 20</a:t>
                      </a:r>
                    </a:p>
                  </a:txBody>
                  <a:tcPr anchor="ctr"/>
                </a:tc>
                <a:tc>
                  <a:txBody>
                    <a:bodyPr/>
                    <a:lstStyle/>
                    <a:p>
                      <a:pPr algn="ctr">
                        <a:defRPr sz="1000">
                          <a:solidFill>
                            <a:srgbClr val="2D3748"/>
                          </a:solidFill>
                          <a:latin typeface="Calibri"/>
                        </a:defRPr>
                      </a:pPr>
                      <a:r>
                        <a:rPr sz="1600" dirty="0"/>
                        <a:t>Audit</a:t>
                      </a:r>
                    </a:p>
                  </a:txBody>
                  <a:tcPr anchor="ctr"/>
                </a:tc>
                <a:tc>
                  <a:txBody>
                    <a:bodyPr/>
                    <a:lstStyle/>
                    <a:p>
                      <a:pPr algn="ctr">
                        <a:defRPr sz="1000">
                          <a:solidFill>
                            <a:srgbClr val="2D3748"/>
                          </a:solidFill>
                          <a:latin typeface="Calibri"/>
                        </a:defRPr>
                      </a:pPr>
                      <a:r>
                        <a:rPr sz="1600"/>
                        <a:t>Keycloak, DNS, Internet</a:t>
                      </a:r>
                    </a:p>
                  </a:txBody>
                  <a:tcPr anchor="ctr"/>
                </a:tc>
                <a:extLst>
                  <a:ext uri="{0D108BD9-81ED-4DB2-BD59-A6C34878D82A}">
                    <a16:rowId xmlns:a16="http://schemas.microsoft.com/office/drawing/2014/main" val="10002"/>
                  </a:ext>
                </a:extLst>
              </a:tr>
              <a:tr h="451616">
                <a:tc>
                  <a:txBody>
                    <a:bodyPr/>
                    <a:lstStyle/>
                    <a:p>
                      <a:pPr algn="l">
                        <a:defRPr sz="1000">
                          <a:solidFill>
                            <a:srgbClr val="2D3748"/>
                          </a:solidFill>
                          <a:latin typeface="Calibri"/>
                        </a:defRPr>
                      </a:pPr>
                      <a:r>
                        <a:rPr sz="1600" dirty="0"/>
                        <a:t>VLAN IAM</a:t>
                      </a:r>
                    </a:p>
                  </a:txBody>
                  <a:tcPr anchor="ctr">
                    <a:solidFill>
                      <a:srgbClr val="F7FAFC"/>
                    </a:solidFill>
                  </a:tcPr>
                </a:tc>
                <a:tc>
                  <a:txBody>
                    <a:bodyPr/>
                    <a:lstStyle/>
                    <a:p>
                      <a:pPr algn="ctr">
                        <a:defRPr sz="1000">
                          <a:solidFill>
                            <a:srgbClr val="2D3748"/>
                          </a:solidFill>
                          <a:latin typeface="Calibri"/>
                        </a:defRPr>
                      </a:pPr>
                      <a:r>
                        <a:rPr sz="1600"/>
                        <a:t>Keycloak</a:t>
                      </a:r>
                    </a:p>
                  </a:txBody>
                  <a:tcPr anchor="ctr">
                    <a:solidFill>
                      <a:srgbClr val="F7FAFC"/>
                    </a:solidFill>
                  </a:tcPr>
                </a:tc>
                <a:tc>
                  <a:txBody>
                    <a:bodyPr/>
                    <a:lstStyle/>
                    <a:p>
                      <a:pPr algn="ctr">
                        <a:defRPr sz="1000">
                          <a:solidFill>
                            <a:srgbClr val="2D3748"/>
                          </a:solidFill>
                          <a:latin typeface="Calibri"/>
                        </a:defRPr>
                      </a:pPr>
                      <a:r>
                        <a:rPr sz="1600"/>
                        <a:t>Authentification centralisée</a:t>
                      </a:r>
                    </a:p>
                  </a:txBody>
                  <a:tcPr anchor="ctr">
                    <a:solidFill>
                      <a:srgbClr val="F7FAFC"/>
                    </a:solidFill>
                  </a:tcPr>
                </a:tc>
                <a:extLst>
                  <a:ext uri="{0D108BD9-81ED-4DB2-BD59-A6C34878D82A}">
                    <a16:rowId xmlns:a16="http://schemas.microsoft.com/office/drawing/2014/main" val="10003"/>
                  </a:ext>
                </a:extLst>
              </a:tr>
              <a:tr h="451616">
                <a:tc>
                  <a:txBody>
                    <a:bodyPr/>
                    <a:lstStyle/>
                    <a:p>
                      <a:pPr algn="l">
                        <a:defRPr sz="1000">
                          <a:solidFill>
                            <a:srgbClr val="2D3748"/>
                          </a:solidFill>
                          <a:latin typeface="Calibri"/>
                        </a:defRPr>
                      </a:pPr>
                      <a:r>
                        <a:rPr sz="1600"/>
                        <a:t>VLAN Storage</a:t>
                      </a:r>
                    </a:p>
                  </a:txBody>
                  <a:tcPr anchor="ctr"/>
                </a:tc>
                <a:tc>
                  <a:txBody>
                    <a:bodyPr/>
                    <a:lstStyle/>
                    <a:p>
                      <a:pPr algn="ctr">
                        <a:defRPr sz="1000">
                          <a:solidFill>
                            <a:srgbClr val="2D3748"/>
                          </a:solidFill>
                          <a:latin typeface="Calibri"/>
                        </a:defRPr>
                      </a:pPr>
                      <a:r>
                        <a:rPr sz="1600" dirty="0" err="1"/>
                        <a:t>Ceph</a:t>
                      </a:r>
                      <a:endParaRPr sz="1600" dirty="0"/>
                    </a:p>
                  </a:txBody>
                  <a:tcPr anchor="ctr"/>
                </a:tc>
                <a:tc>
                  <a:txBody>
                    <a:bodyPr/>
                    <a:lstStyle/>
                    <a:p>
                      <a:pPr algn="ctr">
                        <a:defRPr sz="1000">
                          <a:solidFill>
                            <a:srgbClr val="2D3748"/>
                          </a:solidFill>
                          <a:latin typeface="Calibri"/>
                        </a:defRPr>
                      </a:pPr>
                      <a:r>
                        <a:rPr sz="1600" dirty="0" err="1"/>
                        <a:t>Réplication</a:t>
                      </a:r>
                      <a:r>
                        <a:rPr sz="1600" dirty="0"/>
                        <a:t> </a:t>
                      </a:r>
                      <a:r>
                        <a:rPr sz="1600" dirty="0" err="1"/>
                        <a:t>isolée</a:t>
                      </a:r>
                      <a:endParaRPr sz="1600" dirty="0"/>
                    </a:p>
                  </a:txBody>
                  <a:tcPr anchor="ctr"/>
                </a:tc>
                <a:extLst>
                  <a:ext uri="{0D108BD9-81ED-4DB2-BD59-A6C34878D82A}">
                    <a16:rowId xmlns:a16="http://schemas.microsoft.com/office/drawing/2014/main" val="10004"/>
                  </a:ext>
                </a:extLst>
              </a:tr>
              <a:tr h="451624">
                <a:tc>
                  <a:txBody>
                    <a:bodyPr/>
                    <a:lstStyle/>
                    <a:p>
                      <a:pPr algn="l">
                        <a:defRPr sz="1000">
                          <a:solidFill>
                            <a:srgbClr val="2D3748"/>
                          </a:solidFill>
                          <a:latin typeface="Calibri"/>
                        </a:defRPr>
                      </a:pPr>
                      <a:r>
                        <a:rPr sz="1600"/>
                        <a:t>VLAN Mgmt</a:t>
                      </a:r>
                    </a:p>
                  </a:txBody>
                  <a:tcPr anchor="ctr">
                    <a:solidFill>
                      <a:srgbClr val="F7FAFC"/>
                    </a:solidFill>
                  </a:tcPr>
                </a:tc>
                <a:tc>
                  <a:txBody>
                    <a:bodyPr/>
                    <a:lstStyle/>
                    <a:p>
                      <a:pPr algn="ctr">
                        <a:defRPr sz="1000">
                          <a:solidFill>
                            <a:srgbClr val="2D3748"/>
                          </a:solidFill>
                          <a:latin typeface="Calibri"/>
                        </a:defRPr>
                      </a:pPr>
                      <a:r>
                        <a:rPr sz="1600" dirty="0" err="1"/>
                        <a:t>Proxmox</a:t>
                      </a:r>
                      <a:endParaRPr sz="1600" dirty="0"/>
                    </a:p>
                  </a:txBody>
                  <a:tcPr anchor="ctr">
                    <a:solidFill>
                      <a:srgbClr val="F7FAFC"/>
                    </a:solidFill>
                  </a:tcPr>
                </a:tc>
                <a:tc>
                  <a:txBody>
                    <a:bodyPr/>
                    <a:lstStyle/>
                    <a:p>
                      <a:pPr algn="ctr">
                        <a:defRPr sz="1000">
                          <a:solidFill>
                            <a:srgbClr val="2D3748"/>
                          </a:solidFill>
                          <a:latin typeface="Calibri"/>
                        </a:defRPr>
                      </a:pPr>
                      <a:r>
                        <a:rPr sz="1600" dirty="0"/>
                        <a:t>Administration cluster</a:t>
                      </a:r>
                    </a:p>
                  </a:txBody>
                  <a:tcPr anchor="ctr">
                    <a:solidFill>
                      <a:srgbClr val="F7FAFC"/>
                    </a:solidFill>
                  </a:tcPr>
                </a:tc>
                <a:extLst>
                  <a:ext uri="{0D108BD9-81ED-4DB2-BD59-A6C34878D82A}">
                    <a16:rowId xmlns:a16="http://schemas.microsoft.com/office/drawing/2014/main" val="10005"/>
                  </a:ext>
                </a:extLst>
              </a:tr>
            </a:tbl>
          </a:graphicData>
        </a:graphic>
      </p:graphicFrame>
      <p:sp>
        <p:nvSpPr>
          <p:cNvPr id="118" name="Rounded Rectangle 9"/>
          <p:cNvSpPr/>
          <p:nvPr/>
        </p:nvSpPr>
        <p:spPr>
          <a:xfrm>
            <a:off x="416754" y="6621921"/>
            <a:ext cx="17289345" cy="959979"/>
          </a:xfrm>
          <a:prstGeom prst="roundRect">
            <a:avLst/>
          </a:prstGeom>
          <a:solidFill>
            <a:srgbClr val="FFF5F5"/>
          </a:solidFill>
          <a:ln w="38100">
            <a:solidFill>
              <a:srgbClr val="E53E3E"/>
            </a:solidFill>
          </a:ln>
        </p:spPr>
        <p:style>
          <a:lnRef idx="1">
            <a:schemeClr val="accent1"/>
          </a:lnRef>
          <a:fillRef idx="3">
            <a:schemeClr val="accent1"/>
          </a:fillRef>
          <a:effectRef idx="2">
            <a:schemeClr val="accent1"/>
          </a:effectRef>
          <a:fontRef idx="minor">
            <a:schemeClr val="lt1"/>
          </a:fontRef>
        </p:style>
        <p:txBody>
          <a:bodyPr wrap="square" lIns="127000" tIns="127000" rIns="127000" bIns="127000" rtlCol="0" anchor="ctr"/>
          <a:lstStyle/>
          <a:p>
            <a:pPr algn="ctr">
              <a:defRPr sz="1100">
                <a:solidFill>
                  <a:srgbClr val="2D3748"/>
                </a:solidFill>
                <a:latin typeface="Calibri"/>
              </a:defRPr>
            </a:pPr>
            <a:r>
              <a:rPr sz="1600" dirty="0" err="1"/>
              <a:t>Exemple</a:t>
            </a:r>
            <a:r>
              <a:rPr sz="1600" dirty="0"/>
              <a:t> </a:t>
            </a:r>
            <a:r>
              <a:rPr sz="1600" dirty="0" err="1"/>
              <a:t>Règles</a:t>
            </a:r>
            <a:r>
              <a:rPr sz="1600" dirty="0"/>
              <a:t> </a:t>
            </a:r>
            <a:r>
              <a:rPr sz="1600" dirty="0">
                <a:solidFill>
                  <a:srgbClr val="2D3748"/>
                </a:solidFill>
                <a:latin typeface="Calibri"/>
              </a:rPr>
              <a:t>Firewall</a:t>
            </a:r>
            <a:r>
              <a:rPr sz="1600" dirty="0"/>
              <a:t> (VLAN Finance) :</a:t>
            </a:r>
            <a:br>
              <a:rPr sz="1600" dirty="0"/>
            </a:br>
            <a:r>
              <a:rPr sz="1600" dirty="0" smtClean="0"/>
              <a:t>AUTORISÉ </a:t>
            </a:r>
            <a:r>
              <a:rPr sz="1600" dirty="0"/>
              <a:t>: </a:t>
            </a:r>
            <a:r>
              <a:rPr sz="1600" dirty="0" err="1"/>
              <a:t>Keycloak</a:t>
            </a:r>
            <a:r>
              <a:rPr sz="1600" dirty="0"/>
              <a:t>, DNS, Internet</a:t>
            </a:r>
            <a:br>
              <a:rPr sz="1600" dirty="0"/>
            </a:br>
            <a:r>
              <a:rPr sz="1600" dirty="0" smtClean="0"/>
              <a:t>INTERDIT </a:t>
            </a:r>
            <a:r>
              <a:rPr sz="1600" dirty="0"/>
              <a:t>: </a:t>
            </a:r>
            <a:r>
              <a:rPr sz="1600" dirty="0" err="1"/>
              <a:t>Accès</a:t>
            </a:r>
            <a:r>
              <a:rPr sz="1600" dirty="0"/>
              <a:t> direct VLAN Audit, </a:t>
            </a:r>
            <a:r>
              <a:rPr sz="1600" dirty="0" err="1"/>
              <a:t>Accès</a:t>
            </a:r>
            <a:r>
              <a:rPr sz="1600" dirty="0"/>
              <a:t> direct </a:t>
            </a:r>
            <a:r>
              <a:rPr sz="1600" dirty="0" err="1"/>
              <a:t>stockage</a:t>
            </a:r>
            <a:r>
              <a:rPr sz="1600" dirty="0"/>
              <a:t> </a:t>
            </a:r>
            <a:r>
              <a:rPr sz="1600" dirty="0" err="1"/>
              <a:t>Ceph</a:t>
            </a:r>
            <a:endParaRPr sz="1600" dirty="0"/>
          </a:p>
        </p:txBody>
      </p:sp>
      <p:sp>
        <p:nvSpPr>
          <p:cNvPr id="119" name="TextBox 10"/>
          <p:cNvSpPr txBox="1"/>
          <p:nvPr/>
        </p:nvSpPr>
        <p:spPr>
          <a:xfrm>
            <a:off x="1062204" y="7845136"/>
            <a:ext cx="10972800" cy="400110"/>
          </a:xfrm>
          <a:prstGeom prst="rect">
            <a:avLst/>
          </a:prstGeom>
          <a:noFill/>
        </p:spPr>
        <p:txBody>
          <a:bodyPr wrap="square">
            <a:spAutoFit/>
          </a:bodyPr>
          <a:lstStyle/>
          <a:p>
            <a:pPr algn="l">
              <a:defRPr sz="1600" b="1">
                <a:solidFill>
                  <a:srgbClr val="38A169"/>
                </a:solidFill>
                <a:latin typeface="Calibri"/>
              </a:defRPr>
            </a:pPr>
            <a:r>
              <a:rPr sz="2000" dirty="0" err="1">
                <a:solidFill>
                  <a:schemeClr val="tx1">
                    <a:lumMod val="85000"/>
                    <a:lumOff val="15000"/>
                  </a:schemeClr>
                </a:solidFill>
              </a:rPr>
              <a:t>Avantages</a:t>
            </a:r>
            <a:r>
              <a:rPr sz="2000" dirty="0">
                <a:solidFill>
                  <a:schemeClr val="tx1">
                    <a:lumMod val="85000"/>
                    <a:lumOff val="15000"/>
                  </a:schemeClr>
                </a:solidFill>
              </a:rPr>
              <a:t> de la Micro-Segmentation</a:t>
            </a:r>
          </a:p>
        </p:txBody>
      </p:sp>
      <p:sp>
        <p:nvSpPr>
          <p:cNvPr id="120" name="TextBox 11"/>
          <p:cNvSpPr txBox="1"/>
          <p:nvPr/>
        </p:nvSpPr>
        <p:spPr>
          <a:xfrm>
            <a:off x="1447800" y="8416815"/>
            <a:ext cx="7391400" cy="1554272"/>
          </a:xfrm>
          <a:prstGeom prst="rect">
            <a:avLst/>
          </a:prstGeom>
          <a:noFill/>
        </p:spPr>
        <p:txBody>
          <a:bodyPr wrap="square">
            <a:spAutoFit/>
          </a:bodyPr>
          <a:lstStyle/>
          <a:p>
            <a:pPr marL="457200" indent="-457200">
              <a:spcAft>
                <a:spcPts val="600"/>
              </a:spcAft>
              <a:buFont typeface="Wingdings" panose="05000000000000000000" pitchFamily="2" charset="2"/>
              <a:buChar char="ü"/>
              <a:defRPr sz="1100">
                <a:solidFill>
                  <a:srgbClr val="38A169"/>
                </a:solidFill>
                <a:latin typeface="Calibri"/>
              </a:defRPr>
            </a:pPr>
            <a:r>
              <a:rPr sz="2000" dirty="0" smtClean="0">
                <a:solidFill>
                  <a:schemeClr val="tx1">
                    <a:lumMod val="85000"/>
                    <a:lumOff val="15000"/>
                  </a:schemeClr>
                </a:solidFill>
              </a:rPr>
              <a:t> </a:t>
            </a:r>
            <a:r>
              <a:rPr sz="2000" dirty="0">
                <a:solidFill>
                  <a:schemeClr val="tx1">
                    <a:lumMod val="85000"/>
                    <a:lumOff val="15000"/>
                  </a:schemeClr>
                </a:solidFill>
              </a:rPr>
              <a:t>Isolation des services </a:t>
            </a:r>
            <a:r>
              <a:rPr lang="en-US" sz="2000" dirty="0" smtClean="0">
                <a:solidFill>
                  <a:schemeClr val="tx1">
                    <a:lumMod val="85000"/>
                    <a:lumOff val="15000"/>
                  </a:schemeClr>
                </a:solidFill>
              </a:rPr>
              <a:t>-</a:t>
            </a:r>
            <a:r>
              <a:rPr sz="2000" dirty="0" smtClean="0">
                <a:solidFill>
                  <a:schemeClr val="tx1">
                    <a:lumMod val="85000"/>
                    <a:lumOff val="15000"/>
                  </a:schemeClr>
                </a:solidFill>
              </a:rPr>
              <a:t> </a:t>
            </a:r>
            <a:r>
              <a:rPr sz="2000" dirty="0" err="1">
                <a:solidFill>
                  <a:schemeClr val="tx1">
                    <a:lumMod val="85000"/>
                    <a:lumOff val="15000"/>
                  </a:schemeClr>
                </a:solidFill>
                <a:latin typeface="Calibri"/>
              </a:rPr>
              <a:t>chaque</a:t>
            </a:r>
            <a:r>
              <a:rPr sz="2000" dirty="0">
                <a:solidFill>
                  <a:schemeClr val="tx1">
                    <a:lumMod val="85000"/>
                    <a:lumOff val="15000"/>
                  </a:schemeClr>
                </a:solidFill>
              </a:rPr>
              <a:t> tenant </a:t>
            </a:r>
            <a:r>
              <a:rPr sz="2000" dirty="0" err="1">
                <a:solidFill>
                  <a:schemeClr val="tx1">
                    <a:lumMod val="85000"/>
                    <a:lumOff val="15000"/>
                  </a:schemeClr>
                </a:solidFill>
              </a:rPr>
              <a:t>dans</a:t>
            </a:r>
            <a:r>
              <a:rPr sz="2000" dirty="0">
                <a:solidFill>
                  <a:schemeClr val="tx1">
                    <a:lumMod val="85000"/>
                    <a:lumOff val="15000"/>
                  </a:schemeClr>
                </a:solidFill>
              </a:rPr>
              <a:t> son VLAN</a:t>
            </a:r>
          </a:p>
          <a:p>
            <a:pPr marL="457200" indent="-457200">
              <a:spcAft>
                <a:spcPts val="600"/>
              </a:spcAft>
              <a:buFont typeface="Wingdings" panose="05000000000000000000" pitchFamily="2" charset="2"/>
              <a:buChar char="ü"/>
              <a:defRPr sz="1100">
                <a:solidFill>
                  <a:srgbClr val="38A169"/>
                </a:solidFill>
                <a:latin typeface="Calibri"/>
              </a:defRPr>
            </a:pPr>
            <a:r>
              <a:rPr sz="2000" dirty="0" smtClean="0">
                <a:solidFill>
                  <a:schemeClr val="tx1">
                    <a:lumMod val="85000"/>
                    <a:lumOff val="15000"/>
                  </a:schemeClr>
                </a:solidFill>
              </a:rPr>
              <a:t> </a:t>
            </a:r>
            <a:r>
              <a:rPr sz="2000" dirty="0" err="1">
                <a:solidFill>
                  <a:schemeClr val="tx1">
                    <a:lumMod val="85000"/>
                    <a:lumOff val="15000"/>
                  </a:schemeClr>
                </a:solidFill>
              </a:rPr>
              <a:t>Réduction</a:t>
            </a:r>
            <a:r>
              <a:rPr sz="2000" dirty="0">
                <a:solidFill>
                  <a:schemeClr val="tx1">
                    <a:lumMod val="85000"/>
                    <a:lumOff val="15000"/>
                  </a:schemeClr>
                </a:solidFill>
              </a:rPr>
              <a:t> </a:t>
            </a:r>
            <a:r>
              <a:rPr sz="2000" dirty="0" smtClean="0">
                <a:solidFill>
                  <a:schemeClr val="tx1">
                    <a:lumMod val="85000"/>
                    <a:lumOff val="15000"/>
                  </a:schemeClr>
                </a:solidFill>
              </a:rPr>
              <a:t>de </a:t>
            </a:r>
            <a:r>
              <a:rPr sz="2000" dirty="0">
                <a:solidFill>
                  <a:schemeClr val="tx1">
                    <a:lumMod val="85000"/>
                    <a:lumOff val="15000"/>
                  </a:schemeClr>
                </a:solidFill>
              </a:rPr>
              <a:t>la surface </a:t>
            </a:r>
            <a:r>
              <a:rPr sz="2000" dirty="0" err="1">
                <a:solidFill>
                  <a:schemeClr val="tx1">
                    <a:lumMod val="85000"/>
                    <a:lumOff val="15000"/>
                  </a:schemeClr>
                </a:solidFill>
              </a:rPr>
              <a:t>d'attaque</a:t>
            </a:r>
            <a:endParaRPr sz="2000" dirty="0">
              <a:solidFill>
                <a:schemeClr val="tx1">
                  <a:lumMod val="85000"/>
                  <a:lumOff val="15000"/>
                </a:schemeClr>
              </a:solidFill>
            </a:endParaRPr>
          </a:p>
          <a:p>
            <a:pPr marL="457200" indent="-457200">
              <a:spcAft>
                <a:spcPts val="600"/>
              </a:spcAft>
              <a:buFont typeface="Wingdings" panose="05000000000000000000" pitchFamily="2" charset="2"/>
              <a:buChar char="ü"/>
              <a:defRPr sz="1100">
                <a:solidFill>
                  <a:srgbClr val="38A169"/>
                </a:solidFill>
                <a:latin typeface="Calibri"/>
              </a:defRPr>
            </a:pPr>
            <a:r>
              <a:rPr sz="2000" dirty="0" err="1" smtClean="0">
                <a:solidFill>
                  <a:schemeClr val="tx1">
                    <a:lumMod val="85000"/>
                    <a:lumOff val="15000"/>
                  </a:schemeClr>
                </a:solidFill>
              </a:rPr>
              <a:t>Contrôle</a:t>
            </a:r>
            <a:r>
              <a:rPr sz="2000" dirty="0" smtClean="0">
                <a:solidFill>
                  <a:schemeClr val="tx1">
                    <a:lumMod val="85000"/>
                    <a:lumOff val="15000"/>
                  </a:schemeClr>
                </a:solidFill>
              </a:rPr>
              <a:t> </a:t>
            </a:r>
            <a:r>
              <a:rPr sz="2000" dirty="0">
                <a:solidFill>
                  <a:schemeClr val="tx1">
                    <a:lumMod val="85000"/>
                    <a:lumOff val="15000"/>
                  </a:schemeClr>
                </a:solidFill>
              </a:rPr>
              <a:t>total des communications inter-tenant</a:t>
            </a:r>
          </a:p>
          <a:p>
            <a:pPr marL="457200" indent="-457200">
              <a:spcAft>
                <a:spcPts val="600"/>
              </a:spcAft>
              <a:buFont typeface="Wingdings" panose="05000000000000000000" pitchFamily="2" charset="2"/>
              <a:buChar char="ü"/>
              <a:defRPr sz="1100">
                <a:solidFill>
                  <a:srgbClr val="38A169"/>
                </a:solidFill>
                <a:latin typeface="Calibri"/>
              </a:defRPr>
            </a:pPr>
            <a:r>
              <a:rPr sz="2000" dirty="0" err="1" smtClean="0">
                <a:solidFill>
                  <a:schemeClr val="tx1">
                    <a:lumMod val="85000"/>
                    <a:lumOff val="15000"/>
                  </a:schemeClr>
                </a:solidFill>
              </a:rPr>
              <a:t>Traçabilité</a:t>
            </a:r>
            <a:r>
              <a:rPr sz="2000" dirty="0" smtClean="0">
                <a:solidFill>
                  <a:schemeClr val="tx1">
                    <a:lumMod val="85000"/>
                    <a:lumOff val="15000"/>
                  </a:schemeClr>
                </a:solidFill>
              </a:rPr>
              <a:t> </a:t>
            </a:r>
            <a:r>
              <a:rPr sz="2000" dirty="0" err="1">
                <a:solidFill>
                  <a:schemeClr val="tx1">
                    <a:lumMod val="85000"/>
                    <a:lumOff val="15000"/>
                  </a:schemeClr>
                </a:solidFill>
              </a:rPr>
              <a:t>complète</a:t>
            </a:r>
            <a:r>
              <a:rPr sz="2000" dirty="0">
                <a:solidFill>
                  <a:schemeClr val="tx1">
                    <a:lumMod val="85000"/>
                    <a:lumOff val="15000"/>
                  </a:schemeClr>
                </a:solidFill>
              </a:rPr>
              <a:t> via logs </a:t>
            </a:r>
            <a:r>
              <a:rPr sz="2000" dirty="0" err="1" smtClean="0">
                <a:solidFill>
                  <a:schemeClr val="tx1">
                    <a:lumMod val="85000"/>
                    <a:lumOff val="15000"/>
                  </a:schemeClr>
                </a:solidFill>
              </a:rPr>
              <a:t>pfSense</a:t>
            </a:r>
            <a:r>
              <a:rPr lang="en-US" sz="2000" dirty="0">
                <a:solidFill>
                  <a:schemeClr val="tx1">
                    <a:lumMod val="85000"/>
                    <a:lumOff val="15000"/>
                  </a:schemeClr>
                </a:solidFill>
              </a:rPr>
              <a:t> </a:t>
            </a:r>
            <a:endParaRPr sz="2000" dirty="0">
              <a:solidFill>
                <a:schemeClr val="tx1">
                  <a:lumMod val="85000"/>
                  <a:lumOff val="15000"/>
                </a:schemeClr>
              </a:solidFill>
            </a:endParaRPr>
          </a:p>
        </p:txBody>
      </p:sp>
      <p:sp>
        <p:nvSpPr>
          <p:cNvPr id="4" name="Espace réservé du numéro de diapositive 3"/>
          <p:cNvSpPr>
            <a:spLocks noGrp="1"/>
          </p:cNvSpPr>
          <p:nvPr>
            <p:ph type="sldNum" sz="quarter" idx="12"/>
          </p:nvPr>
        </p:nvSpPr>
        <p:spPr/>
        <p:txBody>
          <a:bodyPr/>
          <a:lstStyle/>
          <a:p>
            <a:fld id="{B6F15528-21DE-4FAA-801E-634DDDAF4B2B}" type="slidenum">
              <a:rPr lang="en-US" sz="2400" b="1" smtClean="0"/>
              <a:pPr/>
              <a:t>11</a:t>
            </a:fld>
            <a:endParaRPr lang="en-US" sz="2400" b="1" dirty="0"/>
          </a:p>
        </p:txBody>
      </p:sp>
    </p:spTree>
    <p:extLst>
      <p:ext uri="{BB962C8B-B14F-4D97-AF65-F5344CB8AC3E}">
        <p14:creationId xmlns:p14="http://schemas.microsoft.com/office/powerpoint/2010/main" val="517501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1000"/>
                                        <p:tgtEl>
                                          <p:spTgt spid="33"/>
                                        </p:tgtEl>
                                      </p:cBhvr>
                                    </p:animEffect>
                                    <p:anim calcmode="lin" valueType="num">
                                      <p:cBhvr>
                                        <p:cTn id="8" dur="1000" fill="hold"/>
                                        <p:tgtEl>
                                          <p:spTgt spid="33"/>
                                        </p:tgtEl>
                                        <p:attrNameLst>
                                          <p:attrName>ppt_x</p:attrName>
                                        </p:attrNameLst>
                                      </p:cBhvr>
                                      <p:tavLst>
                                        <p:tav tm="0">
                                          <p:val>
                                            <p:strVal val="#ppt_x"/>
                                          </p:val>
                                        </p:tav>
                                        <p:tav tm="100000">
                                          <p:val>
                                            <p:strVal val="#ppt_x"/>
                                          </p:val>
                                        </p:tav>
                                      </p:tavLst>
                                    </p:anim>
                                    <p:anim calcmode="lin" valueType="num">
                                      <p:cBhvr>
                                        <p:cTn id="9" dur="10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0"/>
                                        </p:tgtEl>
                                        <p:attrNameLst>
                                          <p:attrName>style.visibility</p:attrName>
                                        </p:attrNameLst>
                                      </p:cBhvr>
                                      <p:to>
                                        <p:strVal val="visible"/>
                                      </p:to>
                                    </p:set>
                                    <p:animEffect transition="in" filter="fade">
                                      <p:cBhvr>
                                        <p:cTn id="14" dur="1000"/>
                                        <p:tgtEl>
                                          <p:spTgt spid="60"/>
                                        </p:tgtEl>
                                      </p:cBhvr>
                                    </p:animEffect>
                                    <p:anim calcmode="lin" valueType="num">
                                      <p:cBhvr>
                                        <p:cTn id="15" dur="1000" fill="hold"/>
                                        <p:tgtEl>
                                          <p:spTgt spid="60"/>
                                        </p:tgtEl>
                                        <p:attrNameLst>
                                          <p:attrName>ppt_x</p:attrName>
                                        </p:attrNameLst>
                                      </p:cBhvr>
                                      <p:tavLst>
                                        <p:tav tm="0">
                                          <p:val>
                                            <p:strVal val="#ppt_x"/>
                                          </p:val>
                                        </p:tav>
                                        <p:tav tm="100000">
                                          <p:val>
                                            <p:strVal val="#ppt_x"/>
                                          </p:val>
                                        </p:tav>
                                      </p:tavLst>
                                    </p:anim>
                                    <p:anim calcmode="lin" valueType="num">
                                      <p:cBhvr>
                                        <p:cTn id="16" dur="1000" fill="hold"/>
                                        <p:tgtEl>
                                          <p:spTgt spid="60"/>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1000"/>
                                        <p:tgtEl>
                                          <p:spTgt spid="61"/>
                                        </p:tgtEl>
                                      </p:cBhvr>
                                    </p:animEffect>
                                    <p:anim calcmode="lin" valueType="num">
                                      <p:cBhvr>
                                        <p:cTn id="20" dur="1000" fill="hold"/>
                                        <p:tgtEl>
                                          <p:spTgt spid="61"/>
                                        </p:tgtEl>
                                        <p:attrNameLst>
                                          <p:attrName>ppt_x</p:attrName>
                                        </p:attrNameLst>
                                      </p:cBhvr>
                                      <p:tavLst>
                                        <p:tav tm="0">
                                          <p:val>
                                            <p:strVal val="#ppt_x"/>
                                          </p:val>
                                        </p:tav>
                                        <p:tav tm="100000">
                                          <p:val>
                                            <p:strVal val="#ppt_x"/>
                                          </p:val>
                                        </p:tav>
                                      </p:tavLst>
                                    </p:anim>
                                    <p:anim calcmode="lin" valueType="num">
                                      <p:cBhvr>
                                        <p:cTn id="21"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wipe(left)">
                                      <p:cBhvr>
                                        <p:cTn id="26" dur="500"/>
                                        <p:tgtEl>
                                          <p:spTgt spid="62"/>
                                        </p:tgtEl>
                                      </p:cBhvr>
                                    </p:animEffect>
                                  </p:childTnLst>
                                </p:cTn>
                              </p:par>
                              <p:par>
                                <p:cTn id="27" presetID="22" presetClass="entr" presetSubtype="8" fill="hold" nodeType="withEffect">
                                  <p:stCondLst>
                                    <p:cond delay="0"/>
                                  </p:stCondLst>
                                  <p:childTnLst>
                                    <p:set>
                                      <p:cBhvr>
                                        <p:cTn id="28" dur="1" fill="hold">
                                          <p:stCondLst>
                                            <p:cond delay="0"/>
                                          </p:stCondLst>
                                        </p:cTn>
                                        <p:tgtEl>
                                          <p:spTgt spid="63"/>
                                        </p:tgtEl>
                                        <p:attrNameLst>
                                          <p:attrName>style.visibility</p:attrName>
                                        </p:attrNameLst>
                                      </p:cBhvr>
                                      <p:to>
                                        <p:strVal val="visible"/>
                                      </p:to>
                                    </p:set>
                                    <p:animEffect transition="in" filter="wipe(left)">
                                      <p:cBhvr>
                                        <p:cTn id="29" dur="500"/>
                                        <p:tgtEl>
                                          <p:spTgt spid="63"/>
                                        </p:tgtEl>
                                      </p:cBhvr>
                                    </p:animEffect>
                                  </p:childTnLst>
                                </p:cTn>
                              </p:par>
                            </p:childTnLst>
                          </p:cTn>
                        </p:par>
                      </p:childTnLst>
                    </p:cTn>
                  </p:par>
                  <p:par>
                    <p:cTn id="30" fill="hold">
                      <p:stCondLst>
                        <p:cond delay="indefinite"/>
                      </p:stCondLst>
                      <p:childTnLst>
                        <p:par>
                          <p:cTn id="31" fill="hold">
                            <p:stCondLst>
                              <p:cond delay="0"/>
                            </p:stCondLst>
                            <p:childTnLst>
                              <p:par>
                                <p:cTn id="32" presetID="16" presetClass="entr" presetSubtype="21" fill="hold" grpId="0" nodeType="clickEffect">
                                  <p:stCondLst>
                                    <p:cond delay="0"/>
                                  </p:stCondLst>
                                  <p:childTnLst>
                                    <p:set>
                                      <p:cBhvr>
                                        <p:cTn id="33" dur="1" fill="hold">
                                          <p:stCondLst>
                                            <p:cond delay="0"/>
                                          </p:stCondLst>
                                        </p:cTn>
                                        <p:tgtEl>
                                          <p:spTgt spid="118"/>
                                        </p:tgtEl>
                                        <p:attrNameLst>
                                          <p:attrName>style.visibility</p:attrName>
                                        </p:attrNameLst>
                                      </p:cBhvr>
                                      <p:to>
                                        <p:strVal val="visible"/>
                                      </p:to>
                                    </p:set>
                                    <p:animEffect transition="in" filter="barn(inVertical)">
                                      <p:cBhvr>
                                        <p:cTn id="34" dur="500"/>
                                        <p:tgtEl>
                                          <p:spTgt spid="118"/>
                                        </p:tgtEl>
                                      </p:cBhvr>
                                    </p:animEffect>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19"/>
                                        </p:tgtEl>
                                        <p:attrNameLst>
                                          <p:attrName>style.visibility</p:attrName>
                                        </p:attrNameLst>
                                      </p:cBhvr>
                                      <p:to>
                                        <p:strVal val="visible"/>
                                      </p:to>
                                    </p:set>
                                    <p:animEffect transition="in" filter="fade">
                                      <p:cBhvr>
                                        <p:cTn id="39" dur="1000"/>
                                        <p:tgtEl>
                                          <p:spTgt spid="119"/>
                                        </p:tgtEl>
                                      </p:cBhvr>
                                    </p:animEffect>
                                    <p:anim calcmode="lin" valueType="num">
                                      <p:cBhvr>
                                        <p:cTn id="40" dur="1000" fill="hold"/>
                                        <p:tgtEl>
                                          <p:spTgt spid="119"/>
                                        </p:tgtEl>
                                        <p:attrNameLst>
                                          <p:attrName>ppt_x</p:attrName>
                                        </p:attrNameLst>
                                      </p:cBhvr>
                                      <p:tavLst>
                                        <p:tav tm="0">
                                          <p:val>
                                            <p:strVal val="#ppt_x"/>
                                          </p:val>
                                        </p:tav>
                                        <p:tav tm="100000">
                                          <p:val>
                                            <p:strVal val="#ppt_x"/>
                                          </p:val>
                                        </p:tav>
                                      </p:tavLst>
                                    </p:anim>
                                    <p:anim calcmode="lin" valueType="num">
                                      <p:cBhvr>
                                        <p:cTn id="41" dur="1000" fill="hold"/>
                                        <p:tgtEl>
                                          <p:spTgt spid="11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20"/>
                                        </p:tgtEl>
                                        <p:attrNameLst>
                                          <p:attrName>style.visibility</p:attrName>
                                        </p:attrNameLst>
                                      </p:cBhvr>
                                      <p:to>
                                        <p:strVal val="visible"/>
                                      </p:to>
                                    </p:set>
                                    <p:animEffect transition="in" filter="fade">
                                      <p:cBhvr>
                                        <p:cTn id="44" dur="1000"/>
                                        <p:tgtEl>
                                          <p:spTgt spid="120"/>
                                        </p:tgtEl>
                                      </p:cBhvr>
                                    </p:animEffect>
                                    <p:anim calcmode="lin" valueType="num">
                                      <p:cBhvr>
                                        <p:cTn id="45" dur="1000" fill="hold"/>
                                        <p:tgtEl>
                                          <p:spTgt spid="120"/>
                                        </p:tgtEl>
                                        <p:attrNameLst>
                                          <p:attrName>ppt_x</p:attrName>
                                        </p:attrNameLst>
                                      </p:cBhvr>
                                      <p:tavLst>
                                        <p:tav tm="0">
                                          <p:val>
                                            <p:strVal val="#ppt_x"/>
                                          </p:val>
                                        </p:tav>
                                        <p:tav tm="100000">
                                          <p:val>
                                            <p:strVal val="#ppt_x"/>
                                          </p:val>
                                        </p:tav>
                                      </p:tavLst>
                                    </p:anim>
                                    <p:anim calcmode="lin" valueType="num">
                                      <p:cBhvr>
                                        <p:cTn id="46" dur="1000" fill="hold"/>
                                        <p:tgtEl>
                                          <p:spTgt spid="1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P spid="61" grpId="0"/>
      <p:bldP spid="62" grpId="0"/>
      <p:bldP spid="118" grpId="0" animBg="1"/>
      <p:bldP spid="119" grpId="0"/>
      <p:bldP spid="12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158755" y="262313"/>
            <a:ext cx="18434863" cy="101346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3" name="TextBox 66"/>
          <p:cNvSpPr txBox="1"/>
          <p:nvPr/>
        </p:nvSpPr>
        <p:spPr>
          <a:xfrm>
            <a:off x="3669615" y="1461646"/>
            <a:ext cx="10948769" cy="599203"/>
          </a:xfrm>
          <a:prstGeom prst="rect">
            <a:avLst/>
          </a:prstGeom>
        </p:spPr>
        <p:txBody>
          <a:bodyPr lIns="0" tIns="0" rIns="0" bIns="0" rtlCol="0" anchor="t">
            <a:spAutoFit/>
          </a:bodyPr>
          <a:lstStyle/>
          <a:p>
            <a:pPr algn="ctr">
              <a:lnSpc>
                <a:spcPts val="5040"/>
              </a:lnSpc>
              <a:spcBef>
                <a:spcPct val="0"/>
              </a:spcBef>
            </a:pPr>
            <a:r>
              <a:rPr lang="fr-FR" sz="3600" dirty="0">
                <a:solidFill>
                  <a:srgbClr val="000000"/>
                </a:solidFill>
                <a:latin typeface="Open Sauce Bold"/>
                <a:ea typeface="Open Sauce Bold"/>
                <a:cs typeface="Open Sauce Bold"/>
              </a:rPr>
              <a:t>Couche</a:t>
            </a:r>
            <a:r>
              <a:rPr lang="fr-FR" sz="3600" dirty="0" smtClean="0"/>
              <a:t> </a:t>
            </a:r>
            <a:r>
              <a:rPr lang="fr-FR" sz="3600" b="1" dirty="0">
                <a:solidFill>
                  <a:srgbClr val="000000"/>
                </a:solidFill>
                <a:latin typeface="Open Sauce Bold"/>
                <a:ea typeface="Open Sauce Bold"/>
                <a:cs typeface="Open Sauce Bold"/>
              </a:rPr>
              <a:t>2 :</a:t>
            </a:r>
            <a:r>
              <a:rPr lang="fr-FR" sz="3600" dirty="0" err="1">
                <a:solidFill>
                  <a:srgbClr val="000000"/>
                </a:solidFill>
                <a:latin typeface="Open Sauce Bold"/>
                <a:ea typeface="Open Sauce Bold"/>
                <a:cs typeface="Open Sauce Bold"/>
              </a:rPr>
              <a:t>Keycloak</a:t>
            </a:r>
            <a:r>
              <a:rPr lang="fr-FR" sz="3600" dirty="0">
                <a:solidFill>
                  <a:srgbClr val="000000"/>
                </a:solidFill>
                <a:latin typeface="Open Sauce Bold"/>
                <a:ea typeface="Open Sauce Bold"/>
                <a:cs typeface="Open Sauce Bold"/>
              </a:rPr>
              <a:t> Multi-</a:t>
            </a:r>
            <a:r>
              <a:rPr lang="fr-FR" sz="3600" dirty="0" err="1">
                <a:solidFill>
                  <a:srgbClr val="000000"/>
                </a:solidFill>
                <a:latin typeface="Open Sauce Bold"/>
                <a:ea typeface="Open Sauce Bold"/>
                <a:cs typeface="Open Sauce Bold"/>
              </a:rPr>
              <a:t>Realm</a:t>
            </a:r>
            <a:r>
              <a:rPr lang="fr-FR" sz="3600" dirty="0">
                <a:solidFill>
                  <a:srgbClr val="000000"/>
                </a:solidFill>
                <a:latin typeface="Open Sauce Bold"/>
                <a:ea typeface="Open Sauce Bold"/>
                <a:cs typeface="Open Sauce Bold"/>
              </a:rPr>
              <a:t> &amp; RBAC </a:t>
            </a:r>
          </a:p>
        </p:txBody>
      </p:sp>
      <p:sp>
        <p:nvSpPr>
          <p:cNvPr id="15" name="AutoShape 2"/>
          <p:cNvSpPr/>
          <p:nvPr/>
        </p:nvSpPr>
        <p:spPr>
          <a:xfrm>
            <a:off x="1186549" y="2677556"/>
            <a:ext cx="7090748" cy="526530"/>
          </a:xfrm>
          <a:prstGeom prst="rect">
            <a:avLst/>
          </a:prstGeom>
          <a:solidFill>
            <a:srgbClr val="86EAE9">
              <a:alpha val="29804"/>
            </a:srgbClr>
          </a:solidFill>
        </p:spPr>
      </p:sp>
      <p:sp>
        <p:nvSpPr>
          <p:cNvPr id="16" name="AutoShape 3"/>
          <p:cNvSpPr/>
          <p:nvPr/>
        </p:nvSpPr>
        <p:spPr>
          <a:xfrm>
            <a:off x="1205169" y="2672381"/>
            <a:ext cx="3442890" cy="526530"/>
          </a:xfrm>
          <a:prstGeom prst="rect">
            <a:avLst/>
          </a:prstGeom>
          <a:solidFill>
            <a:srgbClr val="86EAE9"/>
          </a:solidFill>
        </p:spPr>
      </p:sp>
      <p:sp>
        <p:nvSpPr>
          <p:cNvPr id="17" name="TextBox 4"/>
          <p:cNvSpPr txBox="1"/>
          <p:nvPr/>
        </p:nvSpPr>
        <p:spPr>
          <a:xfrm>
            <a:off x="1682675" y="2776313"/>
            <a:ext cx="2332031" cy="299616"/>
          </a:xfrm>
          <a:prstGeom prst="rect">
            <a:avLst/>
          </a:prstGeom>
        </p:spPr>
        <p:txBody>
          <a:bodyPr lIns="0" tIns="0" rIns="0" bIns="0" rtlCol="0" anchor="t">
            <a:spAutoFit/>
          </a:bodyPr>
          <a:lstStyle/>
          <a:p>
            <a:pPr marL="0" lvl="0" indent="0" algn="l">
              <a:lnSpc>
                <a:spcPts val="2417"/>
              </a:lnSpc>
              <a:spcBef>
                <a:spcPct val="0"/>
              </a:spcBef>
            </a:pPr>
            <a:r>
              <a:rPr lang="en-US" sz="1873" b="1" spc="73">
                <a:solidFill>
                  <a:srgbClr val="FFFFFF"/>
                </a:solidFill>
                <a:latin typeface="Aileron Bold"/>
                <a:ea typeface="Aileron Bold"/>
                <a:cs typeface="Aileron Bold"/>
                <a:sym typeface="Aileron Bold"/>
              </a:rPr>
              <a:t>REA</a:t>
            </a:r>
            <a:r>
              <a:rPr lang="en-US" sz="1873" b="1" u="none" spc="73">
                <a:solidFill>
                  <a:srgbClr val="FFFFFF"/>
                </a:solidFill>
                <a:latin typeface="Aileron Bold"/>
                <a:ea typeface="Aileron Bold"/>
                <a:cs typeface="Aileron Bold"/>
                <a:sym typeface="Aileron Bold"/>
              </a:rPr>
              <a:t>LM FINANCE</a:t>
            </a:r>
          </a:p>
        </p:txBody>
      </p:sp>
      <p:grpSp>
        <p:nvGrpSpPr>
          <p:cNvPr id="18" name="Group 5"/>
          <p:cNvGrpSpPr/>
          <p:nvPr/>
        </p:nvGrpSpPr>
        <p:grpSpPr>
          <a:xfrm rot="-8100000">
            <a:off x="4458923" y="2749639"/>
            <a:ext cx="372611" cy="372015"/>
            <a:chOff x="0" y="0"/>
            <a:chExt cx="6350000" cy="6339840"/>
          </a:xfrm>
        </p:grpSpPr>
        <p:sp>
          <p:nvSpPr>
            <p:cNvPr id="19" name="Freeform 6"/>
            <p:cNvSpPr/>
            <p:nvPr/>
          </p:nvSpPr>
          <p:spPr>
            <a:xfrm>
              <a:off x="0" y="0"/>
              <a:ext cx="6350000" cy="6339840"/>
            </a:xfrm>
            <a:custGeom>
              <a:avLst/>
              <a:gdLst/>
              <a:ahLst/>
              <a:cxnLst/>
              <a:rect l="l" t="t" r="r" b="b"/>
              <a:pathLst>
                <a:path w="6350000" h="6339840">
                  <a:moveTo>
                    <a:pt x="6350000" y="6339840"/>
                  </a:moveTo>
                  <a:lnTo>
                    <a:pt x="0" y="6339840"/>
                  </a:lnTo>
                  <a:lnTo>
                    <a:pt x="0" y="0"/>
                  </a:lnTo>
                  <a:close/>
                </a:path>
              </a:pathLst>
            </a:custGeom>
            <a:solidFill>
              <a:srgbClr val="86EAE9"/>
            </a:solidFill>
          </p:spPr>
        </p:sp>
      </p:grpSp>
      <p:grpSp>
        <p:nvGrpSpPr>
          <p:cNvPr id="20" name="Group 7"/>
          <p:cNvGrpSpPr/>
          <p:nvPr/>
        </p:nvGrpSpPr>
        <p:grpSpPr>
          <a:xfrm rot="5400000">
            <a:off x="1322617" y="2777256"/>
            <a:ext cx="307536" cy="269094"/>
            <a:chOff x="0" y="0"/>
            <a:chExt cx="812800" cy="711200"/>
          </a:xfrm>
        </p:grpSpPr>
        <p:sp>
          <p:nvSpPr>
            <p:cNvPr id="21" name="Freeform 8"/>
            <p:cNvSpPr/>
            <p:nvPr/>
          </p:nvSpPr>
          <p:spPr>
            <a:xfrm>
              <a:off x="0" y="0"/>
              <a:ext cx="812800" cy="711200"/>
            </a:xfrm>
            <a:custGeom>
              <a:avLst/>
              <a:gdLst/>
              <a:ahLst/>
              <a:cxnLst/>
              <a:rect l="l" t="t" r="r" b="b"/>
              <a:pathLst>
                <a:path w="812800" h="711200">
                  <a:moveTo>
                    <a:pt x="406400" y="0"/>
                  </a:moveTo>
                  <a:lnTo>
                    <a:pt x="812800" y="711200"/>
                  </a:lnTo>
                  <a:lnTo>
                    <a:pt x="0" y="711200"/>
                  </a:lnTo>
                  <a:lnTo>
                    <a:pt x="406400" y="0"/>
                  </a:lnTo>
                  <a:close/>
                </a:path>
              </a:pathLst>
            </a:custGeom>
            <a:solidFill>
              <a:srgbClr val="FFFFFF"/>
            </a:solidFill>
          </p:spPr>
        </p:sp>
        <p:sp>
          <p:nvSpPr>
            <p:cNvPr id="22" name="TextBox 9"/>
            <p:cNvSpPr txBox="1"/>
            <p:nvPr/>
          </p:nvSpPr>
          <p:spPr>
            <a:xfrm>
              <a:off x="127000" y="263525"/>
              <a:ext cx="558800" cy="396875"/>
            </a:xfrm>
            <a:prstGeom prst="rect">
              <a:avLst/>
            </a:prstGeom>
          </p:spPr>
          <p:txBody>
            <a:bodyPr lIns="50800" tIns="50800" rIns="50800" bIns="50800" rtlCol="0" anchor="ctr"/>
            <a:lstStyle/>
            <a:p>
              <a:pPr algn="ctr">
                <a:lnSpc>
                  <a:spcPts val="3000"/>
                </a:lnSpc>
              </a:pPr>
              <a:endParaRPr/>
            </a:p>
          </p:txBody>
        </p:sp>
      </p:grpSp>
      <p:sp>
        <p:nvSpPr>
          <p:cNvPr id="23" name="TextBox 10"/>
          <p:cNvSpPr txBox="1"/>
          <p:nvPr/>
        </p:nvSpPr>
        <p:spPr>
          <a:xfrm>
            <a:off x="5084133" y="2778163"/>
            <a:ext cx="2985580" cy="267342"/>
          </a:xfrm>
          <a:prstGeom prst="rect">
            <a:avLst/>
          </a:prstGeom>
        </p:spPr>
        <p:txBody>
          <a:bodyPr lIns="0" tIns="0" rIns="0" bIns="0" rtlCol="0" anchor="t">
            <a:spAutoFit/>
          </a:bodyPr>
          <a:lstStyle/>
          <a:p>
            <a:pPr algn="l">
              <a:lnSpc>
                <a:spcPts val="2162"/>
              </a:lnSpc>
            </a:pPr>
            <a:r>
              <a:rPr lang="en-US" sz="1441" spc="72">
                <a:solidFill>
                  <a:srgbClr val="191919"/>
                </a:solidFill>
                <a:latin typeface="Aileron"/>
                <a:ea typeface="Aileron"/>
                <a:cs typeface="Aileron"/>
                <a:sym typeface="Aileron"/>
              </a:rPr>
              <a:t>finance_admin / finance_user</a:t>
            </a:r>
          </a:p>
        </p:txBody>
      </p:sp>
      <p:sp>
        <p:nvSpPr>
          <p:cNvPr id="24" name="TextBox 11"/>
          <p:cNvSpPr txBox="1"/>
          <p:nvPr/>
        </p:nvSpPr>
        <p:spPr>
          <a:xfrm>
            <a:off x="5207808" y="3339382"/>
            <a:ext cx="2985580" cy="267342"/>
          </a:xfrm>
          <a:prstGeom prst="rect">
            <a:avLst/>
          </a:prstGeom>
        </p:spPr>
        <p:txBody>
          <a:bodyPr lIns="0" tIns="0" rIns="0" bIns="0" rtlCol="0" anchor="t">
            <a:spAutoFit/>
          </a:bodyPr>
          <a:lstStyle/>
          <a:p>
            <a:pPr algn="l">
              <a:lnSpc>
                <a:spcPts val="2162"/>
              </a:lnSpc>
            </a:pPr>
            <a:r>
              <a:rPr lang="en-US" sz="1441" spc="72">
                <a:solidFill>
                  <a:srgbClr val="191919"/>
                </a:solidFill>
                <a:latin typeface="Aileron"/>
                <a:ea typeface="Aileron"/>
                <a:cs typeface="Aileron"/>
                <a:sym typeface="Aileron"/>
              </a:rPr>
              <a:t>audit_admin / audit_user</a:t>
            </a:r>
          </a:p>
        </p:txBody>
      </p:sp>
      <p:sp>
        <p:nvSpPr>
          <p:cNvPr id="25" name="TextBox 12"/>
          <p:cNvSpPr txBox="1"/>
          <p:nvPr/>
        </p:nvSpPr>
        <p:spPr>
          <a:xfrm>
            <a:off x="5310337" y="3960192"/>
            <a:ext cx="2985580" cy="267342"/>
          </a:xfrm>
          <a:prstGeom prst="rect">
            <a:avLst/>
          </a:prstGeom>
        </p:spPr>
        <p:txBody>
          <a:bodyPr lIns="0" tIns="0" rIns="0" bIns="0" rtlCol="0" anchor="t">
            <a:spAutoFit/>
          </a:bodyPr>
          <a:lstStyle/>
          <a:p>
            <a:pPr algn="l">
              <a:lnSpc>
                <a:spcPts val="2162"/>
              </a:lnSpc>
            </a:pPr>
            <a:r>
              <a:rPr lang="en-US" sz="1441" spc="72">
                <a:solidFill>
                  <a:srgbClr val="191919"/>
                </a:solidFill>
                <a:latin typeface="Aileron"/>
                <a:ea typeface="Aileron"/>
                <a:cs typeface="Aileron"/>
                <a:sym typeface="Aileron"/>
              </a:rPr>
              <a:t>maersk_admin / maersk_client</a:t>
            </a:r>
          </a:p>
        </p:txBody>
      </p:sp>
      <p:sp>
        <p:nvSpPr>
          <p:cNvPr id="26" name="TextBox 13"/>
          <p:cNvSpPr txBox="1"/>
          <p:nvPr/>
        </p:nvSpPr>
        <p:spPr>
          <a:xfrm>
            <a:off x="5440673" y="4589163"/>
            <a:ext cx="2985580" cy="267342"/>
          </a:xfrm>
          <a:prstGeom prst="rect">
            <a:avLst/>
          </a:prstGeom>
        </p:spPr>
        <p:txBody>
          <a:bodyPr lIns="0" tIns="0" rIns="0" bIns="0" rtlCol="0" anchor="t">
            <a:spAutoFit/>
          </a:bodyPr>
          <a:lstStyle/>
          <a:p>
            <a:pPr algn="l">
              <a:lnSpc>
                <a:spcPts val="2162"/>
              </a:lnSpc>
            </a:pPr>
            <a:r>
              <a:rPr lang="en-US" sz="1441" spc="72">
                <a:solidFill>
                  <a:srgbClr val="191919"/>
                </a:solidFill>
                <a:latin typeface="Aileron"/>
                <a:ea typeface="Aileron"/>
                <a:cs typeface="Aileron"/>
                <a:sym typeface="Aileron"/>
              </a:rPr>
              <a:t>marsa_admin / marsa_client</a:t>
            </a:r>
          </a:p>
        </p:txBody>
      </p:sp>
      <p:sp>
        <p:nvSpPr>
          <p:cNvPr id="27" name="TextBox 14"/>
          <p:cNvSpPr txBox="1"/>
          <p:nvPr/>
        </p:nvSpPr>
        <p:spPr>
          <a:xfrm>
            <a:off x="5207808" y="5160950"/>
            <a:ext cx="2985580" cy="267342"/>
          </a:xfrm>
          <a:prstGeom prst="rect">
            <a:avLst/>
          </a:prstGeom>
        </p:spPr>
        <p:txBody>
          <a:bodyPr lIns="0" tIns="0" rIns="0" bIns="0" rtlCol="0" anchor="t">
            <a:spAutoFit/>
          </a:bodyPr>
          <a:lstStyle/>
          <a:p>
            <a:pPr algn="l">
              <a:lnSpc>
                <a:spcPts val="2162"/>
              </a:lnSpc>
            </a:pPr>
            <a:r>
              <a:rPr lang="en-US" sz="1441" spc="72">
                <a:solidFill>
                  <a:srgbClr val="191919"/>
                </a:solidFill>
                <a:latin typeface="Aileron"/>
                <a:ea typeface="Aileron"/>
                <a:cs typeface="Aileron"/>
                <a:sym typeface="Aileron"/>
              </a:rPr>
              <a:t>vpn_user / vpn_admin</a:t>
            </a:r>
          </a:p>
        </p:txBody>
      </p:sp>
      <p:sp>
        <p:nvSpPr>
          <p:cNvPr id="31" name="AutoShape 18"/>
          <p:cNvSpPr/>
          <p:nvPr/>
        </p:nvSpPr>
        <p:spPr>
          <a:xfrm>
            <a:off x="1205169" y="3257443"/>
            <a:ext cx="7072128" cy="526530"/>
          </a:xfrm>
          <a:prstGeom prst="rect">
            <a:avLst/>
          </a:prstGeom>
          <a:solidFill>
            <a:srgbClr val="3EDAD8">
              <a:alpha val="29804"/>
            </a:srgbClr>
          </a:solidFill>
        </p:spPr>
      </p:sp>
      <p:sp>
        <p:nvSpPr>
          <p:cNvPr id="32" name="AutoShape 19"/>
          <p:cNvSpPr/>
          <p:nvPr/>
        </p:nvSpPr>
        <p:spPr>
          <a:xfrm>
            <a:off x="1205169" y="3257443"/>
            <a:ext cx="3442890" cy="526530"/>
          </a:xfrm>
          <a:prstGeom prst="rect">
            <a:avLst/>
          </a:prstGeom>
          <a:solidFill>
            <a:srgbClr val="3EDAD8"/>
          </a:solidFill>
        </p:spPr>
      </p:sp>
      <p:sp>
        <p:nvSpPr>
          <p:cNvPr id="34" name="TextBox 20"/>
          <p:cNvSpPr txBox="1"/>
          <p:nvPr/>
        </p:nvSpPr>
        <p:spPr>
          <a:xfrm>
            <a:off x="1682675" y="3359907"/>
            <a:ext cx="2332031" cy="299616"/>
          </a:xfrm>
          <a:prstGeom prst="rect">
            <a:avLst/>
          </a:prstGeom>
        </p:spPr>
        <p:txBody>
          <a:bodyPr lIns="0" tIns="0" rIns="0" bIns="0" rtlCol="0" anchor="t">
            <a:spAutoFit/>
          </a:bodyPr>
          <a:lstStyle/>
          <a:p>
            <a:pPr marL="0" lvl="0" indent="0" algn="l">
              <a:lnSpc>
                <a:spcPts val="2417"/>
              </a:lnSpc>
              <a:spcBef>
                <a:spcPct val="0"/>
              </a:spcBef>
            </a:pPr>
            <a:r>
              <a:rPr lang="en-US" sz="1873" b="1" spc="73">
                <a:solidFill>
                  <a:srgbClr val="FFFFFF"/>
                </a:solidFill>
                <a:latin typeface="Aileron Bold"/>
                <a:ea typeface="Aileron Bold"/>
                <a:cs typeface="Aileron Bold"/>
                <a:sym typeface="Aileron Bold"/>
              </a:rPr>
              <a:t>R</a:t>
            </a:r>
            <a:r>
              <a:rPr lang="en-US" sz="1873" b="1" u="none" spc="73">
                <a:solidFill>
                  <a:srgbClr val="FFFFFF"/>
                </a:solidFill>
                <a:latin typeface="Aileron Bold"/>
                <a:ea typeface="Aileron Bold"/>
                <a:cs typeface="Aileron Bold"/>
                <a:sym typeface="Aileron Bold"/>
              </a:rPr>
              <a:t>EALM AUDIT</a:t>
            </a:r>
          </a:p>
        </p:txBody>
      </p:sp>
      <p:grpSp>
        <p:nvGrpSpPr>
          <p:cNvPr id="35" name="Group 21"/>
          <p:cNvGrpSpPr/>
          <p:nvPr/>
        </p:nvGrpSpPr>
        <p:grpSpPr>
          <a:xfrm rot="-8100000">
            <a:off x="4458923" y="3334701"/>
            <a:ext cx="372611" cy="372015"/>
            <a:chOff x="0" y="0"/>
            <a:chExt cx="6350000" cy="6339840"/>
          </a:xfrm>
        </p:grpSpPr>
        <p:sp>
          <p:nvSpPr>
            <p:cNvPr id="36" name="Freeform 22"/>
            <p:cNvSpPr/>
            <p:nvPr/>
          </p:nvSpPr>
          <p:spPr>
            <a:xfrm>
              <a:off x="0" y="0"/>
              <a:ext cx="6350000" cy="6339840"/>
            </a:xfrm>
            <a:custGeom>
              <a:avLst/>
              <a:gdLst/>
              <a:ahLst/>
              <a:cxnLst/>
              <a:rect l="l" t="t" r="r" b="b"/>
              <a:pathLst>
                <a:path w="6350000" h="6339840">
                  <a:moveTo>
                    <a:pt x="6350000" y="6339840"/>
                  </a:moveTo>
                  <a:lnTo>
                    <a:pt x="0" y="6339840"/>
                  </a:lnTo>
                  <a:lnTo>
                    <a:pt x="0" y="0"/>
                  </a:lnTo>
                  <a:close/>
                </a:path>
              </a:pathLst>
            </a:custGeom>
            <a:solidFill>
              <a:srgbClr val="3EDAD8"/>
            </a:solidFill>
          </p:spPr>
        </p:sp>
      </p:grpSp>
      <p:grpSp>
        <p:nvGrpSpPr>
          <p:cNvPr id="37" name="Group 23"/>
          <p:cNvGrpSpPr/>
          <p:nvPr/>
        </p:nvGrpSpPr>
        <p:grpSpPr>
          <a:xfrm rot="5400000">
            <a:off x="1322617" y="3362318"/>
            <a:ext cx="307536" cy="269094"/>
            <a:chOff x="0" y="0"/>
            <a:chExt cx="812800" cy="711200"/>
          </a:xfrm>
        </p:grpSpPr>
        <p:sp>
          <p:nvSpPr>
            <p:cNvPr id="38" name="Freeform 24"/>
            <p:cNvSpPr/>
            <p:nvPr/>
          </p:nvSpPr>
          <p:spPr>
            <a:xfrm>
              <a:off x="0" y="0"/>
              <a:ext cx="812800" cy="711200"/>
            </a:xfrm>
            <a:custGeom>
              <a:avLst/>
              <a:gdLst/>
              <a:ahLst/>
              <a:cxnLst/>
              <a:rect l="l" t="t" r="r" b="b"/>
              <a:pathLst>
                <a:path w="812800" h="711200">
                  <a:moveTo>
                    <a:pt x="406400" y="0"/>
                  </a:moveTo>
                  <a:lnTo>
                    <a:pt x="812800" y="711200"/>
                  </a:lnTo>
                  <a:lnTo>
                    <a:pt x="0" y="711200"/>
                  </a:lnTo>
                  <a:lnTo>
                    <a:pt x="406400" y="0"/>
                  </a:lnTo>
                  <a:close/>
                </a:path>
              </a:pathLst>
            </a:custGeom>
            <a:solidFill>
              <a:srgbClr val="FFFFFF"/>
            </a:solidFill>
          </p:spPr>
        </p:sp>
        <p:sp>
          <p:nvSpPr>
            <p:cNvPr id="39" name="TextBox 25"/>
            <p:cNvSpPr txBox="1"/>
            <p:nvPr/>
          </p:nvSpPr>
          <p:spPr>
            <a:xfrm>
              <a:off x="127000" y="263525"/>
              <a:ext cx="558800" cy="396875"/>
            </a:xfrm>
            <a:prstGeom prst="rect">
              <a:avLst/>
            </a:prstGeom>
          </p:spPr>
          <p:txBody>
            <a:bodyPr lIns="50800" tIns="50800" rIns="50800" bIns="50800" rtlCol="0" anchor="ctr"/>
            <a:lstStyle/>
            <a:p>
              <a:pPr algn="ctr">
                <a:lnSpc>
                  <a:spcPts val="3000"/>
                </a:lnSpc>
              </a:pPr>
              <a:endParaRPr/>
            </a:p>
          </p:txBody>
        </p:sp>
      </p:grpSp>
      <p:sp>
        <p:nvSpPr>
          <p:cNvPr id="40" name="AutoShape 26"/>
          <p:cNvSpPr/>
          <p:nvPr/>
        </p:nvSpPr>
        <p:spPr>
          <a:xfrm>
            <a:off x="1205169" y="3878253"/>
            <a:ext cx="7072128" cy="526530"/>
          </a:xfrm>
          <a:prstGeom prst="rect">
            <a:avLst/>
          </a:prstGeom>
          <a:solidFill>
            <a:srgbClr val="37C9EF">
              <a:alpha val="29804"/>
            </a:srgbClr>
          </a:solidFill>
        </p:spPr>
      </p:sp>
      <p:sp>
        <p:nvSpPr>
          <p:cNvPr id="41" name="AutoShape 27"/>
          <p:cNvSpPr/>
          <p:nvPr/>
        </p:nvSpPr>
        <p:spPr>
          <a:xfrm>
            <a:off x="1205169" y="3878253"/>
            <a:ext cx="3442890" cy="526530"/>
          </a:xfrm>
          <a:prstGeom prst="rect">
            <a:avLst/>
          </a:prstGeom>
          <a:solidFill>
            <a:srgbClr val="37C9EF"/>
          </a:solidFill>
        </p:spPr>
      </p:sp>
      <p:sp>
        <p:nvSpPr>
          <p:cNvPr id="42" name="TextBox 28"/>
          <p:cNvSpPr txBox="1"/>
          <p:nvPr/>
        </p:nvSpPr>
        <p:spPr>
          <a:xfrm>
            <a:off x="1747343" y="3958342"/>
            <a:ext cx="2332031" cy="299616"/>
          </a:xfrm>
          <a:prstGeom prst="rect">
            <a:avLst/>
          </a:prstGeom>
        </p:spPr>
        <p:txBody>
          <a:bodyPr lIns="0" tIns="0" rIns="0" bIns="0" rtlCol="0" anchor="t">
            <a:spAutoFit/>
          </a:bodyPr>
          <a:lstStyle/>
          <a:p>
            <a:pPr marL="0" lvl="0" indent="0" algn="l">
              <a:lnSpc>
                <a:spcPts val="2417"/>
              </a:lnSpc>
              <a:spcBef>
                <a:spcPct val="0"/>
              </a:spcBef>
            </a:pPr>
            <a:r>
              <a:rPr lang="en-US" sz="1873" b="1" spc="73">
                <a:solidFill>
                  <a:srgbClr val="FFFFFF"/>
                </a:solidFill>
                <a:latin typeface="Aileron Bold"/>
                <a:ea typeface="Aileron Bold"/>
                <a:cs typeface="Aileron Bold"/>
                <a:sym typeface="Aileron Bold"/>
              </a:rPr>
              <a:t>R</a:t>
            </a:r>
            <a:r>
              <a:rPr lang="en-US" sz="1873" b="1" u="none" spc="73">
                <a:solidFill>
                  <a:srgbClr val="FFFFFF"/>
                </a:solidFill>
                <a:latin typeface="Aileron Bold"/>
                <a:ea typeface="Aileron Bold"/>
                <a:cs typeface="Aileron Bold"/>
                <a:sym typeface="Aileron Bold"/>
              </a:rPr>
              <a:t>EALM MAERSK</a:t>
            </a:r>
          </a:p>
        </p:txBody>
      </p:sp>
      <p:grpSp>
        <p:nvGrpSpPr>
          <p:cNvPr id="43" name="Group 29"/>
          <p:cNvGrpSpPr/>
          <p:nvPr/>
        </p:nvGrpSpPr>
        <p:grpSpPr>
          <a:xfrm rot="-8100000">
            <a:off x="4458923" y="3955511"/>
            <a:ext cx="372611" cy="372015"/>
            <a:chOff x="0" y="0"/>
            <a:chExt cx="6350000" cy="6339840"/>
          </a:xfrm>
        </p:grpSpPr>
        <p:sp>
          <p:nvSpPr>
            <p:cNvPr id="44" name="Freeform 30"/>
            <p:cNvSpPr/>
            <p:nvPr/>
          </p:nvSpPr>
          <p:spPr>
            <a:xfrm>
              <a:off x="0" y="0"/>
              <a:ext cx="6350000" cy="6339840"/>
            </a:xfrm>
            <a:custGeom>
              <a:avLst/>
              <a:gdLst/>
              <a:ahLst/>
              <a:cxnLst/>
              <a:rect l="l" t="t" r="r" b="b"/>
              <a:pathLst>
                <a:path w="6350000" h="6339840">
                  <a:moveTo>
                    <a:pt x="6350000" y="6339840"/>
                  </a:moveTo>
                  <a:lnTo>
                    <a:pt x="0" y="6339840"/>
                  </a:lnTo>
                  <a:lnTo>
                    <a:pt x="0" y="0"/>
                  </a:lnTo>
                  <a:close/>
                </a:path>
              </a:pathLst>
            </a:custGeom>
            <a:solidFill>
              <a:srgbClr val="37C9EF"/>
            </a:solidFill>
          </p:spPr>
        </p:sp>
      </p:grpSp>
      <p:grpSp>
        <p:nvGrpSpPr>
          <p:cNvPr id="45" name="Group 31"/>
          <p:cNvGrpSpPr/>
          <p:nvPr/>
        </p:nvGrpSpPr>
        <p:grpSpPr>
          <a:xfrm rot="5400000">
            <a:off x="1322617" y="3983128"/>
            <a:ext cx="307536" cy="269094"/>
            <a:chOff x="0" y="0"/>
            <a:chExt cx="812800" cy="711200"/>
          </a:xfrm>
        </p:grpSpPr>
        <p:sp>
          <p:nvSpPr>
            <p:cNvPr id="46" name="Freeform 32"/>
            <p:cNvSpPr/>
            <p:nvPr/>
          </p:nvSpPr>
          <p:spPr>
            <a:xfrm>
              <a:off x="0" y="0"/>
              <a:ext cx="812800" cy="711200"/>
            </a:xfrm>
            <a:custGeom>
              <a:avLst/>
              <a:gdLst/>
              <a:ahLst/>
              <a:cxnLst/>
              <a:rect l="l" t="t" r="r" b="b"/>
              <a:pathLst>
                <a:path w="812800" h="711200">
                  <a:moveTo>
                    <a:pt x="406400" y="0"/>
                  </a:moveTo>
                  <a:lnTo>
                    <a:pt x="812800" y="711200"/>
                  </a:lnTo>
                  <a:lnTo>
                    <a:pt x="0" y="711200"/>
                  </a:lnTo>
                  <a:lnTo>
                    <a:pt x="406400" y="0"/>
                  </a:lnTo>
                  <a:close/>
                </a:path>
              </a:pathLst>
            </a:custGeom>
            <a:solidFill>
              <a:srgbClr val="FFFFFF"/>
            </a:solidFill>
          </p:spPr>
        </p:sp>
        <p:sp>
          <p:nvSpPr>
            <p:cNvPr id="47" name="TextBox 33"/>
            <p:cNvSpPr txBox="1"/>
            <p:nvPr/>
          </p:nvSpPr>
          <p:spPr>
            <a:xfrm>
              <a:off x="127000" y="263525"/>
              <a:ext cx="558800" cy="396875"/>
            </a:xfrm>
            <a:prstGeom prst="rect">
              <a:avLst/>
            </a:prstGeom>
          </p:spPr>
          <p:txBody>
            <a:bodyPr lIns="50800" tIns="50800" rIns="50800" bIns="50800" rtlCol="0" anchor="ctr"/>
            <a:lstStyle/>
            <a:p>
              <a:pPr algn="ctr">
                <a:lnSpc>
                  <a:spcPts val="3000"/>
                </a:lnSpc>
              </a:pPr>
              <a:endParaRPr/>
            </a:p>
          </p:txBody>
        </p:sp>
      </p:grpSp>
      <p:sp>
        <p:nvSpPr>
          <p:cNvPr id="48" name="AutoShape 34"/>
          <p:cNvSpPr/>
          <p:nvPr/>
        </p:nvSpPr>
        <p:spPr>
          <a:xfrm>
            <a:off x="1205169" y="4463315"/>
            <a:ext cx="7072128" cy="526530"/>
          </a:xfrm>
          <a:prstGeom prst="rect">
            <a:avLst/>
          </a:prstGeom>
          <a:solidFill>
            <a:srgbClr val="2C92D5">
              <a:alpha val="29804"/>
            </a:srgbClr>
          </a:solidFill>
        </p:spPr>
      </p:sp>
      <p:sp>
        <p:nvSpPr>
          <p:cNvPr id="49" name="AutoShape 35"/>
          <p:cNvSpPr/>
          <p:nvPr/>
        </p:nvSpPr>
        <p:spPr>
          <a:xfrm>
            <a:off x="1205169" y="4463315"/>
            <a:ext cx="3442890" cy="526530"/>
          </a:xfrm>
          <a:prstGeom prst="rect">
            <a:avLst/>
          </a:prstGeom>
          <a:solidFill>
            <a:srgbClr val="2C92D5"/>
          </a:solidFill>
        </p:spPr>
      </p:sp>
      <p:grpSp>
        <p:nvGrpSpPr>
          <p:cNvPr id="50" name="Group 36"/>
          <p:cNvGrpSpPr/>
          <p:nvPr/>
        </p:nvGrpSpPr>
        <p:grpSpPr>
          <a:xfrm rot="-8100000">
            <a:off x="4458923" y="4540573"/>
            <a:ext cx="372611" cy="372015"/>
            <a:chOff x="0" y="0"/>
            <a:chExt cx="6350000" cy="6339840"/>
          </a:xfrm>
        </p:grpSpPr>
        <p:sp>
          <p:nvSpPr>
            <p:cNvPr id="51" name="Freeform 37"/>
            <p:cNvSpPr/>
            <p:nvPr/>
          </p:nvSpPr>
          <p:spPr>
            <a:xfrm>
              <a:off x="0" y="0"/>
              <a:ext cx="6350000" cy="6339840"/>
            </a:xfrm>
            <a:custGeom>
              <a:avLst/>
              <a:gdLst/>
              <a:ahLst/>
              <a:cxnLst/>
              <a:rect l="l" t="t" r="r" b="b"/>
              <a:pathLst>
                <a:path w="6350000" h="6339840">
                  <a:moveTo>
                    <a:pt x="6350000" y="6339840"/>
                  </a:moveTo>
                  <a:lnTo>
                    <a:pt x="0" y="6339840"/>
                  </a:lnTo>
                  <a:lnTo>
                    <a:pt x="0" y="0"/>
                  </a:lnTo>
                  <a:close/>
                </a:path>
              </a:pathLst>
            </a:custGeom>
            <a:solidFill>
              <a:srgbClr val="2C92D5"/>
            </a:solidFill>
          </p:spPr>
        </p:sp>
      </p:grpSp>
      <p:grpSp>
        <p:nvGrpSpPr>
          <p:cNvPr id="52" name="Group 38"/>
          <p:cNvGrpSpPr/>
          <p:nvPr/>
        </p:nvGrpSpPr>
        <p:grpSpPr>
          <a:xfrm rot="5400000">
            <a:off x="1322617" y="4568190"/>
            <a:ext cx="307536" cy="269094"/>
            <a:chOff x="0" y="0"/>
            <a:chExt cx="812800" cy="711200"/>
          </a:xfrm>
        </p:grpSpPr>
        <p:sp>
          <p:nvSpPr>
            <p:cNvPr id="53" name="Freeform 39"/>
            <p:cNvSpPr/>
            <p:nvPr/>
          </p:nvSpPr>
          <p:spPr>
            <a:xfrm>
              <a:off x="0" y="0"/>
              <a:ext cx="812800" cy="711200"/>
            </a:xfrm>
            <a:custGeom>
              <a:avLst/>
              <a:gdLst/>
              <a:ahLst/>
              <a:cxnLst/>
              <a:rect l="l" t="t" r="r" b="b"/>
              <a:pathLst>
                <a:path w="812800" h="711200">
                  <a:moveTo>
                    <a:pt x="406400" y="0"/>
                  </a:moveTo>
                  <a:lnTo>
                    <a:pt x="812800" y="711200"/>
                  </a:lnTo>
                  <a:lnTo>
                    <a:pt x="0" y="711200"/>
                  </a:lnTo>
                  <a:lnTo>
                    <a:pt x="406400" y="0"/>
                  </a:lnTo>
                  <a:close/>
                </a:path>
              </a:pathLst>
            </a:custGeom>
            <a:solidFill>
              <a:srgbClr val="FFFFFF"/>
            </a:solidFill>
          </p:spPr>
        </p:sp>
        <p:sp>
          <p:nvSpPr>
            <p:cNvPr id="54" name="TextBox 40"/>
            <p:cNvSpPr txBox="1"/>
            <p:nvPr/>
          </p:nvSpPr>
          <p:spPr>
            <a:xfrm>
              <a:off x="127000" y="263525"/>
              <a:ext cx="558800" cy="396875"/>
            </a:xfrm>
            <a:prstGeom prst="rect">
              <a:avLst/>
            </a:prstGeom>
          </p:spPr>
          <p:txBody>
            <a:bodyPr lIns="50800" tIns="50800" rIns="50800" bIns="50800" rtlCol="0" anchor="ctr"/>
            <a:lstStyle/>
            <a:p>
              <a:pPr algn="ctr">
                <a:lnSpc>
                  <a:spcPts val="3000"/>
                </a:lnSpc>
              </a:pPr>
              <a:endParaRPr/>
            </a:p>
          </p:txBody>
        </p:sp>
      </p:grpSp>
      <p:sp>
        <p:nvSpPr>
          <p:cNvPr id="55" name="TextBox 41"/>
          <p:cNvSpPr txBox="1"/>
          <p:nvPr/>
        </p:nvSpPr>
        <p:spPr>
          <a:xfrm>
            <a:off x="1682675" y="4566761"/>
            <a:ext cx="2921869" cy="299616"/>
          </a:xfrm>
          <a:prstGeom prst="rect">
            <a:avLst/>
          </a:prstGeom>
        </p:spPr>
        <p:txBody>
          <a:bodyPr lIns="0" tIns="0" rIns="0" bIns="0" rtlCol="0" anchor="t">
            <a:spAutoFit/>
          </a:bodyPr>
          <a:lstStyle/>
          <a:p>
            <a:pPr marL="0" lvl="0" indent="0" algn="l">
              <a:lnSpc>
                <a:spcPts val="2417"/>
              </a:lnSpc>
              <a:spcBef>
                <a:spcPct val="0"/>
              </a:spcBef>
            </a:pPr>
            <a:r>
              <a:rPr lang="en-US" sz="1873" b="1" u="none" spc="73">
                <a:solidFill>
                  <a:srgbClr val="FFFFFF"/>
                </a:solidFill>
                <a:latin typeface="Aileron Bold"/>
                <a:ea typeface="Aileron Bold"/>
                <a:cs typeface="Aileron Bold"/>
                <a:sym typeface="Aileron Bold"/>
              </a:rPr>
              <a:t>REALM MARSA MAROC</a:t>
            </a:r>
          </a:p>
        </p:txBody>
      </p:sp>
      <p:sp>
        <p:nvSpPr>
          <p:cNvPr id="56" name="AutoShape 42"/>
          <p:cNvSpPr/>
          <p:nvPr/>
        </p:nvSpPr>
        <p:spPr>
          <a:xfrm>
            <a:off x="1205169" y="5047405"/>
            <a:ext cx="7072128" cy="526530"/>
          </a:xfrm>
          <a:prstGeom prst="rect">
            <a:avLst/>
          </a:prstGeom>
          <a:solidFill>
            <a:srgbClr val="13538A">
              <a:alpha val="29804"/>
            </a:srgbClr>
          </a:solidFill>
        </p:spPr>
      </p:sp>
      <p:sp>
        <p:nvSpPr>
          <p:cNvPr id="57" name="AutoShape 43"/>
          <p:cNvSpPr/>
          <p:nvPr/>
        </p:nvSpPr>
        <p:spPr>
          <a:xfrm>
            <a:off x="1205169" y="5047405"/>
            <a:ext cx="3442890" cy="526530"/>
          </a:xfrm>
          <a:prstGeom prst="rect">
            <a:avLst/>
          </a:prstGeom>
          <a:solidFill>
            <a:srgbClr val="13538A"/>
          </a:solidFill>
        </p:spPr>
      </p:sp>
      <p:sp>
        <p:nvSpPr>
          <p:cNvPr id="58" name="TextBox 44"/>
          <p:cNvSpPr txBox="1"/>
          <p:nvPr/>
        </p:nvSpPr>
        <p:spPr>
          <a:xfrm>
            <a:off x="1682675" y="5127494"/>
            <a:ext cx="2736280" cy="307777"/>
          </a:xfrm>
          <a:prstGeom prst="rect">
            <a:avLst/>
          </a:prstGeom>
        </p:spPr>
        <p:txBody>
          <a:bodyPr wrap="square" lIns="0" tIns="0" rIns="0" bIns="0" rtlCol="0" anchor="t">
            <a:spAutoFit/>
          </a:bodyPr>
          <a:lstStyle/>
          <a:p>
            <a:pPr marL="0" lvl="0" indent="0" algn="l">
              <a:lnSpc>
                <a:spcPts val="2417"/>
              </a:lnSpc>
              <a:spcBef>
                <a:spcPct val="0"/>
              </a:spcBef>
            </a:pPr>
            <a:r>
              <a:rPr lang="en-US" sz="1873" b="1" spc="73" dirty="0">
                <a:solidFill>
                  <a:srgbClr val="FFFFFF"/>
                </a:solidFill>
                <a:latin typeface="Aileron Bold"/>
                <a:ea typeface="Aileron Bold"/>
                <a:cs typeface="Aileron Bold"/>
                <a:sym typeface="Aileron Bold"/>
              </a:rPr>
              <a:t>REA</a:t>
            </a:r>
            <a:r>
              <a:rPr lang="en-US" sz="1873" b="1" u="none" spc="73" dirty="0">
                <a:solidFill>
                  <a:srgbClr val="FFFFFF"/>
                </a:solidFill>
                <a:latin typeface="Aileron Bold"/>
                <a:ea typeface="Aileron Bold"/>
                <a:cs typeface="Aileron Bold"/>
                <a:sym typeface="Aileron Bold"/>
              </a:rPr>
              <a:t>LM VPN TMSA</a:t>
            </a:r>
          </a:p>
        </p:txBody>
      </p:sp>
      <p:grpSp>
        <p:nvGrpSpPr>
          <p:cNvPr id="59" name="Group 45"/>
          <p:cNvGrpSpPr/>
          <p:nvPr/>
        </p:nvGrpSpPr>
        <p:grpSpPr>
          <a:xfrm rot="-8100000">
            <a:off x="4458923" y="5124663"/>
            <a:ext cx="372611" cy="372015"/>
            <a:chOff x="0" y="0"/>
            <a:chExt cx="6350000" cy="6339840"/>
          </a:xfrm>
        </p:grpSpPr>
        <p:sp>
          <p:nvSpPr>
            <p:cNvPr id="60" name="Freeform 46"/>
            <p:cNvSpPr/>
            <p:nvPr/>
          </p:nvSpPr>
          <p:spPr>
            <a:xfrm>
              <a:off x="0" y="0"/>
              <a:ext cx="6350000" cy="6339840"/>
            </a:xfrm>
            <a:custGeom>
              <a:avLst/>
              <a:gdLst/>
              <a:ahLst/>
              <a:cxnLst/>
              <a:rect l="l" t="t" r="r" b="b"/>
              <a:pathLst>
                <a:path w="6350000" h="6339840">
                  <a:moveTo>
                    <a:pt x="6350000" y="6339840"/>
                  </a:moveTo>
                  <a:lnTo>
                    <a:pt x="0" y="6339840"/>
                  </a:lnTo>
                  <a:lnTo>
                    <a:pt x="0" y="0"/>
                  </a:lnTo>
                  <a:close/>
                </a:path>
              </a:pathLst>
            </a:custGeom>
            <a:solidFill>
              <a:srgbClr val="13538A"/>
            </a:solidFill>
          </p:spPr>
        </p:sp>
      </p:grpSp>
      <p:grpSp>
        <p:nvGrpSpPr>
          <p:cNvPr id="61" name="Group 47"/>
          <p:cNvGrpSpPr/>
          <p:nvPr/>
        </p:nvGrpSpPr>
        <p:grpSpPr>
          <a:xfrm rot="5400000">
            <a:off x="1322617" y="5152280"/>
            <a:ext cx="307536" cy="269094"/>
            <a:chOff x="0" y="0"/>
            <a:chExt cx="812800" cy="711200"/>
          </a:xfrm>
        </p:grpSpPr>
        <p:sp>
          <p:nvSpPr>
            <p:cNvPr id="62" name="Freeform 48"/>
            <p:cNvSpPr/>
            <p:nvPr/>
          </p:nvSpPr>
          <p:spPr>
            <a:xfrm>
              <a:off x="0" y="0"/>
              <a:ext cx="812800" cy="711200"/>
            </a:xfrm>
            <a:custGeom>
              <a:avLst/>
              <a:gdLst/>
              <a:ahLst/>
              <a:cxnLst/>
              <a:rect l="l" t="t" r="r" b="b"/>
              <a:pathLst>
                <a:path w="812800" h="711200">
                  <a:moveTo>
                    <a:pt x="406400" y="0"/>
                  </a:moveTo>
                  <a:lnTo>
                    <a:pt x="812800" y="711200"/>
                  </a:lnTo>
                  <a:lnTo>
                    <a:pt x="0" y="711200"/>
                  </a:lnTo>
                  <a:lnTo>
                    <a:pt x="406400" y="0"/>
                  </a:lnTo>
                  <a:close/>
                </a:path>
              </a:pathLst>
            </a:custGeom>
            <a:solidFill>
              <a:srgbClr val="FFFFFF"/>
            </a:solidFill>
          </p:spPr>
        </p:sp>
        <p:sp>
          <p:nvSpPr>
            <p:cNvPr id="63" name="TextBox 49"/>
            <p:cNvSpPr txBox="1"/>
            <p:nvPr/>
          </p:nvSpPr>
          <p:spPr>
            <a:xfrm>
              <a:off x="127000" y="263525"/>
              <a:ext cx="558800" cy="396875"/>
            </a:xfrm>
            <a:prstGeom prst="rect">
              <a:avLst/>
            </a:prstGeom>
          </p:spPr>
          <p:txBody>
            <a:bodyPr lIns="50800" tIns="50800" rIns="50800" bIns="50800" rtlCol="0" anchor="ctr"/>
            <a:lstStyle/>
            <a:p>
              <a:pPr algn="ctr">
                <a:lnSpc>
                  <a:spcPts val="3000"/>
                </a:lnSpc>
              </a:pPr>
              <a:endParaRPr/>
            </a:p>
          </p:txBody>
        </p:sp>
      </p:grpSp>
      <p:sp>
        <p:nvSpPr>
          <p:cNvPr id="66" name="AutoShape 52"/>
          <p:cNvSpPr/>
          <p:nvPr/>
        </p:nvSpPr>
        <p:spPr>
          <a:xfrm>
            <a:off x="11881577" y="3390900"/>
            <a:ext cx="5890140" cy="641880"/>
          </a:xfrm>
          <a:prstGeom prst="rect">
            <a:avLst/>
          </a:prstGeom>
          <a:solidFill>
            <a:srgbClr val="86EAE9">
              <a:alpha val="9804"/>
            </a:srgbClr>
          </a:solidFill>
        </p:spPr>
      </p:sp>
      <p:grpSp>
        <p:nvGrpSpPr>
          <p:cNvPr id="67" name="Group 53"/>
          <p:cNvGrpSpPr/>
          <p:nvPr/>
        </p:nvGrpSpPr>
        <p:grpSpPr>
          <a:xfrm>
            <a:off x="9134547" y="3390900"/>
            <a:ext cx="3478383" cy="641880"/>
            <a:chOff x="0" y="0"/>
            <a:chExt cx="5906632" cy="1106170"/>
          </a:xfrm>
        </p:grpSpPr>
        <p:sp>
          <p:nvSpPr>
            <p:cNvPr id="68" name="Freeform 54"/>
            <p:cNvSpPr/>
            <p:nvPr/>
          </p:nvSpPr>
          <p:spPr>
            <a:xfrm>
              <a:off x="0" y="0"/>
              <a:ext cx="5907902" cy="1107440"/>
            </a:xfrm>
            <a:custGeom>
              <a:avLst/>
              <a:gdLst/>
              <a:ahLst/>
              <a:cxnLst/>
              <a:rect l="l" t="t" r="r" b="b"/>
              <a:pathLst>
                <a:path w="5907902" h="1107440">
                  <a:moveTo>
                    <a:pt x="5906632" y="0"/>
                  </a:moveTo>
                  <a:lnTo>
                    <a:pt x="553720" y="0"/>
                  </a:lnTo>
                  <a:cubicBezTo>
                    <a:pt x="247650" y="0"/>
                    <a:pt x="0" y="247650"/>
                    <a:pt x="0" y="553720"/>
                  </a:cubicBezTo>
                  <a:cubicBezTo>
                    <a:pt x="0" y="859790"/>
                    <a:pt x="247650" y="1107440"/>
                    <a:pt x="553720" y="1107440"/>
                  </a:cubicBezTo>
                  <a:lnTo>
                    <a:pt x="5907902" y="1107440"/>
                  </a:lnTo>
                  <a:lnTo>
                    <a:pt x="5907902" y="0"/>
                  </a:lnTo>
                  <a:close/>
                </a:path>
              </a:pathLst>
            </a:custGeom>
            <a:solidFill>
              <a:srgbClr val="86EAE9"/>
            </a:solidFill>
          </p:spPr>
        </p:sp>
        <p:sp>
          <p:nvSpPr>
            <p:cNvPr id="69" name="Freeform 55"/>
            <p:cNvSpPr/>
            <p:nvPr/>
          </p:nvSpPr>
          <p:spPr>
            <a:xfrm>
              <a:off x="161194" y="172720"/>
              <a:ext cx="762192" cy="762000"/>
            </a:xfrm>
            <a:custGeom>
              <a:avLst/>
              <a:gdLst/>
              <a:ahLst/>
              <a:cxnLst/>
              <a:rect l="l" t="t" r="r" b="b"/>
              <a:pathLst>
                <a:path w="762192" h="762000">
                  <a:moveTo>
                    <a:pt x="381096" y="0"/>
                  </a:moveTo>
                  <a:cubicBezTo>
                    <a:pt x="244955" y="-34"/>
                    <a:pt x="119141" y="72576"/>
                    <a:pt x="51060" y="190472"/>
                  </a:cubicBezTo>
                  <a:cubicBezTo>
                    <a:pt x="-17020" y="308368"/>
                    <a:pt x="-17020" y="453632"/>
                    <a:pt x="51060" y="571528"/>
                  </a:cubicBezTo>
                  <a:cubicBezTo>
                    <a:pt x="119141" y="689424"/>
                    <a:pt x="244955" y="762034"/>
                    <a:pt x="381096" y="762000"/>
                  </a:cubicBezTo>
                  <a:cubicBezTo>
                    <a:pt x="517237" y="762034"/>
                    <a:pt x="643051" y="689424"/>
                    <a:pt x="711132" y="571528"/>
                  </a:cubicBezTo>
                  <a:cubicBezTo>
                    <a:pt x="779212" y="453632"/>
                    <a:pt x="779212" y="308368"/>
                    <a:pt x="711132" y="190472"/>
                  </a:cubicBezTo>
                  <a:cubicBezTo>
                    <a:pt x="643051" y="72576"/>
                    <a:pt x="517237" y="-34"/>
                    <a:pt x="381096" y="0"/>
                  </a:cubicBezTo>
                  <a:close/>
                </a:path>
              </a:pathLst>
            </a:custGeom>
            <a:solidFill>
              <a:srgbClr val="FFFFFF"/>
            </a:solidFill>
          </p:spPr>
        </p:sp>
      </p:grpSp>
      <p:sp>
        <p:nvSpPr>
          <p:cNvPr id="70" name="AutoShape 56"/>
          <p:cNvSpPr/>
          <p:nvPr/>
        </p:nvSpPr>
        <p:spPr>
          <a:xfrm>
            <a:off x="11881577" y="4142841"/>
            <a:ext cx="5890140" cy="641880"/>
          </a:xfrm>
          <a:prstGeom prst="rect">
            <a:avLst/>
          </a:prstGeom>
          <a:solidFill>
            <a:srgbClr val="3EDAD8">
              <a:alpha val="9804"/>
            </a:srgbClr>
          </a:solidFill>
        </p:spPr>
      </p:sp>
      <p:grpSp>
        <p:nvGrpSpPr>
          <p:cNvPr id="71" name="Group 57"/>
          <p:cNvGrpSpPr/>
          <p:nvPr/>
        </p:nvGrpSpPr>
        <p:grpSpPr>
          <a:xfrm>
            <a:off x="9134547" y="4142841"/>
            <a:ext cx="3478383" cy="641880"/>
            <a:chOff x="0" y="0"/>
            <a:chExt cx="5906632" cy="1106170"/>
          </a:xfrm>
        </p:grpSpPr>
        <p:sp>
          <p:nvSpPr>
            <p:cNvPr id="72" name="Freeform 58"/>
            <p:cNvSpPr/>
            <p:nvPr/>
          </p:nvSpPr>
          <p:spPr>
            <a:xfrm>
              <a:off x="0" y="0"/>
              <a:ext cx="5907902" cy="1107440"/>
            </a:xfrm>
            <a:custGeom>
              <a:avLst/>
              <a:gdLst/>
              <a:ahLst/>
              <a:cxnLst/>
              <a:rect l="l" t="t" r="r" b="b"/>
              <a:pathLst>
                <a:path w="5907902" h="1107440">
                  <a:moveTo>
                    <a:pt x="5906632" y="0"/>
                  </a:moveTo>
                  <a:lnTo>
                    <a:pt x="553720" y="0"/>
                  </a:lnTo>
                  <a:cubicBezTo>
                    <a:pt x="247650" y="0"/>
                    <a:pt x="0" y="247650"/>
                    <a:pt x="0" y="553720"/>
                  </a:cubicBezTo>
                  <a:cubicBezTo>
                    <a:pt x="0" y="859790"/>
                    <a:pt x="247650" y="1107440"/>
                    <a:pt x="553720" y="1107440"/>
                  </a:cubicBezTo>
                  <a:lnTo>
                    <a:pt x="5907902" y="1107440"/>
                  </a:lnTo>
                  <a:lnTo>
                    <a:pt x="5907902" y="0"/>
                  </a:lnTo>
                  <a:close/>
                </a:path>
              </a:pathLst>
            </a:custGeom>
            <a:solidFill>
              <a:srgbClr val="3EDAD8"/>
            </a:solidFill>
          </p:spPr>
        </p:sp>
        <p:sp>
          <p:nvSpPr>
            <p:cNvPr id="73" name="Freeform 59"/>
            <p:cNvSpPr/>
            <p:nvPr/>
          </p:nvSpPr>
          <p:spPr>
            <a:xfrm>
              <a:off x="161194" y="172720"/>
              <a:ext cx="762192" cy="762000"/>
            </a:xfrm>
            <a:custGeom>
              <a:avLst/>
              <a:gdLst/>
              <a:ahLst/>
              <a:cxnLst/>
              <a:rect l="l" t="t" r="r" b="b"/>
              <a:pathLst>
                <a:path w="762192" h="762000">
                  <a:moveTo>
                    <a:pt x="381096" y="0"/>
                  </a:moveTo>
                  <a:cubicBezTo>
                    <a:pt x="244955" y="-34"/>
                    <a:pt x="119141" y="72576"/>
                    <a:pt x="51060" y="190472"/>
                  </a:cubicBezTo>
                  <a:cubicBezTo>
                    <a:pt x="-17020" y="308368"/>
                    <a:pt x="-17020" y="453632"/>
                    <a:pt x="51060" y="571528"/>
                  </a:cubicBezTo>
                  <a:cubicBezTo>
                    <a:pt x="119141" y="689424"/>
                    <a:pt x="244955" y="762034"/>
                    <a:pt x="381096" y="762000"/>
                  </a:cubicBezTo>
                  <a:cubicBezTo>
                    <a:pt x="517237" y="762034"/>
                    <a:pt x="643051" y="689424"/>
                    <a:pt x="711132" y="571528"/>
                  </a:cubicBezTo>
                  <a:cubicBezTo>
                    <a:pt x="779212" y="453632"/>
                    <a:pt x="779212" y="308368"/>
                    <a:pt x="711132" y="190472"/>
                  </a:cubicBezTo>
                  <a:cubicBezTo>
                    <a:pt x="643051" y="72576"/>
                    <a:pt x="517237" y="-34"/>
                    <a:pt x="381096" y="0"/>
                  </a:cubicBezTo>
                  <a:close/>
                </a:path>
              </a:pathLst>
            </a:custGeom>
            <a:solidFill>
              <a:srgbClr val="FFFFFF"/>
            </a:solidFill>
          </p:spPr>
        </p:sp>
      </p:grpSp>
      <p:sp>
        <p:nvSpPr>
          <p:cNvPr id="74" name="AutoShape 60"/>
          <p:cNvSpPr/>
          <p:nvPr/>
        </p:nvSpPr>
        <p:spPr>
          <a:xfrm>
            <a:off x="11881577" y="4894782"/>
            <a:ext cx="5890140" cy="641880"/>
          </a:xfrm>
          <a:prstGeom prst="rect">
            <a:avLst/>
          </a:prstGeom>
          <a:solidFill>
            <a:srgbClr val="37C9EF">
              <a:alpha val="9804"/>
            </a:srgbClr>
          </a:solidFill>
        </p:spPr>
      </p:sp>
      <p:grpSp>
        <p:nvGrpSpPr>
          <p:cNvPr id="75" name="Group 61"/>
          <p:cNvGrpSpPr/>
          <p:nvPr/>
        </p:nvGrpSpPr>
        <p:grpSpPr>
          <a:xfrm>
            <a:off x="9134547" y="4894782"/>
            <a:ext cx="3478383" cy="641880"/>
            <a:chOff x="0" y="0"/>
            <a:chExt cx="5906632" cy="1106170"/>
          </a:xfrm>
        </p:grpSpPr>
        <p:sp>
          <p:nvSpPr>
            <p:cNvPr id="76" name="Freeform 62"/>
            <p:cNvSpPr/>
            <p:nvPr/>
          </p:nvSpPr>
          <p:spPr>
            <a:xfrm>
              <a:off x="0" y="0"/>
              <a:ext cx="5907902" cy="1107440"/>
            </a:xfrm>
            <a:custGeom>
              <a:avLst/>
              <a:gdLst/>
              <a:ahLst/>
              <a:cxnLst/>
              <a:rect l="l" t="t" r="r" b="b"/>
              <a:pathLst>
                <a:path w="5907902" h="1107440">
                  <a:moveTo>
                    <a:pt x="5906632" y="0"/>
                  </a:moveTo>
                  <a:lnTo>
                    <a:pt x="553720" y="0"/>
                  </a:lnTo>
                  <a:cubicBezTo>
                    <a:pt x="247650" y="0"/>
                    <a:pt x="0" y="247650"/>
                    <a:pt x="0" y="553720"/>
                  </a:cubicBezTo>
                  <a:cubicBezTo>
                    <a:pt x="0" y="859790"/>
                    <a:pt x="247650" y="1107440"/>
                    <a:pt x="553720" y="1107440"/>
                  </a:cubicBezTo>
                  <a:lnTo>
                    <a:pt x="5907902" y="1107440"/>
                  </a:lnTo>
                  <a:lnTo>
                    <a:pt x="5907902" y="0"/>
                  </a:lnTo>
                  <a:close/>
                </a:path>
              </a:pathLst>
            </a:custGeom>
            <a:solidFill>
              <a:srgbClr val="37C9EF"/>
            </a:solidFill>
          </p:spPr>
        </p:sp>
        <p:sp>
          <p:nvSpPr>
            <p:cNvPr id="77" name="Freeform 63"/>
            <p:cNvSpPr/>
            <p:nvPr/>
          </p:nvSpPr>
          <p:spPr>
            <a:xfrm>
              <a:off x="161194" y="172720"/>
              <a:ext cx="762192" cy="762000"/>
            </a:xfrm>
            <a:custGeom>
              <a:avLst/>
              <a:gdLst/>
              <a:ahLst/>
              <a:cxnLst/>
              <a:rect l="l" t="t" r="r" b="b"/>
              <a:pathLst>
                <a:path w="762192" h="762000">
                  <a:moveTo>
                    <a:pt x="381096" y="0"/>
                  </a:moveTo>
                  <a:cubicBezTo>
                    <a:pt x="244955" y="-34"/>
                    <a:pt x="119141" y="72576"/>
                    <a:pt x="51060" y="190472"/>
                  </a:cubicBezTo>
                  <a:cubicBezTo>
                    <a:pt x="-17020" y="308368"/>
                    <a:pt x="-17020" y="453632"/>
                    <a:pt x="51060" y="571528"/>
                  </a:cubicBezTo>
                  <a:cubicBezTo>
                    <a:pt x="119141" y="689424"/>
                    <a:pt x="244955" y="762034"/>
                    <a:pt x="381096" y="762000"/>
                  </a:cubicBezTo>
                  <a:cubicBezTo>
                    <a:pt x="517237" y="762034"/>
                    <a:pt x="643051" y="689424"/>
                    <a:pt x="711132" y="571528"/>
                  </a:cubicBezTo>
                  <a:cubicBezTo>
                    <a:pt x="779212" y="453632"/>
                    <a:pt x="779212" y="308368"/>
                    <a:pt x="711132" y="190472"/>
                  </a:cubicBezTo>
                  <a:cubicBezTo>
                    <a:pt x="643051" y="72576"/>
                    <a:pt x="517237" y="-34"/>
                    <a:pt x="381096" y="0"/>
                  </a:cubicBezTo>
                  <a:close/>
                </a:path>
              </a:pathLst>
            </a:custGeom>
            <a:solidFill>
              <a:srgbClr val="FFFFFF"/>
            </a:solidFill>
          </p:spPr>
        </p:sp>
      </p:grpSp>
      <p:sp>
        <p:nvSpPr>
          <p:cNvPr id="80" name="Freeform 64"/>
          <p:cNvSpPr/>
          <p:nvPr/>
        </p:nvSpPr>
        <p:spPr>
          <a:xfrm>
            <a:off x="9342272" y="3581092"/>
            <a:ext cx="257288" cy="285479"/>
          </a:xfrm>
          <a:custGeom>
            <a:avLst/>
            <a:gdLst/>
            <a:ahLst/>
            <a:cxnLst/>
            <a:rect l="l" t="t" r="r" b="b"/>
            <a:pathLst>
              <a:path w="257288" h="285479">
                <a:moveTo>
                  <a:pt x="0" y="0"/>
                </a:moveTo>
                <a:lnTo>
                  <a:pt x="257288" y="0"/>
                </a:lnTo>
                <a:lnTo>
                  <a:pt x="257288" y="285479"/>
                </a:lnTo>
                <a:lnTo>
                  <a:pt x="0" y="28547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83" name="Freeform 65"/>
          <p:cNvSpPr/>
          <p:nvPr/>
        </p:nvSpPr>
        <p:spPr>
          <a:xfrm>
            <a:off x="9372563" y="4320564"/>
            <a:ext cx="196706" cy="248138"/>
          </a:xfrm>
          <a:custGeom>
            <a:avLst/>
            <a:gdLst/>
            <a:ahLst/>
            <a:cxnLst/>
            <a:rect l="l" t="t" r="r" b="b"/>
            <a:pathLst>
              <a:path w="196706" h="248138">
                <a:moveTo>
                  <a:pt x="0" y="0"/>
                </a:moveTo>
                <a:lnTo>
                  <a:pt x="196705" y="0"/>
                </a:lnTo>
                <a:lnTo>
                  <a:pt x="196705" y="248138"/>
                </a:lnTo>
                <a:lnTo>
                  <a:pt x="0" y="248138"/>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86" name="Freeform 66"/>
          <p:cNvSpPr/>
          <p:nvPr/>
        </p:nvSpPr>
        <p:spPr>
          <a:xfrm>
            <a:off x="9320097" y="5116796"/>
            <a:ext cx="301636" cy="240178"/>
          </a:xfrm>
          <a:custGeom>
            <a:avLst/>
            <a:gdLst/>
            <a:ahLst/>
            <a:cxnLst/>
            <a:rect l="l" t="t" r="r" b="b"/>
            <a:pathLst>
              <a:path w="301636" h="240178">
                <a:moveTo>
                  <a:pt x="0" y="0"/>
                </a:moveTo>
                <a:lnTo>
                  <a:pt x="301637" y="0"/>
                </a:lnTo>
                <a:lnTo>
                  <a:pt x="301637" y="240178"/>
                </a:lnTo>
                <a:lnTo>
                  <a:pt x="0" y="240178"/>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p:spPr>
      </p:sp>
      <p:sp>
        <p:nvSpPr>
          <p:cNvPr id="87" name="TextBox 67"/>
          <p:cNvSpPr txBox="1"/>
          <p:nvPr/>
        </p:nvSpPr>
        <p:spPr>
          <a:xfrm>
            <a:off x="9997780" y="3588015"/>
            <a:ext cx="2188752" cy="238125"/>
          </a:xfrm>
          <a:prstGeom prst="rect">
            <a:avLst/>
          </a:prstGeom>
        </p:spPr>
        <p:txBody>
          <a:bodyPr lIns="0" tIns="0" rIns="0" bIns="0" rtlCol="0" anchor="t">
            <a:spAutoFit/>
          </a:bodyPr>
          <a:lstStyle/>
          <a:p>
            <a:pPr algn="l">
              <a:lnSpc>
                <a:spcPts val="1826"/>
              </a:lnSpc>
            </a:pPr>
            <a:r>
              <a:rPr lang="en-US" sz="1521">
                <a:solidFill>
                  <a:srgbClr val="FFFFFF"/>
                </a:solidFill>
                <a:latin typeface="Aileron"/>
                <a:ea typeface="Aileron"/>
                <a:cs typeface="Aileron"/>
                <a:sym typeface="Aileron"/>
              </a:rPr>
              <a:t>maersk_admin</a:t>
            </a:r>
          </a:p>
        </p:txBody>
      </p:sp>
      <p:sp>
        <p:nvSpPr>
          <p:cNvPr id="88" name="TextBox 68"/>
          <p:cNvSpPr txBox="1"/>
          <p:nvPr/>
        </p:nvSpPr>
        <p:spPr>
          <a:xfrm>
            <a:off x="9997780" y="4340365"/>
            <a:ext cx="2188752" cy="237307"/>
          </a:xfrm>
          <a:prstGeom prst="rect">
            <a:avLst/>
          </a:prstGeom>
        </p:spPr>
        <p:txBody>
          <a:bodyPr lIns="0" tIns="0" rIns="0" bIns="0" rtlCol="0" anchor="t">
            <a:spAutoFit/>
          </a:bodyPr>
          <a:lstStyle/>
          <a:p>
            <a:pPr marL="0" lvl="0" indent="0" algn="l">
              <a:lnSpc>
                <a:spcPts val="1826"/>
              </a:lnSpc>
              <a:spcBef>
                <a:spcPct val="0"/>
              </a:spcBef>
            </a:pPr>
            <a:r>
              <a:rPr lang="en-US" sz="1521" u="none" strike="noStrike" dirty="0" err="1">
                <a:solidFill>
                  <a:srgbClr val="FFFFFF"/>
                </a:solidFill>
                <a:latin typeface="Aileron"/>
                <a:ea typeface="Aileron"/>
                <a:cs typeface="Aileron"/>
                <a:sym typeface="Aileron"/>
              </a:rPr>
              <a:t>maersk_client</a:t>
            </a:r>
            <a:endParaRPr lang="en-US" sz="1521" u="none" strike="noStrike" dirty="0">
              <a:solidFill>
                <a:srgbClr val="FFFFFF"/>
              </a:solidFill>
              <a:latin typeface="Aileron"/>
              <a:ea typeface="Aileron"/>
              <a:cs typeface="Aileron"/>
              <a:sym typeface="Aileron"/>
            </a:endParaRPr>
          </a:p>
        </p:txBody>
      </p:sp>
      <p:sp>
        <p:nvSpPr>
          <p:cNvPr id="89" name="TextBox 69"/>
          <p:cNvSpPr txBox="1"/>
          <p:nvPr/>
        </p:nvSpPr>
        <p:spPr>
          <a:xfrm>
            <a:off x="9997780" y="5092306"/>
            <a:ext cx="2188752" cy="237307"/>
          </a:xfrm>
          <a:prstGeom prst="rect">
            <a:avLst/>
          </a:prstGeom>
        </p:spPr>
        <p:txBody>
          <a:bodyPr lIns="0" tIns="0" rIns="0" bIns="0" rtlCol="0" anchor="t">
            <a:spAutoFit/>
          </a:bodyPr>
          <a:lstStyle/>
          <a:p>
            <a:pPr marL="0" lvl="0" indent="0" algn="l">
              <a:lnSpc>
                <a:spcPts val="1826"/>
              </a:lnSpc>
              <a:spcBef>
                <a:spcPct val="0"/>
              </a:spcBef>
            </a:pPr>
            <a:r>
              <a:rPr lang="en-US" sz="1521" u="none" strike="noStrike">
                <a:solidFill>
                  <a:srgbClr val="FFFFFF"/>
                </a:solidFill>
                <a:latin typeface="Aileron"/>
                <a:ea typeface="Aileron"/>
                <a:cs typeface="Aileron"/>
                <a:sym typeface="Aileron"/>
              </a:rPr>
              <a:t>maersk_user</a:t>
            </a:r>
          </a:p>
        </p:txBody>
      </p:sp>
      <p:sp>
        <p:nvSpPr>
          <p:cNvPr id="90" name="TextBox 70"/>
          <p:cNvSpPr txBox="1"/>
          <p:nvPr/>
        </p:nvSpPr>
        <p:spPr>
          <a:xfrm>
            <a:off x="13042488" y="3513989"/>
            <a:ext cx="1202937" cy="593555"/>
          </a:xfrm>
          <a:prstGeom prst="rect">
            <a:avLst/>
          </a:prstGeom>
        </p:spPr>
        <p:txBody>
          <a:bodyPr lIns="0" tIns="0" rIns="0" bIns="0" rtlCol="0" anchor="t">
            <a:spAutoFit/>
          </a:bodyPr>
          <a:lstStyle/>
          <a:p>
            <a:pPr algn="ctr">
              <a:lnSpc>
                <a:spcPts val="1586"/>
              </a:lnSpc>
            </a:pPr>
            <a:r>
              <a:rPr lang="en-US" sz="1321" dirty="0">
                <a:solidFill>
                  <a:srgbClr val="191919"/>
                </a:solidFill>
                <a:latin typeface="Aileron"/>
                <a:ea typeface="Aileron"/>
                <a:cs typeface="Aileron"/>
                <a:sym typeface="Aileron"/>
              </a:rPr>
              <a:t>maersk_admin@gmail.com</a:t>
            </a:r>
          </a:p>
          <a:p>
            <a:pPr algn="ctr">
              <a:lnSpc>
                <a:spcPts val="1586"/>
              </a:lnSpc>
            </a:pPr>
            <a:endParaRPr lang="en-US" sz="1321" dirty="0">
              <a:solidFill>
                <a:srgbClr val="191919"/>
              </a:solidFill>
              <a:latin typeface="Aileron"/>
              <a:ea typeface="Aileron"/>
              <a:cs typeface="Aileron"/>
              <a:sym typeface="Aileron"/>
            </a:endParaRPr>
          </a:p>
        </p:txBody>
      </p:sp>
      <p:sp>
        <p:nvSpPr>
          <p:cNvPr id="91" name="TextBox 71"/>
          <p:cNvSpPr txBox="1"/>
          <p:nvPr/>
        </p:nvSpPr>
        <p:spPr>
          <a:xfrm>
            <a:off x="13039778" y="4265929"/>
            <a:ext cx="1089676" cy="395703"/>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maersk_client@gmail.com</a:t>
            </a:r>
          </a:p>
        </p:txBody>
      </p:sp>
      <p:sp>
        <p:nvSpPr>
          <p:cNvPr id="92" name="TextBox 72"/>
          <p:cNvSpPr txBox="1"/>
          <p:nvPr/>
        </p:nvSpPr>
        <p:spPr>
          <a:xfrm>
            <a:off x="13039778" y="5017870"/>
            <a:ext cx="1012934" cy="395703"/>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maersk_user@gmail.com</a:t>
            </a:r>
          </a:p>
        </p:txBody>
      </p:sp>
      <p:sp>
        <p:nvSpPr>
          <p:cNvPr id="93" name="TextBox 73"/>
          <p:cNvSpPr txBox="1"/>
          <p:nvPr/>
        </p:nvSpPr>
        <p:spPr>
          <a:xfrm>
            <a:off x="14674983" y="3612915"/>
            <a:ext cx="1012934" cy="197852"/>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Admin</a:t>
            </a:r>
          </a:p>
        </p:txBody>
      </p:sp>
      <p:sp>
        <p:nvSpPr>
          <p:cNvPr id="94" name="TextBox 74"/>
          <p:cNvSpPr txBox="1"/>
          <p:nvPr/>
        </p:nvSpPr>
        <p:spPr>
          <a:xfrm>
            <a:off x="14674983" y="4364855"/>
            <a:ext cx="1012934" cy="197852"/>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Client</a:t>
            </a:r>
          </a:p>
        </p:txBody>
      </p:sp>
      <p:sp>
        <p:nvSpPr>
          <p:cNvPr id="95" name="TextBox 75"/>
          <p:cNvSpPr txBox="1"/>
          <p:nvPr/>
        </p:nvSpPr>
        <p:spPr>
          <a:xfrm>
            <a:off x="14674983" y="5116796"/>
            <a:ext cx="1012934" cy="197852"/>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User</a:t>
            </a:r>
          </a:p>
        </p:txBody>
      </p:sp>
      <p:sp>
        <p:nvSpPr>
          <p:cNvPr id="96" name="TextBox 76"/>
          <p:cNvSpPr txBox="1"/>
          <p:nvPr/>
        </p:nvSpPr>
        <p:spPr>
          <a:xfrm>
            <a:off x="15754737" y="3540293"/>
            <a:ext cx="2016980" cy="395703"/>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Toutes VMs pool Maersk + DR restore_admin</a:t>
            </a:r>
          </a:p>
        </p:txBody>
      </p:sp>
      <p:sp>
        <p:nvSpPr>
          <p:cNvPr id="97" name="TextBox 77"/>
          <p:cNvSpPr txBox="1"/>
          <p:nvPr/>
        </p:nvSpPr>
        <p:spPr>
          <a:xfrm>
            <a:off x="15687917" y="4258767"/>
            <a:ext cx="2027572" cy="395703"/>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Consultation + redémarrage VMs Maersk</a:t>
            </a:r>
          </a:p>
        </p:txBody>
      </p:sp>
      <p:sp>
        <p:nvSpPr>
          <p:cNvPr id="98" name="TextBox 78"/>
          <p:cNvSpPr txBox="1"/>
          <p:nvPr/>
        </p:nvSpPr>
        <p:spPr>
          <a:xfrm>
            <a:off x="16182284" y="5017870"/>
            <a:ext cx="1405301" cy="395703"/>
          </a:xfrm>
          <a:prstGeom prst="rect">
            <a:avLst/>
          </a:prstGeom>
        </p:spPr>
        <p:txBody>
          <a:bodyPr lIns="0" tIns="0" rIns="0" bIns="0" rtlCol="0" anchor="t">
            <a:spAutoFit/>
          </a:bodyPr>
          <a:lstStyle/>
          <a:p>
            <a:pPr algn="ctr">
              <a:lnSpc>
                <a:spcPts val="1586"/>
              </a:lnSpc>
            </a:pPr>
            <a:r>
              <a:rPr lang="en-US" sz="1321">
                <a:solidFill>
                  <a:srgbClr val="191919"/>
                </a:solidFill>
                <a:latin typeface="Aileron"/>
                <a:ea typeface="Aileron"/>
                <a:cs typeface="Aileron"/>
                <a:sym typeface="Aileron"/>
              </a:rPr>
              <a:t>Accès lecture seule VMs Maersk</a:t>
            </a:r>
          </a:p>
        </p:txBody>
      </p:sp>
      <p:sp>
        <p:nvSpPr>
          <p:cNvPr id="100" name="TextBox 79"/>
          <p:cNvSpPr txBox="1"/>
          <p:nvPr/>
        </p:nvSpPr>
        <p:spPr>
          <a:xfrm>
            <a:off x="9478352" y="2902278"/>
            <a:ext cx="3051985" cy="238125"/>
          </a:xfrm>
          <a:prstGeom prst="rect">
            <a:avLst/>
          </a:prstGeom>
        </p:spPr>
        <p:txBody>
          <a:bodyPr lIns="0" tIns="0" rIns="0" bIns="0" rtlCol="0" anchor="t">
            <a:spAutoFit/>
          </a:bodyPr>
          <a:lstStyle/>
          <a:p>
            <a:pPr algn="ctr">
              <a:lnSpc>
                <a:spcPts val="1826"/>
              </a:lnSpc>
            </a:pPr>
            <a:r>
              <a:rPr lang="en-US" sz="1521" b="1">
                <a:solidFill>
                  <a:srgbClr val="191919"/>
                </a:solidFill>
                <a:latin typeface="Aileron Bold"/>
                <a:ea typeface="Aileron Bold"/>
                <a:cs typeface="Aileron Bold"/>
                <a:sym typeface="Aileron Bold"/>
              </a:rPr>
              <a:t>Utilisateur</a:t>
            </a:r>
          </a:p>
        </p:txBody>
      </p:sp>
      <p:sp>
        <p:nvSpPr>
          <p:cNvPr id="101" name="TextBox 80"/>
          <p:cNvSpPr txBox="1"/>
          <p:nvPr/>
        </p:nvSpPr>
        <p:spPr>
          <a:xfrm>
            <a:off x="12869306" y="2902278"/>
            <a:ext cx="1353877" cy="237307"/>
          </a:xfrm>
          <a:prstGeom prst="rect">
            <a:avLst/>
          </a:prstGeom>
        </p:spPr>
        <p:txBody>
          <a:bodyPr lIns="0" tIns="0" rIns="0" bIns="0" rtlCol="0" anchor="t">
            <a:spAutoFit/>
          </a:bodyPr>
          <a:lstStyle/>
          <a:p>
            <a:pPr marL="0" lvl="0" indent="0" algn="ctr">
              <a:lnSpc>
                <a:spcPts val="1826"/>
              </a:lnSpc>
              <a:spcBef>
                <a:spcPct val="0"/>
              </a:spcBef>
            </a:pPr>
            <a:r>
              <a:rPr lang="en-US" sz="1521" b="1" u="none" strike="noStrike">
                <a:solidFill>
                  <a:srgbClr val="191919"/>
                </a:solidFill>
                <a:latin typeface="Aileron Bold"/>
                <a:ea typeface="Aileron Bold"/>
                <a:cs typeface="Aileron Bold"/>
                <a:sym typeface="Aileron Bold"/>
              </a:rPr>
              <a:t>Email</a:t>
            </a:r>
          </a:p>
        </p:txBody>
      </p:sp>
      <p:sp>
        <p:nvSpPr>
          <p:cNvPr id="102" name="TextBox 81"/>
          <p:cNvSpPr txBox="1"/>
          <p:nvPr/>
        </p:nvSpPr>
        <p:spPr>
          <a:xfrm>
            <a:off x="14504511" y="2902278"/>
            <a:ext cx="1353877" cy="237307"/>
          </a:xfrm>
          <a:prstGeom prst="rect">
            <a:avLst/>
          </a:prstGeom>
        </p:spPr>
        <p:txBody>
          <a:bodyPr lIns="0" tIns="0" rIns="0" bIns="0" rtlCol="0" anchor="t">
            <a:spAutoFit/>
          </a:bodyPr>
          <a:lstStyle/>
          <a:p>
            <a:pPr marL="0" lvl="0" indent="0" algn="ctr">
              <a:lnSpc>
                <a:spcPts val="1826"/>
              </a:lnSpc>
              <a:spcBef>
                <a:spcPct val="0"/>
              </a:spcBef>
            </a:pPr>
            <a:r>
              <a:rPr lang="en-US" sz="1521" b="1" u="none" strike="noStrike">
                <a:solidFill>
                  <a:srgbClr val="191919"/>
                </a:solidFill>
                <a:latin typeface="Aileron Bold"/>
                <a:ea typeface="Aileron Bold"/>
                <a:cs typeface="Aileron Bold"/>
                <a:sym typeface="Aileron Bold"/>
              </a:rPr>
              <a:t>Rôle</a:t>
            </a:r>
          </a:p>
        </p:txBody>
      </p:sp>
      <p:sp>
        <p:nvSpPr>
          <p:cNvPr id="103" name="TextBox 82"/>
          <p:cNvSpPr txBox="1"/>
          <p:nvPr/>
        </p:nvSpPr>
        <p:spPr>
          <a:xfrm>
            <a:off x="16139716" y="2902278"/>
            <a:ext cx="1353877" cy="237307"/>
          </a:xfrm>
          <a:prstGeom prst="rect">
            <a:avLst/>
          </a:prstGeom>
        </p:spPr>
        <p:txBody>
          <a:bodyPr lIns="0" tIns="0" rIns="0" bIns="0" rtlCol="0" anchor="t">
            <a:spAutoFit/>
          </a:bodyPr>
          <a:lstStyle/>
          <a:p>
            <a:pPr marL="0" lvl="0" indent="0" algn="ctr">
              <a:lnSpc>
                <a:spcPts val="1826"/>
              </a:lnSpc>
              <a:spcBef>
                <a:spcPct val="0"/>
              </a:spcBef>
            </a:pPr>
            <a:r>
              <a:rPr lang="en-US" sz="1521" b="1" u="none" strike="noStrike">
                <a:solidFill>
                  <a:srgbClr val="191919"/>
                </a:solidFill>
                <a:latin typeface="Aileron Bold"/>
                <a:ea typeface="Aileron Bold"/>
                <a:cs typeface="Aileron Bold"/>
                <a:sym typeface="Aileron Bold"/>
              </a:rPr>
              <a:t>Permissions</a:t>
            </a:r>
          </a:p>
        </p:txBody>
      </p:sp>
      <p:grpSp>
        <p:nvGrpSpPr>
          <p:cNvPr id="104" name="Group 83"/>
          <p:cNvGrpSpPr/>
          <p:nvPr/>
        </p:nvGrpSpPr>
        <p:grpSpPr>
          <a:xfrm>
            <a:off x="1702667" y="6334522"/>
            <a:ext cx="4859830" cy="3178217"/>
            <a:chOff x="0" y="0"/>
            <a:chExt cx="1279955" cy="837061"/>
          </a:xfrm>
        </p:grpSpPr>
        <p:sp>
          <p:nvSpPr>
            <p:cNvPr id="105" name="Freeform 84"/>
            <p:cNvSpPr/>
            <p:nvPr/>
          </p:nvSpPr>
          <p:spPr>
            <a:xfrm>
              <a:off x="0" y="0"/>
              <a:ext cx="1279955" cy="837061"/>
            </a:xfrm>
            <a:custGeom>
              <a:avLst/>
              <a:gdLst/>
              <a:ahLst/>
              <a:cxnLst/>
              <a:rect l="l" t="t" r="r" b="b"/>
              <a:pathLst>
                <a:path w="1279955" h="837061">
                  <a:moveTo>
                    <a:pt x="0" y="0"/>
                  </a:moveTo>
                  <a:lnTo>
                    <a:pt x="1279955" y="0"/>
                  </a:lnTo>
                  <a:lnTo>
                    <a:pt x="1279955" y="837061"/>
                  </a:lnTo>
                  <a:lnTo>
                    <a:pt x="0" y="837061"/>
                  </a:lnTo>
                  <a:close/>
                </a:path>
              </a:pathLst>
            </a:custGeom>
            <a:solidFill>
              <a:srgbClr val="E6E6E6"/>
            </a:solidFill>
          </p:spPr>
        </p:sp>
        <p:sp>
          <p:nvSpPr>
            <p:cNvPr id="106" name="TextBox 85"/>
            <p:cNvSpPr txBox="1"/>
            <p:nvPr/>
          </p:nvSpPr>
          <p:spPr>
            <a:xfrm>
              <a:off x="0" y="28575"/>
              <a:ext cx="1279955" cy="808486"/>
            </a:xfrm>
            <a:prstGeom prst="rect">
              <a:avLst/>
            </a:prstGeom>
          </p:spPr>
          <p:txBody>
            <a:bodyPr lIns="50800" tIns="50800" rIns="50800" bIns="50800" rtlCol="0" anchor="ctr"/>
            <a:lstStyle/>
            <a:p>
              <a:pPr algn="ctr">
                <a:lnSpc>
                  <a:spcPts val="2100"/>
                </a:lnSpc>
              </a:pPr>
              <a:endParaRPr/>
            </a:p>
          </p:txBody>
        </p:sp>
      </p:grpSp>
      <p:grpSp>
        <p:nvGrpSpPr>
          <p:cNvPr id="107" name="Group 86"/>
          <p:cNvGrpSpPr/>
          <p:nvPr/>
        </p:nvGrpSpPr>
        <p:grpSpPr>
          <a:xfrm>
            <a:off x="1702667" y="5888260"/>
            <a:ext cx="4179065" cy="892523"/>
            <a:chOff x="0" y="0"/>
            <a:chExt cx="1100659" cy="235068"/>
          </a:xfrm>
        </p:grpSpPr>
        <p:sp>
          <p:nvSpPr>
            <p:cNvPr id="108" name="Freeform 87"/>
            <p:cNvSpPr/>
            <p:nvPr/>
          </p:nvSpPr>
          <p:spPr>
            <a:xfrm>
              <a:off x="0" y="0"/>
              <a:ext cx="1100659" cy="235068"/>
            </a:xfrm>
            <a:custGeom>
              <a:avLst/>
              <a:gdLst/>
              <a:ahLst/>
              <a:cxnLst/>
              <a:rect l="l" t="t" r="r" b="b"/>
              <a:pathLst>
                <a:path w="1100659" h="235068">
                  <a:moveTo>
                    <a:pt x="0" y="0"/>
                  </a:moveTo>
                  <a:lnTo>
                    <a:pt x="1100659" y="0"/>
                  </a:lnTo>
                  <a:lnTo>
                    <a:pt x="1100659" y="235068"/>
                  </a:lnTo>
                  <a:lnTo>
                    <a:pt x="0" y="235068"/>
                  </a:lnTo>
                  <a:close/>
                </a:path>
              </a:pathLst>
            </a:custGeom>
            <a:solidFill>
              <a:srgbClr val="37C9EF"/>
            </a:solidFill>
          </p:spPr>
        </p:sp>
        <p:sp>
          <p:nvSpPr>
            <p:cNvPr id="109" name="TextBox 88"/>
            <p:cNvSpPr txBox="1"/>
            <p:nvPr/>
          </p:nvSpPr>
          <p:spPr>
            <a:xfrm>
              <a:off x="0" y="28575"/>
              <a:ext cx="1100659" cy="206493"/>
            </a:xfrm>
            <a:prstGeom prst="rect">
              <a:avLst/>
            </a:prstGeom>
          </p:spPr>
          <p:txBody>
            <a:bodyPr lIns="50800" tIns="50800" rIns="50800" bIns="50800" rtlCol="0" anchor="ctr"/>
            <a:lstStyle/>
            <a:p>
              <a:pPr algn="ctr">
                <a:lnSpc>
                  <a:spcPts val="2100"/>
                </a:lnSpc>
              </a:pPr>
              <a:endParaRPr/>
            </a:p>
          </p:txBody>
        </p:sp>
      </p:grpSp>
      <p:grpSp>
        <p:nvGrpSpPr>
          <p:cNvPr id="110" name="Group 89"/>
          <p:cNvGrpSpPr/>
          <p:nvPr/>
        </p:nvGrpSpPr>
        <p:grpSpPr>
          <a:xfrm>
            <a:off x="6977559" y="6334522"/>
            <a:ext cx="4999628" cy="3178217"/>
            <a:chOff x="0" y="0"/>
            <a:chExt cx="1316774" cy="837061"/>
          </a:xfrm>
        </p:grpSpPr>
        <p:sp>
          <p:nvSpPr>
            <p:cNvPr id="111" name="Freeform 90"/>
            <p:cNvSpPr/>
            <p:nvPr/>
          </p:nvSpPr>
          <p:spPr>
            <a:xfrm>
              <a:off x="0" y="0"/>
              <a:ext cx="1316774" cy="837061"/>
            </a:xfrm>
            <a:custGeom>
              <a:avLst/>
              <a:gdLst/>
              <a:ahLst/>
              <a:cxnLst/>
              <a:rect l="l" t="t" r="r" b="b"/>
              <a:pathLst>
                <a:path w="1316774" h="837061">
                  <a:moveTo>
                    <a:pt x="0" y="0"/>
                  </a:moveTo>
                  <a:lnTo>
                    <a:pt x="1316774" y="0"/>
                  </a:lnTo>
                  <a:lnTo>
                    <a:pt x="1316774" y="837061"/>
                  </a:lnTo>
                  <a:lnTo>
                    <a:pt x="0" y="837061"/>
                  </a:lnTo>
                  <a:close/>
                </a:path>
              </a:pathLst>
            </a:custGeom>
            <a:solidFill>
              <a:srgbClr val="E6E6E6"/>
            </a:solidFill>
          </p:spPr>
        </p:sp>
        <p:sp>
          <p:nvSpPr>
            <p:cNvPr id="112" name="TextBox 91"/>
            <p:cNvSpPr txBox="1"/>
            <p:nvPr/>
          </p:nvSpPr>
          <p:spPr>
            <a:xfrm>
              <a:off x="0" y="28575"/>
              <a:ext cx="1316774" cy="808486"/>
            </a:xfrm>
            <a:prstGeom prst="rect">
              <a:avLst/>
            </a:prstGeom>
          </p:spPr>
          <p:txBody>
            <a:bodyPr lIns="50800" tIns="50800" rIns="50800" bIns="50800" rtlCol="0" anchor="ctr"/>
            <a:lstStyle/>
            <a:p>
              <a:pPr algn="ctr">
                <a:lnSpc>
                  <a:spcPts val="2100"/>
                </a:lnSpc>
              </a:pPr>
              <a:endParaRPr/>
            </a:p>
          </p:txBody>
        </p:sp>
      </p:grpSp>
      <p:grpSp>
        <p:nvGrpSpPr>
          <p:cNvPr id="113" name="Group 92"/>
          <p:cNvGrpSpPr/>
          <p:nvPr/>
        </p:nvGrpSpPr>
        <p:grpSpPr>
          <a:xfrm>
            <a:off x="6977559" y="5888260"/>
            <a:ext cx="4318863" cy="892523"/>
            <a:chOff x="0" y="0"/>
            <a:chExt cx="1137478" cy="235068"/>
          </a:xfrm>
        </p:grpSpPr>
        <p:sp>
          <p:nvSpPr>
            <p:cNvPr id="114" name="Freeform 93"/>
            <p:cNvSpPr/>
            <p:nvPr/>
          </p:nvSpPr>
          <p:spPr>
            <a:xfrm>
              <a:off x="0" y="0"/>
              <a:ext cx="1137478" cy="235068"/>
            </a:xfrm>
            <a:custGeom>
              <a:avLst/>
              <a:gdLst/>
              <a:ahLst/>
              <a:cxnLst/>
              <a:rect l="l" t="t" r="r" b="b"/>
              <a:pathLst>
                <a:path w="1137478" h="235068">
                  <a:moveTo>
                    <a:pt x="0" y="0"/>
                  </a:moveTo>
                  <a:lnTo>
                    <a:pt x="1137478" y="0"/>
                  </a:lnTo>
                  <a:lnTo>
                    <a:pt x="1137478" y="235068"/>
                  </a:lnTo>
                  <a:lnTo>
                    <a:pt x="0" y="235068"/>
                  </a:lnTo>
                  <a:close/>
                </a:path>
              </a:pathLst>
            </a:custGeom>
            <a:solidFill>
              <a:srgbClr val="86EAE9"/>
            </a:solidFill>
          </p:spPr>
        </p:sp>
        <p:sp>
          <p:nvSpPr>
            <p:cNvPr id="115" name="TextBox 94"/>
            <p:cNvSpPr txBox="1"/>
            <p:nvPr/>
          </p:nvSpPr>
          <p:spPr>
            <a:xfrm>
              <a:off x="0" y="28575"/>
              <a:ext cx="1137478" cy="206493"/>
            </a:xfrm>
            <a:prstGeom prst="rect">
              <a:avLst/>
            </a:prstGeom>
          </p:spPr>
          <p:txBody>
            <a:bodyPr lIns="50800" tIns="50800" rIns="50800" bIns="50800" rtlCol="0" anchor="ctr"/>
            <a:lstStyle/>
            <a:p>
              <a:pPr algn="ctr">
                <a:lnSpc>
                  <a:spcPts val="2100"/>
                </a:lnSpc>
              </a:pPr>
              <a:endParaRPr/>
            </a:p>
          </p:txBody>
        </p:sp>
      </p:grpSp>
      <p:grpSp>
        <p:nvGrpSpPr>
          <p:cNvPr id="116" name="Group 95"/>
          <p:cNvGrpSpPr/>
          <p:nvPr/>
        </p:nvGrpSpPr>
        <p:grpSpPr>
          <a:xfrm>
            <a:off x="12415337" y="6334522"/>
            <a:ext cx="4347890" cy="3178217"/>
            <a:chOff x="0" y="0"/>
            <a:chExt cx="1145123" cy="837061"/>
          </a:xfrm>
        </p:grpSpPr>
        <p:sp>
          <p:nvSpPr>
            <p:cNvPr id="117" name="Freeform 96"/>
            <p:cNvSpPr/>
            <p:nvPr/>
          </p:nvSpPr>
          <p:spPr>
            <a:xfrm>
              <a:off x="0" y="0"/>
              <a:ext cx="1145123" cy="837061"/>
            </a:xfrm>
            <a:custGeom>
              <a:avLst/>
              <a:gdLst/>
              <a:ahLst/>
              <a:cxnLst/>
              <a:rect l="l" t="t" r="r" b="b"/>
              <a:pathLst>
                <a:path w="1145123" h="837061">
                  <a:moveTo>
                    <a:pt x="0" y="0"/>
                  </a:moveTo>
                  <a:lnTo>
                    <a:pt x="1145123" y="0"/>
                  </a:lnTo>
                  <a:lnTo>
                    <a:pt x="1145123" y="837061"/>
                  </a:lnTo>
                  <a:lnTo>
                    <a:pt x="0" y="837061"/>
                  </a:lnTo>
                  <a:close/>
                </a:path>
              </a:pathLst>
            </a:custGeom>
            <a:solidFill>
              <a:srgbClr val="E6E6E6"/>
            </a:solidFill>
          </p:spPr>
        </p:sp>
        <p:sp>
          <p:nvSpPr>
            <p:cNvPr id="118" name="TextBox 97"/>
            <p:cNvSpPr txBox="1"/>
            <p:nvPr/>
          </p:nvSpPr>
          <p:spPr>
            <a:xfrm>
              <a:off x="0" y="28575"/>
              <a:ext cx="1145123" cy="808486"/>
            </a:xfrm>
            <a:prstGeom prst="rect">
              <a:avLst/>
            </a:prstGeom>
          </p:spPr>
          <p:txBody>
            <a:bodyPr lIns="50800" tIns="50800" rIns="50800" bIns="50800" rtlCol="0" anchor="ctr"/>
            <a:lstStyle/>
            <a:p>
              <a:pPr algn="ctr">
                <a:lnSpc>
                  <a:spcPts val="2100"/>
                </a:lnSpc>
              </a:pPr>
              <a:endParaRPr/>
            </a:p>
          </p:txBody>
        </p:sp>
      </p:grpSp>
      <p:grpSp>
        <p:nvGrpSpPr>
          <p:cNvPr id="119" name="Group 98"/>
          <p:cNvGrpSpPr/>
          <p:nvPr/>
        </p:nvGrpSpPr>
        <p:grpSpPr>
          <a:xfrm>
            <a:off x="12396287" y="5888260"/>
            <a:ext cx="3686175" cy="892523"/>
            <a:chOff x="0" y="0"/>
            <a:chExt cx="970844" cy="235068"/>
          </a:xfrm>
        </p:grpSpPr>
        <p:sp>
          <p:nvSpPr>
            <p:cNvPr id="120" name="Freeform 99"/>
            <p:cNvSpPr/>
            <p:nvPr/>
          </p:nvSpPr>
          <p:spPr>
            <a:xfrm>
              <a:off x="0" y="0"/>
              <a:ext cx="970844" cy="235068"/>
            </a:xfrm>
            <a:custGeom>
              <a:avLst/>
              <a:gdLst/>
              <a:ahLst/>
              <a:cxnLst/>
              <a:rect l="l" t="t" r="r" b="b"/>
              <a:pathLst>
                <a:path w="970844" h="235068">
                  <a:moveTo>
                    <a:pt x="0" y="0"/>
                  </a:moveTo>
                  <a:lnTo>
                    <a:pt x="970844" y="0"/>
                  </a:lnTo>
                  <a:lnTo>
                    <a:pt x="970844" y="235068"/>
                  </a:lnTo>
                  <a:lnTo>
                    <a:pt x="0" y="235068"/>
                  </a:lnTo>
                  <a:close/>
                </a:path>
              </a:pathLst>
            </a:custGeom>
            <a:solidFill>
              <a:srgbClr val="13538A"/>
            </a:solidFill>
          </p:spPr>
        </p:sp>
        <p:sp>
          <p:nvSpPr>
            <p:cNvPr id="121" name="TextBox 100"/>
            <p:cNvSpPr txBox="1"/>
            <p:nvPr/>
          </p:nvSpPr>
          <p:spPr>
            <a:xfrm>
              <a:off x="0" y="28575"/>
              <a:ext cx="970844" cy="206493"/>
            </a:xfrm>
            <a:prstGeom prst="rect">
              <a:avLst/>
            </a:prstGeom>
          </p:spPr>
          <p:txBody>
            <a:bodyPr lIns="50800" tIns="50800" rIns="50800" bIns="50800" rtlCol="0" anchor="ctr"/>
            <a:lstStyle/>
            <a:p>
              <a:pPr algn="ctr">
                <a:lnSpc>
                  <a:spcPts val="2100"/>
                </a:lnSpc>
              </a:pPr>
              <a:endParaRPr/>
            </a:p>
          </p:txBody>
        </p:sp>
      </p:grpSp>
      <p:sp>
        <p:nvSpPr>
          <p:cNvPr id="122" name="AutoShape 101"/>
          <p:cNvSpPr/>
          <p:nvPr/>
        </p:nvSpPr>
        <p:spPr>
          <a:xfrm>
            <a:off x="3788273" y="9931617"/>
            <a:ext cx="10951604" cy="0"/>
          </a:xfrm>
          <a:prstGeom prst="line">
            <a:avLst/>
          </a:prstGeom>
          <a:ln w="38100" cap="flat">
            <a:solidFill>
              <a:srgbClr val="A6A6A6"/>
            </a:solidFill>
            <a:prstDash val="solid"/>
            <a:headEnd type="none" w="sm" len="sm"/>
            <a:tailEnd type="none" w="sm" len="sm"/>
          </a:ln>
        </p:spPr>
      </p:sp>
      <p:grpSp>
        <p:nvGrpSpPr>
          <p:cNvPr id="123" name="Group 102"/>
          <p:cNvGrpSpPr/>
          <p:nvPr/>
        </p:nvGrpSpPr>
        <p:grpSpPr>
          <a:xfrm>
            <a:off x="3508439" y="9791700"/>
            <a:ext cx="279835" cy="279835"/>
            <a:chOff x="0" y="0"/>
            <a:chExt cx="812800" cy="812800"/>
          </a:xfrm>
        </p:grpSpPr>
        <p:sp>
          <p:nvSpPr>
            <p:cNvPr id="124" name="Freeform 10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7C9EF"/>
            </a:solidFill>
          </p:spPr>
        </p:sp>
        <p:sp>
          <p:nvSpPr>
            <p:cNvPr id="125" name="TextBox 104"/>
            <p:cNvSpPr txBox="1"/>
            <p:nvPr/>
          </p:nvSpPr>
          <p:spPr>
            <a:xfrm>
              <a:off x="76200" y="104775"/>
              <a:ext cx="660400" cy="631825"/>
            </a:xfrm>
            <a:prstGeom prst="rect">
              <a:avLst/>
            </a:prstGeom>
          </p:spPr>
          <p:txBody>
            <a:bodyPr lIns="50800" tIns="50800" rIns="50800" bIns="50800" rtlCol="0" anchor="ctr"/>
            <a:lstStyle/>
            <a:p>
              <a:pPr algn="ctr">
                <a:lnSpc>
                  <a:spcPts val="2100"/>
                </a:lnSpc>
              </a:pPr>
              <a:endParaRPr/>
            </a:p>
          </p:txBody>
        </p:sp>
      </p:grpSp>
      <p:grpSp>
        <p:nvGrpSpPr>
          <p:cNvPr id="126" name="Group 105"/>
          <p:cNvGrpSpPr/>
          <p:nvPr/>
        </p:nvGrpSpPr>
        <p:grpSpPr>
          <a:xfrm>
            <a:off x="8997073" y="9791700"/>
            <a:ext cx="279835" cy="279835"/>
            <a:chOff x="0" y="0"/>
            <a:chExt cx="812800" cy="812800"/>
          </a:xfrm>
        </p:grpSpPr>
        <p:sp>
          <p:nvSpPr>
            <p:cNvPr id="127" name="Freeform 10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6EAE9"/>
            </a:solidFill>
          </p:spPr>
        </p:sp>
        <p:sp>
          <p:nvSpPr>
            <p:cNvPr id="128" name="TextBox 107"/>
            <p:cNvSpPr txBox="1"/>
            <p:nvPr/>
          </p:nvSpPr>
          <p:spPr>
            <a:xfrm>
              <a:off x="76200" y="104775"/>
              <a:ext cx="660400" cy="631825"/>
            </a:xfrm>
            <a:prstGeom prst="rect">
              <a:avLst/>
            </a:prstGeom>
          </p:spPr>
          <p:txBody>
            <a:bodyPr lIns="50800" tIns="50800" rIns="50800" bIns="50800" rtlCol="0" anchor="ctr"/>
            <a:lstStyle/>
            <a:p>
              <a:pPr algn="ctr">
                <a:lnSpc>
                  <a:spcPts val="2100"/>
                </a:lnSpc>
              </a:pPr>
              <a:endParaRPr/>
            </a:p>
          </p:txBody>
        </p:sp>
      </p:grpSp>
      <p:grpSp>
        <p:nvGrpSpPr>
          <p:cNvPr id="129" name="Group 108"/>
          <p:cNvGrpSpPr/>
          <p:nvPr/>
        </p:nvGrpSpPr>
        <p:grpSpPr>
          <a:xfrm>
            <a:off x="14739877" y="9791700"/>
            <a:ext cx="279835" cy="279835"/>
            <a:chOff x="0" y="0"/>
            <a:chExt cx="812800" cy="812800"/>
          </a:xfrm>
        </p:grpSpPr>
        <p:sp>
          <p:nvSpPr>
            <p:cNvPr id="130" name="Freeform 10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3538A"/>
            </a:solidFill>
          </p:spPr>
        </p:sp>
        <p:sp>
          <p:nvSpPr>
            <p:cNvPr id="131" name="TextBox 110"/>
            <p:cNvSpPr txBox="1"/>
            <p:nvPr/>
          </p:nvSpPr>
          <p:spPr>
            <a:xfrm>
              <a:off x="76200" y="104775"/>
              <a:ext cx="660400" cy="631825"/>
            </a:xfrm>
            <a:prstGeom prst="rect">
              <a:avLst/>
            </a:prstGeom>
          </p:spPr>
          <p:txBody>
            <a:bodyPr lIns="50800" tIns="50800" rIns="50800" bIns="50800" rtlCol="0" anchor="ctr"/>
            <a:lstStyle/>
            <a:p>
              <a:pPr algn="ctr">
                <a:lnSpc>
                  <a:spcPts val="2100"/>
                </a:lnSpc>
              </a:pPr>
              <a:endParaRPr/>
            </a:p>
          </p:txBody>
        </p:sp>
      </p:grpSp>
      <p:sp>
        <p:nvSpPr>
          <p:cNvPr id="132" name="Freeform 111"/>
          <p:cNvSpPr/>
          <p:nvPr/>
        </p:nvSpPr>
        <p:spPr>
          <a:xfrm>
            <a:off x="1913380" y="6041152"/>
            <a:ext cx="450533" cy="490034"/>
          </a:xfrm>
          <a:custGeom>
            <a:avLst/>
            <a:gdLst/>
            <a:ahLst/>
            <a:cxnLst/>
            <a:rect l="l" t="t" r="r" b="b"/>
            <a:pathLst>
              <a:path w="450533" h="490034">
                <a:moveTo>
                  <a:pt x="0" y="0"/>
                </a:moveTo>
                <a:lnTo>
                  <a:pt x="450534" y="0"/>
                </a:lnTo>
                <a:lnTo>
                  <a:pt x="450534" y="490034"/>
                </a:lnTo>
                <a:lnTo>
                  <a:pt x="0" y="490034"/>
                </a:lnTo>
                <a:lnTo>
                  <a:pt x="0" y="0"/>
                </a:lnTo>
                <a:close/>
              </a:path>
            </a:pathLst>
          </a:custGeom>
          <a:blipFill>
            <a:blip r:embed="rId10">
              <a:extLst>
                <a:ext uri="{96DAC541-7B7A-43D3-8B79-37D633B846F1}">
                  <asvg:svgBlip xmlns:asvg="http://schemas.microsoft.com/office/drawing/2016/SVG/main" xmlns="" r:embed="rId11"/>
                </a:ext>
              </a:extLst>
            </a:blip>
            <a:stretch>
              <a:fillRect/>
            </a:stretch>
          </a:blipFill>
        </p:spPr>
      </p:sp>
      <p:sp>
        <p:nvSpPr>
          <p:cNvPr id="133" name="Freeform 112"/>
          <p:cNvSpPr/>
          <p:nvPr/>
        </p:nvSpPr>
        <p:spPr>
          <a:xfrm>
            <a:off x="7278258" y="6026391"/>
            <a:ext cx="570835" cy="570835"/>
          </a:xfrm>
          <a:custGeom>
            <a:avLst/>
            <a:gdLst/>
            <a:ahLst/>
            <a:cxnLst/>
            <a:rect l="l" t="t" r="r" b="b"/>
            <a:pathLst>
              <a:path w="570835" h="570835">
                <a:moveTo>
                  <a:pt x="0" y="0"/>
                </a:moveTo>
                <a:lnTo>
                  <a:pt x="570835" y="0"/>
                </a:lnTo>
                <a:lnTo>
                  <a:pt x="570835" y="570835"/>
                </a:lnTo>
                <a:lnTo>
                  <a:pt x="0" y="570835"/>
                </a:lnTo>
                <a:lnTo>
                  <a:pt x="0" y="0"/>
                </a:lnTo>
                <a:close/>
              </a:path>
            </a:pathLst>
          </a:custGeom>
          <a:blipFill>
            <a:blip r:embed="rId12">
              <a:extLst>
                <a:ext uri="{96DAC541-7B7A-43D3-8B79-37D633B846F1}">
                  <asvg:svgBlip xmlns:asvg="http://schemas.microsoft.com/office/drawing/2016/SVG/main" xmlns="" r:embed="rId13"/>
                </a:ext>
              </a:extLst>
            </a:blip>
            <a:stretch>
              <a:fillRect/>
            </a:stretch>
          </a:blipFill>
        </p:spPr>
      </p:sp>
      <p:sp>
        <p:nvSpPr>
          <p:cNvPr id="134" name="Freeform 113"/>
          <p:cNvSpPr/>
          <p:nvPr/>
        </p:nvSpPr>
        <p:spPr>
          <a:xfrm>
            <a:off x="12554594" y="6106068"/>
            <a:ext cx="427449" cy="425118"/>
          </a:xfrm>
          <a:custGeom>
            <a:avLst/>
            <a:gdLst/>
            <a:ahLst/>
            <a:cxnLst/>
            <a:rect l="l" t="t" r="r" b="b"/>
            <a:pathLst>
              <a:path w="427449" h="425118">
                <a:moveTo>
                  <a:pt x="0" y="0"/>
                </a:moveTo>
                <a:lnTo>
                  <a:pt x="427449" y="0"/>
                </a:lnTo>
                <a:lnTo>
                  <a:pt x="427449" y="425118"/>
                </a:lnTo>
                <a:lnTo>
                  <a:pt x="0" y="425118"/>
                </a:lnTo>
                <a:lnTo>
                  <a:pt x="0" y="0"/>
                </a:lnTo>
                <a:close/>
              </a:path>
            </a:pathLst>
          </a:custGeom>
          <a:blipFill>
            <a:blip r:embed="rId14">
              <a:extLst>
                <a:ext uri="{96DAC541-7B7A-43D3-8B79-37D633B846F1}">
                  <asvg:svgBlip xmlns:asvg="http://schemas.microsoft.com/office/drawing/2016/SVG/main" xmlns="" r:embed="rId15"/>
                </a:ext>
              </a:extLst>
            </a:blip>
            <a:stretch>
              <a:fillRect/>
            </a:stretch>
          </a:blipFill>
        </p:spPr>
      </p:sp>
      <p:sp>
        <p:nvSpPr>
          <p:cNvPr id="135" name="TextBox 114"/>
          <p:cNvSpPr txBox="1"/>
          <p:nvPr/>
        </p:nvSpPr>
        <p:spPr>
          <a:xfrm>
            <a:off x="2381286" y="6203040"/>
            <a:ext cx="2037669" cy="278923"/>
          </a:xfrm>
          <a:prstGeom prst="rect">
            <a:avLst/>
          </a:prstGeom>
        </p:spPr>
        <p:txBody>
          <a:bodyPr lIns="0" tIns="0" rIns="0" bIns="0" rtlCol="0" anchor="t">
            <a:spAutoFit/>
          </a:bodyPr>
          <a:lstStyle/>
          <a:p>
            <a:pPr algn="ctr">
              <a:lnSpc>
                <a:spcPts val="2100"/>
              </a:lnSpc>
            </a:pPr>
            <a:r>
              <a:rPr lang="en-US" sz="2100" b="1" dirty="0">
                <a:solidFill>
                  <a:srgbClr val="000000"/>
                </a:solidFill>
                <a:latin typeface="DM Sans Bold"/>
                <a:ea typeface="DM Sans Bold"/>
                <a:cs typeface="DM Sans Bold"/>
                <a:sym typeface="DM Sans Bold"/>
              </a:rPr>
              <a:t> </a:t>
            </a:r>
            <a:r>
              <a:rPr lang="en-US" sz="2100" b="1" dirty="0" err="1" smtClean="0">
                <a:solidFill>
                  <a:srgbClr val="000000"/>
                </a:solidFill>
                <a:latin typeface="DM Sans Bold"/>
                <a:ea typeface="DM Sans Bold"/>
                <a:cs typeface="DM Sans Bold"/>
                <a:sym typeface="DM Sans Bold"/>
              </a:rPr>
              <a:t>maersk</a:t>
            </a:r>
            <a:r>
              <a:rPr lang="en-US" sz="2100" b="1" dirty="0" smtClean="0">
                <a:solidFill>
                  <a:srgbClr val="000000"/>
                </a:solidFill>
                <a:latin typeface="DM Sans Bold"/>
                <a:ea typeface="DM Sans Bold"/>
                <a:cs typeface="DM Sans Bold"/>
                <a:sym typeface="DM Sans Bold"/>
              </a:rPr>
              <a:t>-admin</a:t>
            </a:r>
            <a:endParaRPr lang="en-US" sz="2100" b="1" dirty="0">
              <a:solidFill>
                <a:srgbClr val="000000"/>
              </a:solidFill>
              <a:latin typeface="DM Sans Bold"/>
              <a:ea typeface="DM Sans Bold"/>
              <a:cs typeface="DM Sans Bold"/>
              <a:sym typeface="DM Sans Bold"/>
            </a:endParaRPr>
          </a:p>
        </p:txBody>
      </p:sp>
      <p:sp>
        <p:nvSpPr>
          <p:cNvPr id="136" name="TextBox 115"/>
          <p:cNvSpPr txBox="1"/>
          <p:nvPr/>
        </p:nvSpPr>
        <p:spPr>
          <a:xfrm>
            <a:off x="7906643" y="6203040"/>
            <a:ext cx="2037669" cy="278923"/>
          </a:xfrm>
          <a:prstGeom prst="rect">
            <a:avLst/>
          </a:prstGeom>
        </p:spPr>
        <p:txBody>
          <a:bodyPr lIns="0" tIns="0" rIns="0" bIns="0" rtlCol="0" anchor="t">
            <a:spAutoFit/>
          </a:bodyPr>
          <a:lstStyle/>
          <a:p>
            <a:pPr marL="0" lvl="0" indent="0" algn="ctr">
              <a:lnSpc>
                <a:spcPts val="2100"/>
              </a:lnSpc>
              <a:spcBef>
                <a:spcPct val="0"/>
              </a:spcBef>
            </a:pPr>
            <a:r>
              <a:rPr lang="en-US" sz="2100" b="1" u="none" strike="noStrike" dirty="0" smtClean="0">
                <a:solidFill>
                  <a:srgbClr val="FFFFFF"/>
                </a:solidFill>
                <a:latin typeface="DM Sans Bold"/>
                <a:ea typeface="DM Sans Bold"/>
                <a:cs typeface="DM Sans Bold"/>
                <a:sym typeface="DM Sans Bold"/>
              </a:rPr>
              <a:t>Maersk-client</a:t>
            </a:r>
            <a:endParaRPr lang="en-US" sz="2100" b="1" u="none" strike="noStrike" dirty="0">
              <a:solidFill>
                <a:srgbClr val="FFFFFF"/>
              </a:solidFill>
              <a:latin typeface="DM Sans Bold"/>
              <a:ea typeface="DM Sans Bold"/>
              <a:cs typeface="DM Sans Bold"/>
              <a:sym typeface="DM Sans Bold"/>
            </a:endParaRPr>
          </a:p>
        </p:txBody>
      </p:sp>
      <p:sp>
        <p:nvSpPr>
          <p:cNvPr id="137" name="TextBox 116"/>
          <p:cNvSpPr txBox="1"/>
          <p:nvPr/>
        </p:nvSpPr>
        <p:spPr>
          <a:xfrm>
            <a:off x="13143780" y="6203040"/>
            <a:ext cx="2037669" cy="278923"/>
          </a:xfrm>
          <a:prstGeom prst="rect">
            <a:avLst/>
          </a:prstGeom>
        </p:spPr>
        <p:txBody>
          <a:bodyPr lIns="0" tIns="0" rIns="0" bIns="0" rtlCol="0" anchor="t">
            <a:spAutoFit/>
          </a:bodyPr>
          <a:lstStyle/>
          <a:p>
            <a:pPr marL="0" lvl="0" indent="0" algn="ctr">
              <a:lnSpc>
                <a:spcPts val="2100"/>
              </a:lnSpc>
              <a:spcBef>
                <a:spcPct val="0"/>
              </a:spcBef>
            </a:pPr>
            <a:r>
              <a:rPr lang="en-US" sz="2100" b="1" u="none" strike="noStrike" dirty="0" smtClean="0">
                <a:solidFill>
                  <a:srgbClr val="FFFFFF"/>
                </a:solidFill>
                <a:latin typeface="DM Sans Bold"/>
                <a:ea typeface="DM Sans Bold"/>
                <a:cs typeface="DM Sans Bold"/>
                <a:sym typeface="DM Sans Bold"/>
              </a:rPr>
              <a:t>Maersk-user</a:t>
            </a:r>
            <a:endParaRPr lang="en-US" sz="2100" b="1" u="none" strike="noStrike" dirty="0">
              <a:solidFill>
                <a:srgbClr val="FFFFFF"/>
              </a:solidFill>
              <a:latin typeface="DM Sans Bold"/>
              <a:ea typeface="DM Sans Bold"/>
              <a:cs typeface="DM Sans Bold"/>
              <a:sym typeface="DM Sans Bold"/>
            </a:endParaRPr>
          </a:p>
        </p:txBody>
      </p:sp>
      <p:sp>
        <p:nvSpPr>
          <p:cNvPr id="138" name="TextBox 117"/>
          <p:cNvSpPr txBox="1"/>
          <p:nvPr/>
        </p:nvSpPr>
        <p:spPr>
          <a:xfrm>
            <a:off x="1814399" y="7114344"/>
            <a:ext cx="4738573" cy="2233175"/>
          </a:xfrm>
          <a:prstGeom prst="rect">
            <a:avLst/>
          </a:prstGeom>
        </p:spPr>
        <p:txBody>
          <a:bodyPr lIns="0" tIns="0" rIns="0" bIns="0" rtlCol="0" anchor="t">
            <a:spAutoFit/>
          </a:bodyPr>
          <a:lstStyle/>
          <a:p>
            <a:pPr algn="just">
              <a:lnSpc>
                <a:spcPts val="2240"/>
              </a:lnSpc>
              <a:spcBef>
                <a:spcPct val="0"/>
              </a:spcBef>
            </a:pPr>
            <a:r>
              <a:rPr lang="en-US" sz="2000" dirty="0">
                <a:solidFill>
                  <a:srgbClr val="545454"/>
                </a:solidFill>
                <a:latin typeface="Canva Sans"/>
                <a:ea typeface="Canva Sans"/>
                <a:cs typeface="Canva Sans"/>
                <a:sym typeface="Canva Sans"/>
              </a:rPr>
              <a:t> </a:t>
            </a:r>
            <a:r>
              <a:rPr lang="en-US" sz="2000" dirty="0" err="1">
                <a:solidFill>
                  <a:srgbClr val="545454"/>
                </a:solidFill>
                <a:latin typeface="Canva Sans"/>
                <a:ea typeface="Canva Sans"/>
                <a:cs typeface="Canva Sans"/>
                <a:sym typeface="Canva Sans"/>
              </a:rPr>
              <a:t>Accès</a:t>
            </a:r>
            <a:r>
              <a:rPr lang="en-US" sz="2000" dirty="0">
                <a:solidFill>
                  <a:srgbClr val="545454"/>
                </a:solidFill>
                <a:latin typeface="Canva Sans"/>
                <a:ea typeface="Canva Sans"/>
                <a:cs typeface="Canva Sans"/>
                <a:sym typeface="Canva Sans"/>
              </a:rPr>
              <a:t> COMPLET au pool Maersk</a:t>
            </a:r>
          </a:p>
          <a:p>
            <a:pPr algn="just">
              <a:lnSpc>
                <a:spcPts val="2240"/>
              </a:lnSpc>
              <a:spcBef>
                <a:spcPct val="0"/>
              </a:spcBef>
            </a:pPr>
            <a:r>
              <a:rPr lang="en-US" sz="2000" dirty="0">
                <a:solidFill>
                  <a:srgbClr val="545454"/>
                </a:solidFill>
                <a:latin typeface="Canva Sans"/>
                <a:ea typeface="Canva Sans"/>
                <a:cs typeface="Canva Sans"/>
                <a:sym typeface="Canva Sans"/>
              </a:rPr>
              <a:t> </a:t>
            </a:r>
            <a:r>
              <a:rPr lang="en-US" sz="2000" dirty="0" err="1">
                <a:solidFill>
                  <a:srgbClr val="545454"/>
                </a:solidFill>
                <a:latin typeface="Canva Sans"/>
                <a:ea typeface="Canva Sans"/>
                <a:cs typeface="Canva Sans"/>
                <a:sym typeface="Canva Sans"/>
              </a:rPr>
              <a:t>Gère</a:t>
            </a:r>
            <a:r>
              <a:rPr lang="en-US" sz="2000" dirty="0">
                <a:solidFill>
                  <a:srgbClr val="545454"/>
                </a:solidFill>
                <a:latin typeface="Canva Sans"/>
                <a:ea typeface="Canva Sans"/>
                <a:cs typeface="Canva Sans"/>
                <a:sym typeface="Canva Sans"/>
              </a:rPr>
              <a:t> </a:t>
            </a:r>
            <a:r>
              <a:rPr lang="en-US" sz="2000" dirty="0" err="1">
                <a:solidFill>
                  <a:srgbClr val="545454"/>
                </a:solidFill>
                <a:latin typeface="Canva Sans"/>
                <a:ea typeface="Canva Sans"/>
                <a:cs typeface="Canva Sans"/>
                <a:sym typeface="Canva Sans"/>
              </a:rPr>
              <a:t>tous</a:t>
            </a:r>
            <a:r>
              <a:rPr lang="en-US" sz="2000" dirty="0">
                <a:solidFill>
                  <a:srgbClr val="545454"/>
                </a:solidFill>
                <a:latin typeface="Canva Sans"/>
                <a:ea typeface="Canva Sans"/>
                <a:cs typeface="Canva Sans"/>
                <a:sym typeface="Canva Sans"/>
              </a:rPr>
              <a:t> les </a:t>
            </a:r>
            <a:r>
              <a:rPr lang="en-US" sz="2000" dirty="0" err="1">
                <a:solidFill>
                  <a:srgbClr val="545454"/>
                </a:solidFill>
                <a:latin typeface="Canva Sans"/>
                <a:ea typeface="Canva Sans"/>
                <a:cs typeface="Canva Sans"/>
                <a:sym typeface="Canva Sans"/>
              </a:rPr>
              <a:t>utilisateurs</a:t>
            </a:r>
            <a:r>
              <a:rPr lang="en-US" sz="2000" dirty="0">
                <a:solidFill>
                  <a:srgbClr val="545454"/>
                </a:solidFill>
                <a:latin typeface="Canva Sans"/>
                <a:ea typeface="Canva Sans"/>
                <a:cs typeface="Canva Sans"/>
                <a:sym typeface="Canva Sans"/>
              </a:rPr>
              <a:t> </a:t>
            </a:r>
            <a:r>
              <a:rPr lang="en-US" sz="2000" dirty="0" err="1">
                <a:solidFill>
                  <a:srgbClr val="545454"/>
                </a:solidFill>
                <a:latin typeface="Canva Sans"/>
                <a:ea typeface="Canva Sans"/>
                <a:cs typeface="Canva Sans"/>
                <a:sym typeface="Canva Sans"/>
              </a:rPr>
              <a:t>maersk</a:t>
            </a:r>
            <a:r>
              <a:rPr lang="en-US" sz="2000" dirty="0">
                <a:solidFill>
                  <a:srgbClr val="545454"/>
                </a:solidFill>
                <a:latin typeface="Canva Sans"/>
                <a:ea typeface="Canva Sans"/>
                <a:cs typeface="Canva Sans"/>
                <a:sym typeface="Canva Sans"/>
              </a:rPr>
              <a:t>_*</a:t>
            </a:r>
          </a:p>
          <a:p>
            <a:pPr algn="just">
              <a:lnSpc>
                <a:spcPts val="2240"/>
              </a:lnSpc>
              <a:spcBef>
                <a:spcPct val="0"/>
              </a:spcBef>
            </a:pPr>
            <a:r>
              <a:rPr lang="en-US" sz="2000" dirty="0">
                <a:solidFill>
                  <a:srgbClr val="545454"/>
                </a:solidFill>
                <a:latin typeface="Canva Sans"/>
                <a:ea typeface="Canva Sans"/>
                <a:cs typeface="Canva Sans"/>
                <a:sym typeface="Canva Sans"/>
              </a:rPr>
              <a:t> </a:t>
            </a:r>
            <a:r>
              <a:rPr lang="en-US" sz="2000" dirty="0" err="1">
                <a:solidFill>
                  <a:srgbClr val="545454"/>
                </a:solidFill>
                <a:latin typeface="Canva Sans"/>
                <a:ea typeface="Canva Sans"/>
                <a:cs typeface="Canva Sans"/>
                <a:sym typeface="Canva Sans"/>
              </a:rPr>
              <a:t>Créer</a:t>
            </a:r>
            <a:r>
              <a:rPr lang="en-US" sz="2000" dirty="0">
                <a:solidFill>
                  <a:srgbClr val="545454"/>
                </a:solidFill>
                <a:latin typeface="Canva Sans"/>
                <a:ea typeface="Canva Sans"/>
                <a:cs typeface="Canva Sans"/>
                <a:sym typeface="Canva Sans"/>
              </a:rPr>
              <a:t>/modifier/</a:t>
            </a:r>
            <a:r>
              <a:rPr lang="en-US" sz="2000" dirty="0" err="1">
                <a:solidFill>
                  <a:srgbClr val="545454"/>
                </a:solidFill>
                <a:latin typeface="Canva Sans"/>
                <a:ea typeface="Canva Sans"/>
                <a:cs typeface="Canva Sans"/>
                <a:sym typeface="Canva Sans"/>
              </a:rPr>
              <a:t>supprimer</a:t>
            </a:r>
            <a:r>
              <a:rPr lang="en-US" sz="2000" dirty="0">
                <a:solidFill>
                  <a:srgbClr val="545454"/>
                </a:solidFill>
                <a:latin typeface="Canva Sans"/>
                <a:ea typeface="Canva Sans"/>
                <a:cs typeface="Canva Sans"/>
                <a:sym typeface="Canva Sans"/>
              </a:rPr>
              <a:t> VMs 107,108,110,303</a:t>
            </a:r>
          </a:p>
          <a:p>
            <a:pPr algn="just">
              <a:lnSpc>
                <a:spcPts val="2240"/>
              </a:lnSpc>
              <a:spcBef>
                <a:spcPct val="0"/>
              </a:spcBef>
            </a:pPr>
            <a:r>
              <a:rPr lang="en-US" sz="2000" dirty="0">
                <a:solidFill>
                  <a:srgbClr val="545454"/>
                </a:solidFill>
                <a:latin typeface="Canva Sans"/>
                <a:ea typeface="Canva Sans"/>
                <a:cs typeface="Canva Sans"/>
                <a:sym typeface="Canva Sans"/>
              </a:rPr>
              <a:t>Droits DR : </a:t>
            </a:r>
            <a:r>
              <a:rPr lang="en-US" sz="2000" dirty="0" err="1">
                <a:solidFill>
                  <a:srgbClr val="545454"/>
                </a:solidFill>
                <a:latin typeface="Canva Sans"/>
                <a:ea typeface="Canva Sans"/>
                <a:cs typeface="Canva Sans"/>
                <a:sym typeface="Canva Sans"/>
              </a:rPr>
              <a:t>restore_admin</a:t>
            </a:r>
            <a:endParaRPr lang="en-US" sz="2000" dirty="0">
              <a:solidFill>
                <a:srgbClr val="545454"/>
              </a:solidFill>
              <a:latin typeface="Canva Sans"/>
              <a:ea typeface="Canva Sans"/>
              <a:cs typeface="Canva Sans"/>
              <a:sym typeface="Canva Sans"/>
            </a:endParaRPr>
          </a:p>
          <a:p>
            <a:pPr algn="just">
              <a:lnSpc>
                <a:spcPts val="2240"/>
              </a:lnSpc>
              <a:spcBef>
                <a:spcPct val="0"/>
              </a:spcBef>
            </a:pPr>
            <a:r>
              <a:rPr lang="en-US" sz="2000" dirty="0" err="1">
                <a:solidFill>
                  <a:srgbClr val="545454"/>
                </a:solidFill>
                <a:latin typeface="Canva Sans"/>
                <a:ea typeface="Canva Sans"/>
                <a:cs typeface="Canva Sans"/>
                <a:sym typeface="Canva Sans"/>
              </a:rPr>
              <a:t>Peut</a:t>
            </a:r>
            <a:r>
              <a:rPr lang="en-US" sz="2000" dirty="0">
                <a:solidFill>
                  <a:srgbClr val="545454"/>
                </a:solidFill>
                <a:latin typeface="Canva Sans"/>
                <a:ea typeface="Canva Sans"/>
                <a:cs typeface="Canva Sans"/>
                <a:sym typeface="Canva Sans"/>
              </a:rPr>
              <a:t> </a:t>
            </a:r>
            <a:r>
              <a:rPr lang="en-US" sz="2000" dirty="0" err="1">
                <a:solidFill>
                  <a:srgbClr val="545454"/>
                </a:solidFill>
                <a:latin typeface="Canva Sans"/>
                <a:ea typeface="Canva Sans"/>
                <a:cs typeface="Canva Sans"/>
                <a:sym typeface="Canva Sans"/>
              </a:rPr>
              <a:t>restaurer</a:t>
            </a:r>
            <a:r>
              <a:rPr lang="en-US" sz="2000" dirty="0">
                <a:solidFill>
                  <a:srgbClr val="545454"/>
                </a:solidFill>
                <a:latin typeface="Canva Sans"/>
                <a:ea typeface="Canva Sans"/>
                <a:cs typeface="Canva Sans"/>
                <a:sym typeface="Canva Sans"/>
              </a:rPr>
              <a:t> </a:t>
            </a:r>
            <a:r>
              <a:rPr lang="en-US" sz="2000" dirty="0" err="1">
                <a:solidFill>
                  <a:srgbClr val="545454"/>
                </a:solidFill>
                <a:latin typeface="Canva Sans"/>
                <a:ea typeface="Canva Sans"/>
                <a:cs typeface="Canva Sans"/>
                <a:sym typeface="Canva Sans"/>
              </a:rPr>
              <a:t>toutes</a:t>
            </a:r>
            <a:r>
              <a:rPr lang="en-US" sz="2000" dirty="0">
                <a:solidFill>
                  <a:srgbClr val="545454"/>
                </a:solidFill>
                <a:latin typeface="Canva Sans"/>
                <a:ea typeface="Canva Sans"/>
                <a:cs typeface="Canva Sans"/>
                <a:sym typeface="Canva Sans"/>
              </a:rPr>
              <a:t> les VMs du pool</a:t>
            </a:r>
          </a:p>
          <a:p>
            <a:pPr algn="just">
              <a:lnSpc>
                <a:spcPts val="2240"/>
              </a:lnSpc>
              <a:spcBef>
                <a:spcPct val="0"/>
              </a:spcBef>
            </a:pPr>
            <a:r>
              <a:rPr lang="en-US" sz="2000" dirty="0">
                <a:solidFill>
                  <a:srgbClr val="545454"/>
                </a:solidFill>
                <a:latin typeface="Canva Sans"/>
                <a:ea typeface="Canva Sans"/>
                <a:cs typeface="Canva Sans"/>
                <a:sym typeface="Canva Sans"/>
              </a:rPr>
              <a:t>Email : maersk_admin@gmail.com</a:t>
            </a:r>
          </a:p>
          <a:p>
            <a:pPr algn="just">
              <a:lnSpc>
                <a:spcPts val="2240"/>
              </a:lnSpc>
            </a:pPr>
            <a:endParaRPr lang="en-US" sz="1600" dirty="0">
              <a:solidFill>
                <a:srgbClr val="545454"/>
              </a:solidFill>
              <a:latin typeface="Canva Sans"/>
              <a:ea typeface="Canva Sans"/>
              <a:cs typeface="Canva Sans"/>
              <a:sym typeface="Canva Sans"/>
            </a:endParaRPr>
          </a:p>
        </p:txBody>
      </p:sp>
      <p:sp>
        <p:nvSpPr>
          <p:cNvPr id="139" name="TextBox 118"/>
          <p:cNvSpPr txBox="1"/>
          <p:nvPr/>
        </p:nvSpPr>
        <p:spPr>
          <a:xfrm>
            <a:off x="6991097" y="6912732"/>
            <a:ext cx="4897994" cy="2239074"/>
          </a:xfrm>
          <a:prstGeom prst="rect">
            <a:avLst/>
          </a:prstGeom>
        </p:spPr>
        <p:txBody>
          <a:bodyPr lIns="0" tIns="0" rIns="0" bIns="0" rtlCol="0" anchor="t">
            <a:spAutoFit/>
          </a:bodyPr>
          <a:lstStyle/>
          <a:p>
            <a:pPr marL="0" lvl="0" indent="0" algn="just">
              <a:lnSpc>
                <a:spcPts val="2240"/>
              </a:lnSpc>
              <a:spcBef>
                <a:spcPct val="0"/>
              </a:spcBef>
            </a:pPr>
            <a:r>
              <a:rPr lang="en-US" sz="2200" u="none" strike="noStrike" dirty="0" err="1" smtClean="0">
                <a:solidFill>
                  <a:srgbClr val="545454"/>
                </a:solidFill>
                <a:latin typeface="Canva Sans"/>
                <a:ea typeface="Canva Sans"/>
                <a:cs typeface="Canva Sans"/>
                <a:sym typeface="Canva Sans"/>
              </a:rPr>
              <a:t>Accès</a:t>
            </a:r>
            <a:r>
              <a:rPr lang="en-US" sz="2200" u="none" strike="noStrike" dirty="0" smtClean="0">
                <a:solidFill>
                  <a:srgbClr val="545454"/>
                </a:solidFill>
                <a:latin typeface="Canva Sans"/>
                <a:ea typeface="Canva Sans"/>
                <a:cs typeface="Canva Sans"/>
                <a:sym typeface="Canva Sans"/>
              </a:rPr>
              <a:t> </a:t>
            </a:r>
            <a:r>
              <a:rPr lang="en-US" sz="2200" u="none" strike="noStrike" dirty="0">
                <a:solidFill>
                  <a:srgbClr val="545454"/>
                </a:solidFill>
                <a:latin typeface="Canva Sans"/>
                <a:ea typeface="Canva Sans"/>
                <a:cs typeface="Canva Sans"/>
                <a:sym typeface="Canva Sans"/>
              </a:rPr>
              <a:t>CLIENT au pool Maersk</a:t>
            </a:r>
          </a:p>
          <a:p>
            <a:pPr marL="0" lvl="0" indent="0" algn="just">
              <a:lnSpc>
                <a:spcPts val="2240"/>
              </a:lnSpc>
              <a:spcBef>
                <a:spcPct val="0"/>
              </a:spcBef>
            </a:pPr>
            <a:r>
              <a:rPr lang="en-US" sz="2200" u="none" strike="noStrike" dirty="0" smtClean="0">
                <a:solidFill>
                  <a:srgbClr val="545454"/>
                </a:solidFill>
                <a:latin typeface="Canva Sans"/>
                <a:ea typeface="Canva Sans"/>
                <a:cs typeface="Canva Sans"/>
                <a:sym typeface="Canva Sans"/>
              </a:rPr>
              <a:t>Consulter </a:t>
            </a:r>
            <a:r>
              <a:rPr lang="en-US" sz="2200" u="none" strike="noStrike" dirty="0">
                <a:solidFill>
                  <a:srgbClr val="545454"/>
                </a:solidFill>
                <a:latin typeface="Canva Sans"/>
                <a:ea typeface="Canva Sans"/>
                <a:cs typeface="Canva Sans"/>
                <a:sym typeface="Canva Sans"/>
              </a:rPr>
              <a:t>VMs 107, 108, 110, 303</a:t>
            </a:r>
          </a:p>
          <a:p>
            <a:pPr marL="0" lvl="0" indent="0" algn="just">
              <a:lnSpc>
                <a:spcPts val="2240"/>
              </a:lnSpc>
              <a:spcBef>
                <a:spcPct val="0"/>
              </a:spcBef>
            </a:pPr>
            <a:r>
              <a:rPr lang="en-US" sz="2200" u="none" strike="noStrike" dirty="0" err="1" smtClean="0">
                <a:solidFill>
                  <a:srgbClr val="545454"/>
                </a:solidFill>
                <a:latin typeface="Canva Sans"/>
                <a:ea typeface="Canva Sans"/>
                <a:cs typeface="Canva Sans"/>
                <a:sym typeface="Canva Sans"/>
              </a:rPr>
              <a:t>Redémarrer</a:t>
            </a:r>
            <a:r>
              <a:rPr lang="en-US" sz="2200" u="none" strike="noStrike" dirty="0" smtClean="0">
                <a:solidFill>
                  <a:srgbClr val="545454"/>
                </a:solidFill>
                <a:latin typeface="Canva Sans"/>
                <a:ea typeface="Canva Sans"/>
                <a:cs typeface="Canva Sans"/>
                <a:sym typeface="Canva Sans"/>
              </a:rPr>
              <a:t> </a:t>
            </a:r>
            <a:r>
              <a:rPr lang="en-US" sz="2200" u="none" strike="noStrike" dirty="0" err="1">
                <a:solidFill>
                  <a:srgbClr val="545454"/>
                </a:solidFill>
                <a:latin typeface="Canva Sans"/>
                <a:ea typeface="Canva Sans"/>
                <a:cs typeface="Canva Sans"/>
                <a:sym typeface="Canva Sans"/>
              </a:rPr>
              <a:t>sespropres</a:t>
            </a:r>
            <a:r>
              <a:rPr lang="en-US" sz="2200" u="none" strike="noStrike" dirty="0">
                <a:solidFill>
                  <a:srgbClr val="545454"/>
                </a:solidFill>
                <a:latin typeface="Canva Sans"/>
                <a:ea typeface="Canva Sans"/>
                <a:cs typeface="Canva Sans"/>
                <a:sym typeface="Canva Sans"/>
              </a:rPr>
              <a:t> VMs</a:t>
            </a:r>
          </a:p>
          <a:p>
            <a:pPr marL="0" lvl="0" indent="0" algn="just">
              <a:lnSpc>
                <a:spcPts val="2240"/>
              </a:lnSpc>
              <a:spcBef>
                <a:spcPct val="0"/>
              </a:spcBef>
            </a:pPr>
            <a:r>
              <a:rPr lang="en-US" sz="2200" u="none" strike="noStrike" dirty="0" smtClean="0">
                <a:solidFill>
                  <a:srgbClr val="545454"/>
                </a:solidFill>
                <a:latin typeface="Canva Sans"/>
                <a:ea typeface="Canva Sans"/>
                <a:cs typeface="Canva Sans"/>
                <a:sym typeface="Canva Sans"/>
              </a:rPr>
              <a:t>Modifier </a:t>
            </a:r>
            <a:r>
              <a:rPr lang="en-US" sz="2200" u="none" strike="noStrike" dirty="0" err="1">
                <a:solidFill>
                  <a:srgbClr val="545454"/>
                </a:solidFill>
                <a:latin typeface="Canva Sans"/>
                <a:ea typeface="Canva Sans"/>
                <a:cs typeface="Canva Sans"/>
                <a:sym typeface="Canva Sans"/>
              </a:rPr>
              <a:t>config</a:t>
            </a:r>
            <a:r>
              <a:rPr lang="en-US" sz="2200" u="none" strike="noStrike" dirty="0">
                <a:solidFill>
                  <a:srgbClr val="545454"/>
                </a:solidFill>
                <a:latin typeface="Canva Sans"/>
                <a:ea typeface="Canva Sans"/>
                <a:cs typeface="Canva Sans"/>
                <a:sym typeface="Canva Sans"/>
              </a:rPr>
              <a:t> </a:t>
            </a:r>
            <a:r>
              <a:rPr lang="en-US" sz="2200" u="none" strike="noStrike" dirty="0" err="1">
                <a:solidFill>
                  <a:srgbClr val="545454"/>
                </a:solidFill>
                <a:latin typeface="Canva Sans"/>
                <a:ea typeface="Canva Sans"/>
                <a:cs typeface="Canva Sans"/>
                <a:sym typeface="Canva Sans"/>
              </a:rPr>
              <a:t>limitée</a:t>
            </a:r>
            <a:r>
              <a:rPr lang="en-US" sz="2200" u="none" strike="noStrike" dirty="0">
                <a:solidFill>
                  <a:srgbClr val="545454"/>
                </a:solidFill>
                <a:latin typeface="Canva Sans"/>
                <a:ea typeface="Canva Sans"/>
                <a:cs typeface="Canva Sans"/>
                <a:sym typeface="Canva Sans"/>
              </a:rPr>
              <a:t> (IP, hostname)</a:t>
            </a:r>
          </a:p>
          <a:p>
            <a:pPr marL="0" lvl="0" indent="0" algn="just">
              <a:lnSpc>
                <a:spcPts val="2240"/>
              </a:lnSpc>
              <a:spcBef>
                <a:spcPct val="0"/>
              </a:spcBef>
            </a:pPr>
            <a:r>
              <a:rPr lang="en-US" sz="2200" u="none" strike="noStrike" dirty="0" err="1" smtClean="0">
                <a:solidFill>
                  <a:srgbClr val="545454"/>
                </a:solidFill>
                <a:latin typeface="Canva Sans"/>
                <a:ea typeface="Canva Sans"/>
                <a:cs typeface="Canva Sans"/>
                <a:sym typeface="Canva Sans"/>
              </a:rPr>
              <a:t>Voir</a:t>
            </a:r>
            <a:r>
              <a:rPr lang="en-US" sz="2200" u="none" strike="noStrike" dirty="0" smtClean="0">
                <a:solidFill>
                  <a:srgbClr val="545454"/>
                </a:solidFill>
                <a:latin typeface="Canva Sans"/>
                <a:ea typeface="Canva Sans"/>
                <a:cs typeface="Canva Sans"/>
                <a:sym typeface="Canva Sans"/>
              </a:rPr>
              <a:t> </a:t>
            </a:r>
            <a:r>
              <a:rPr lang="en-US" sz="2200" u="none" strike="noStrike" dirty="0" err="1">
                <a:solidFill>
                  <a:srgbClr val="545454"/>
                </a:solidFill>
                <a:latin typeface="Canva Sans"/>
                <a:ea typeface="Canva Sans"/>
                <a:cs typeface="Canva Sans"/>
                <a:sym typeface="Canva Sans"/>
              </a:rPr>
              <a:t>métriques</a:t>
            </a:r>
            <a:r>
              <a:rPr lang="en-US" sz="2200" u="none" strike="noStrike" dirty="0">
                <a:solidFill>
                  <a:srgbClr val="545454"/>
                </a:solidFill>
                <a:latin typeface="Canva Sans"/>
                <a:ea typeface="Canva Sans"/>
                <a:cs typeface="Canva Sans"/>
                <a:sym typeface="Canva Sans"/>
              </a:rPr>
              <a:t> de </a:t>
            </a:r>
            <a:r>
              <a:rPr lang="en-US" sz="2200" u="none" strike="noStrike" dirty="0" err="1">
                <a:solidFill>
                  <a:srgbClr val="545454"/>
                </a:solidFill>
                <a:latin typeface="Canva Sans"/>
                <a:ea typeface="Canva Sans"/>
                <a:cs typeface="Canva Sans"/>
                <a:sym typeface="Canva Sans"/>
              </a:rPr>
              <a:t>ses</a:t>
            </a:r>
            <a:r>
              <a:rPr lang="en-US" sz="2200" u="none" strike="noStrike" dirty="0">
                <a:solidFill>
                  <a:srgbClr val="545454"/>
                </a:solidFill>
                <a:latin typeface="Canva Sans"/>
                <a:ea typeface="Canva Sans"/>
                <a:cs typeface="Canva Sans"/>
                <a:sym typeface="Canva Sans"/>
              </a:rPr>
              <a:t> VMs</a:t>
            </a:r>
          </a:p>
          <a:p>
            <a:pPr marL="0" lvl="0" indent="0" algn="just">
              <a:lnSpc>
                <a:spcPts val="2240"/>
              </a:lnSpc>
              <a:spcBef>
                <a:spcPct val="0"/>
              </a:spcBef>
            </a:pPr>
            <a:r>
              <a:rPr lang="en-US" sz="2200" u="none" strike="noStrike" dirty="0" smtClean="0">
                <a:solidFill>
                  <a:srgbClr val="545454"/>
                </a:solidFill>
                <a:latin typeface="Canva Sans"/>
                <a:ea typeface="Canva Sans"/>
                <a:cs typeface="Canva Sans"/>
                <a:sym typeface="Canva Sans"/>
              </a:rPr>
              <a:t>PAS </a:t>
            </a:r>
            <a:r>
              <a:rPr lang="en-US" sz="2200" u="none" strike="noStrike" dirty="0">
                <a:solidFill>
                  <a:srgbClr val="545454"/>
                </a:solidFill>
                <a:latin typeface="Canva Sans"/>
                <a:ea typeface="Canva Sans"/>
                <a:cs typeface="Canva Sans"/>
                <a:sym typeface="Canva Sans"/>
              </a:rPr>
              <a:t>de </a:t>
            </a:r>
            <a:r>
              <a:rPr lang="en-US" sz="2200" u="none" strike="noStrike" dirty="0" err="1">
                <a:solidFill>
                  <a:srgbClr val="545454"/>
                </a:solidFill>
                <a:latin typeface="Canva Sans"/>
                <a:ea typeface="Canva Sans"/>
                <a:cs typeface="Canva Sans"/>
                <a:sym typeface="Canva Sans"/>
              </a:rPr>
              <a:t>création</a:t>
            </a:r>
            <a:r>
              <a:rPr lang="en-US" sz="2200" u="none" strike="noStrike" dirty="0">
                <a:solidFill>
                  <a:srgbClr val="545454"/>
                </a:solidFill>
                <a:latin typeface="Canva Sans"/>
                <a:ea typeface="Canva Sans"/>
                <a:cs typeface="Canva Sans"/>
                <a:sym typeface="Canva Sans"/>
              </a:rPr>
              <a:t>/suppression VM</a:t>
            </a:r>
          </a:p>
          <a:p>
            <a:pPr marL="0" lvl="0" indent="0" algn="just">
              <a:lnSpc>
                <a:spcPts val="2240"/>
              </a:lnSpc>
              <a:spcBef>
                <a:spcPct val="0"/>
              </a:spcBef>
            </a:pPr>
            <a:r>
              <a:rPr lang="en-US" sz="2200" u="none" strike="noStrike" dirty="0" smtClean="0">
                <a:solidFill>
                  <a:srgbClr val="545454"/>
                </a:solidFill>
                <a:latin typeface="Canva Sans"/>
                <a:ea typeface="Canva Sans"/>
                <a:cs typeface="Canva Sans"/>
                <a:sym typeface="Canva Sans"/>
              </a:rPr>
              <a:t>PAS </a:t>
            </a:r>
            <a:r>
              <a:rPr lang="en-US" sz="2200" u="none" strike="noStrike" dirty="0">
                <a:solidFill>
                  <a:srgbClr val="545454"/>
                </a:solidFill>
                <a:latin typeface="Canva Sans"/>
                <a:ea typeface="Canva Sans"/>
                <a:cs typeface="Canva Sans"/>
                <a:sym typeface="Canva Sans"/>
              </a:rPr>
              <a:t>de </a:t>
            </a:r>
            <a:r>
              <a:rPr lang="en-US" sz="2200" u="none" strike="noStrike" dirty="0" err="1">
                <a:solidFill>
                  <a:srgbClr val="545454"/>
                </a:solidFill>
                <a:latin typeface="Canva Sans"/>
                <a:ea typeface="Canva Sans"/>
                <a:cs typeface="Canva Sans"/>
                <a:sym typeface="Canva Sans"/>
              </a:rPr>
              <a:t>gestion</a:t>
            </a:r>
            <a:r>
              <a:rPr lang="en-US" sz="2200" u="none" strike="noStrike" dirty="0">
                <a:solidFill>
                  <a:srgbClr val="545454"/>
                </a:solidFill>
                <a:latin typeface="Canva Sans"/>
                <a:ea typeface="Canva Sans"/>
                <a:cs typeface="Canva Sans"/>
                <a:sym typeface="Canva Sans"/>
              </a:rPr>
              <a:t> </a:t>
            </a:r>
            <a:r>
              <a:rPr lang="en-US" sz="2200" u="none" strike="noStrike" dirty="0" err="1">
                <a:solidFill>
                  <a:srgbClr val="545454"/>
                </a:solidFill>
                <a:latin typeface="Canva Sans"/>
                <a:ea typeface="Canva Sans"/>
                <a:cs typeface="Canva Sans"/>
                <a:sym typeface="Canva Sans"/>
              </a:rPr>
              <a:t>utilisateurs</a:t>
            </a:r>
            <a:endParaRPr lang="en-US" sz="2200" u="none" strike="noStrike" dirty="0">
              <a:solidFill>
                <a:srgbClr val="545454"/>
              </a:solidFill>
              <a:latin typeface="Canva Sans"/>
              <a:ea typeface="Canva Sans"/>
              <a:cs typeface="Canva Sans"/>
              <a:sym typeface="Canva Sans"/>
            </a:endParaRPr>
          </a:p>
          <a:p>
            <a:pPr marL="0" lvl="0" indent="0" algn="just">
              <a:lnSpc>
                <a:spcPts val="2240"/>
              </a:lnSpc>
              <a:spcBef>
                <a:spcPct val="0"/>
              </a:spcBef>
            </a:pPr>
            <a:endParaRPr lang="en-US" sz="2200" u="none" strike="noStrike" dirty="0">
              <a:solidFill>
                <a:srgbClr val="545454"/>
              </a:solidFill>
              <a:latin typeface="Canva Sans"/>
              <a:ea typeface="Canva Sans"/>
              <a:cs typeface="Canva Sans"/>
              <a:sym typeface="Canva Sans"/>
            </a:endParaRPr>
          </a:p>
        </p:txBody>
      </p:sp>
      <p:sp>
        <p:nvSpPr>
          <p:cNvPr id="140" name="TextBox 119"/>
          <p:cNvSpPr txBox="1"/>
          <p:nvPr/>
        </p:nvSpPr>
        <p:spPr>
          <a:xfrm>
            <a:off x="12554594" y="6912732"/>
            <a:ext cx="4059207" cy="2539157"/>
          </a:xfrm>
          <a:prstGeom prst="rect">
            <a:avLst/>
          </a:prstGeom>
        </p:spPr>
        <p:txBody>
          <a:bodyPr lIns="0" tIns="0" rIns="0" bIns="0" rtlCol="0" anchor="t">
            <a:spAutoFit/>
          </a:bodyPr>
          <a:lstStyle/>
          <a:p>
            <a:pPr marL="0" lvl="0" indent="0">
              <a:lnSpc>
                <a:spcPts val="2240"/>
              </a:lnSpc>
              <a:spcBef>
                <a:spcPct val="0"/>
              </a:spcBef>
            </a:pPr>
            <a:r>
              <a:rPr lang="en-US" sz="2200" u="none" strike="noStrike" dirty="0" err="1" smtClean="0">
                <a:solidFill>
                  <a:srgbClr val="545454"/>
                </a:solidFill>
                <a:latin typeface="Canva Sans"/>
                <a:ea typeface="Canva Sans"/>
                <a:cs typeface="Canva Sans"/>
                <a:sym typeface="Canva Sans"/>
              </a:rPr>
              <a:t>Accès</a:t>
            </a:r>
            <a:r>
              <a:rPr lang="en-US" sz="2200" u="none" strike="noStrike" dirty="0" smtClean="0">
                <a:solidFill>
                  <a:srgbClr val="545454"/>
                </a:solidFill>
                <a:latin typeface="Canva Sans"/>
                <a:ea typeface="Canva Sans"/>
                <a:cs typeface="Canva Sans"/>
                <a:sym typeface="Canva Sans"/>
              </a:rPr>
              <a:t> </a:t>
            </a:r>
            <a:r>
              <a:rPr lang="en-US" sz="2200" u="none" strike="noStrike" dirty="0">
                <a:solidFill>
                  <a:srgbClr val="545454"/>
                </a:solidFill>
                <a:latin typeface="Canva Sans"/>
                <a:ea typeface="Canva Sans"/>
                <a:cs typeface="Canva Sans"/>
                <a:sym typeface="Canva Sans"/>
              </a:rPr>
              <a:t>UTILISATEUR standard</a:t>
            </a:r>
          </a:p>
          <a:p>
            <a:pPr marL="0" lvl="0" indent="0">
              <a:lnSpc>
                <a:spcPts val="2240"/>
              </a:lnSpc>
              <a:spcBef>
                <a:spcPct val="0"/>
              </a:spcBef>
            </a:pPr>
            <a:r>
              <a:rPr lang="en-US" sz="2200" u="none" strike="noStrike" dirty="0" smtClean="0">
                <a:solidFill>
                  <a:srgbClr val="545454"/>
                </a:solidFill>
                <a:latin typeface="Canva Sans"/>
                <a:ea typeface="Canva Sans"/>
                <a:cs typeface="Canva Sans"/>
                <a:sym typeface="Canva Sans"/>
              </a:rPr>
              <a:t>Se </a:t>
            </a:r>
            <a:r>
              <a:rPr lang="en-US" sz="2200" u="none" strike="noStrike" dirty="0">
                <a:solidFill>
                  <a:srgbClr val="545454"/>
                </a:solidFill>
                <a:latin typeface="Canva Sans"/>
                <a:ea typeface="Canva Sans"/>
                <a:cs typeface="Canva Sans"/>
                <a:sym typeface="Canva Sans"/>
              </a:rPr>
              <a:t>connecter aux VMs </a:t>
            </a:r>
            <a:r>
              <a:rPr lang="en-US" sz="2200" u="none" strike="noStrike" dirty="0" err="1">
                <a:solidFill>
                  <a:srgbClr val="545454"/>
                </a:solidFill>
                <a:latin typeface="Canva Sans"/>
                <a:ea typeface="Canva Sans"/>
                <a:cs typeface="Canva Sans"/>
                <a:sym typeface="Canva Sans"/>
              </a:rPr>
              <a:t>autorisées</a:t>
            </a:r>
            <a:endParaRPr lang="en-US" sz="2200" u="none" strike="noStrike" dirty="0">
              <a:solidFill>
                <a:srgbClr val="545454"/>
              </a:solidFill>
              <a:latin typeface="Canva Sans"/>
              <a:ea typeface="Canva Sans"/>
              <a:cs typeface="Canva Sans"/>
              <a:sym typeface="Canva Sans"/>
            </a:endParaRPr>
          </a:p>
          <a:p>
            <a:pPr marL="0" lvl="0" indent="0">
              <a:lnSpc>
                <a:spcPts val="2240"/>
              </a:lnSpc>
              <a:spcBef>
                <a:spcPct val="0"/>
              </a:spcBef>
            </a:pPr>
            <a:r>
              <a:rPr lang="en-US" sz="2200" u="none" strike="noStrike" dirty="0" err="1" smtClean="0">
                <a:solidFill>
                  <a:srgbClr val="545454"/>
                </a:solidFill>
                <a:latin typeface="Canva Sans"/>
                <a:ea typeface="Canva Sans"/>
                <a:cs typeface="Canva Sans"/>
                <a:sym typeface="Canva Sans"/>
              </a:rPr>
              <a:t>Utiliser</a:t>
            </a:r>
            <a:r>
              <a:rPr lang="en-US" sz="2200" u="none" strike="noStrike" dirty="0" smtClean="0">
                <a:solidFill>
                  <a:srgbClr val="545454"/>
                </a:solidFill>
                <a:latin typeface="Canva Sans"/>
                <a:ea typeface="Canva Sans"/>
                <a:cs typeface="Canva Sans"/>
                <a:sym typeface="Canva Sans"/>
              </a:rPr>
              <a:t> </a:t>
            </a:r>
            <a:r>
              <a:rPr lang="en-US" sz="2200" u="none" strike="noStrike" dirty="0">
                <a:solidFill>
                  <a:srgbClr val="545454"/>
                </a:solidFill>
                <a:latin typeface="Canva Sans"/>
                <a:ea typeface="Canva Sans"/>
                <a:cs typeface="Canva Sans"/>
                <a:sym typeface="Canva Sans"/>
              </a:rPr>
              <a:t>applications </a:t>
            </a:r>
            <a:r>
              <a:rPr lang="en-US" sz="2200" u="none" strike="noStrike" dirty="0" err="1">
                <a:solidFill>
                  <a:srgbClr val="545454"/>
                </a:solidFill>
                <a:latin typeface="Canva Sans"/>
                <a:ea typeface="Canva Sans"/>
                <a:cs typeface="Canva Sans"/>
                <a:sym typeface="Canva Sans"/>
              </a:rPr>
              <a:t>déployées</a:t>
            </a:r>
            <a:endParaRPr lang="en-US" sz="2200" u="none" strike="noStrike" dirty="0">
              <a:solidFill>
                <a:srgbClr val="545454"/>
              </a:solidFill>
              <a:latin typeface="Canva Sans"/>
              <a:ea typeface="Canva Sans"/>
              <a:cs typeface="Canva Sans"/>
              <a:sym typeface="Canva Sans"/>
            </a:endParaRPr>
          </a:p>
          <a:p>
            <a:pPr marL="0" lvl="0" indent="0">
              <a:lnSpc>
                <a:spcPts val="2240"/>
              </a:lnSpc>
              <a:spcBef>
                <a:spcPct val="0"/>
              </a:spcBef>
            </a:pPr>
            <a:r>
              <a:rPr lang="en-US" sz="2200" u="none" strike="noStrike" dirty="0" smtClean="0">
                <a:solidFill>
                  <a:srgbClr val="545454"/>
                </a:solidFill>
                <a:latin typeface="Canva Sans"/>
                <a:ea typeface="Canva Sans"/>
                <a:cs typeface="Canva Sans"/>
                <a:sym typeface="Canva Sans"/>
              </a:rPr>
              <a:t>Lecture </a:t>
            </a:r>
            <a:r>
              <a:rPr lang="en-US" sz="2200" u="none" strike="noStrike" dirty="0" err="1">
                <a:solidFill>
                  <a:srgbClr val="545454"/>
                </a:solidFill>
                <a:latin typeface="Canva Sans"/>
                <a:ea typeface="Canva Sans"/>
                <a:cs typeface="Canva Sans"/>
                <a:sym typeface="Canva Sans"/>
              </a:rPr>
              <a:t>données</a:t>
            </a:r>
            <a:r>
              <a:rPr lang="en-US" sz="2200" u="none" strike="noStrike" dirty="0">
                <a:solidFill>
                  <a:srgbClr val="545454"/>
                </a:solidFill>
                <a:latin typeface="Canva Sans"/>
                <a:ea typeface="Canva Sans"/>
                <a:cs typeface="Canva Sans"/>
                <a:sym typeface="Canva Sans"/>
              </a:rPr>
              <a:t> (READ-ONLY)</a:t>
            </a:r>
          </a:p>
          <a:p>
            <a:pPr marL="0" lvl="0" indent="0">
              <a:lnSpc>
                <a:spcPts val="2240"/>
              </a:lnSpc>
              <a:spcBef>
                <a:spcPct val="0"/>
              </a:spcBef>
            </a:pPr>
            <a:r>
              <a:rPr lang="en-US" sz="2200" u="none" strike="noStrike" dirty="0" smtClean="0">
                <a:solidFill>
                  <a:srgbClr val="545454"/>
                </a:solidFill>
                <a:latin typeface="Canva Sans"/>
                <a:ea typeface="Canva Sans"/>
                <a:cs typeface="Canva Sans"/>
                <a:sym typeface="Canva Sans"/>
              </a:rPr>
              <a:t>PAS </a:t>
            </a:r>
            <a:r>
              <a:rPr lang="en-US" sz="2200" u="none" strike="noStrike" dirty="0">
                <a:solidFill>
                  <a:srgbClr val="545454"/>
                </a:solidFill>
                <a:latin typeface="Canva Sans"/>
                <a:ea typeface="Canva Sans"/>
                <a:cs typeface="Canva Sans"/>
                <a:sym typeface="Canva Sans"/>
              </a:rPr>
              <a:t>de modification infrastructure</a:t>
            </a:r>
          </a:p>
          <a:p>
            <a:pPr marL="0" lvl="0" indent="0">
              <a:lnSpc>
                <a:spcPts val="2240"/>
              </a:lnSpc>
              <a:spcBef>
                <a:spcPct val="0"/>
              </a:spcBef>
            </a:pPr>
            <a:r>
              <a:rPr lang="en-US" sz="2200" u="none" strike="noStrike" dirty="0" smtClean="0">
                <a:solidFill>
                  <a:srgbClr val="545454"/>
                </a:solidFill>
                <a:latin typeface="Canva Sans"/>
                <a:ea typeface="Canva Sans"/>
                <a:cs typeface="Canva Sans"/>
                <a:sym typeface="Canva Sans"/>
              </a:rPr>
              <a:t>PAS </a:t>
            </a:r>
            <a:r>
              <a:rPr lang="en-US" sz="2200" u="none" strike="noStrike" dirty="0">
                <a:solidFill>
                  <a:srgbClr val="545454"/>
                </a:solidFill>
                <a:latin typeface="Canva Sans"/>
                <a:ea typeface="Canva Sans"/>
                <a:cs typeface="Canva Sans"/>
                <a:sym typeface="Canva Sans"/>
              </a:rPr>
              <a:t>de </a:t>
            </a:r>
            <a:r>
              <a:rPr lang="en-US" sz="2200" u="none" strike="noStrike" dirty="0" err="1">
                <a:solidFill>
                  <a:srgbClr val="545454"/>
                </a:solidFill>
                <a:latin typeface="Canva Sans"/>
                <a:ea typeface="Canva Sans"/>
                <a:cs typeface="Canva Sans"/>
                <a:sym typeface="Canva Sans"/>
              </a:rPr>
              <a:t>redémarrage</a:t>
            </a:r>
            <a:r>
              <a:rPr lang="en-US" sz="2200" u="none" strike="noStrike" dirty="0">
                <a:solidFill>
                  <a:srgbClr val="545454"/>
                </a:solidFill>
                <a:latin typeface="Canva Sans"/>
                <a:ea typeface="Canva Sans"/>
                <a:cs typeface="Canva Sans"/>
                <a:sym typeface="Canva Sans"/>
              </a:rPr>
              <a:t> VM</a:t>
            </a:r>
          </a:p>
          <a:p>
            <a:pPr marL="0" lvl="0" indent="0" algn="just">
              <a:lnSpc>
                <a:spcPts val="2240"/>
              </a:lnSpc>
              <a:spcBef>
                <a:spcPct val="0"/>
              </a:spcBef>
            </a:pPr>
            <a:endParaRPr lang="en-US" sz="1600" u="none" strike="noStrike" dirty="0">
              <a:solidFill>
                <a:srgbClr val="545454"/>
              </a:solidFill>
              <a:latin typeface="Canva Sans"/>
              <a:ea typeface="Canva Sans"/>
              <a:cs typeface="Canva Sans"/>
              <a:sym typeface="Canva Sans"/>
            </a:endParaRPr>
          </a:p>
        </p:txBody>
      </p:sp>
      <p:sp>
        <p:nvSpPr>
          <p:cNvPr id="141" name="TextBox 66"/>
          <p:cNvSpPr txBox="1"/>
          <p:nvPr/>
        </p:nvSpPr>
        <p:spPr>
          <a:xfrm>
            <a:off x="9172084" y="2282175"/>
            <a:ext cx="3724511" cy="276999"/>
          </a:xfrm>
          <a:prstGeom prst="rect">
            <a:avLst/>
          </a:prstGeom>
        </p:spPr>
        <p:txBody>
          <a:bodyPr wrap="square" lIns="0" tIns="0" rIns="0" bIns="0" rtlCol="0" anchor="t">
            <a:spAutoFit/>
          </a:bodyPr>
          <a:lstStyle/>
          <a:p>
            <a:r>
              <a:rPr lang="en-US" b="1" dirty="0" smtClean="0"/>
              <a:t>RBAC </a:t>
            </a:r>
            <a:r>
              <a:rPr lang="en-US" b="1" dirty="0"/>
              <a:t>— </a:t>
            </a:r>
            <a:r>
              <a:rPr lang="en-US" b="1" dirty="0" err="1"/>
              <a:t>Matrice</a:t>
            </a:r>
            <a:r>
              <a:rPr lang="en-US" b="1" dirty="0"/>
              <a:t> des </a:t>
            </a:r>
            <a:r>
              <a:rPr lang="en-US" b="1" dirty="0" err="1"/>
              <a:t>rôles</a:t>
            </a:r>
            <a:endParaRPr lang="en-US" dirty="0"/>
          </a:p>
        </p:txBody>
      </p:sp>
      <p:sp>
        <p:nvSpPr>
          <p:cNvPr id="143" name="TextBox 66"/>
          <p:cNvSpPr txBox="1"/>
          <p:nvPr/>
        </p:nvSpPr>
        <p:spPr>
          <a:xfrm>
            <a:off x="1338949" y="1995355"/>
            <a:ext cx="3724511" cy="641201"/>
          </a:xfrm>
          <a:prstGeom prst="rect">
            <a:avLst/>
          </a:prstGeom>
        </p:spPr>
        <p:txBody>
          <a:bodyPr wrap="square" lIns="0" tIns="0" rIns="0" bIns="0" rtlCol="0" anchor="t">
            <a:spAutoFit/>
          </a:bodyPr>
          <a:lstStyle/>
          <a:p>
            <a:pPr>
              <a:lnSpc>
                <a:spcPts val="5040"/>
              </a:lnSpc>
              <a:spcBef>
                <a:spcPct val="0"/>
              </a:spcBef>
            </a:pPr>
            <a:r>
              <a:rPr lang="en-US" b="1" dirty="0" smtClean="0"/>
              <a:t> </a:t>
            </a:r>
            <a:r>
              <a:rPr lang="en-US" b="1" dirty="0" err="1" smtClean="0"/>
              <a:t>Keycloak</a:t>
            </a:r>
            <a:r>
              <a:rPr lang="en-US" b="1" dirty="0" smtClean="0"/>
              <a:t> Architecture Multi-Realm</a:t>
            </a:r>
            <a:r>
              <a:rPr lang="fr-FR" sz="3600" dirty="0" smtClean="0"/>
              <a:t> </a:t>
            </a:r>
            <a:endParaRPr lang="fr-FR" sz="3600" dirty="0"/>
          </a:p>
        </p:txBody>
      </p:sp>
      <p:sp>
        <p:nvSpPr>
          <p:cNvPr id="4" name="Espace réservé du numéro de diapositive 3"/>
          <p:cNvSpPr>
            <a:spLocks noGrp="1"/>
          </p:cNvSpPr>
          <p:nvPr>
            <p:ph type="sldNum" sz="quarter" idx="12"/>
          </p:nvPr>
        </p:nvSpPr>
        <p:spPr/>
        <p:txBody>
          <a:bodyPr/>
          <a:lstStyle/>
          <a:p>
            <a:fld id="{B6F15528-21DE-4FAA-801E-634DDDAF4B2B}" type="slidenum">
              <a:rPr lang="en-US" sz="2400" b="1" smtClean="0"/>
              <a:pPr/>
              <a:t>12</a:t>
            </a:fld>
            <a:endParaRPr lang="en-US" sz="2400" b="1" dirty="0"/>
          </a:p>
        </p:txBody>
      </p:sp>
    </p:spTree>
    <p:extLst>
      <p:ext uri="{BB962C8B-B14F-4D97-AF65-F5344CB8AC3E}">
        <p14:creationId xmlns:p14="http://schemas.microsoft.com/office/powerpoint/2010/main" val="26708086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1000"/>
                                        <p:tgtEl>
                                          <p:spTgt spid="33"/>
                                        </p:tgtEl>
                                      </p:cBhvr>
                                    </p:animEffect>
                                    <p:anim calcmode="lin" valueType="num">
                                      <p:cBhvr>
                                        <p:cTn id="8" dur="1000" fill="hold"/>
                                        <p:tgtEl>
                                          <p:spTgt spid="33"/>
                                        </p:tgtEl>
                                        <p:attrNameLst>
                                          <p:attrName>ppt_x</p:attrName>
                                        </p:attrNameLst>
                                      </p:cBhvr>
                                      <p:tavLst>
                                        <p:tav tm="0">
                                          <p:val>
                                            <p:strVal val="#ppt_x"/>
                                          </p:val>
                                        </p:tav>
                                        <p:tav tm="100000">
                                          <p:val>
                                            <p:strVal val="#ppt_x"/>
                                          </p:val>
                                        </p:tav>
                                      </p:tavLst>
                                    </p:anim>
                                    <p:anim calcmode="lin" valueType="num">
                                      <p:cBhvr>
                                        <p:cTn id="9" dur="10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43"/>
                                        </p:tgtEl>
                                        <p:attrNameLst>
                                          <p:attrName>style.visibility</p:attrName>
                                        </p:attrNameLst>
                                      </p:cBhvr>
                                      <p:to>
                                        <p:strVal val="visible"/>
                                      </p:to>
                                    </p:set>
                                    <p:animEffect transition="in" filter="fade">
                                      <p:cBhvr>
                                        <p:cTn id="14" dur="1000"/>
                                        <p:tgtEl>
                                          <p:spTgt spid="143"/>
                                        </p:tgtEl>
                                      </p:cBhvr>
                                    </p:animEffect>
                                    <p:anim calcmode="lin" valueType="num">
                                      <p:cBhvr>
                                        <p:cTn id="15" dur="1000" fill="hold"/>
                                        <p:tgtEl>
                                          <p:spTgt spid="143"/>
                                        </p:tgtEl>
                                        <p:attrNameLst>
                                          <p:attrName>ppt_x</p:attrName>
                                        </p:attrNameLst>
                                      </p:cBhvr>
                                      <p:tavLst>
                                        <p:tav tm="0">
                                          <p:val>
                                            <p:strVal val="#ppt_x"/>
                                          </p:val>
                                        </p:tav>
                                        <p:tav tm="100000">
                                          <p:val>
                                            <p:strVal val="#ppt_x"/>
                                          </p:val>
                                        </p:tav>
                                      </p:tavLst>
                                    </p:anim>
                                    <p:anim calcmode="lin" valueType="num">
                                      <p:cBhvr>
                                        <p:cTn id="16" dur="1000" fill="hold"/>
                                        <p:tgtEl>
                                          <p:spTgt spid="143"/>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000"/>
                                        <p:tgtEl>
                                          <p:spTgt spid="15"/>
                                        </p:tgtEl>
                                      </p:cBhvr>
                                    </p:animEffect>
                                    <p:anim calcmode="lin" valueType="num">
                                      <p:cBhvr>
                                        <p:cTn id="20" dur="1000" fill="hold"/>
                                        <p:tgtEl>
                                          <p:spTgt spid="15"/>
                                        </p:tgtEl>
                                        <p:attrNameLst>
                                          <p:attrName>ppt_x</p:attrName>
                                        </p:attrNameLst>
                                      </p:cBhvr>
                                      <p:tavLst>
                                        <p:tav tm="0">
                                          <p:val>
                                            <p:strVal val="#ppt_x"/>
                                          </p:val>
                                        </p:tav>
                                        <p:tav tm="100000">
                                          <p:val>
                                            <p:strVal val="#ppt_x"/>
                                          </p:val>
                                        </p:tav>
                                      </p:tavLst>
                                    </p:anim>
                                    <p:anim calcmode="lin" valueType="num">
                                      <p:cBhvr>
                                        <p:cTn id="21" dur="1000" fill="hold"/>
                                        <p:tgtEl>
                                          <p:spTgt spid="1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1000"/>
                                        <p:tgtEl>
                                          <p:spTgt spid="16"/>
                                        </p:tgtEl>
                                      </p:cBhvr>
                                    </p:animEffect>
                                    <p:anim calcmode="lin" valueType="num">
                                      <p:cBhvr>
                                        <p:cTn id="25" dur="1000" fill="hold"/>
                                        <p:tgtEl>
                                          <p:spTgt spid="16"/>
                                        </p:tgtEl>
                                        <p:attrNameLst>
                                          <p:attrName>ppt_x</p:attrName>
                                        </p:attrNameLst>
                                      </p:cBhvr>
                                      <p:tavLst>
                                        <p:tav tm="0">
                                          <p:val>
                                            <p:strVal val="#ppt_x"/>
                                          </p:val>
                                        </p:tav>
                                        <p:tav tm="100000">
                                          <p:val>
                                            <p:strVal val="#ppt_x"/>
                                          </p:val>
                                        </p:tav>
                                      </p:tavLst>
                                    </p:anim>
                                    <p:anim calcmode="lin" valueType="num">
                                      <p:cBhvr>
                                        <p:cTn id="26" dur="1000" fill="hold"/>
                                        <p:tgtEl>
                                          <p:spTgt spid="1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1000"/>
                                        <p:tgtEl>
                                          <p:spTgt spid="17"/>
                                        </p:tgtEl>
                                      </p:cBhvr>
                                    </p:animEffect>
                                    <p:anim calcmode="lin" valueType="num">
                                      <p:cBhvr>
                                        <p:cTn id="30" dur="1000" fill="hold"/>
                                        <p:tgtEl>
                                          <p:spTgt spid="17"/>
                                        </p:tgtEl>
                                        <p:attrNameLst>
                                          <p:attrName>ppt_x</p:attrName>
                                        </p:attrNameLst>
                                      </p:cBhvr>
                                      <p:tavLst>
                                        <p:tav tm="0">
                                          <p:val>
                                            <p:strVal val="#ppt_x"/>
                                          </p:val>
                                        </p:tav>
                                        <p:tav tm="100000">
                                          <p:val>
                                            <p:strVal val="#ppt_x"/>
                                          </p:val>
                                        </p:tav>
                                      </p:tavLst>
                                    </p:anim>
                                    <p:anim calcmode="lin" valueType="num">
                                      <p:cBhvr>
                                        <p:cTn id="31" dur="1000" fill="hold"/>
                                        <p:tgtEl>
                                          <p:spTgt spid="17"/>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1000"/>
                                        <p:tgtEl>
                                          <p:spTgt spid="18"/>
                                        </p:tgtEl>
                                      </p:cBhvr>
                                    </p:animEffect>
                                    <p:anim calcmode="lin" valueType="num">
                                      <p:cBhvr>
                                        <p:cTn id="35" dur="1000" fill="hold"/>
                                        <p:tgtEl>
                                          <p:spTgt spid="18"/>
                                        </p:tgtEl>
                                        <p:attrNameLst>
                                          <p:attrName>ppt_x</p:attrName>
                                        </p:attrNameLst>
                                      </p:cBhvr>
                                      <p:tavLst>
                                        <p:tav tm="0">
                                          <p:val>
                                            <p:strVal val="#ppt_x"/>
                                          </p:val>
                                        </p:tav>
                                        <p:tav tm="100000">
                                          <p:val>
                                            <p:strVal val="#ppt_x"/>
                                          </p:val>
                                        </p:tav>
                                      </p:tavLst>
                                    </p:anim>
                                    <p:anim calcmode="lin" valueType="num">
                                      <p:cBhvr>
                                        <p:cTn id="36" dur="1000" fill="hold"/>
                                        <p:tgtEl>
                                          <p:spTgt spid="18"/>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000"/>
                                        <p:tgtEl>
                                          <p:spTgt spid="20"/>
                                        </p:tgtEl>
                                      </p:cBhvr>
                                    </p:animEffect>
                                    <p:anim calcmode="lin" valueType="num">
                                      <p:cBhvr>
                                        <p:cTn id="40" dur="1000" fill="hold"/>
                                        <p:tgtEl>
                                          <p:spTgt spid="20"/>
                                        </p:tgtEl>
                                        <p:attrNameLst>
                                          <p:attrName>ppt_x</p:attrName>
                                        </p:attrNameLst>
                                      </p:cBhvr>
                                      <p:tavLst>
                                        <p:tav tm="0">
                                          <p:val>
                                            <p:strVal val="#ppt_x"/>
                                          </p:val>
                                        </p:tav>
                                        <p:tav tm="100000">
                                          <p:val>
                                            <p:strVal val="#ppt_x"/>
                                          </p:val>
                                        </p:tav>
                                      </p:tavLst>
                                    </p:anim>
                                    <p:anim calcmode="lin" valueType="num">
                                      <p:cBhvr>
                                        <p:cTn id="41" dur="1000" fill="hold"/>
                                        <p:tgtEl>
                                          <p:spTgt spid="20"/>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1000"/>
                                        <p:tgtEl>
                                          <p:spTgt spid="23"/>
                                        </p:tgtEl>
                                      </p:cBhvr>
                                    </p:animEffect>
                                    <p:anim calcmode="lin" valueType="num">
                                      <p:cBhvr>
                                        <p:cTn id="45" dur="1000" fill="hold"/>
                                        <p:tgtEl>
                                          <p:spTgt spid="23"/>
                                        </p:tgtEl>
                                        <p:attrNameLst>
                                          <p:attrName>ppt_x</p:attrName>
                                        </p:attrNameLst>
                                      </p:cBhvr>
                                      <p:tavLst>
                                        <p:tav tm="0">
                                          <p:val>
                                            <p:strVal val="#ppt_x"/>
                                          </p:val>
                                        </p:tav>
                                        <p:tav tm="100000">
                                          <p:val>
                                            <p:strVal val="#ppt_x"/>
                                          </p:val>
                                        </p:tav>
                                      </p:tavLst>
                                    </p:anim>
                                    <p:anim calcmode="lin" valueType="num">
                                      <p:cBhvr>
                                        <p:cTn id="46" dur="1000" fill="hold"/>
                                        <p:tgtEl>
                                          <p:spTgt spid="23"/>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1000"/>
                                        <p:tgtEl>
                                          <p:spTgt spid="24"/>
                                        </p:tgtEl>
                                      </p:cBhvr>
                                    </p:animEffect>
                                    <p:anim calcmode="lin" valueType="num">
                                      <p:cBhvr>
                                        <p:cTn id="50" dur="1000" fill="hold"/>
                                        <p:tgtEl>
                                          <p:spTgt spid="24"/>
                                        </p:tgtEl>
                                        <p:attrNameLst>
                                          <p:attrName>ppt_x</p:attrName>
                                        </p:attrNameLst>
                                      </p:cBhvr>
                                      <p:tavLst>
                                        <p:tav tm="0">
                                          <p:val>
                                            <p:strVal val="#ppt_x"/>
                                          </p:val>
                                        </p:tav>
                                        <p:tav tm="100000">
                                          <p:val>
                                            <p:strVal val="#ppt_x"/>
                                          </p:val>
                                        </p:tav>
                                      </p:tavLst>
                                    </p:anim>
                                    <p:anim calcmode="lin" valueType="num">
                                      <p:cBhvr>
                                        <p:cTn id="51" dur="1000" fill="hold"/>
                                        <p:tgtEl>
                                          <p:spTgt spid="24"/>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1000"/>
                                        <p:tgtEl>
                                          <p:spTgt spid="25"/>
                                        </p:tgtEl>
                                      </p:cBhvr>
                                    </p:animEffect>
                                    <p:anim calcmode="lin" valueType="num">
                                      <p:cBhvr>
                                        <p:cTn id="55" dur="1000" fill="hold"/>
                                        <p:tgtEl>
                                          <p:spTgt spid="25"/>
                                        </p:tgtEl>
                                        <p:attrNameLst>
                                          <p:attrName>ppt_x</p:attrName>
                                        </p:attrNameLst>
                                      </p:cBhvr>
                                      <p:tavLst>
                                        <p:tav tm="0">
                                          <p:val>
                                            <p:strVal val="#ppt_x"/>
                                          </p:val>
                                        </p:tav>
                                        <p:tav tm="100000">
                                          <p:val>
                                            <p:strVal val="#ppt_x"/>
                                          </p:val>
                                        </p:tav>
                                      </p:tavLst>
                                    </p:anim>
                                    <p:anim calcmode="lin" valueType="num">
                                      <p:cBhvr>
                                        <p:cTn id="56" dur="1000" fill="hold"/>
                                        <p:tgtEl>
                                          <p:spTgt spid="25"/>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000"/>
                                        <p:tgtEl>
                                          <p:spTgt spid="26"/>
                                        </p:tgtEl>
                                      </p:cBhvr>
                                    </p:animEffect>
                                    <p:anim calcmode="lin" valueType="num">
                                      <p:cBhvr>
                                        <p:cTn id="60" dur="1000" fill="hold"/>
                                        <p:tgtEl>
                                          <p:spTgt spid="26"/>
                                        </p:tgtEl>
                                        <p:attrNameLst>
                                          <p:attrName>ppt_x</p:attrName>
                                        </p:attrNameLst>
                                      </p:cBhvr>
                                      <p:tavLst>
                                        <p:tav tm="0">
                                          <p:val>
                                            <p:strVal val="#ppt_x"/>
                                          </p:val>
                                        </p:tav>
                                        <p:tav tm="100000">
                                          <p:val>
                                            <p:strVal val="#ppt_x"/>
                                          </p:val>
                                        </p:tav>
                                      </p:tavLst>
                                    </p:anim>
                                    <p:anim calcmode="lin" valueType="num">
                                      <p:cBhvr>
                                        <p:cTn id="61" dur="1000" fill="hold"/>
                                        <p:tgtEl>
                                          <p:spTgt spid="26"/>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1000"/>
                                        <p:tgtEl>
                                          <p:spTgt spid="27"/>
                                        </p:tgtEl>
                                      </p:cBhvr>
                                    </p:animEffect>
                                    <p:anim calcmode="lin" valueType="num">
                                      <p:cBhvr>
                                        <p:cTn id="65" dur="1000" fill="hold"/>
                                        <p:tgtEl>
                                          <p:spTgt spid="27"/>
                                        </p:tgtEl>
                                        <p:attrNameLst>
                                          <p:attrName>ppt_x</p:attrName>
                                        </p:attrNameLst>
                                      </p:cBhvr>
                                      <p:tavLst>
                                        <p:tav tm="0">
                                          <p:val>
                                            <p:strVal val="#ppt_x"/>
                                          </p:val>
                                        </p:tav>
                                        <p:tav tm="100000">
                                          <p:val>
                                            <p:strVal val="#ppt_x"/>
                                          </p:val>
                                        </p:tav>
                                      </p:tavLst>
                                    </p:anim>
                                    <p:anim calcmode="lin" valueType="num">
                                      <p:cBhvr>
                                        <p:cTn id="66" dur="1000" fill="hold"/>
                                        <p:tgtEl>
                                          <p:spTgt spid="27"/>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1000"/>
                                        <p:tgtEl>
                                          <p:spTgt spid="31"/>
                                        </p:tgtEl>
                                      </p:cBhvr>
                                    </p:animEffect>
                                    <p:anim calcmode="lin" valueType="num">
                                      <p:cBhvr>
                                        <p:cTn id="70" dur="1000" fill="hold"/>
                                        <p:tgtEl>
                                          <p:spTgt spid="31"/>
                                        </p:tgtEl>
                                        <p:attrNameLst>
                                          <p:attrName>ppt_x</p:attrName>
                                        </p:attrNameLst>
                                      </p:cBhvr>
                                      <p:tavLst>
                                        <p:tav tm="0">
                                          <p:val>
                                            <p:strVal val="#ppt_x"/>
                                          </p:val>
                                        </p:tav>
                                        <p:tav tm="100000">
                                          <p:val>
                                            <p:strVal val="#ppt_x"/>
                                          </p:val>
                                        </p:tav>
                                      </p:tavLst>
                                    </p:anim>
                                    <p:anim calcmode="lin" valueType="num">
                                      <p:cBhvr>
                                        <p:cTn id="71" dur="1000" fill="hold"/>
                                        <p:tgtEl>
                                          <p:spTgt spid="31"/>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1000"/>
                                        <p:tgtEl>
                                          <p:spTgt spid="32"/>
                                        </p:tgtEl>
                                      </p:cBhvr>
                                    </p:animEffect>
                                    <p:anim calcmode="lin" valueType="num">
                                      <p:cBhvr>
                                        <p:cTn id="75" dur="1000" fill="hold"/>
                                        <p:tgtEl>
                                          <p:spTgt spid="32"/>
                                        </p:tgtEl>
                                        <p:attrNameLst>
                                          <p:attrName>ppt_x</p:attrName>
                                        </p:attrNameLst>
                                      </p:cBhvr>
                                      <p:tavLst>
                                        <p:tav tm="0">
                                          <p:val>
                                            <p:strVal val="#ppt_x"/>
                                          </p:val>
                                        </p:tav>
                                        <p:tav tm="100000">
                                          <p:val>
                                            <p:strVal val="#ppt_x"/>
                                          </p:val>
                                        </p:tav>
                                      </p:tavLst>
                                    </p:anim>
                                    <p:anim calcmode="lin" valueType="num">
                                      <p:cBhvr>
                                        <p:cTn id="76" dur="1000" fill="hold"/>
                                        <p:tgtEl>
                                          <p:spTgt spid="32"/>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1000"/>
                                        <p:tgtEl>
                                          <p:spTgt spid="34"/>
                                        </p:tgtEl>
                                      </p:cBhvr>
                                    </p:animEffect>
                                    <p:anim calcmode="lin" valueType="num">
                                      <p:cBhvr>
                                        <p:cTn id="80" dur="1000" fill="hold"/>
                                        <p:tgtEl>
                                          <p:spTgt spid="34"/>
                                        </p:tgtEl>
                                        <p:attrNameLst>
                                          <p:attrName>ppt_x</p:attrName>
                                        </p:attrNameLst>
                                      </p:cBhvr>
                                      <p:tavLst>
                                        <p:tav tm="0">
                                          <p:val>
                                            <p:strVal val="#ppt_x"/>
                                          </p:val>
                                        </p:tav>
                                        <p:tav tm="100000">
                                          <p:val>
                                            <p:strVal val="#ppt_x"/>
                                          </p:val>
                                        </p:tav>
                                      </p:tavLst>
                                    </p:anim>
                                    <p:anim calcmode="lin" valueType="num">
                                      <p:cBhvr>
                                        <p:cTn id="81" dur="1000" fill="hold"/>
                                        <p:tgtEl>
                                          <p:spTgt spid="34"/>
                                        </p:tgtEl>
                                        <p:attrNameLst>
                                          <p:attrName>ppt_y</p:attrName>
                                        </p:attrNameLst>
                                      </p:cBhvr>
                                      <p:tavLst>
                                        <p:tav tm="0">
                                          <p:val>
                                            <p:strVal val="#ppt_y+.1"/>
                                          </p:val>
                                        </p:tav>
                                        <p:tav tm="100000">
                                          <p:val>
                                            <p:strVal val="#ppt_y"/>
                                          </p:val>
                                        </p:tav>
                                      </p:tavLst>
                                    </p:anim>
                                  </p:childTnLst>
                                </p:cTn>
                              </p:par>
                              <p:par>
                                <p:cTn id="82" presetID="42" presetClass="entr" presetSubtype="0" fill="hold" nodeType="with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1000"/>
                                        <p:tgtEl>
                                          <p:spTgt spid="35"/>
                                        </p:tgtEl>
                                      </p:cBhvr>
                                    </p:animEffect>
                                    <p:anim calcmode="lin" valueType="num">
                                      <p:cBhvr>
                                        <p:cTn id="85" dur="1000" fill="hold"/>
                                        <p:tgtEl>
                                          <p:spTgt spid="35"/>
                                        </p:tgtEl>
                                        <p:attrNameLst>
                                          <p:attrName>ppt_x</p:attrName>
                                        </p:attrNameLst>
                                      </p:cBhvr>
                                      <p:tavLst>
                                        <p:tav tm="0">
                                          <p:val>
                                            <p:strVal val="#ppt_x"/>
                                          </p:val>
                                        </p:tav>
                                        <p:tav tm="100000">
                                          <p:val>
                                            <p:strVal val="#ppt_x"/>
                                          </p:val>
                                        </p:tav>
                                      </p:tavLst>
                                    </p:anim>
                                    <p:anim calcmode="lin" valueType="num">
                                      <p:cBhvr>
                                        <p:cTn id="86" dur="1000" fill="hold"/>
                                        <p:tgtEl>
                                          <p:spTgt spid="35"/>
                                        </p:tgtEl>
                                        <p:attrNameLst>
                                          <p:attrName>ppt_y</p:attrName>
                                        </p:attrNameLst>
                                      </p:cBhvr>
                                      <p:tavLst>
                                        <p:tav tm="0">
                                          <p:val>
                                            <p:strVal val="#ppt_y+.1"/>
                                          </p:val>
                                        </p:tav>
                                        <p:tav tm="100000">
                                          <p:val>
                                            <p:strVal val="#ppt_y"/>
                                          </p:val>
                                        </p:tav>
                                      </p:tavLst>
                                    </p:anim>
                                  </p:childTnLst>
                                </p:cTn>
                              </p:par>
                              <p:par>
                                <p:cTn id="87" presetID="42" presetClass="entr" presetSubtype="0" fill="hold" nodeType="with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1000"/>
                                        <p:tgtEl>
                                          <p:spTgt spid="37"/>
                                        </p:tgtEl>
                                      </p:cBhvr>
                                    </p:animEffect>
                                    <p:anim calcmode="lin" valueType="num">
                                      <p:cBhvr>
                                        <p:cTn id="90" dur="1000" fill="hold"/>
                                        <p:tgtEl>
                                          <p:spTgt spid="37"/>
                                        </p:tgtEl>
                                        <p:attrNameLst>
                                          <p:attrName>ppt_x</p:attrName>
                                        </p:attrNameLst>
                                      </p:cBhvr>
                                      <p:tavLst>
                                        <p:tav tm="0">
                                          <p:val>
                                            <p:strVal val="#ppt_x"/>
                                          </p:val>
                                        </p:tav>
                                        <p:tav tm="100000">
                                          <p:val>
                                            <p:strVal val="#ppt_x"/>
                                          </p:val>
                                        </p:tav>
                                      </p:tavLst>
                                    </p:anim>
                                    <p:anim calcmode="lin" valueType="num">
                                      <p:cBhvr>
                                        <p:cTn id="91" dur="1000" fill="hold"/>
                                        <p:tgtEl>
                                          <p:spTgt spid="37"/>
                                        </p:tgtEl>
                                        <p:attrNameLst>
                                          <p:attrName>ppt_y</p:attrName>
                                        </p:attrNameLst>
                                      </p:cBhvr>
                                      <p:tavLst>
                                        <p:tav tm="0">
                                          <p:val>
                                            <p:strVal val="#ppt_y+.1"/>
                                          </p:val>
                                        </p:tav>
                                        <p:tav tm="100000">
                                          <p:val>
                                            <p:strVal val="#ppt_y"/>
                                          </p:val>
                                        </p:tav>
                                      </p:tavLst>
                                    </p:anim>
                                  </p:childTnLst>
                                </p:cTn>
                              </p:par>
                              <p:par>
                                <p:cTn id="92" presetID="42" presetClass="entr" presetSubtype="0" fill="hold"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1000"/>
                                        <p:tgtEl>
                                          <p:spTgt spid="40"/>
                                        </p:tgtEl>
                                      </p:cBhvr>
                                    </p:animEffect>
                                    <p:anim calcmode="lin" valueType="num">
                                      <p:cBhvr>
                                        <p:cTn id="95" dur="1000" fill="hold"/>
                                        <p:tgtEl>
                                          <p:spTgt spid="40"/>
                                        </p:tgtEl>
                                        <p:attrNameLst>
                                          <p:attrName>ppt_x</p:attrName>
                                        </p:attrNameLst>
                                      </p:cBhvr>
                                      <p:tavLst>
                                        <p:tav tm="0">
                                          <p:val>
                                            <p:strVal val="#ppt_x"/>
                                          </p:val>
                                        </p:tav>
                                        <p:tav tm="100000">
                                          <p:val>
                                            <p:strVal val="#ppt_x"/>
                                          </p:val>
                                        </p:tav>
                                      </p:tavLst>
                                    </p:anim>
                                    <p:anim calcmode="lin" valueType="num">
                                      <p:cBhvr>
                                        <p:cTn id="96" dur="1000" fill="hold"/>
                                        <p:tgtEl>
                                          <p:spTgt spid="40"/>
                                        </p:tgtEl>
                                        <p:attrNameLst>
                                          <p:attrName>ppt_y</p:attrName>
                                        </p:attrNameLst>
                                      </p:cBhvr>
                                      <p:tavLst>
                                        <p:tav tm="0">
                                          <p:val>
                                            <p:strVal val="#ppt_y+.1"/>
                                          </p:val>
                                        </p:tav>
                                        <p:tav tm="100000">
                                          <p:val>
                                            <p:strVal val="#ppt_y"/>
                                          </p:val>
                                        </p:tav>
                                      </p:tavLst>
                                    </p:anim>
                                  </p:childTnLst>
                                </p:cTn>
                              </p:par>
                              <p:par>
                                <p:cTn id="97" presetID="42" presetClass="entr" presetSubtype="0" fill="hold" nodeType="with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1000"/>
                                        <p:tgtEl>
                                          <p:spTgt spid="41"/>
                                        </p:tgtEl>
                                      </p:cBhvr>
                                    </p:animEffect>
                                    <p:anim calcmode="lin" valueType="num">
                                      <p:cBhvr>
                                        <p:cTn id="100" dur="1000" fill="hold"/>
                                        <p:tgtEl>
                                          <p:spTgt spid="41"/>
                                        </p:tgtEl>
                                        <p:attrNameLst>
                                          <p:attrName>ppt_x</p:attrName>
                                        </p:attrNameLst>
                                      </p:cBhvr>
                                      <p:tavLst>
                                        <p:tav tm="0">
                                          <p:val>
                                            <p:strVal val="#ppt_x"/>
                                          </p:val>
                                        </p:tav>
                                        <p:tav tm="100000">
                                          <p:val>
                                            <p:strVal val="#ppt_x"/>
                                          </p:val>
                                        </p:tav>
                                      </p:tavLst>
                                    </p:anim>
                                    <p:anim calcmode="lin" valueType="num">
                                      <p:cBhvr>
                                        <p:cTn id="101" dur="1000" fill="hold"/>
                                        <p:tgtEl>
                                          <p:spTgt spid="41"/>
                                        </p:tgtEl>
                                        <p:attrNameLst>
                                          <p:attrName>ppt_y</p:attrName>
                                        </p:attrNameLst>
                                      </p:cBhvr>
                                      <p:tavLst>
                                        <p:tav tm="0">
                                          <p:val>
                                            <p:strVal val="#ppt_y+.1"/>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42"/>
                                        </p:tgtEl>
                                        <p:attrNameLst>
                                          <p:attrName>style.visibility</p:attrName>
                                        </p:attrNameLst>
                                      </p:cBhvr>
                                      <p:to>
                                        <p:strVal val="visible"/>
                                      </p:to>
                                    </p:set>
                                    <p:animEffect transition="in" filter="fade">
                                      <p:cBhvr>
                                        <p:cTn id="104" dur="1000"/>
                                        <p:tgtEl>
                                          <p:spTgt spid="42"/>
                                        </p:tgtEl>
                                      </p:cBhvr>
                                    </p:animEffect>
                                    <p:anim calcmode="lin" valueType="num">
                                      <p:cBhvr>
                                        <p:cTn id="105" dur="1000" fill="hold"/>
                                        <p:tgtEl>
                                          <p:spTgt spid="42"/>
                                        </p:tgtEl>
                                        <p:attrNameLst>
                                          <p:attrName>ppt_x</p:attrName>
                                        </p:attrNameLst>
                                      </p:cBhvr>
                                      <p:tavLst>
                                        <p:tav tm="0">
                                          <p:val>
                                            <p:strVal val="#ppt_x"/>
                                          </p:val>
                                        </p:tav>
                                        <p:tav tm="100000">
                                          <p:val>
                                            <p:strVal val="#ppt_x"/>
                                          </p:val>
                                        </p:tav>
                                      </p:tavLst>
                                    </p:anim>
                                    <p:anim calcmode="lin" valueType="num">
                                      <p:cBhvr>
                                        <p:cTn id="106" dur="1000" fill="hold"/>
                                        <p:tgtEl>
                                          <p:spTgt spid="42"/>
                                        </p:tgtEl>
                                        <p:attrNameLst>
                                          <p:attrName>ppt_y</p:attrName>
                                        </p:attrNameLst>
                                      </p:cBhvr>
                                      <p:tavLst>
                                        <p:tav tm="0">
                                          <p:val>
                                            <p:strVal val="#ppt_y+.1"/>
                                          </p:val>
                                        </p:tav>
                                        <p:tav tm="100000">
                                          <p:val>
                                            <p:strVal val="#ppt_y"/>
                                          </p:val>
                                        </p:tav>
                                      </p:tavLst>
                                    </p:anim>
                                  </p:childTnLst>
                                </p:cTn>
                              </p:par>
                              <p:par>
                                <p:cTn id="107" presetID="42" presetClass="entr" presetSubtype="0" fill="hold" nodeType="withEffect">
                                  <p:stCondLst>
                                    <p:cond delay="0"/>
                                  </p:stCondLst>
                                  <p:childTnLst>
                                    <p:set>
                                      <p:cBhvr>
                                        <p:cTn id="108" dur="1" fill="hold">
                                          <p:stCondLst>
                                            <p:cond delay="0"/>
                                          </p:stCondLst>
                                        </p:cTn>
                                        <p:tgtEl>
                                          <p:spTgt spid="43"/>
                                        </p:tgtEl>
                                        <p:attrNameLst>
                                          <p:attrName>style.visibility</p:attrName>
                                        </p:attrNameLst>
                                      </p:cBhvr>
                                      <p:to>
                                        <p:strVal val="visible"/>
                                      </p:to>
                                    </p:set>
                                    <p:animEffect transition="in" filter="fade">
                                      <p:cBhvr>
                                        <p:cTn id="109" dur="1000"/>
                                        <p:tgtEl>
                                          <p:spTgt spid="43"/>
                                        </p:tgtEl>
                                      </p:cBhvr>
                                    </p:animEffect>
                                    <p:anim calcmode="lin" valueType="num">
                                      <p:cBhvr>
                                        <p:cTn id="110" dur="1000" fill="hold"/>
                                        <p:tgtEl>
                                          <p:spTgt spid="43"/>
                                        </p:tgtEl>
                                        <p:attrNameLst>
                                          <p:attrName>ppt_x</p:attrName>
                                        </p:attrNameLst>
                                      </p:cBhvr>
                                      <p:tavLst>
                                        <p:tav tm="0">
                                          <p:val>
                                            <p:strVal val="#ppt_x"/>
                                          </p:val>
                                        </p:tav>
                                        <p:tav tm="100000">
                                          <p:val>
                                            <p:strVal val="#ppt_x"/>
                                          </p:val>
                                        </p:tav>
                                      </p:tavLst>
                                    </p:anim>
                                    <p:anim calcmode="lin" valueType="num">
                                      <p:cBhvr>
                                        <p:cTn id="111" dur="1000" fill="hold"/>
                                        <p:tgtEl>
                                          <p:spTgt spid="43"/>
                                        </p:tgtEl>
                                        <p:attrNameLst>
                                          <p:attrName>ppt_y</p:attrName>
                                        </p:attrNameLst>
                                      </p:cBhvr>
                                      <p:tavLst>
                                        <p:tav tm="0">
                                          <p:val>
                                            <p:strVal val="#ppt_y+.1"/>
                                          </p:val>
                                        </p:tav>
                                        <p:tav tm="100000">
                                          <p:val>
                                            <p:strVal val="#ppt_y"/>
                                          </p:val>
                                        </p:tav>
                                      </p:tavLst>
                                    </p:anim>
                                  </p:childTnLst>
                                </p:cTn>
                              </p:par>
                              <p:par>
                                <p:cTn id="112" presetID="42" presetClass="entr" presetSubtype="0" fill="hold" nodeType="withEffect">
                                  <p:stCondLst>
                                    <p:cond delay="0"/>
                                  </p:stCondLst>
                                  <p:childTnLst>
                                    <p:set>
                                      <p:cBhvr>
                                        <p:cTn id="113" dur="1" fill="hold">
                                          <p:stCondLst>
                                            <p:cond delay="0"/>
                                          </p:stCondLst>
                                        </p:cTn>
                                        <p:tgtEl>
                                          <p:spTgt spid="45"/>
                                        </p:tgtEl>
                                        <p:attrNameLst>
                                          <p:attrName>style.visibility</p:attrName>
                                        </p:attrNameLst>
                                      </p:cBhvr>
                                      <p:to>
                                        <p:strVal val="visible"/>
                                      </p:to>
                                    </p:set>
                                    <p:animEffect transition="in" filter="fade">
                                      <p:cBhvr>
                                        <p:cTn id="114" dur="1000"/>
                                        <p:tgtEl>
                                          <p:spTgt spid="45"/>
                                        </p:tgtEl>
                                      </p:cBhvr>
                                    </p:animEffect>
                                    <p:anim calcmode="lin" valueType="num">
                                      <p:cBhvr>
                                        <p:cTn id="115" dur="1000" fill="hold"/>
                                        <p:tgtEl>
                                          <p:spTgt spid="45"/>
                                        </p:tgtEl>
                                        <p:attrNameLst>
                                          <p:attrName>ppt_x</p:attrName>
                                        </p:attrNameLst>
                                      </p:cBhvr>
                                      <p:tavLst>
                                        <p:tav tm="0">
                                          <p:val>
                                            <p:strVal val="#ppt_x"/>
                                          </p:val>
                                        </p:tav>
                                        <p:tav tm="100000">
                                          <p:val>
                                            <p:strVal val="#ppt_x"/>
                                          </p:val>
                                        </p:tav>
                                      </p:tavLst>
                                    </p:anim>
                                    <p:anim calcmode="lin" valueType="num">
                                      <p:cBhvr>
                                        <p:cTn id="116" dur="1000" fill="hold"/>
                                        <p:tgtEl>
                                          <p:spTgt spid="45"/>
                                        </p:tgtEl>
                                        <p:attrNameLst>
                                          <p:attrName>ppt_y</p:attrName>
                                        </p:attrNameLst>
                                      </p:cBhvr>
                                      <p:tavLst>
                                        <p:tav tm="0">
                                          <p:val>
                                            <p:strVal val="#ppt_y+.1"/>
                                          </p:val>
                                        </p:tav>
                                        <p:tav tm="100000">
                                          <p:val>
                                            <p:strVal val="#ppt_y"/>
                                          </p:val>
                                        </p:tav>
                                      </p:tavLst>
                                    </p:anim>
                                  </p:childTnLst>
                                </p:cTn>
                              </p:par>
                              <p:par>
                                <p:cTn id="117" presetID="42" presetClass="entr" presetSubtype="0" fill="hold" nodeType="withEffect">
                                  <p:stCondLst>
                                    <p:cond delay="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1000"/>
                                        <p:tgtEl>
                                          <p:spTgt spid="48"/>
                                        </p:tgtEl>
                                      </p:cBhvr>
                                    </p:animEffect>
                                    <p:anim calcmode="lin" valueType="num">
                                      <p:cBhvr>
                                        <p:cTn id="120" dur="1000" fill="hold"/>
                                        <p:tgtEl>
                                          <p:spTgt spid="48"/>
                                        </p:tgtEl>
                                        <p:attrNameLst>
                                          <p:attrName>ppt_x</p:attrName>
                                        </p:attrNameLst>
                                      </p:cBhvr>
                                      <p:tavLst>
                                        <p:tav tm="0">
                                          <p:val>
                                            <p:strVal val="#ppt_x"/>
                                          </p:val>
                                        </p:tav>
                                        <p:tav tm="100000">
                                          <p:val>
                                            <p:strVal val="#ppt_x"/>
                                          </p:val>
                                        </p:tav>
                                      </p:tavLst>
                                    </p:anim>
                                    <p:anim calcmode="lin" valueType="num">
                                      <p:cBhvr>
                                        <p:cTn id="121" dur="1000" fill="hold"/>
                                        <p:tgtEl>
                                          <p:spTgt spid="4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1000"/>
                                        <p:tgtEl>
                                          <p:spTgt spid="49"/>
                                        </p:tgtEl>
                                      </p:cBhvr>
                                    </p:animEffect>
                                    <p:anim calcmode="lin" valueType="num">
                                      <p:cBhvr>
                                        <p:cTn id="125" dur="1000" fill="hold"/>
                                        <p:tgtEl>
                                          <p:spTgt spid="49"/>
                                        </p:tgtEl>
                                        <p:attrNameLst>
                                          <p:attrName>ppt_x</p:attrName>
                                        </p:attrNameLst>
                                      </p:cBhvr>
                                      <p:tavLst>
                                        <p:tav tm="0">
                                          <p:val>
                                            <p:strVal val="#ppt_x"/>
                                          </p:val>
                                        </p:tav>
                                        <p:tav tm="100000">
                                          <p:val>
                                            <p:strVal val="#ppt_x"/>
                                          </p:val>
                                        </p:tav>
                                      </p:tavLst>
                                    </p:anim>
                                    <p:anim calcmode="lin" valueType="num">
                                      <p:cBhvr>
                                        <p:cTn id="126" dur="1000" fill="hold"/>
                                        <p:tgtEl>
                                          <p:spTgt spid="4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1000"/>
                                        <p:tgtEl>
                                          <p:spTgt spid="50"/>
                                        </p:tgtEl>
                                      </p:cBhvr>
                                    </p:animEffect>
                                    <p:anim calcmode="lin" valueType="num">
                                      <p:cBhvr>
                                        <p:cTn id="130" dur="1000" fill="hold"/>
                                        <p:tgtEl>
                                          <p:spTgt spid="50"/>
                                        </p:tgtEl>
                                        <p:attrNameLst>
                                          <p:attrName>ppt_x</p:attrName>
                                        </p:attrNameLst>
                                      </p:cBhvr>
                                      <p:tavLst>
                                        <p:tav tm="0">
                                          <p:val>
                                            <p:strVal val="#ppt_x"/>
                                          </p:val>
                                        </p:tav>
                                        <p:tav tm="100000">
                                          <p:val>
                                            <p:strVal val="#ppt_x"/>
                                          </p:val>
                                        </p:tav>
                                      </p:tavLst>
                                    </p:anim>
                                    <p:anim calcmode="lin" valueType="num">
                                      <p:cBhvr>
                                        <p:cTn id="131" dur="1000" fill="hold"/>
                                        <p:tgtEl>
                                          <p:spTgt spid="5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1000"/>
                                        <p:tgtEl>
                                          <p:spTgt spid="52"/>
                                        </p:tgtEl>
                                      </p:cBhvr>
                                    </p:animEffect>
                                    <p:anim calcmode="lin" valueType="num">
                                      <p:cBhvr>
                                        <p:cTn id="135" dur="1000" fill="hold"/>
                                        <p:tgtEl>
                                          <p:spTgt spid="52"/>
                                        </p:tgtEl>
                                        <p:attrNameLst>
                                          <p:attrName>ppt_x</p:attrName>
                                        </p:attrNameLst>
                                      </p:cBhvr>
                                      <p:tavLst>
                                        <p:tav tm="0">
                                          <p:val>
                                            <p:strVal val="#ppt_x"/>
                                          </p:val>
                                        </p:tav>
                                        <p:tav tm="100000">
                                          <p:val>
                                            <p:strVal val="#ppt_x"/>
                                          </p:val>
                                        </p:tav>
                                      </p:tavLst>
                                    </p:anim>
                                    <p:anim calcmode="lin" valueType="num">
                                      <p:cBhvr>
                                        <p:cTn id="136" dur="1000" fill="hold"/>
                                        <p:tgtEl>
                                          <p:spTgt spid="52"/>
                                        </p:tgtEl>
                                        <p:attrNameLst>
                                          <p:attrName>ppt_y</p:attrName>
                                        </p:attrNameLst>
                                      </p:cBhvr>
                                      <p:tavLst>
                                        <p:tav tm="0">
                                          <p:val>
                                            <p:strVal val="#ppt_y+.1"/>
                                          </p:val>
                                        </p:tav>
                                        <p:tav tm="100000">
                                          <p:val>
                                            <p:strVal val="#ppt_y"/>
                                          </p:val>
                                        </p:tav>
                                      </p:tavLst>
                                    </p:anim>
                                  </p:childTnLst>
                                </p:cTn>
                              </p:par>
                              <p:par>
                                <p:cTn id="137" presetID="42" presetClass="entr" presetSubtype="0" fill="hold" grpId="0" nodeType="withEffect">
                                  <p:stCondLst>
                                    <p:cond delay="0"/>
                                  </p:stCondLst>
                                  <p:childTnLst>
                                    <p:set>
                                      <p:cBhvr>
                                        <p:cTn id="138" dur="1" fill="hold">
                                          <p:stCondLst>
                                            <p:cond delay="0"/>
                                          </p:stCondLst>
                                        </p:cTn>
                                        <p:tgtEl>
                                          <p:spTgt spid="55"/>
                                        </p:tgtEl>
                                        <p:attrNameLst>
                                          <p:attrName>style.visibility</p:attrName>
                                        </p:attrNameLst>
                                      </p:cBhvr>
                                      <p:to>
                                        <p:strVal val="visible"/>
                                      </p:to>
                                    </p:set>
                                    <p:animEffect transition="in" filter="fade">
                                      <p:cBhvr>
                                        <p:cTn id="139" dur="1000"/>
                                        <p:tgtEl>
                                          <p:spTgt spid="55"/>
                                        </p:tgtEl>
                                      </p:cBhvr>
                                    </p:animEffect>
                                    <p:anim calcmode="lin" valueType="num">
                                      <p:cBhvr>
                                        <p:cTn id="140" dur="1000" fill="hold"/>
                                        <p:tgtEl>
                                          <p:spTgt spid="55"/>
                                        </p:tgtEl>
                                        <p:attrNameLst>
                                          <p:attrName>ppt_x</p:attrName>
                                        </p:attrNameLst>
                                      </p:cBhvr>
                                      <p:tavLst>
                                        <p:tav tm="0">
                                          <p:val>
                                            <p:strVal val="#ppt_x"/>
                                          </p:val>
                                        </p:tav>
                                        <p:tav tm="100000">
                                          <p:val>
                                            <p:strVal val="#ppt_x"/>
                                          </p:val>
                                        </p:tav>
                                      </p:tavLst>
                                    </p:anim>
                                    <p:anim calcmode="lin" valueType="num">
                                      <p:cBhvr>
                                        <p:cTn id="141" dur="1000" fill="hold"/>
                                        <p:tgtEl>
                                          <p:spTgt spid="55"/>
                                        </p:tgtEl>
                                        <p:attrNameLst>
                                          <p:attrName>ppt_y</p:attrName>
                                        </p:attrNameLst>
                                      </p:cBhvr>
                                      <p:tavLst>
                                        <p:tav tm="0">
                                          <p:val>
                                            <p:strVal val="#ppt_y+.1"/>
                                          </p:val>
                                        </p:tav>
                                        <p:tav tm="100000">
                                          <p:val>
                                            <p:strVal val="#ppt_y"/>
                                          </p:val>
                                        </p:tav>
                                      </p:tavLst>
                                    </p:anim>
                                  </p:childTnLst>
                                </p:cTn>
                              </p:par>
                              <p:par>
                                <p:cTn id="142" presetID="42" presetClass="entr" presetSubtype="0" fill="hold" nodeType="withEffect">
                                  <p:stCondLst>
                                    <p:cond delay="0"/>
                                  </p:stCondLst>
                                  <p:childTnLst>
                                    <p:set>
                                      <p:cBhvr>
                                        <p:cTn id="143" dur="1" fill="hold">
                                          <p:stCondLst>
                                            <p:cond delay="0"/>
                                          </p:stCondLst>
                                        </p:cTn>
                                        <p:tgtEl>
                                          <p:spTgt spid="56"/>
                                        </p:tgtEl>
                                        <p:attrNameLst>
                                          <p:attrName>style.visibility</p:attrName>
                                        </p:attrNameLst>
                                      </p:cBhvr>
                                      <p:to>
                                        <p:strVal val="visible"/>
                                      </p:to>
                                    </p:set>
                                    <p:animEffect transition="in" filter="fade">
                                      <p:cBhvr>
                                        <p:cTn id="144" dur="1000"/>
                                        <p:tgtEl>
                                          <p:spTgt spid="56"/>
                                        </p:tgtEl>
                                      </p:cBhvr>
                                    </p:animEffect>
                                    <p:anim calcmode="lin" valueType="num">
                                      <p:cBhvr>
                                        <p:cTn id="145" dur="1000" fill="hold"/>
                                        <p:tgtEl>
                                          <p:spTgt spid="56"/>
                                        </p:tgtEl>
                                        <p:attrNameLst>
                                          <p:attrName>ppt_x</p:attrName>
                                        </p:attrNameLst>
                                      </p:cBhvr>
                                      <p:tavLst>
                                        <p:tav tm="0">
                                          <p:val>
                                            <p:strVal val="#ppt_x"/>
                                          </p:val>
                                        </p:tav>
                                        <p:tav tm="100000">
                                          <p:val>
                                            <p:strVal val="#ppt_x"/>
                                          </p:val>
                                        </p:tav>
                                      </p:tavLst>
                                    </p:anim>
                                    <p:anim calcmode="lin" valueType="num">
                                      <p:cBhvr>
                                        <p:cTn id="146" dur="1000" fill="hold"/>
                                        <p:tgtEl>
                                          <p:spTgt spid="56"/>
                                        </p:tgtEl>
                                        <p:attrNameLst>
                                          <p:attrName>ppt_y</p:attrName>
                                        </p:attrNameLst>
                                      </p:cBhvr>
                                      <p:tavLst>
                                        <p:tav tm="0">
                                          <p:val>
                                            <p:strVal val="#ppt_y+.1"/>
                                          </p:val>
                                        </p:tav>
                                        <p:tav tm="100000">
                                          <p:val>
                                            <p:strVal val="#ppt_y"/>
                                          </p:val>
                                        </p:tav>
                                      </p:tavLst>
                                    </p:anim>
                                  </p:childTnLst>
                                </p:cTn>
                              </p:par>
                              <p:par>
                                <p:cTn id="147" presetID="42" presetClass="entr" presetSubtype="0" fill="hold" nodeType="withEffect">
                                  <p:stCondLst>
                                    <p:cond delay="0"/>
                                  </p:stCondLst>
                                  <p:childTnLst>
                                    <p:set>
                                      <p:cBhvr>
                                        <p:cTn id="148" dur="1" fill="hold">
                                          <p:stCondLst>
                                            <p:cond delay="0"/>
                                          </p:stCondLst>
                                        </p:cTn>
                                        <p:tgtEl>
                                          <p:spTgt spid="57"/>
                                        </p:tgtEl>
                                        <p:attrNameLst>
                                          <p:attrName>style.visibility</p:attrName>
                                        </p:attrNameLst>
                                      </p:cBhvr>
                                      <p:to>
                                        <p:strVal val="visible"/>
                                      </p:to>
                                    </p:set>
                                    <p:animEffect transition="in" filter="fade">
                                      <p:cBhvr>
                                        <p:cTn id="149" dur="1000"/>
                                        <p:tgtEl>
                                          <p:spTgt spid="57"/>
                                        </p:tgtEl>
                                      </p:cBhvr>
                                    </p:animEffect>
                                    <p:anim calcmode="lin" valueType="num">
                                      <p:cBhvr>
                                        <p:cTn id="150" dur="1000" fill="hold"/>
                                        <p:tgtEl>
                                          <p:spTgt spid="57"/>
                                        </p:tgtEl>
                                        <p:attrNameLst>
                                          <p:attrName>ppt_x</p:attrName>
                                        </p:attrNameLst>
                                      </p:cBhvr>
                                      <p:tavLst>
                                        <p:tav tm="0">
                                          <p:val>
                                            <p:strVal val="#ppt_x"/>
                                          </p:val>
                                        </p:tav>
                                        <p:tav tm="100000">
                                          <p:val>
                                            <p:strVal val="#ppt_x"/>
                                          </p:val>
                                        </p:tav>
                                      </p:tavLst>
                                    </p:anim>
                                    <p:anim calcmode="lin" valueType="num">
                                      <p:cBhvr>
                                        <p:cTn id="151" dur="1000" fill="hold"/>
                                        <p:tgtEl>
                                          <p:spTgt spid="57"/>
                                        </p:tgtEl>
                                        <p:attrNameLst>
                                          <p:attrName>ppt_y</p:attrName>
                                        </p:attrNameLst>
                                      </p:cBhvr>
                                      <p:tavLst>
                                        <p:tav tm="0">
                                          <p:val>
                                            <p:strVal val="#ppt_y+.1"/>
                                          </p:val>
                                        </p:tav>
                                        <p:tav tm="100000">
                                          <p:val>
                                            <p:strVal val="#ppt_y"/>
                                          </p:val>
                                        </p:tav>
                                      </p:tavLst>
                                    </p:anim>
                                  </p:childTnLst>
                                </p:cTn>
                              </p:par>
                              <p:par>
                                <p:cTn id="152" presetID="42" presetClass="entr" presetSubtype="0" fill="hold" grpId="0" nodeType="withEffect">
                                  <p:stCondLst>
                                    <p:cond delay="0"/>
                                  </p:stCondLst>
                                  <p:childTnLst>
                                    <p:set>
                                      <p:cBhvr>
                                        <p:cTn id="153" dur="1" fill="hold">
                                          <p:stCondLst>
                                            <p:cond delay="0"/>
                                          </p:stCondLst>
                                        </p:cTn>
                                        <p:tgtEl>
                                          <p:spTgt spid="58"/>
                                        </p:tgtEl>
                                        <p:attrNameLst>
                                          <p:attrName>style.visibility</p:attrName>
                                        </p:attrNameLst>
                                      </p:cBhvr>
                                      <p:to>
                                        <p:strVal val="visible"/>
                                      </p:to>
                                    </p:set>
                                    <p:animEffect transition="in" filter="fade">
                                      <p:cBhvr>
                                        <p:cTn id="154" dur="1000"/>
                                        <p:tgtEl>
                                          <p:spTgt spid="58"/>
                                        </p:tgtEl>
                                      </p:cBhvr>
                                    </p:animEffect>
                                    <p:anim calcmode="lin" valueType="num">
                                      <p:cBhvr>
                                        <p:cTn id="155" dur="1000" fill="hold"/>
                                        <p:tgtEl>
                                          <p:spTgt spid="58"/>
                                        </p:tgtEl>
                                        <p:attrNameLst>
                                          <p:attrName>ppt_x</p:attrName>
                                        </p:attrNameLst>
                                      </p:cBhvr>
                                      <p:tavLst>
                                        <p:tav tm="0">
                                          <p:val>
                                            <p:strVal val="#ppt_x"/>
                                          </p:val>
                                        </p:tav>
                                        <p:tav tm="100000">
                                          <p:val>
                                            <p:strVal val="#ppt_x"/>
                                          </p:val>
                                        </p:tav>
                                      </p:tavLst>
                                    </p:anim>
                                    <p:anim calcmode="lin" valueType="num">
                                      <p:cBhvr>
                                        <p:cTn id="156" dur="1000" fill="hold"/>
                                        <p:tgtEl>
                                          <p:spTgt spid="58"/>
                                        </p:tgtEl>
                                        <p:attrNameLst>
                                          <p:attrName>ppt_y</p:attrName>
                                        </p:attrNameLst>
                                      </p:cBhvr>
                                      <p:tavLst>
                                        <p:tav tm="0">
                                          <p:val>
                                            <p:strVal val="#ppt_y+.1"/>
                                          </p:val>
                                        </p:tav>
                                        <p:tav tm="100000">
                                          <p:val>
                                            <p:strVal val="#ppt_y"/>
                                          </p:val>
                                        </p:tav>
                                      </p:tavLst>
                                    </p:anim>
                                  </p:childTnLst>
                                </p:cTn>
                              </p:par>
                              <p:par>
                                <p:cTn id="157" presetID="42" presetClass="entr" presetSubtype="0" fill="hold" nodeType="withEffect">
                                  <p:stCondLst>
                                    <p:cond delay="0"/>
                                  </p:stCondLst>
                                  <p:childTnLst>
                                    <p:set>
                                      <p:cBhvr>
                                        <p:cTn id="158" dur="1" fill="hold">
                                          <p:stCondLst>
                                            <p:cond delay="0"/>
                                          </p:stCondLst>
                                        </p:cTn>
                                        <p:tgtEl>
                                          <p:spTgt spid="59"/>
                                        </p:tgtEl>
                                        <p:attrNameLst>
                                          <p:attrName>style.visibility</p:attrName>
                                        </p:attrNameLst>
                                      </p:cBhvr>
                                      <p:to>
                                        <p:strVal val="visible"/>
                                      </p:to>
                                    </p:set>
                                    <p:animEffect transition="in" filter="fade">
                                      <p:cBhvr>
                                        <p:cTn id="159" dur="1000"/>
                                        <p:tgtEl>
                                          <p:spTgt spid="59"/>
                                        </p:tgtEl>
                                      </p:cBhvr>
                                    </p:animEffect>
                                    <p:anim calcmode="lin" valueType="num">
                                      <p:cBhvr>
                                        <p:cTn id="160" dur="1000" fill="hold"/>
                                        <p:tgtEl>
                                          <p:spTgt spid="59"/>
                                        </p:tgtEl>
                                        <p:attrNameLst>
                                          <p:attrName>ppt_x</p:attrName>
                                        </p:attrNameLst>
                                      </p:cBhvr>
                                      <p:tavLst>
                                        <p:tav tm="0">
                                          <p:val>
                                            <p:strVal val="#ppt_x"/>
                                          </p:val>
                                        </p:tav>
                                        <p:tav tm="100000">
                                          <p:val>
                                            <p:strVal val="#ppt_x"/>
                                          </p:val>
                                        </p:tav>
                                      </p:tavLst>
                                    </p:anim>
                                    <p:anim calcmode="lin" valueType="num">
                                      <p:cBhvr>
                                        <p:cTn id="161" dur="1000" fill="hold"/>
                                        <p:tgtEl>
                                          <p:spTgt spid="59"/>
                                        </p:tgtEl>
                                        <p:attrNameLst>
                                          <p:attrName>ppt_y</p:attrName>
                                        </p:attrNameLst>
                                      </p:cBhvr>
                                      <p:tavLst>
                                        <p:tav tm="0">
                                          <p:val>
                                            <p:strVal val="#ppt_y+.1"/>
                                          </p:val>
                                        </p:tav>
                                        <p:tav tm="100000">
                                          <p:val>
                                            <p:strVal val="#ppt_y"/>
                                          </p:val>
                                        </p:tav>
                                      </p:tavLst>
                                    </p:anim>
                                  </p:childTnLst>
                                </p:cTn>
                              </p:par>
                              <p:par>
                                <p:cTn id="162" presetID="42" presetClass="entr" presetSubtype="0" fill="hold" nodeType="withEffect">
                                  <p:stCondLst>
                                    <p:cond delay="0"/>
                                  </p:stCondLst>
                                  <p:childTnLst>
                                    <p:set>
                                      <p:cBhvr>
                                        <p:cTn id="163" dur="1" fill="hold">
                                          <p:stCondLst>
                                            <p:cond delay="0"/>
                                          </p:stCondLst>
                                        </p:cTn>
                                        <p:tgtEl>
                                          <p:spTgt spid="61"/>
                                        </p:tgtEl>
                                        <p:attrNameLst>
                                          <p:attrName>style.visibility</p:attrName>
                                        </p:attrNameLst>
                                      </p:cBhvr>
                                      <p:to>
                                        <p:strVal val="visible"/>
                                      </p:to>
                                    </p:set>
                                    <p:animEffect transition="in" filter="fade">
                                      <p:cBhvr>
                                        <p:cTn id="164" dur="1000"/>
                                        <p:tgtEl>
                                          <p:spTgt spid="61"/>
                                        </p:tgtEl>
                                      </p:cBhvr>
                                    </p:animEffect>
                                    <p:anim calcmode="lin" valueType="num">
                                      <p:cBhvr>
                                        <p:cTn id="165" dur="1000" fill="hold"/>
                                        <p:tgtEl>
                                          <p:spTgt spid="61"/>
                                        </p:tgtEl>
                                        <p:attrNameLst>
                                          <p:attrName>ppt_x</p:attrName>
                                        </p:attrNameLst>
                                      </p:cBhvr>
                                      <p:tavLst>
                                        <p:tav tm="0">
                                          <p:val>
                                            <p:strVal val="#ppt_x"/>
                                          </p:val>
                                        </p:tav>
                                        <p:tav tm="100000">
                                          <p:val>
                                            <p:strVal val="#ppt_x"/>
                                          </p:val>
                                        </p:tav>
                                      </p:tavLst>
                                    </p:anim>
                                    <p:anim calcmode="lin" valueType="num">
                                      <p:cBhvr>
                                        <p:cTn id="166"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167" fill="hold">
                      <p:stCondLst>
                        <p:cond delay="indefinite"/>
                      </p:stCondLst>
                      <p:childTnLst>
                        <p:par>
                          <p:cTn id="168" fill="hold">
                            <p:stCondLst>
                              <p:cond delay="0"/>
                            </p:stCondLst>
                            <p:childTnLst>
                              <p:par>
                                <p:cTn id="169" presetID="10" presetClass="entr" presetSubtype="0" fill="hold" nodeType="clickEffect">
                                  <p:stCondLst>
                                    <p:cond delay="0"/>
                                  </p:stCondLst>
                                  <p:childTnLst>
                                    <p:set>
                                      <p:cBhvr>
                                        <p:cTn id="170" dur="1" fill="hold">
                                          <p:stCondLst>
                                            <p:cond delay="0"/>
                                          </p:stCondLst>
                                        </p:cTn>
                                        <p:tgtEl>
                                          <p:spTgt spid="66"/>
                                        </p:tgtEl>
                                        <p:attrNameLst>
                                          <p:attrName>style.visibility</p:attrName>
                                        </p:attrNameLst>
                                      </p:cBhvr>
                                      <p:to>
                                        <p:strVal val="visible"/>
                                      </p:to>
                                    </p:set>
                                    <p:animEffect transition="in" filter="fade">
                                      <p:cBhvr>
                                        <p:cTn id="171" dur="500"/>
                                        <p:tgtEl>
                                          <p:spTgt spid="66"/>
                                        </p:tgtEl>
                                      </p:cBhvr>
                                    </p:animEffect>
                                  </p:childTnLst>
                                </p:cTn>
                              </p:par>
                              <p:par>
                                <p:cTn id="172" presetID="10" presetClass="entr" presetSubtype="0" fill="hold" nodeType="withEffect">
                                  <p:stCondLst>
                                    <p:cond delay="0"/>
                                  </p:stCondLst>
                                  <p:childTnLst>
                                    <p:set>
                                      <p:cBhvr>
                                        <p:cTn id="173" dur="1" fill="hold">
                                          <p:stCondLst>
                                            <p:cond delay="0"/>
                                          </p:stCondLst>
                                        </p:cTn>
                                        <p:tgtEl>
                                          <p:spTgt spid="67"/>
                                        </p:tgtEl>
                                        <p:attrNameLst>
                                          <p:attrName>style.visibility</p:attrName>
                                        </p:attrNameLst>
                                      </p:cBhvr>
                                      <p:to>
                                        <p:strVal val="visible"/>
                                      </p:to>
                                    </p:set>
                                    <p:animEffect transition="in" filter="fade">
                                      <p:cBhvr>
                                        <p:cTn id="174" dur="500"/>
                                        <p:tgtEl>
                                          <p:spTgt spid="67"/>
                                        </p:tgtEl>
                                      </p:cBhvr>
                                    </p:animEffect>
                                  </p:childTnLst>
                                </p:cTn>
                              </p:par>
                              <p:par>
                                <p:cTn id="175" presetID="10" presetClass="entr" presetSubtype="0" fill="hold" nodeType="withEffect">
                                  <p:stCondLst>
                                    <p:cond delay="0"/>
                                  </p:stCondLst>
                                  <p:childTnLst>
                                    <p:set>
                                      <p:cBhvr>
                                        <p:cTn id="176" dur="1" fill="hold">
                                          <p:stCondLst>
                                            <p:cond delay="0"/>
                                          </p:stCondLst>
                                        </p:cTn>
                                        <p:tgtEl>
                                          <p:spTgt spid="80"/>
                                        </p:tgtEl>
                                        <p:attrNameLst>
                                          <p:attrName>style.visibility</p:attrName>
                                        </p:attrNameLst>
                                      </p:cBhvr>
                                      <p:to>
                                        <p:strVal val="visible"/>
                                      </p:to>
                                    </p:set>
                                    <p:animEffect transition="in" filter="fade">
                                      <p:cBhvr>
                                        <p:cTn id="177" dur="500"/>
                                        <p:tgtEl>
                                          <p:spTgt spid="8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87"/>
                                        </p:tgtEl>
                                        <p:attrNameLst>
                                          <p:attrName>style.visibility</p:attrName>
                                        </p:attrNameLst>
                                      </p:cBhvr>
                                      <p:to>
                                        <p:strVal val="visible"/>
                                      </p:to>
                                    </p:set>
                                    <p:animEffect transition="in" filter="fade">
                                      <p:cBhvr>
                                        <p:cTn id="180" dur="500"/>
                                        <p:tgtEl>
                                          <p:spTgt spid="87"/>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90"/>
                                        </p:tgtEl>
                                        <p:attrNameLst>
                                          <p:attrName>style.visibility</p:attrName>
                                        </p:attrNameLst>
                                      </p:cBhvr>
                                      <p:to>
                                        <p:strVal val="visible"/>
                                      </p:to>
                                    </p:set>
                                    <p:animEffect transition="in" filter="fade">
                                      <p:cBhvr>
                                        <p:cTn id="183" dur="500"/>
                                        <p:tgtEl>
                                          <p:spTgt spid="90"/>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93"/>
                                        </p:tgtEl>
                                        <p:attrNameLst>
                                          <p:attrName>style.visibility</p:attrName>
                                        </p:attrNameLst>
                                      </p:cBhvr>
                                      <p:to>
                                        <p:strVal val="visible"/>
                                      </p:to>
                                    </p:set>
                                    <p:animEffect transition="in" filter="fade">
                                      <p:cBhvr>
                                        <p:cTn id="186" dur="500"/>
                                        <p:tgtEl>
                                          <p:spTgt spid="93"/>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96"/>
                                        </p:tgtEl>
                                        <p:attrNameLst>
                                          <p:attrName>style.visibility</p:attrName>
                                        </p:attrNameLst>
                                      </p:cBhvr>
                                      <p:to>
                                        <p:strVal val="visible"/>
                                      </p:to>
                                    </p:set>
                                    <p:animEffect transition="in" filter="fade">
                                      <p:cBhvr>
                                        <p:cTn id="189" dur="500"/>
                                        <p:tgtEl>
                                          <p:spTgt spid="96"/>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100"/>
                                        </p:tgtEl>
                                        <p:attrNameLst>
                                          <p:attrName>style.visibility</p:attrName>
                                        </p:attrNameLst>
                                      </p:cBhvr>
                                      <p:to>
                                        <p:strVal val="visible"/>
                                      </p:to>
                                    </p:set>
                                    <p:animEffect transition="in" filter="fade">
                                      <p:cBhvr>
                                        <p:cTn id="192" dur="500"/>
                                        <p:tgtEl>
                                          <p:spTgt spid="100"/>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101"/>
                                        </p:tgtEl>
                                        <p:attrNameLst>
                                          <p:attrName>style.visibility</p:attrName>
                                        </p:attrNameLst>
                                      </p:cBhvr>
                                      <p:to>
                                        <p:strVal val="visible"/>
                                      </p:to>
                                    </p:set>
                                    <p:animEffect transition="in" filter="fade">
                                      <p:cBhvr>
                                        <p:cTn id="195" dur="500"/>
                                        <p:tgtEl>
                                          <p:spTgt spid="101"/>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102"/>
                                        </p:tgtEl>
                                        <p:attrNameLst>
                                          <p:attrName>style.visibility</p:attrName>
                                        </p:attrNameLst>
                                      </p:cBhvr>
                                      <p:to>
                                        <p:strVal val="visible"/>
                                      </p:to>
                                    </p:set>
                                    <p:animEffect transition="in" filter="fade">
                                      <p:cBhvr>
                                        <p:cTn id="198" dur="500"/>
                                        <p:tgtEl>
                                          <p:spTgt spid="102"/>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103"/>
                                        </p:tgtEl>
                                        <p:attrNameLst>
                                          <p:attrName>style.visibility</p:attrName>
                                        </p:attrNameLst>
                                      </p:cBhvr>
                                      <p:to>
                                        <p:strVal val="visible"/>
                                      </p:to>
                                    </p:set>
                                    <p:animEffect transition="in" filter="fade">
                                      <p:cBhvr>
                                        <p:cTn id="201" dur="500"/>
                                        <p:tgtEl>
                                          <p:spTgt spid="103"/>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141"/>
                                        </p:tgtEl>
                                        <p:attrNameLst>
                                          <p:attrName>style.visibility</p:attrName>
                                        </p:attrNameLst>
                                      </p:cBhvr>
                                      <p:to>
                                        <p:strVal val="visible"/>
                                      </p:to>
                                    </p:set>
                                    <p:animEffect transition="in" filter="fade">
                                      <p:cBhvr>
                                        <p:cTn id="204" dur="500"/>
                                        <p:tgtEl>
                                          <p:spTgt spid="141"/>
                                        </p:tgtEl>
                                      </p:cBhvr>
                                    </p:animEffect>
                                  </p:childTnLst>
                                </p:cTn>
                              </p:par>
                            </p:childTnLst>
                          </p:cTn>
                        </p:par>
                      </p:childTnLst>
                    </p:cTn>
                  </p:par>
                  <p:par>
                    <p:cTn id="205" fill="hold">
                      <p:stCondLst>
                        <p:cond delay="indefinite"/>
                      </p:stCondLst>
                      <p:childTnLst>
                        <p:par>
                          <p:cTn id="206" fill="hold">
                            <p:stCondLst>
                              <p:cond delay="0"/>
                            </p:stCondLst>
                            <p:childTnLst>
                              <p:par>
                                <p:cTn id="207" presetID="16" presetClass="entr" presetSubtype="21" fill="hold" nodeType="clickEffect">
                                  <p:stCondLst>
                                    <p:cond delay="0"/>
                                  </p:stCondLst>
                                  <p:childTnLst>
                                    <p:set>
                                      <p:cBhvr>
                                        <p:cTn id="208" dur="1" fill="hold">
                                          <p:stCondLst>
                                            <p:cond delay="0"/>
                                          </p:stCondLst>
                                        </p:cTn>
                                        <p:tgtEl>
                                          <p:spTgt spid="104"/>
                                        </p:tgtEl>
                                        <p:attrNameLst>
                                          <p:attrName>style.visibility</p:attrName>
                                        </p:attrNameLst>
                                      </p:cBhvr>
                                      <p:to>
                                        <p:strVal val="visible"/>
                                      </p:to>
                                    </p:set>
                                    <p:animEffect transition="in" filter="barn(inVertical)">
                                      <p:cBhvr>
                                        <p:cTn id="209" dur="500"/>
                                        <p:tgtEl>
                                          <p:spTgt spid="104"/>
                                        </p:tgtEl>
                                      </p:cBhvr>
                                    </p:animEffect>
                                  </p:childTnLst>
                                </p:cTn>
                              </p:par>
                              <p:par>
                                <p:cTn id="210" presetID="16" presetClass="entr" presetSubtype="21" fill="hold" nodeType="withEffect">
                                  <p:stCondLst>
                                    <p:cond delay="0"/>
                                  </p:stCondLst>
                                  <p:childTnLst>
                                    <p:set>
                                      <p:cBhvr>
                                        <p:cTn id="211" dur="1" fill="hold">
                                          <p:stCondLst>
                                            <p:cond delay="0"/>
                                          </p:stCondLst>
                                        </p:cTn>
                                        <p:tgtEl>
                                          <p:spTgt spid="107"/>
                                        </p:tgtEl>
                                        <p:attrNameLst>
                                          <p:attrName>style.visibility</p:attrName>
                                        </p:attrNameLst>
                                      </p:cBhvr>
                                      <p:to>
                                        <p:strVal val="visible"/>
                                      </p:to>
                                    </p:set>
                                    <p:animEffect transition="in" filter="barn(inVertical)">
                                      <p:cBhvr>
                                        <p:cTn id="212" dur="500"/>
                                        <p:tgtEl>
                                          <p:spTgt spid="107"/>
                                        </p:tgtEl>
                                      </p:cBhvr>
                                    </p:animEffect>
                                  </p:childTnLst>
                                </p:cTn>
                              </p:par>
                              <p:par>
                                <p:cTn id="213" presetID="16" presetClass="entr" presetSubtype="21" fill="hold" nodeType="withEffect">
                                  <p:stCondLst>
                                    <p:cond delay="0"/>
                                  </p:stCondLst>
                                  <p:childTnLst>
                                    <p:set>
                                      <p:cBhvr>
                                        <p:cTn id="214" dur="1" fill="hold">
                                          <p:stCondLst>
                                            <p:cond delay="0"/>
                                          </p:stCondLst>
                                        </p:cTn>
                                        <p:tgtEl>
                                          <p:spTgt spid="123"/>
                                        </p:tgtEl>
                                        <p:attrNameLst>
                                          <p:attrName>style.visibility</p:attrName>
                                        </p:attrNameLst>
                                      </p:cBhvr>
                                      <p:to>
                                        <p:strVal val="visible"/>
                                      </p:to>
                                    </p:set>
                                    <p:animEffect transition="in" filter="barn(inVertical)">
                                      <p:cBhvr>
                                        <p:cTn id="215" dur="500"/>
                                        <p:tgtEl>
                                          <p:spTgt spid="123"/>
                                        </p:tgtEl>
                                      </p:cBhvr>
                                    </p:animEffect>
                                  </p:childTnLst>
                                </p:cTn>
                              </p:par>
                              <p:par>
                                <p:cTn id="216" presetID="16" presetClass="entr" presetSubtype="21" fill="hold" nodeType="withEffect">
                                  <p:stCondLst>
                                    <p:cond delay="0"/>
                                  </p:stCondLst>
                                  <p:childTnLst>
                                    <p:set>
                                      <p:cBhvr>
                                        <p:cTn id="217" dur="1" fill="hold">
                                          <p:stCondLst>
                                            <p:cond delay="0"/>
                                          </p:stCondLst>
                                        </p:cTn>
                                        <p:tgtEl>
                                          <p:spTgt spid="132"/>
                                        </p:tgtEl>
                                        <p:attrNameLst>
                                          <p:attrName>style.visibility</p:attrName>
                                        </p:attrNameLst>
                                      </p:cBhvr>
                                      <p:to>
                                        <p:strVal val="visible"/>
                                      </p:to>
                                    </p:set>
                                    <p:animEffect transition="in" filter="barn(inVertical)">
                                      <p:cBhvr>
                                        <p:cTn id="218" dur="500"/>
                                        <p:tgtEl>
                                          <p:spTgt spid="132"/>
                                        </p:tgtEl>
                                      </p:cBhvr>
                                    </p:animEffect>
                                  </p:childTnLst>
                                </p:cTn>
                              </p:par>
                              <p:par>
                                <p:cTn id="219" presetID="16" presetClass="entr" presetSubtype="21" fill="hold" grpId="0" nodeType="withEffect">
                                  <p:stCondLst>
                                    <p:cond delay="0"/>
                                  </p:stCondLst>
                                  <p:childTnLst>
                                    <p:set>
                                      <p:cBhvr>
                                        <p:cTn id="220" dur="1" fill="hold">
                                          <p:stCondLst>
                                            <p:cond delay="0"/>
                                          </p:stCondLst>
                                        </p:cTn>
                                        <p:tgtEl>
                                          <p:spTgt spid="135"/>
                                        </p:tgtEl>
                                        <p:attrNameLst>
                                          <p:attrName>style.visibility</p:attrName>
                                        </p:attrNameLst>
                                      </p:cBhvr>
                                      <p:to>
                                        <p:strVal val="visible"/>
                                      </p:to>
                                    </p:set>
                                    <p:animEffect transition="in" filter="barn(inVertical)">
                                      <p:cBhvr>
                                        <p:cTn id="221" dur="500"/>
                                        <p:tgtEl>
                                          <p:spTgt spid="135"/>
                                        </p:tgtEl>
                                      </p:cBhvr>
                                    </p:animEffect>
                                  </p:childTnLst>
                                </p:cTn>
                              </p:par>
                              <p:par>
                                <p:cTn id="222" presetID="16" presetClass="entr" presetSubtype="21" fill="hold" grpId="0" nodeType="withEffect">
                                  <p:stCondLst>
                                    <p:cond delay="0"/>
                                  </p:stCondLst>
                                  <p:childTnLst>
                                    <p:set>
                                      <p:cBhvr>
                                        <p:cTn id="223" dur="1" fill="hold">
                                          <p:stCondLst>
                                            <p:cond delay="0"/>
                                          </p:stCondLst>
                                        </p:cTn>
                                        <p:tgtEl>
                                          <p:spTgt spid="138"/>
                                        </p:tgtEl>
                                        <p:attrNameLst>
                                          <p:attrName>style.visibility</p:attrName>
                                        </p:attrNameLst>
                                      </p:cBhvr>
                                      <p:to>
                                        <p:strVal val="visible"/>
                                      </p:to>
                                    </p:set>
                                    <p:animEffect transition="in" filter="barn(inVertical)">
                                      <p:cBhvr>
                                        <p:cTn id="224" dur="500"/>
                                        <p:tgtEl>
                                          <p:spTgt spid="138"/>
                                        </p:tgtEl>
                                      </p:cBhvr>
                                    </p:animEffect>
                                  </p:childTnLst>
                                </p:cTn>
                              </p:par>
                            </p:childTnLst>
                          </p:cTn>
                        </p:par>
                      </p:childTnLst>
                    </p:cTn>
                  </p:par>
                  <p:par>
                    <p:cTn id="225" fill="hold">
                      <p:stCondLst>
                        <p:cond delay="indefinite"/>
                      </p:stCondLst>
                      <p:childTnLst>
                        <p:par>
                          <p:cTn id="226" fill="hold">
                            <p:stCondLst>
                              <p:cond delay="0"/>
                            </p:stCondLst>
                            <p:childTnLst>
                              <p:par>
                                <p:cTn id="227" presetID="22" presetClass="entr" presetSubtype="4" fill="hold" nodeType="clickEffect">
                                  <p:stCondLst>
                                    <p:cond delay="0"/>
                                  </p:stCondLst>
                                  <p:childTnLst>
                                    <p:set>
                                      <p:cBhvr>
                                        <p:cTn id="228" dur="1" fill="hold">
                                          <p:stCondLst>
                                            <p:cond delay="0"/>
                                          </p:stCondLst>
                                        </p:cTn>
                                        <p:tgtEl>
                                          <p:spTgt spid="70"/>
                                        </p:tgtEl>
                                        <p:attrNameLst>
                                          <p:attrName>style.visibility</p:attrName>
                                        </p:attrNameLst>
                                      </p:cBhvr>
                                      <p:to>
                                        <p:strVal val="visible"/>
                                      </p:to>
                                    </p:set>
                                    <p:animEffect transition="in" filter="wipe(down)">
                                      <p:cBhvr>
                                        <p:cTn id="229" dur="500"/>
                                        <p:tgtEl>
                                          <p:spTgt spid="70"/>
                                        </p:tgtEl>
                                      </p:cBhvr>
                                    </p:animEffect>
                                  </p:childTnLst>
                                </p:cTn>
                              </p:par>
                              <p:par>
                                <p:cTn id="230" presetID="22" presetClass="entr" presetSubtype="4" fill="hold" nodeType="withEffect">
                                  <p:stCondLst>
                                    <p:cond delay="0"/>
                                  </p:stCondLst>
                                  <p:childTnLst>
                                    <p:set>
                                      <p:cBhvr>
                                        <p:cTn id="231" dur="1" fill="hold">
                                          <p:stCondLst>
                                            <p:cond delay="0"/>
                                          </p:stCondLst>
                                        </p:cTn>
                                        <p:tgtEl>
                                          <p:spTgt spid="71"/>
                                        </p:tgtEl>
                                        <p:attrNameLst>
                                          <p:attrName>style.visibility</p:attrName>
                                        </p:attrNameLst>
                                      </p:cBhvr>
                                      <p:to>
                                        <p:strVal val="visible"/>
                                      </p:to>
                                    </p:set>
                                    <p:animEffect transition="in" filter="wipe(down)">
                                      <p:cBhvr>
                                        <p:cTn id="232" dur="500"/>
                                        <p:tgtEl>
                                          <p:spTgt spid="71"/>
                                        </p:tgtEl>
                                      </p:cBhvr>
                                    </p:animEffect>
                                  </p:childTnLst>
                                </p:cTn>
                              </p:par>
                              <p:par>
                                <p:cTn id="233" presetID="22" presetClass="entr" presetSubtype="4" fill="hold" nodeType="withEffect">
                                  <p:stCondLst>
                                    <p:cond delay="0"/>
                                  </p:stCondLst>
                                  <p:childTnLst>
                                    <p:set>
                                      <p:cBhvr>
                                        <p:cTn id="234" dur="1" fill="hold">
                                          <p:stCondLst>
                                            <p:cond delay="0"/>
                                          </p:stCondLst>
                                        </p:cTn>
                                        <p:tgtEl>
                                          <p:spTgt spid="83"/>
                                        </p:tgtEl>
                                        <p:attrNameLst>
                                          <p:attrName>style.visibility</p:attrName>
                                        </p:attrNameLst>
                                      </p:cBhvr>
                                      <p:to>
                                        <p:strVal val="visible"/>
                                      </p:to>
                                    </p:set>
                                    <p:animEffect transition="in" filter="wipe(down)">
                                      <p:cBhvr>
                                        <p:cTn id="235" dur="500"/>
                                        <p:tgtEl>
                                          <p:spTgt spid="83"/>
                                        </p:tgtEl>
                                      </p:cBhvr>
                                    </p:animEffect>
                                  </p:childTnLst>
                                </p:cTn>
                              </p:par>
                              <p:par>
                                <p:cTn id="236" presetID="22" presetClass="entr" presetSubtype="4" fill="hold" grpId="0" nodeType="withEffect">
                                  <p:stCondLst>
                                    <p:cond delay="0"/>
                                  </p:stCondLst>
                                  <p:childTnLst>
                                    <p:set>
                                      <p:cBhvr>
                                        <p:cTn id="237" dur="1" fill="hold">
                                          <p:stCondLst>
                                            <p:cond delay="0"/>
                                          </p:stCondLst>
                                        </p:cTn>
                                        <p:tgtEl>
                                          <p:spTgt spid="88"/>
                                        </p:tgtEl>
                                        <p:attrNameLst>
                                          <p:attrName>style.visibility</p:attrName>
                                        </p:attrNameLst>
                                      </p:cBhvr>
                                      <p:to>
                                        <p:strVal val="visible"/>
                                      </p:to>
                                    </p:set>
                                    <p:animEffect transition="in" filter="wipe(down)">
                                      <p:cBhvr>
                                        <p:cTn id="238" dur="500"/>
                                        <p:tgtEl>
                                          <p:spTgt spid="88"/>
                                        </p:tgtEl>
                                      </p:cBhvr>
                                    </p:animEffect>
                                  </p:childTnLst>
                                </p:cTn>
                              </p:par>
                              <p:par>
                                <p:cTn id="239" presetID="22" presetClass="entr" presetSubtype="4" fill="hold" grpId="0" nodeType="withEffect">
                                  <p:stCondLst>
                                    <p:cond delay="0"/>
                                  </p:stCondLst>
                                  <p:childTnLst>
                                    <p:set>
                                      <p:cBhvr>
                                        <p:cTn id="240" dur="1" fill="hold">
                                          <p:stCondLst>
                                            <p:cond delay="0"/>
                                          </p:stCondLst>
                                        </p:cTn>
                                        <p:tgtEl>
                                          <p:spTgt spid="91"/>
                                        </p:tgtEl>
                                        <p:attrNameLst>
                                          <p:attrName>style.visibility</p:attrName>
                                        </p:attrNameLst>
                                      </p:cBhvr>
                                      <p:to>
                                        <p:strVal val="visible"/>
                                      </p:to>
                                    </p:set>
                                    <p:animEffect transition="in" filter="wipe(down)">
                                      <p:cBhvr>
                                        <p:cTn id="241" dur="500"/>
                                        <p:tgtEl>
                                          <p:spTgt spid="91"/>
                                        </p:tgtEl>
                                      </p:cBhvr>
                                    </p:animEffect>
                                  </p:childTnLst>
                                </p:cTn>
                              </p:par>
                              <p:par>
                                <p:cTn id="242" presetID="22" presetClass="entr" presetSubtype="4" fill="hold" grpId="0" nodeType="withEffect">
                                  <p:stCondLst>
                                    <p:cond delay="0"/>
                                  </p:stCondLst>
                                  <p:childTnLst>
                                    <p:set>
                                      <p:cBhvr>
                                        <p:cTn id="243" dur="1" fill="hold">
                                          <p:stCondLst>
                                            <p:cond delay="0"/>
                                          </p:stCondLst>
                                        </p:cTn>
                                        <p:tgtEl>
                                          <p:spTgt spid="94"/>
                                        </p:tgtEl>
                                        <p:attrNameLst>
                                          <p:attrName>style.visibility</p:attrName>
                                        </p:attrNameLst>
                                      </p:cBhvr>
                                      <p:to>
                                        <p:strVal val="visible"/>
                                      </p:to>
                                    </p:set>
                                    <p:animEffect transition="in" filter="wipe(down)">
                                      <p:cBhvr>
                                        <p:cTn id="244" dur="500"/>
                                        <p:tgtEl>
                                          <p:spTgt spid="94"/>
                                        </p:tgtEl>
                                      </p:cBhvr>
                                    </p:animEffect>
                                  </p:childTnLst>
                                </p:cTn>
                              </p:par>
                              <p:par>
                                <p:cTn id="245" presetID="22" presetClass="entr" presetSubtype="4" fill="hold" grpId="0" nodeType="withEffect">
                                  <p:stCondLst>
                                    <p:cond delay="0"/>
                                  </p:stCondLst>
                                  <p:childTnLst>
                                    <p:set>
                                      <p:cBhvr>
                                        <p:cTn id="246" dur="1" fill="hold">
                                          <p:stCondLst>
                                            <p:cond delay="0"/>
                                          </p:stCondLst>
                                        </p:cTn>
                                        <p:tgtEl>
                                          <p:spTgt spid="97"/>
                                        </p:tgtEl>
                                        <p:attrNameLst>
                                          <p:attrName>style.visibility</p:attrName>
                                        </p:attrNameLst>
                                      </p:cBhvr>
                                      <p:to>
                                        <p:strVal val="visible"/>
                                      </p:to>
                                    </p:set>
                                    <p:animEffect transition="in" filter="wipe(down)">
                                      <p:cBhvr>
                                        <p:cTn id="247" dur="500"/>
                                        <p:tgtEl>
                                          <p:spTgt spid="97"/>
                                        </p:tgtEl>
                                      </p:cBhvr>
                                    </p:animEffect>
                                  </p:childTnLst>
                                </p:cTn>
                              </p:par>
                            </p:childTnLst>
                          </p:cTn>
                        </p:par>
                      </p:childTnLst>
                    </p:cTn>
                  </p:par>
                  <p:par>
                    <p:cTn id="248" fill="hold">
                      <p:stCondLst>
                        <p:cond delay="indefinite"/>
                      </p:stCondLst>
                      <p:childTnLst>
                        <p:par>
                          <p:cTn id="249" fill="hold">
                            <p:stCondLst>
                              <p:cond delay="0"/>
                            </p:stCondLst>
                            <p:childTnLst>
                              <p:par>
                                <p:cTn id="250" presetID="42" presetClass="entr" presetSubtype="0" fill="hold" nodeType="clickEffect">
                                  <p:stCondLst>
                                    <p:cond delay="0"/>
                                  </p:stCondLst>
                                  <p:childTnLst>
                                    <p:set>
                                      <p:cBhvr>
                                        <p:cTn id="251" dur="1" fill="hold">
                                          <p:stCondLst>
                                            <p:cond delay="0"/>
                                          </p:stCondLst>
                                        </p:cTn>
                                        <p:tgtEl>
                                          <p:spTgt spid="110"/>
                                        </p:tgtEl>
                                        <p:attrNameLst>
                                          <p:attrName>style.visibility</p:attrName>
                                        </p:attrNameLst>
                                      </p:cBhvr>
                                      <p:to>
                                        <p:strVal val="visible"/>
                                      </p:to>
                                    </p:set>
                                    <p:animEffect transition="in" filter="fade">
                                      <p:cBhvr>
                                        <p:cTn id="252" dur="1000"/>
                                        <p:tgtEl>
                                          <p:spTgt spid="110"/>
                                        </p:tgtEl>
                                      </p:cBhvr>
                                    </p:animEffect>
                                    <p:anim calcmode="lin" valueType="num">
                                      <p:cBhvr>
                                        <p:cTn id="253" dur="1000" fill="hold"/>
                                        <p:tgtEl>
                                          <p:spTgt spid="110"/>
                                        </p:tgtEl>
                                        <p:attrNameLst>
                                          <p:attrName>ppt_x</p:attrName>
                                        </p:attrNameLst>
                                      </p:cBhvr>
                                      <p:tavLst>
                                        <p:tav tm="0">
                                          <p:val>
                                            <p:strVal val="#ppt_x"/>
                                          </p:val>
                                        </p:tav>
                                        <p:tav tm="100000">
                                          <p:val>
                                            <p:strVal val="#ppt_x"/>
                                          </p:val>
                                        </p:tav>
                                      </p:tavLst>
                                    </p:anim>
                                    <p:anim calcmode="lin" valueType="num">
                                      <p:cBhvr>
                                        <p:cTn id="254" dur="1000" fill="hold"/>
                                        <p:tgtEl>
                                          <p:spTgt spid="110"/>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6" dur="1" fill="hold">
                                          <p:stCondLst>
                                            <p:cond delay="0"/>
                                          </p:stCondLst>
                                        </p:cTn>
                                        <p:tgtEl>
                                          <p:spTgt spid="113"/>
                                        </p:tgtEl>
                                        <p:attrNameLst>
                                          <p:attrName>style.visibility</p:attrName>
                                        </p:attrNameLst>
                                      </p:cBhvr>
                                      <p:to>
                                        <p:strVal val="visible"/>
                                      </p:to>
                                    </p:set>
                                    <p:animEffect transition="in" filter="fade">
                                      <p:cBhvr>
                                        <p:cTn id="257" dur="1000"/>
                                        <p:tgtEl>
                                          <p:spTgt spid="113"/>
                                        </p:tgtEl>
                                      </p:cBhvr>
                                    </p:animEffect>
                                    <p:anim calcmode="lin" valueType="num">
                                      <p:cBhvr>
                                        <p:cTn id="258" dur="1000" fill="hold"/>
                                        <p:tgtEl>
                                          <p:spTgt spid="113"/>
                                        </p:tgtEl>
                                        <p:attrNameLst>
                                          <p:attrName>ppt_x</p:attrName>
                                        </p:attrNameLst>
                                      </p:cBhvr>
                                      <p:tavLst>
                                        <p:tav tm="0">
                                          <p:val>
                                            <p:strVal val="#ppt_x"/>
                                          </p:val>
                                        </p:tav>
                                        <p:tav tm="100000">
                                          <p:val>
                                            <p:strVal val="#ppt_x"/>
                                          </p:val>
                                        </p:tav>
                                      </p:tavLst>
                                    </p:anim>
                                    <p:anim calcmode="lin" valueType="num">
                                      <p:cBhvr>
                                        <p:cTn id="259" dur="1000" fill="hold"/>
                                        <p:tgtEl>
                                          <p:spTgt spid="11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61" dur="1" fill="hold">
                                          <p:stCondLst>
                                            <p:cond delay="0"/>
                                          </p:stCondLst>
                                        </p:cTn>
                                        <p:tgtEl>
                                          <p:spTgt spid="126"/>
                                        </p:tgtEl>
                                        <p:attrNameLst>
                                          <p:attrName>style.visibility</p:attrName>
                                        </p:attrNameLst>
                                      </p:cBhvr>
                                      <p:to>
                                        <p:strVal val="visible"/>
                                      </p:to>
                                    </p:set>
                                    <p:animEffect transition="in" filter="fade">
                                      <p:cBhvr>
                                        <p:cTn id="262" dur="1000"/>
                                        <p:tgtEl>
                                          <p:spTgt spid="126"/>
                                        </p:tgtEl>
                                      </p:cBhvr>
                                    </p:animEffect>
                                    <p:anim calcmode="lin" valueType="num">
                                      <p:cBhvr>
                                        <p:cTn id="263" dur="1000" fill="hold"/>
                                        <p:tgtEl>
                                          <p:spTgt spid="126"/>
                                        </p:tgtEl>
                                        <p:attrNameLst>
                                          <p:attrName>ppt_x</p:attrName>
                                        </p:attrNameLst>
                                      </p:cBhvr>
                                      <p:tavLst>
                                        <p:tav tm="0">
                                          <p:val>
                                            <p:strVal val="#ppt_x"/>
                                          </p:val>
                                        </p:tav>
                                        <p:tav tm="100000">
                                          <p:val>
                                            <p:strVal val="#ppt_x"/>
                                          </p:val>
                                        </p:tav>
                                      </p:tavLst>
                                    </p:anim>
                                    <p:anim calcmode="lin" valueType="num">
                                      <p:cBhvr>
                                        <p:cTn id="264" dur="1000" fill="hold"/>
                                        <p:tgtEl>
                                          <p:spTgt spid="126"/>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6" dur="1" fill="hold">
                                          <p:stCondLst>
                                            <p:cond delay="0"/>
                                          </p:stCondLst>
                                        </p:cTn>
                                        <p:tgtEl>
                                          <p:spTgt spid="133"/>
                                        </p:tgtEl>
                                        <p:attrNameLst>
                                          <p:attrName>style.visibility</p:attrName>
                                        </p:attrNameLst>
                                      </p:cBhvr>
                                      <p:to>
                                        <p:strVal val="visible"/>
                                      </p:to>
                                    </p:set>
                                    <p:animEffect transition="in" filter="fade">
                                      <p:cBhvr>
                                        <p:cTn id="267" dur="1000"/>
                                        <p:tgtEl>
                                          <p:spTgt spid="133"/>
                                        </p:tgtEl>
                                      </p:cBhvr>
                                    </p:animEffect>
                                    <p:anim calcmode="lin" valueType="num">
                                      <p:cBhvr>
                                        <p:cTn id="268" dur="1000" fill="hold"/>
                                        <p:tgtEl>
                                          <p:spTgt spid="133"/>
                                        </p:tgtEl>
                                        <p:attrNameLst>
                                          <p:attrName>ppt_x</p:attrName>
                                        </p:attrNameLst>
                                      </p:cBhvr>
                                      <p:tavLst>
                                        <p:tav tm="0">
                                          <p:val>
                                            <p:strVal val="#ppt_x"/>
                                          </p:val>
                                        </p:tav>
                                        <p:tav tm="100000">
                                          <p:val>
                                            <p:strVal val="#ppt_x"/>
                                          </p:val>
                                        </p:tav>
                                      </p:tavLst>
                                    </p:anim>
                                    <p:anim calcmode="lin" valueType="num">
                                      <p:cBhvr>
                                        <p:cTn id="269" dur="1000" fill="hold"/>
                                        <p:tgtEl>
                                          <p:spTgt spid="133"/>
                                        </p:tgtEl>
                                        <p:attrNameLst>
                                          <p:attrName>ppt_y</p:attrName>
                                        </p:attrNameLst>
                                      </p:cBhvr>
                                      <p:tavLst>
                                        <p:tav tm="0">
                                          <p:val>
                                            <p:strVal val="#ppt_y+.1"/>
                                          </p:val>
                                        </p:tav>
                                        <p:tav tm="100000">
                                          <p:val>
                                            <p:strVal val="#ppt_y"/>
                                          </p:val>
                                        </p:tav>
                                      </p:tavLst>
                                    </p:anim>
                                  </p:childTnLst>
                                </p:cTn>
                              </p:par>
                              <p:par>
                                <p:cTn id="270" presetID="42" presetClass="entr" presetSubtype="0" fill="hold" grpId="0" nodeType="withEffect">
                                  <p:stCondLst>
                                    <p:cond delay="0"/>
                                  </p:stCondLst>
                                  <p:childTnLst>
                                    <p:set>
                                      <p:cBhvr>
                                        <p:cTn id="271" dur="1" fill="hold">
                                          <p:stCondLst>
                                            <p:cond delay="0"/>
                                          </p:stCondLst>
                                        </p:cTn>
                                        <p:tgtEl>
                                          <p:spTgt spid="136"/>
                                        </p:tgtEl>
                                        <p:attrNameLst>
                                          <p:attrName>style.visibility</p:attrName>
                                        </p:attrNameLst>
                                      </p:cBhvr>
                                      <p:to>
                                        <p:strVal val="visible"/>
                                      </p:to>
                                    </p:set>
                                    <p:animEffect transition="in" filter="fade">
                                      <p:cBhvr>
                                        <p:cTn id="272" dur="1000"/>
                                        <p:tgtEl>
                                          <p:spTgt spid="136"/>
                                        </p:tgtEl>
                                      </p:cBhvr>
                                    </p:animEffect>
                                    <p:anim calcmode="lin" valueType="num">
                                      <p:cBhvr>
                                        <p:cTn id="273" dur="1000" fill="hold"/>
                                        <p:tgtEl>
                                          <p:spTgt spid="136"/>
                                        </p:tgtEl>
                                        <p:attrNameLst>
                                          <p:attrName>ppt_x</p:attrName>
                                        </p:attrNameLst>
                                      </p:cBhvr>
                                      <p:tavLst>
                                        <p:tav tm="0">
                                          <p:val>
                                            <p:strVal val="#ppt_x"/>
                                          </p:val>
                                        </p:tav>
                                        <p:tav tm="100000">
                                          <p:val>
                                            <p:strVal val="#ppt_x"/>
                                          </p:val>
                                        </p:tav>
                                      </p:tavLst>
                                    </p:anim>
                                    <p:anim calcmode="lin" valueType="num">
                                      <p:cBhvr>
                                        <p:cTn id="274" dur="1000" fill="hold"/>
                                        <p:tgtEl>
                                          <p:spTgt spid="136"/>
                                        </p:tgtEl>
                                        <p:attrNameLst>
                                          <p:attrName>ppt_y</p:attrName>
                                        </p:attrNameLst>
                                      </p:cBhvr>
                                      <p:tavLst>
                                        <p:tav tm="0">
                                          <p:val>
                                            <p:strVal val="#ppt_y+.1"/>
                                          </p:val>
                                        </p:tav>
                                        <p:tav tm="100000">
                                          <p:val>
                                            <p:strVal val="#ppt_y"/>
                                          </p:val>
                                        </p:tav>
                                      </p:tavLst>
                                    </p:anim>
                                  </p:childTnLst>
                                </p:cTn>
                              </p:par>
                              <p:par>
                                <p:cTn id="275" presetID="42" presetClass="entr" presetSubtype="0" fill="hold" grpId="0" nodeType="withEffect">
                                  <p:stCondLst>
                                    <p:cond delay="0"/>
                                  </p:stCondLst>
                                  <p:childTnLst>
                                    <p:set>
                                      <p:cBhvr>
                                        <p:cTn id="276" dur="1" fill="hold">
                                          <p:stCondLst>
                                            <p:cond delay="0"/>
                                          </p:stCondLst>
                                        </p:cTn>
                                        <p:tgtEl>
                                          <p:spTgt spid="139"/>
                                        </p:tgtEl>
                                        <p:attrNameLst>
                                          <p:attrName>style.visibility</p:attrName>
                                        </p:attrNameLst>
                                      </p:cBhvr>
                                      <p:to>
                                        <p:strVal val="visible"/>
                                      </p:to>
                                    </p:set>
                                    <p:animEffect transition="in" filter="fade">
                                      <p:cBhvr>
                                        <p:cTn id="277" dur="1000"/>
                                        <p:tgtEl>
                                          <p:spTgt spid="139"/>
                                        </p:tgtEl>
                                      </p:cBhvr>
                                    </p:animEffect>
                                    <p:anim calcmode="lin" valueType="num">
                                      <p:cBhvr>
                                        <p:cTn id="278" dur="1000" fill="hold"/>
                                        <p:tgtEl>
                                          <p:spTgt spid="139"/>
                                        </p:tgtEl>
                                        <p:attrNameLst>
                                          <p:attrName>ppt_x</p:attrName>
                                        </p:attrNameLst>
                                      </p:cBhvr>
                                      <p:tavLst>
                                        <p:tav tm="0">
                                          <p:val>
                                            <p:strVal val="#ppt_x"/>
                                          </p:val>
                                        </p:tav>
                                        <p:tav tm="100000">
                                          <p:val>
                                            <p:strVal val="#ppt_x"/>
                                          </p:val>
                                        </p:tav>
                                      </p:tavLst>
                                    </p:anim>
                                    <p:anim calcmode="lin" valueType="num">
                                      <p:cBhvr>
                                        <p:cTn id="279" dur="1000" fill="hold"/>
                                        <p:tgtEl>
                                          <p:spTgt spid="139"/>
                                        </p:tgtEl>
                                        <p:attrNameLst>
                                          <p:attrName>ppt_y</p:attrName>
                                        </p:attrNameLst>
                                      </p:cBhvr>
                                      <p:tavLst>
                                        <p:tav tm="0">
                                          <p:val>
                                            <p:strVal val="#ppt_y+.1"/>
                                          </p:val>
                                        </p:tav>
                                        <p:tav tm="100000">
                                          <p:val>
                                            <p:strVal val="#ppt_y"/>
                                          </p:val>
                                        </p:tav>
                                      </p:tavLst>
                                    </p:anim>
                                  </p:childTnLst>
                                </p:cTn>
                              </p:par>
                            </p:childTnLst>
                          </p:cTn>
                        </p:par>
                      </p:childTnLst>
                    </p:cTn>
                  </p:par>
                  <p:par>
                    <p:cTn id="280" fill="hold">
                      <p:stCondLst>
                        <p:cond delay="indefinite"/>
                      </p:stCondLst>
                      <p:childTnLst>
                        <p:par>
                          <p:cTn id="281" fill="hold">
                            <p:stCondLst>
                              <p:cond delay="0"/>
                            </p:stCondLst>
                            <p:childTnLst>
                              <p:par>
                                <p:cTn id="282" presetID="16" presetClass="entr" presetSubtype="21" fill="hold" nodeType="clickEffect">
                                  <p:stCondLst>
                                    <p:cond delay="0"/>
                                  </p:stCondLst>
                                  <p:childTnLst>
                                    <p:set>
                                      <p:cBhvr>
                                        <p:cTn id="283" dur="1" fill="hold">
                                          <p:stCondLst>
                                            <p:cond delay="0"/>
                                          </p:stCondLst>
                                        </p:cTn>
                                        <p:tgtEl>
                                          <p:spTgt spid="74"/>
                                        </p:tgtEl>
                                        <p:attrNameLst>
                                          <p:attrName>style.visibility</p:attrName>
                                        </p:attrNameLst>
                                      </p:cBhvr>
                                      <p:to>
                                        <p:strVal val="visible"/>
                                      </p:to>
                                    </p:set>
                                    <p:animEffect transition="in" filter="barn(inVertical)">
                                      <p:cBhvr>
                                        <p:cTn id="284" dur="500"/>
                                        <p:tgtEl>
                                          <p:spTgt spid="74"/>
                                        </p:tgtEl>
                                      </p:cBhvr>
                                    </p:animEffect>
                                  </p:childTnLst>
                                </p:cTn>
                              </p:par>
                              <p:par>
                                <p:cTn id="285" presetID="16" presetClass="entr" presetSubtype="21" fill="hold" nodeType="withEffect">
                                  <p:stCondLst>
                                    <p:cond delay="0"/>
                                  </p:stCondLst>
                                  <p:childTnLst>
                                    <p:set>
                                      <p:cBhvr>
                                        <p:cTn id="286" dur="1" fill="hold">
                                          <p:stCondLst>
                                            <p:cond delay="0"/>
                                          </p:stCondLst>
                                        </p:cTn>
                                        <p:tgtEl>
                                          <p:spTgt spid="75"/>
                                        </p:tgtEl>
                                        <p:attrNameLst>
                                          <p:attrName>style.visibility</p:attrName>
                                        </p:attrNameLst>
                                      </p:cBhvr>
                                      <p:to>
                                        <p:strVal val="visible"/>
                                      </p:to>
                                    </p:set>
                                    <p:animEffect transition="in" filter="barn(inVertical)">
                                      <p:cBhvr>
                                        <p:cTn id="287" dur="500"/>
                                        <p:tgtEl>
                                          <p:spTgt spid="75"/>
                                        </p:tgtEl>
                                      </p:cBhvr>
                                    </p:animEffect>
                                  </p:childTnLst>
                                </p:cTn>
                              </p:par>
                              <p:par>
                                <p:cTn id="288" presetID="16" presetClass="entr" presetSubtype="21" fill="hold" nodeType="withEffect">
                                  <p:stCondLst>
                                    <p:cond delay="0"/>
                                  </p:stCondLst>
                                  <p:childTnLst>
                                    <p:set>
                                      <p:cBhvr>
                                        <p:cTn id="289" dur="1" fill="hold">
                                          <p:stCondLst>
                                            <p:cond delay="0"/>
                                          </p:stCondLst>
                                        </p:cTn>
                                        <p:tgtEl>
                                          <p:spTgt spid="86"/>
                                        </p:tgtEl>
                                        <p:attrNameLst>
                                          <p:attrName>style.visibility</p:attrName>
                                        </p:attrNameLst>
                                      </p:cBhvr>
                                      <p:to>
                                        <p:strVal val="visible"/>
                                      </p:to>
                                    </p:set>
                                    <p:animEffect transition="in" filter="barn(inVertical)">
                                      <p:cBhvr>
                                        <p:cTn id="290" dur="500"/>
                                        <p:tgtEl>
                                          <p:spTgt spid="86"/>
                                        </p:tgtEl>
                                      </p:cBhvr>
                                    </p:animEffect>
                                  </p:childTnLst>
                                </p:cTn>
                              </p:par>
                              <p:par>
                                <p:cTn id="291" presetID="16" presetClass="entr" presetSubtype="21" fill="hold" grpId="0" nodeType="withEffect">
                                  <p:stCondLst>
                                    <p:cond delay="0"/>
                                  </p:stCondLst>
                                  <p:childTnLst>
                                    <p:set>
                                      <p:cBhvr>
                                        <p:cTn id="292" dur="1" fill="hold">
                                          <p:stCondLst>
                                            <p:cond delay="0"/>
                                          </p:stCondLst>
                                        </p:cTn>
                                        <p:tgtEl>
                                          <p:spTgt spid="89"/>
                                        </p:tgtEl>
                                        <p:attrNameLst>
                                          <p:attrName>style.visibility</p:attrName>
                                        </p:attrNameLst>
                                      </p:cBhvr>
                                      <p:to>
                                        <p:strVal val="visible"/>
                                      </p:to>
                                    </p:set>
                                    <p:animEffect transition="in" filter="barn(inVertical)">
                                      <p:cBhvr>
                                        <p:cTn id="293" dur="500"/>
                                        <p:tgtEl>
                                          <p:spTgt spid="89"/>
                                        </p:tgtEl>
                                      </p:cBhvr>
                                    </p:animEffect>
                                  </p:childTnLst>
                                </p:cTn>
                              </p:par>
                              <p:par>
                                <p:cTn id="294" presetID="16" presetClass="entr" presetSubtype="21" fill="hold" grpId="0" nodeType="withEffect">
                                  <p:stCondLst>
                                    <p:cond delay="0"/>
                                  </p:stCondLst>
                                  <p:childTnLst>
                                    <p:set>
                                      <p:cBhvr>
                                        <p:cTn id="295" dur="1" fill="hold">
                                          <p:stCondLst>
                                            <p:cond delay="0"/>
                                          </p:stCondLst>
                                        </p:cTn>
                                        <p:tgtEl>
                                          <p:spTgt spid="92"/>
                                        </p:tgtEl>
                                        <p:attrNameLst>
                                          <p:attrName>style.visibility</p:attrName>
                                        </p:attrNameLst>
                                      </p:cBhvr>
                                      <p:to>
                                        <p:strVal val="visible"/>
                                      </p:to>
                                    </p:set>
                                    <p:animEffect transition="in" filter="barn(inVertical)">
                                      <p:cBhvr>
                                        <p:cTn id="296" dur="500"/>
                                        <p:tgtEl>
                                          <p:spTgt spid="92"/>
                                        </p:tgtEl>
                                      </p:cBhvr>
                                    </p:animEffect>
                                  </p:childTnLst>
                                </p:cTn>
                              </p:par>
                              <p:par>
                                <p:cTn id="297" presetID="16" presetClass="entr" presetSubtype="21" fill="hold" grpId="0" nodeType="withEffect">
                                  <p:stCondLst>
                                    <p:cond delay="0"/>
                                  </p:stCondLst>
                                  <p:childTnLst>
                                    <p:set>
                                      <p:cBhvr>
                                        <p:cTn id="298" dur="1" fill="hold">
                                          <p:stCondLst>
                                            <p:cond delay="0"/>
                                          </p:stCondLst>
                                        </p:cTn>
                                        <p:tgtEl>
                                          <p:spTgt spid="95"/>
                                        </p:tgtEl>
                                        <p:attrNameLst>
                                          <p:attrName>style.visibility</p:attrName>
                                        </p:attrNameLst>
                                      </p:cBhvr>
                                      <p:to>
                                        <p:strVal val="visible"/>
                                      </p:to>
                                    </p:set>
                                    <p:animEffect transition="in" filter="barn(inVertical)">
                                      <p:cBhvr>
                                        <p:cTn id="299" dur="500"/>
                                        <p:tgtEl>
                                          <p:spTgt spid="95"/>
                                        </p:tgtEl>
                                      </p:cBhvr>
                                    </p:animEffect>
                                  </p:childTnLst>
                                </p:cTn>
                              </p:par>
                              <p:par>
                                <p:cTn id="300" presetID="16" presetClass="entr" presetSubtype="21" fill="hold" grpId="0" nodeType="withEffect">
                                  <p:stCondLst>
                                    <p:cond delay="0"/>
                                  </p:stCondLst>
                                  <p:childTnLst>
                                    <p:set>
                                      <p:cBhvr>
                                        <p:cTn id="301" dur="1" fill="hold">
                                          <p:stCondLst>
                                            <p:cond delay="0"/>
                                          </p:stCondLst>
                                        </p:cTn>
                                        <p:tgtEl>
                                          <p:spTgt spid="98"/>
                                        </p:tgtEl>
                                        <p:attrNameLst>
                                          <p:attrName>style.visibility</p:attrName>
                                        </p:attrNameLst>
                                      </p:cBhvr>
                                      <p:to>
                                        <p:strVal val="visible"/>
                                      </p:to>
                                    </p:set>
                                    <p:animEffect transition="in" filter="barn(inVertical)">
                                      <p:cBhvr>
                                        <p:cTn id="302" dur="500"/>
                                        <p:tgtEl>
                                          <p:spTgt spid="98"/>
                                        </p:tgtEl>
                                      </p:cBhvr>
                                    </p:animEffect>
                                  </p:childTnLst>
                                </p:cTn>
                              </p:par>
                            </p:childTnLst>
                          </p:cTn>
                        </p:par>
                      </p:childTnLst>
                    </p:cTn>
                  </p:par>
                  <p:par>
                    <p:cTn id="303" fill="hold">
                      <p:stCondLst>
                        <p:cond delay="indefinite"/>
                      </p:stCondLst>
                      <p:childTnLst>
                        <p:par>
                          <p:cTn id="304" fill="hold">
                            <p:stCondLst>
                              <p:cond delay="0"/>
                            </p:stCondLst>
                            <p:childTnLst>
                              <p:par>
                                <p:cTn id="305" presetID="16" presetClass="entr" presetSubtype="21" fill="hold" nodeType="clickEffect">
                                  <p:stCondLst>
                                    <p:cond delay="0"/>
                                  </p:stCondLst>
                                  <p:childTnLst>
                                    <p:set>
                                      <p:cBhvr>
                                        <p:cTn id="306" dur="1" fill="hold">
                                          <p:stCondLst>
                                            <p:cond delay="0"/>
                                          </p:stCondLst>
                                        </p:cTn>
                                        <p:tgtEl>
                                          <p:spTgt spid="116"/>
                                        </p:tgtEl>
                                        <p:attrNameLst>
                                          <p:attrName>style.visibility</p:attrName>
                                        </p:attrNameLst>
                                      </p:cBhvr>
                                      <p:to>
                                        <p:strVal val="visible"/>
                                      </p:to>
                                    </p:set>
                                    <p:animEffect transition="in" filter="barn(inVertical)">
                                      <p:cBhvr>
                                        <p:cTn id="307" dur="500"/>
                                        <p:tgtEl>
                                          <p:spTgt spid="116"/>
                                        </p:tgtEl>
                                      </p:cBhvr>
                                    </p:animEffect>
                                  </p:childTnLst>
                                </p:cTn>
                              </p:par>
                              <p:par>
                                <p:cTn id="308" presetID="16" presetClass="entr" presetSubtype="21" fill="hold" nodeType="withEffect">
                                  <p:stCondLst>
                                    <p:cond delay="0"/>
                                  </p:stCondLst>
                                  <p:childTnLst>
                                    <p:set>
                                      <p:cBhvr>
                                        <p:cTn id="309" dur="1" fill="hold">
                                          <p:stCondLst>
                                            <p:cond delay="0"/>
                                          </p:stCondLst>
                                        </p:cTn>
                                        <p:tgtEl>
                                          <p:spTgt spid="119"/>
                                        </p:tgtEl>
                                        <p:attrNameLst>
                                          <p:attrName>style.visibility</p:attrName>
                                        </p:attrNameLst>
                                      </p:cBhvr>
                                      <p:to>
                                        <p:strVal val="visible"/>
                                      </p:to>
                                    </p:set>
                                    <p:animEffect transition="in" filter="barn(inVertical)">
                                      <p:cBhvr>
                                        <p:cTn id="310" dur="500"/>
                                        <p:tgtEl>
                                          <p:spTgt spid="119"/>
                                        </p:tgtEl>
                                      </p:cBhvr>
                                    </p:animEffect>
                                  </p:childTnLst>
                                </p:cTn>
                              </p:par>
                              <p:par>
                                <p:cTn id="311" presetID="16" presetClass="entr" presetSubtype="21" fill="hold" nodeType="withEffect">
                                  <p:stCondLst>
                                    <p:cond delay="0"/>
                                  </p:stCondLst>
                                  <p:childTnLst>
                                    <p:set>
                                      <p:cBhvr>
                                        <p:cTn id="312" dur="1" fill="hold">
                                          <p:stCondLst>
                                            <p:cond delay="0"/>
                                          </p:stCondLst>
                                        </p:cTn>
                                        <p:tgtEl>
                                          <p:spTgt spid="129"/>
                                        </p:tgtEl>
                                        <p:attrNameLst>
                                          <p:attrName>style.visibility</p:attrName>
                                        </p:attrNameLst>
                                      </p:cBhvr>
                                      <p:to>
                                        <p:strVal val="visible"/>
                                      </p:to>
                                    </p:set>
                                    <p:animEffect transition="in" filter="barn(inVertical)">
                                      <p:cBhvr>
                                        <p:cTn id="313" dur="500"/>
                                        <p:tgtEl>
                                          <p:spTgt spid="129"/>
                                        </p:tgtEl>
                                      </p:cBhvr>
                                    </p:animEffect>
                                  </p:childTnLst>
                                </p:cTn>
                              </p:par>
                              <p:par>
                                <p:cTn id="314" presetID="16" presetClass="entr" presetSubtype="21" fill="hold" nodeType="withEffect">
                                  <p:stCondLst>
                                    <p:cond delay="0"/>
                                  </p:stCondLst>
                                  <p:childTnLst>
                                    <p:set>
                                      <p:cBhvr>
                                        <p:cTn id="315" dur="1" fill="hold">
                                          <p:stCondLst>
                                            <p:cond delay="0"/>
                                          </p:stCondLst>
                                        </p:cTn>
                                        <p:tgtEl>
                                          <p:spTgt spid="134"/>
                                        </p:tgtEl>
                                        <p:attrNameLst>
                                          <p:attrName>style.visibility</p:attrName>
                                        </p:attrNameLst>
                                      </p:cBhvr>
                                      <p:to>
                                        <p:strVal val="visible"/>
                                      </p:to>
                                    </p:set>
                                    <p:animEffect transition="in" filter="barn(inVertical)">
                                      <p:cBhvr>
                                        <p:cTn id="316" dur="500"/>
                                        <p:tgtEl>
                                          <p:spTgt spid="134"/>
                                        </p:tgtEl>
                                      </p:cBhvr>
                                    </p:animEffect>
                                  </p:childTnLst>
                                </p:cTn>
                              </p:par>
                              <p:par>
                                <p:cTn id="317" presetID="16" presetClass="entr" presetSubtype="21" fill="hold" grpId="0" nodeType="withEffect">
                                  <p:stCondLst>
                                    <p:cond delay="0"/>
                                  </p:stCondLst>
                                  <p:childTnLst>
                                    <p:set>
                                      <p:cBhvr>
                                        <p:cTn id="318" dur="1" fill="hold">
                                          <p:stCondLst>
                                            <p:cond delay="0"/>
                                          </p:stCondLst>
                                        </p:cTn>
                                        <p:tgtEl>
                                          <p:spTgt spid="137"/>
                                        </p:tgtEl>
                                        <p:attrNameLst>
                                          <p:attrName>style.visibility</p:attrName>
                                        </p:attrNameLst>
                                      </p:cBhvr>
                                      <p:to>
                                        <p:strVal val="visible"/>
                                      </p:to>
                                    </p:set>
                                    <p:animEffect transition="in" filter="barn(inVertical)">
                                      <p:cBhvr>
                                        <p:cTn id="319" dur="500"/>
                                        <p:tgtEl>
                                          <p:spTgt spid="137"/>
                                        </p:tgtEl>
                                      </p:cBhvr>
                                    </p:animEffect>
                                  </p:childTnLst>
                                </p:cTn>
                              </p:par>
                              <p:par>
                                <p:cTn id="320" presetID="16" presetClass="entr" presetSubtype="21" fill="hold" grpId="0" nodeType="withEffect">
                                  <p:stCondLst>
                                    <p:cond delay="0"/>
                                  </p:stCondLst>
                                  <p:childTnLst>
                                    <p:set>
                                      <p:cBhvr>
                                        <p:cTn id="321" dur="1" fill="hold">
                                          <p:stCondLst>
                                            <p:cond delay="0"/>
                                          </p:stCondLst>
                                        </p:cTn>
                                        <p:tgtEl>
                                          <p:spTgt spid="140"/>
                                        </p:tgtEl>
                                        <p:attrNameLst>
                                          <p:attrName>style.visibility</p:attrName>
                                        </p:attrNameLst>
                                      </p:cBhvr>
                                      <p:to>
                                        <p:strVal val="visible"/>
                                      </p:to>
                                    </p:set>
                                    <p:animEffect transition="in" filter="barn(inVertical)">
                                      <p:cBhvr>
                                        <p:cTn id="322"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3" grpId="0"/>
      <p:bldP spid="24" grpId="0"/>
      <p:bldP spid="25" grpId="0"/>
      <p:bldP spid="26" grpId="0"/>
      <p:bldP spid="27" grpId="0"/>
      <p:bldP spid="34" grpId="0"/>
      <p:bldP spid="42" grpId="0"/>
      <p:bldP spid="55" grpId="0"/>
      <p:bldP spid="58" grpId="0"/>
      <p:bldP spid="87" grpId="0"/>
      <p:bldP spid="88" grpId="0"/>
      <p:bldP spid="89" grpId="0"/>
      <p:bldP spid="90" grpId="0"/>
      <p:bldP spid="91" grpId="0"/>
      <p:bldP spid="92" grpId="0"/>
      <p:bldP spid="93" grpId="0"/>
      <p:bldP spid="94" grpId="0"/>
      <p:bldP spid="95" grpId="0"/>
      <p:bldP spid="96" grpId="0"/>
      <p:bldP spid="97" grpId="0"/>
      <p:bldP spid="98" grpId="0"/>
      <p:bldP spid="100" grpId="0"/>
      <p:bldP spid="101" grpId="0"/>
      <p:bldP spid="102" grpId="0"/>
      <p:bldP spid="103" grpId="0"/>
      <p:bldP spid="135" grpId="0"/>
      <p:bldP spid="136" grpId="0"/>
      <p:bldP spid="137" grpId="0"/>
      <p:bldP spid="138" grpId="0"/>
      <p:bldP spid="139" grpId="0"/>
      <p:bldP spid="140" grpId="0"/>
      <p:bldP spid="141" grpId="0"/>
      <p:bldP spid="14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1" y="268714"/>
            <a:ext cx="18288000" cy="10018286"/>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mtClean="0"/>
              <a:pPr/>
              <a:t>13</a:t>
            </a:fld>
            <a:endParaRPr lang="en-US"/>
          </a:p>
        </p:txBody>
      </p:sp>
      <p:graphicFrame>
        <p:nvGraphicFramePr>
          <p:cNvPr id="15" name="Table 8"/>
          <p:cNvGraphicFramePr>
            <a:graphicFrameLocks noGrp="1"/>
          </p:cNvGraphicFramePr>
          <p:nvPr>
            <p:extLst>
              <p:ext uri="{D42A27DB-BD31-4B8C-83A1-F6EECF244321}">
                <p14:modId xmlns:p14="http://schemas.microsoft.com/office/powerpoint/2010/main" val="3922459771"/>
              </p:ext>
            </p:extLst>
          </p:nvPr>
        </p:nvGraphicFramePr>
        <p:xfrm>
          <a:off x="838200" y="6226646"/>
          <a:ext cx="16916400" cy="3261360"/>
        </p:xfrm>
        <a:graphic>
          <a:graphicData uri="http://schemas.openxmlformats.org/drawingml/2006/table">
            <a:tbl>
              <a:tblPr firstRow="1" bandRow="1">
                <a:tableStyleId>{5C22544A-7EE6-4342-B048-85BDC9FD1C3A}</a:tableStyleId>
              </a:tblPr>
              <a:tblGrid>
                <a:gridCol w="5638800">
                  <a:extLst>
                    <a:ext uri="{9D8B030D-6E8A-4147-A177-3AD203B41FA5}">
                      <a16:colId xmlns:a16="http://schemas.microsoft.com/office/drawing/2014/main" val="20000"/>
                    </a:ext>
                  </a:extLst>
                </a:gridCol>
                <a:gridCol w="5638800">
                  <a:extLst>
                    <a:ext uri="{9D8B030D-6E8A-4147-A177-3AD203B41FA5}">
                      <a16:colId xmlns:a16="http://schemas.microsoft.com/office/drawing/2014/main" val="20001"/>
                    </a:ext>
                  </a:extLst>
                </a:gridCol>
                <a:gridCol w="5638800">
                  <a:extLst>
                    <a:ext uri="{9D8B030D-6E8A-4147-A177-3AD203B41FA5}">
                      <a16:colId xmlns:a16="http://schemas.microsoft.com/office/drawing/2014/main" val="20002"/>
                    </a:ext>
                  </a:extLst>
                </a:gridCol>
              </a:tblGrid>
              <a:tr h="410391">
                <a:tc>
                  <a:txBody>
                    <a:bodyPr/>
                    <a:lstStyle/>
                    <a:p>
                      <a:pPr algn="ctr">
                        <a:defRPr sz="1000" b="1">
                          <a:solidFill>
                            <a:srgbClr val="FFFFFF"/>
                          </a:solidFill>
                          <a:latin typeface="Calibri"/>
                        </a:defRPr>
                      </a:pPr>
                      <a:r>
                        <a:rPr sz="2800"/>
                        <a:t>Critère</a:t>
                      </a:r>
                    </a:p>
                  </a:txBody>
                  <a:tcPr anchor="ctr">
                    <a:solidFill>
                      <a:srgbClr val="2C5282"/>
                    </a:solidFill>
                  </a:tcPr>
                </a:tc>
                <a:tc>
                  <a:txBody>
                    <a:bodyPr/>
                    <a:lstStyle/>
                    <a:p>
                      <a:pPr algn="ctr">
                        <a:defRPr sz="1000" b="1">
                          <a:solidFill>
                            <a:srgbClr val="FFFFFF"/>
                          </a:solidFill>
                          <a:latin typeface="Calibri"/>
                        </a:defRPr>
                      </a:pPr>
                      <a:r>
                        <a:rPr sz="2800"/>
                        <a:t>RBAC (Retenu)</a:t>
                      </a:r>
                    </a:p>
                  </a:txBody>
                  <a:tcPr anchor="ctr">
                    <a:solidFill>
                      <a:srgbClr val="2C5282"/>
                    </a:solidFill>
                  </a:tcPr>
                </a:tc>
                <a:tc>
                  <a:txBody>
                    <a:bodyPr/>
                    <a:lstStyle/>
                    <a:p>
                      <a:pPr algn="ctr">
                        <a:defRPr sz="1000" b="1">
                          <a:solidFill>
                            <a:srgbClr val="FFFFFF"/>
                          </a:solidFill>
                          <a:latin typeface="Calibri"/>
                        </a:defRPr>
                      </a:pPr>
                      <a:r>
                        <a:rPr sz="2800"/>
                        <a:t>ABAC</a:t>
                      </a:r>
                    </a:p>
                  </a:txBody>
                  <a:tcPr anchor="ctr">
                    <a:solidFill>
                      <a:srgbClr val="2C5282"/>
                    </a:solidFill>
                  </a:tcPr>
                </a:tc>
                <a:extLst>
                  <a:ext uri="{0D108BD9-81ED-4DB2-BD59-A6C34878D82A}">
                    <a16:rowId xmlns:a16="http://schemas.microsoft.com/office/drawing/2014/main" val="10000"/>
                  </a:ext>
                </a:extLst>
              </a:tr>
              <a:tr h="410391">
                <a:tc>
                  <a:txBody>
                    <a:bodyPr/>
                    <a:lstStyle/>
                    <a:p>
                      <a:pPr algn="l">
                        <a:defRPr sz="900">
                          <a:solidFill>
                            <a:srgbClr val="2D3748"/>
                          </a:solidFill>
                          <a:latin typeface="Calibri"/>
                        </a:defRPr>
                      </a:pPr>
                      <a:r>
                        <a:rPr sz="2400"/>
                        <a:t>Principe</a:t>
                      </a:r>
                    </a:p>
                  </a:txBody>
                  <a:tcPr anchor="ctr">
                    <a:solidFill>
                      <a:srgbClr val="F7FAFC"/>
                    </a:solidFill>
                  </a:tcPr>
                </a:tc>
                <a:tc>
                  <a:txBody>
                    <a:bodyPr/>
                    <a:lstStyle/>
                    <a:p>
                      <a:pPr algn="ctr">
                        <a:defRPr sz="900">
                          <a:solidFill>
                            <a:srgbClr val="2D3748"/>
                          </a:solidFill>
                          <a:latin typeface="Calibri"/>
                        </a:defRPr>
                      </a:pPr>
                      <a:r>
                        <a:rPr sz="2400"/>
                        <a:t>Droits basés sur rôles/groupes</a:t>
                      </a:r>
                    </a:p>
                  </a:txBody>
                  <a:tcPr anchor="ctr">
                    <a:solidFill>
                      <a:srgbClr val="F7FAFC"/>
                    </a:solidFill>
                  </a:tcPr>
                </a:tc>
                <a:tc>
                  <a:txBody>
                    <a:bodyPr/>
                    <a:lstStyle/>
                    <a:p>
                      <a:pPr algn="ctr">
                        <a:defRPr sz="900">
                          <a:solidFill>
                            <a:srgbClr val="2D3748"/>
                          </a:solidFill>
                          <a:latin typeface="Calibri"/>
                        </a:defRPr>
                      </a:pPr>
                      <a:r>
                        <a:rPr sz="2400"/>
                        <a:t>Droits basés sur attributs dynamiques</a:t>
                      </a:r>
                    </a:p>
                  </a:txBody>
                  <a:tcPr anchor="ctr">
                    <a:solidFill>
                      <a:srgbClr val="F7FAFC"/>
                    </a:solidFill>
                  </a:tcPr>
                </a:tc>
                <a:extLst>
                  <a:ext uri="{0D108BD9-81ED-4DB2-BD59-A6C34878D82A}">
                    <a16:rowId xmlns:a16="http://schemas.microsoft.com/office/drawing/2014/main" val="10001"/>
                  </a:ext>
                </a:extLst>
              </a:tr>
              <a:tr h="410391">
                <a:tc>
                  <a:txBody>
                    <a:bodyPr/>
                    <a:lstStyle/>
                    <a:p>
                      <a:pPr algn="l">
                        <a:defRPr sz="900">
                          <a:solidFill>
                            <a:srgbClr val="2D3748"/>
                          </a:solidFill>
                          <a:latin typeface="Calibri"/>
                        </a:defRPr>
                      </a:pPr>
                      <a:r>
                        <a:rPr sz="2400"/>
                        <a:t>Complexité</a:t>
                      </a:r>
                    </a:p>
                  </a:txBody>
                  <a:tcPr anchor="ctr"/>
                </a:tc>
                <a:tc>
                  <a:txBody>
                    <a:bodyPr/>
                    <a:lstStyle/>
                    <a:p>
                      <a:pPr algn="ctr">
                        <a:defRPr sz="900">
                          <a:solidFill>
                            <a:srgbClr val="2D3748"/>
                          </a:solidFill>
                          <a:latin typeface="Calibri"/>
                        </a:defRPr>
                      </a:pPr>
                      <a:r>
                        <a:rPr sz="2400" dirty="0" err="1"/>
                        <a:t>Faible</a:t>
                      </a:r>
                      <a:r>
                        <a:rPr sz="2400" dirty="0"/>
                        <a:t> </a:t>
                      </a:r>
                      <a:r>
                        <a:rPr lang="en-US" sz="2400" dirty="0" smtClean="0"/>
                        <a:t>-</a:t>
                      </a:r>
                      <a:r>
                        <a:rPr sz="2400" dirty="0" smtClean="0"/>
                        <a:t> </a:t>
                      </a:r>
                      <a:r>
                        <a:rPr sz="2400" dirty="0" err="1"/>
                        <a:t>rôles</a:t>
                      </a:r>
                      <a:r>
                        <a:rPr sz="2400" dirty="0"/>
                        <a:t> simples</a:t>
                      </a:r>
                    </a:p>
                  </a:txBody>
                  <a:tcPr anchor="ctr"/>
                </a:tc>
                <a:tc>
                  <a:txBody>
                    <a:bodyPr/>
                    <a:lstStyle/>
                    <a:p>
                      <a:pPr algn="ctr">
                        <a:defRPr sz="900">
                          <a:solidFill>
                            <a:srgbClr val="2D3748"/>
                          </a:solidFill>
                          <a:latin typeface="Calibri"/>
                        </a:defRPr>
                      </a:pPr>
                      <a:r>
                        <a:rPr sz="2400" dirty="0" err="1"/>
                        <a:t>Élevée</a:t>
                      </a:r>
                      <a:r>
                        <a:rPr sz="2400" dirty="0"/>
                        <a:t> </a:t>
                      </a:r>
                      <a:r>
                        <a:rPr lang="en-US" sz="2400" dirty="0" smtClean="0"/>
                        <a:t>-</a:t>
                      </a:r>
                      <a:r>
                        <a:rPr sz="2400" dirty="0" smtClean="0"/>
                        <a:t> </a:t>
                      </a:r>
                      <a:r>
                        <a:rPr sz="2400" dirty="0" err="1"/>
                        <a:t>règles</a:t>
                      </a:r>
                      <a:r>
                        <a:rPr sz="2400" dirty="0"/>
                        <a:t> complexes</a:t>
                      </a:r>
                    </a:p>
                  </a:txBody>
                  <a:tcPr anchor="ctr"/>
                </a:tc>
                <a:extLst>
                  <a:ext uri="{0D108BD9-81ED-4DB2-BD59-A6C34878D82A}">
                    <a16:rowId xmlns:a16="http://schemas.microsoft.com/office/drawing/2014/main" val="10002"/>
                  </a:ext>
                </a:extLst>
              </a:tr>
              <a:tr h="410391">
                <a:tc>
                  <a:txBody>
                    <a:bodyPr/>
                    <a:lstStyle/>
                    <a:p>
                      <a:pPr algn="l">
                        <a:defRPr sz="900">
                          <a:solidFill>
                            <a:srgbClr val="2D3748"/>
                          </a:solidFill>
                          <a:latin typeface="Calibri"/>
                        </a:defRPr>
                      </a:pPr>
                      <a:r>
                        <a:rPr sz="2400"/>
                        <a:t>Isolation tenant</a:t>
                      </a:r>
                    </a:p>
                  </a:txBody>
                  <a:tcPr anchor="ctr">
                    <a:solidFill>
                      <a:srgbClr val="F7FAFC"/>
                    </a:solidFill>
                  </a:tcPr>
                </a:tc>
                <a:tc>
                  <a:txBody>
                    <a:bodyPr/>
                    <a:lstStyle/>
                    <a:p>
                      <a:pPr algn="ctr">
                        <a:defRPr sz="900">
                          <a:solidFill>
                            <a:srgbClr val="2D3748"/>
                          </a:solidFill>
                          <a:latin typeface="Calibri"/>
                        </a:defRPr>
                      </a:pPr>
                      <a:r>
                        <a:rPr sz="2400"/>
                        <a:t>Native via realms Keycloak</a:t>
                      </a:r>
                    </a:p>
                  </a:txBody>
                  <a:tcPr anchor="ctr">
                    <a:solidFill>
                      <a:srgbClr val="F7FAFC"/>
                    </a:solidFill>
                  </a:tcPr>
                </a:tc>
                <a:tc>
                  <a:txBody>
                    <a:bodyPr/>
                    <a:lstStyle/>
                    <a:p>
                      <a:pPr algn="ctr">
                        <a:defRPr sz="900">
                          <a:solidFill>
                            <a:srgbClr val="2D3748"/>
                          </a:solidFill>
                          <a:latin typeface="Calibri"/>
                        </a:defRPr>
                      </a:pPr>
                      <a:r>
                        <a:rPr sz="2400"/>
                        <a:t>Nécessite attributs contextuels</a:t>
                      </a:r>
                    </a:p>
                  </a:txBody>
                  <a:tcPr anchor="ctr">
                    <a:solidFill>
                      <a:srgbClr val="F7FAFC"/>
                    </a:solidFill>
                  </a:tcPr>
                </a:tc>
                <a:extLst>
                  <a:ext uri="{0D108BD9-81ED-4DB2-BD59-A6C34878D82A}">
                    <a16:rowId xmlns:a16="http://schemas.microsoft.com/office/drawing/2014/main" val="10003"/>
                  </a:ext>
                </a:extLst>
              </a:tr>
              <a:tr h="410391">
                <a:tc>
                  <a:txBody>
                    <a:bodyPr/>
                    <a:lstStyle/>
                    <a:p>
                      <a:pPr algn="l">
                        <a:defRPr sz="900">
                          <a:solidFill>
                            <a:srgbClr val="2D3748"/>
                          </a:solidFill>
                          <a:latin typeface="Calibri"/>
                        </a:defRPr>
                      </a:pPr>
                      <a:r>
                        <a:rPr sz="2400"/>
                        <a:t>Performance</a:t>
                      </a:r>
                    </a:p>
                  </a:txBody>
                  <a:tcPr anchor="ctr"/>
                </a:tc>
                <a:tc>
                  <a:txBody>
                    <a:bodyPr/>
                    <a:lstStyle/>
                    <a:p>
                      <a:pPr algn="ctr">
                        <a:defRPr sz="900">
                          <a:solidFill>
                            <a:srgbClr val="2D3748"/>
                          </a:solidFill>
                          <a:latin typeface="Calibri"/>
                        </a:defRPr>
                      </a:pPr>
                      <a:r>
                        <a:rPr sz="2400"/>
                        <a:t>Très rapide (JWT direct)</a:t>
                      </a:r>
                    </a:p>
                  </a:txBody>
                  <a:tcPr anchor="ctr"/>
                </a:tc>
                <a:tc>
                  <a:txBody>
                    <a:bodyPr/>
                    <a:lstStyle/>
                    <a:p>
                      <a:pPr algn="ctr">
                        <a:defRPr sz="900">
                          <a:solidFill>
                            <a:srgbClr val="2D3748"/>
                          </a:solidFill>
                          <a:latin typeface="Calibri"/>
                        </a:defRPr>
                      </a:pPr>
                      <a:r>
                        <a:rPr sz="2400"/>
                        <a:t>Plus lente (évaluation conditions)</a:t>
                      </a:r>
                    </a:p>
                  </a:txBody>
                  <a:tcPr anchor="ctr"/>
                </a:tc>
                <a:extLst>
                  <a:ext uri="{0D108BD9-81ED-4DB2-BD59-A6C34878D82A}">
                    <a16:rowId xmlns:a16="http://schemas.microsoft.com/office/drawing/2014/main" val="10004"/>
                  </a:ext>
                </a:extLst>
              </a:tr>
              <a:tr h="410391">
                <a:tc>
                  <a:txBody>
                    <a:bodyPr/>
                    <a:lstStyle/>
                    <a:p>
                      <a:pPr algn="l">
                        <a:defRPr sz="900">
                          <a:solidFill>
                            <a:srgbClr val="2D3748"/>
                          </a:solidFill>
                          <a:latin typeface="Calibri"/>
                        </a:defRPr>
                      </a:pPr>
                      <a:r>
                        <a:rPr sz="2400"/>
                        <a:t>Adapté TMPA</a:t>
                      </a:r>
                    </a:p>
                  </a:txBody>
                  <a:tcPr anchor="ctr">
                    <a:solidFill>
                      <a:srgbClr val="F7FAFC"/>
                    </a:solidFill>
                  </a:tcPr>
                </a:tc>
                <a:tc>
                  <a:txBody>
                    <a:bodyPr/>
                    <a:lstStyle/>
                    <a:p>
                      <a:pPr algn="ctr">
                        <a:defRPr sz="900">
                          <a:solidFill>
                            <a:srgbClr val="2D3748"/>
                          </a:solidFill>
                          <a:latin typeface="Calibri"/>
                        </a:defRPr>
                      </a:pPr>
                      <a:r>
                        <a:rPr sz="2400" dirty="0" smtClean="0"/>
                        <a:t> </a:t>
                      </a:r>
                      <a:r>
                        <a:rPr sz="2400" dirty="0" err="1"/>
                        <a:t>Oui</a:t>
                      </a:r>
                      <a:r>
                        <a:rPr sz="2400" dirty="0"/>
                        <a:t> </a:t>
                      </a:r>
                      <a:r>
                        <a:rPr lang="en-US" sz="2400" dirty="0" smtClean="0"/>
                        <a:t>-</a:t>
                      </a:r>
                      <a:r>
                        <a:rPr sz="2400" dirty="0" smtClean="0"/>
                        <a:t> </a:t>
                      </a:r>
                      <a:r>
                        <a:rPr sz="2400" dirty="0"/>
                        <a:t>multi-realm </a:t>
                      </a:r>
                      <a:r>
                        <a:rPr sz="2400" dirty="0" err="1"/>
                        <a:t>natif</a:t>
                      </a:r>
                      <a:endParaRPr sz="2400" dirty="0"/>
                    </a:p>
                  </a:txBody>
                  <a:tcPr anchor="ctr">
                    <a:solidFill>
                      <a:srgbClr val="F7FAFC"/>
                    </a:solidFill>
                  </a:tcPr>
                </a:tc>
                <a:tc>
                  <a:txBody>
                    <a:bodyPr/>
                    <a:lstStyle/>
                    <a:p>
                      <a:pPr algn="ctr">
                        <a:defRPr sz="900">
                          <a:solidFill>
                            <a:srgbClr val="2D3748"/>
                          </a:solidFill>
                          <a:latin typeface="Calibri"/>
                        </a:defRPr>
                      </a:pPr>
                      <a:r>
                        <a:rPr sz="2400" dirty="0" err="1"/>
                        <a:t>Partiellement</a:t>
                      </a:r>
                      <a:r>
                        <a:rPr sz="2400" dirty="0"/>
                        <a:t> </a:t>
                      </a:r>
                      <a:r>
                        <a:rPr lang="en-US" sz="2400" dirty="0" smtClean="0"/>
                        <a:t>-</a:t>
                      </a:r>
                      <a:r>
                        <a:rPr sz="2400" dirty="0" smtClean="0"/>
                        <a:t> </a:t>
                      </a:r>
                      <a:r>
                        <a:rPr sz="2400" dirty="0"/>
                        <a:t>sur-</a:t>
                      </a:r>
                      <a:r>
                        <a:rPr sz="2400" dirty="0" err="1"/>
                        <a:t>dimensionné</a:t>
                      </a:r>
                      <a:endParaRPr sz="2400" dirty="0"/>
                    </a:p>
                  </a:txBody>
                  <a:tcPr anchor="ctr">
                    <a:solidFill>
                      <a:srgbClr val="F7FAFC"/>
                    </a:solidFill>
                  </a:tcPr>
                </a:tc>
                <a:extLst>
                  <a:ext uri="{0D108BD9-81ED-4DB2-BD59-A6C34878D82A}">
                    <a16:rowId xmlns:a16="http://schemas.microsoft.com/office/drawing/2014/main" val="10005"/>
                  </a:ext>
                </a:extLst>
              </a:tr>
              <a:tr h="410391">
                <a:tc>
                  <a:txBody>
                    <a:bodyPr/>
                    <a:lstStyle/>
                    <a:p>
                      <a:pPr algn="l">
                        <a:defRPr sz="900">
                          <a:solidFill>
                            <a:srgbClr val="2D3748"/>
                          </a:solidFill>
                          <a:latin typeface="Calibri"/>
                        </a:defRPr>
                      </a:pPr>
                      <a:r>
                        <a:rPr sz="2400" dirty="0" err="1"/>
                        <a:t>Mise</a:t>
                      </a:r>
                      <a:r>
                        <a:rPr sz="2400" dirty="0"/>
                        <a:t> </a:t>
                      </a:r>
                      <a:r>
                        <a:rPr sz="2400" dirty="0" err="1"/>
                        <a:t>en</a:t>
                      </a:r>
                      <a:r>
                        <a:rPr sz="2400" dirty="0"/>
                        <a:t> </a:t>
                      </a:r>
                      <a:r>
                        <a:rPr sz="2400" dirty="0" err="1"/>
                        <a:t>œuvre</a:t>
                      </a:r>
                      <a:endParaRPr sz="2400" dirty="0"/>
                    </a:p>
                  </a:txBody>
                  <a:tcPr anchor="ctr"/>
                </a:tc>
                <a:tc>
                  <a:txBody>
                    <a:bodyPr/>
                    <a:lstStyle/>
                    <a:p>
                      <a:pPr algn="ctr">
                        <a:defRPr sz="900">
                          <a:solidFill>
                            <a:srgbClr val="2D3748"/>
                          </a:solidFill>
                          <a:latin typeface="Calibri"/>
                        </a:defRPr>
                      </a:pPr>
                      <a:r>
                        <a:rPr sz="2400"/>
                        <a:t>Native Keycloak</a:t>
                      </a:r>
                    </a:p>
                  </a:txBody>
                  <a:tcPr anchor="ctr"/>
                </a:tc>
                <a:tc>
                  <a:txBody>
                    <a:bodyPr/>
                    <a:lstStyle/>
                    <a:p>
                      <a:pPr algn="ctr">
                        <a:defRPr sz="900">
                          <a:solidFill>
                            <a:srgbClr val="2D3748"/>
                          </a:solidFill>
                          <a:latin typeface="Calibri"/>
                        </a:defRPr>
                      </a:pPr>
                      <a:r>
                        <a:rPr sz="2400" dirty="0" err="1"/>
                        <a:t>Moteur</a:t>
                      </a:r>
                      <a:r>
                        <a:rPr sz="2400" dirty="0"/>
                        <a:t> de </a:t>
                      </a:r>
                      <a:r>
                        <a:rPr sz="2400" dirty="0" err="1"/>
                        <a:t>règles</a:t>
                      </a:r>
                      <a:r>
                        <a:rPr sz="2400" dirty="0"/>
                        <a:t> </a:t>
                      </a:r>
                      <a:r>
                        <a:rPr sz="2400" dirty="0" err="1"/>
                        <a:t>externe</a:t>
                      </a:r>
                      <a:r>
                        <a:rPr sz="2400" dirty="0"/>
                        <a:t> </a:t>
                      </a:r>
                      <a:r>
                        <a:rPr sz="2400" dirty="0" err="1"/>
                        <a:t>requis</a:t>
                      </a:r>
                      <a:endParaRPr sz="2400" dirty="0"/>
                    </a:p>
                  </a:txBody>
                  <a:tcPr anchor="ctr"/>
                </a:tc>
                <a:extLst>
                  <a:ext uri="{0D108BD9-81ED-4DB2-BD59-A6C34878D82A}">
                    <a16:rowId xmlns:a16="http://schemas.microsoft.com/office/drawing/2014/main" val="10006"/>
                  </a:ext>
                </a:extLst>
              </a:tr>
            </a:tbl>
          </a:graphicData>
        </a:graphic>
      </p:graphicFrame>
      <p:sp>
        <p:nvSpPr>
          <p:cNvPr id="16" name="TextBox 4"/>
          <p:cNvSpPr txBox="1"/>
          <p:nvPr/>
        </p:nvSpPr>
        <p:spPr>
          <a:xfrm>
            <a:off x="594359" y="3055529"/>
            <a:ext cx="7220607" cy="400110"/>
          </a:xfrm>
          <a:prstGeom prst="rect">
            <a:avLst/>
          </a:prstGeom>
          <a:noFill/>
        </p:spPr>
        <p:txBody>
          <a:bodyPr wrap="square">
            <a:spAutoFit/>
          </a:bodyPr>
          <a:lstStyle/>
          <a:p>
            <a:pPr algn="l">
              <a:defRPr sz="1800" b="1">
                <a:solidFill>
                  <a:srgbClr val="2C5282"/>
                </a:solidFill>
                <a:latin typeface="Calibri"/>
              </a:defRPr>
            </a:pPr>
            <a:r>
              <a:rPr sz="2000" dirty="0" err="1"/>
              <a:t>Keycloak</a:t>
            </a:r>
            <a:r>
              <a:rPr sz="2000" dirty="0"/>
              <a:t> — </a:t>
            </a:r>
            <a:r>
              <a:rPr sz="2000" dirty="0" err="1"/>
              <a:t>Plateforme</a:t>
            </a:r>
            <a:r>
              <a:rPr sz="2000" dirty="0"/>
              <a:t> IAM (Identity and Access Management)</a:t>
            </a:r>
          </a:p>
        </p:txBody>
      </p:sp>
      <p:sp>
        <p:nvSpPr>
          <p:cNvPr id="17" name="TextBox 5"/>
          <p:cNvSpPr txBox="1"/>
          <p:nvPr/>
        </p:nvSpPr>
        <p:spPr>
          <a:xfrm>
            <a:off x="1352242" y="3684239"/>
            <a:ext cx="6979920" cy="2323713"/>
          </a:xfrm>
          <a:prstGeom prst="rect">
            <a:avLst/>
          </a:prstGeom>
          <a:noFill/>
        </p:spPr>
        <p:txBody>
          <a:bodyPr wrap="square">
            <a:spAutoFit/>
          </a:bodyPr>
          <a:lstStyle/>
          <a:p>
            <a:pPr>
              <a:spcAft>
                <a:spcPts val="600"/>
              </a:spcAft>
              <a:defRPr sz="1200">
                <a:solidFill>
                  <a:srgbClr val="2D3748"/>
                </a:solidFill>
                <a:latin typeface="Calibri"/>
              </a:defRPr>
            </a:pPr>
            <a:r>
              <a:rPr sz="2000" dirty="0">
                <a:solidFill>
                  <a:srgbClr val="2D3748"/>
                </a:solidFill>
                <a:latin typeface="Calibri"/>
              </a:rPr>
              <a:t>• </a:t>
            </a:r>
            <a:r>
              <a:rPr sz="2000" dirty="0" err="1">
                <a:solidFill>
                  <a:srgbClr val="2D3748"/>
                </a:solidFill>
                <a:latin typeface="Calibri"/>
              </a:rPr>
              <a:t>Gestion</a:t>
            </a:r>
            <a:r>
              <a:rPr sz="2000" dirty="0">
                <a:solidFill>
                  <a:srgbClr val="2D3748"/>
                </a:solidFill>
                <a:latin typeface="Calibri"/>
              </a:rPr>
              <a:t> </a:t>
            </a:r>
            <a:r>
              <a:rPr sz="2000" dirty="0" err="1">
                <a:solidFill>
                  <a:srgbClr val="2D3748"/>
                </a:solidFill>
                <a:latin typeface="Calibri"/>
              </a:rPr>
              <a:t>centralisée</a:t>
            </a:r>
            <a:r>
              <a:rPr sz="2000" dirty="0">
                <a:solidFill>
                  <a:srgbClr val="2D3748"/>
                </a:solidFill>
                <a:latin typeface="Calibri"/>
              </a:rPr>
              <a:t> des </a:t>
            </a:r>
            <a:r>
              <a:rPr sz="2000" dirty="0" err="1">
                <a:solidFill>
                  <a:srgbClr val="2D3748"/>
                </a:solidFill>
                <a:latin typeface="Calibri"/>
              </a:rPr>
              <a:t>utilisateurs</a:t>
            </a:r>
            <a:endParaRPr sz="2000" dirty="0">
              <a:solidFill>
                <a:srgbClr val="2D3748"/>
              </a:solidFill>
              <a:latin typeface="Calibri"/>
            </a:endParaRPr>
          </a:p>
          <a:p>
            <a:pPr>
              <a:spcAft>
                <a:spcPts val="600"/>
              </a:spcAft>
              <a:defRPr sz="1200">
                <a:solidFill>
                  <a:srgbClr val="2D3748"/>
                </a:solidFill>
                <a:latin typeface="Calibri"/>
              </a:defRPr>
            </a:pPr>
            <a:r>
              <a:rPr sz="2000" dirty="0">
                <a:solidFill>
                  <a:srgbClr val="2D3748"/>
                </a:solidFill>
                <a:latin typeface="Calibri"/>
              </a:rPr>
              <a:t>• </a:t>
            </a:r>
            <a:r>
              <a:rPr sz="2000" dirty="0" err="1">
                <a:solidFill>
                  <a:srgbClr val="2D3748"/>
                </a:solidFill>
                <a:latin typeface="Calibri"/>
              </a:rPr>
              <a:t>Gestion</a:t>
            </a:r>
            <a:r>
              <a:rPr sz="2000" dirty="0">
                <a:solidFill>
                  <a:srgbClr val="2D3748"/>
                </a:solidFill>
                <a:latin typeface="Calibri"/>
              </a:rPr>
              <a:t> des </a:t>
            </a:r>
            <a:r>
              <a:rPr sz="2000" dirty="0" err="1">
                <a:solidFill>
                  <a:srgbClr val="2D3748"/>
                </a:solidFill>
                <a:latin typeface="Calibri"/>
              </a:rPr>
              <a:t>rôles</a:t>
            </a:r>
            <a:r>
              <a:rPr sz="2000" dirty="0">
                <a:solidFill>
                  <a:srgbClr val="2D3748"/>
                </a:solidFill>
                <a:latin typeface="Calibri"/>
              </a:rPr>
              <a:t> et permissions</a:t>
            </a:r>
          </a:p>
          <a:p>
            <a:pPr>
              <a:spcAft>
                <a:spcPts val="600"/>
              </a:spcAft>
              <a:defRPr sz="1200">
                <a:solidFill>
                  <a:srgbClr val="2D3748"/>
                </a:solidFill>
                <a:latin typeface="Calibri"/>
              </a:defRPr>
            </a:pPr>
            <a:r>
              <a:rPr sz="2000" dirty="0">
                <a:solidFill>
                  <a:srgbClr val="2D3748"/>
                </a:solidFill>
                <a:latin typeface="Calibri"/>
              </a:rPr>
              <a:t>• </a:t>
            </a:r>
            <a:r>
              <a:rPr sz="2000" dirty="0" err="1">
                <a:solidFill>
                  <a:srgbClr val="2D3748"/>
                </a:solidFill>
                <a:latin typeface="Calibri"/>
              </a:rPr>
              <a:t>Authentification</a:t>
            </a:r>
            <a:r>
              <a:rPr sz="2000" dirty="0">
                <a:solidFill>
                  <a:srgbClr val="2D3748"/>
                </a:solidFill>
                <a:latin typeface="Calibri"/>
              </a:rPr>
              <a:t> </a:t>
            </a:r>
            <a:r>
              <a:rPr sz="2000" dirty="0" err="1">
                <a:solidFill>
                  <a:srgbClr val="2D3748"/>
                </a:solidFill>
                <a:latin typeface="Calibri"/>
              </a:rPr>
              <a:t>centralisée</a:t>
            </a:r>
            <a:r>
              <a:rPr sz="2000" dirty="0">
                <a:solidFill>
                  <a:srgbClr val="2D3748"/>
                </a:solidFill>
                <a:latin typeface="Calibri"/>
              </a:rPr>
              <a:t> (OIDC)</a:t>
            </a:r>
          </a:p>
          <a:p>
            <a:pPr>
              <a:spcAft>
                <a:spcPts val="600"/>
              </a:spcAft>
              <a:defRPr sz="1200">
                <a:solidFill>
                  <a:srgbClr val="2D3748"/>
                </a:solidFill>
                <a:latin typeface="Calibri"/>
              </a:defRPr>
            </a:pPr>
            <a:r>
              <a:rPr sz="2000" dirty="0">
                <a:solidFill>
                  <a:srgbClr val="2D3748"/>
                </a:solidFill>
                <a:latin typeface="Calibri"/>
              </a:rPr>
              <a:t>• MFA / OTP </a:t>
            </a:r>
            <a:r>
              <a:rPr sz="2000" dirty="0" err="1">
                <a:solidFill>
                  <a:srgbClr val="2D3748"/>
                </a:solidFill>
                <a:latin typeface="Calibri"/>
              </a:rPr>
              <a:t>obligatoire</a:t>
            </a:r>
            <a:endParaRPr sz="2000" dirty="0">
              <a:solidFill>
                <a:srgbClr val="2D3748"/>
              </a:solidFill>
              <a:latin typeface="Calibri"/>
            </a:endParaRPr>
          </a:p>
          <a:p>
            <a:pPr>
              <a:spcAft>
                <a:spcPts val="600"/>
              </a:spcAft>
              <a:defRPr sz="1200">
                <a:solidFill>
                  <a:srgbClr val="2D3748"/>
                </a:solidFill>
                <a:latin typeface="Calibri"/>
              </a:defRPr>
            </a:pPr>
            <a:r>
              <a:rPr sz="2000" dirty="0">
                <a:solidFill>
                  <a:srgbClr val="2D3748"/>
                </a:solidFill>
                <a:latin typeface="Calibri"/>
              </a:rPr>
              <a:t>• SSO (Single Sign-On)</a:t>
            </a:r>
          </a:p>
          <a:p>
            <a:pPr>
              <a:spcAft>
                <a:spcPts val="600"/>
              </a:spcAft>
              <a:defRPr sz="1200">
                <a:solidFill>
                  <a:srgbClr val="2D3748"/>
                </a:solidFill>
                <a:latin typeface="Calibri"/>
              </a:defRPr>
            </a:pPr>
            <a:r>
              <a:rPr sz="2000" dirty="0">
                <a:solidFill>
                  <a:srgbClr val="2D3748"/>
                </a:solidFill>
                <a:latin typeface="Calibri"/>
              </a:rPr>
              <a:t>• </a:t>
            </a:r>
            <a:r>
              <a:rPr sz="2000" dirty="0" err="1">
                <a:solidFill>
                  <a:srgbClr val="2D3748"/>
                </a:solidFill>
                <a:latin typeface="Calibri"/>
              </a:rPr>
              <a:t>Contrôle</a:t>
            </a:r>
            <a:r>
              <a:rPr sz="2000" dirty="0">
                <a:solidFill>
                  <a:srgbClr val="2D3748"/>
                </a:solidFill>
                <a:latin typeface="Calibri"/>
              </a:rPr>
              <a:t> des permissions </a:t>
            </a:r>
            <a:r>
              <a:rPr sz="2000" dirty="0" err="1">
                <a:solidFill>
                  <a:srgbClr val="2D3748"/>
                </a:solidFill>
                <a:latin typeface="Calibri"/>
              </a:rPr>
              <a:t>granulaire</a:t>
            </a:r>
            <a:endParaRPr sz="2000" dirty="0">
              <a:solidFill>
                <a:srgbClr val="2D3748"/>
              </a:solidFill>
              <a:latin typeface="Calibri"/>
            </a:endParaRPr>
          </a:p>
        </p:txBody>
      </p:sp>
      <p:sp>
        <p:nvSpPr>
          <p:cNvPr id="20" name="TextBox 10"/>
          <p:cNvSpPr txBox="1"/>
          <p:nvPr/>
        </p:nvSpPr>
        <p:spPr>
          <a:xfrm>
            <a:off x="8812530" y="3055529"/>
            <a:ext cx="5486400" cy="400110"/>
          </a:xfrm>
          <a:prstGeom prst="rect">
            <a:avLst/>
          </a:prstGeom>
          <a:noFill/>
        </p:spPr>
        <p:txBody>
          <a:bodyPr wrap="square">
            <a:spAutoFit/>
          </a:bodyPr>
          <a:lstStyle/>
          <a:p>
            <a:pPr algn="l">
              <a:defRPr sz="1600" b="1">
                <a:solidFill>
                  <a:srgbClr val="2C5282"/>
                </a:solidFill>
                <a:latin typeface="Calibri"/>
              </a:defRPr>
            </a:pPr>
            <a:r>
              <a:rPr sz="2000" b="1" dirty="0" err="1">
                <a:solidFill>
                  <a:srgbClr val="2C5282"/>
                </a:solidFill>
                <a:latin typeface="Calibri"/>
              </a:rPr>
              <a:t>Pourquoi</a:t>
            </a:r>
            <a:r>
              <a:rPr dirty="0"/>
              <a:t> </a:t>
            </a:r>
            <a:r>
              <a:rPr sz="2000" b="1" dirty="0">
                <a:solidFill>
                  <a:srgbClr val="2C5282"/>
                </a:solidFill>
                <a:latin typeface="Calibri"/>
              </a:rPr>
              <a:t>RBAC</a:t>
            </a:r>
            <a:r>
              <a:rPr dirty="0"/>
              <a:t> </a:t>
            </a:r>
            <a:r>
              <a:rPr sz="2000" b="1" dirty="0">
                <a:solidFill>
                  <a:srgbClr val="2C5282"/>
                </a:solidFill>
                <a:latin typeface="Calibri"/>
              </a:rPr>
              <a:t>et</a:t>
            </a:r>
            <a:r>
              <a:rPr dirty="0"/>
              <a:t> </a:t>
            </a:r>
            <a:r>
              <a:rPr sz="2000" b="1" dirty="0">
                <a:solidFill>
                  <a:srgbClr val="2C5282"/>
                </a:solidFill>
                <a:latin typeface="Calibri"/>
              </a:rPr>
              <a:t>pas</a:t>
            </a:r>
            <a:r>
              <a:rPr dirty="0"/>
              <a:t> </a:t>
            </a:r>
            <a:r>
              <a:rPr sz="2000" b="1" dirty="0">
                <a:solidFill>
                  <a:srgbClr val="2C5282"/>
                </a:solidFill>
                <a:latin typeface="Calibri"/>
              </a:rPr>
              <a:t>ABAC</a:t>
            </a:r>
            <a:r>
              <a:rPr dirty="0"/>
              <a:t> ?</a:t>
            </a:r>
          </a:p>
        </p:txBody>
      </p:sp>
      <p:sp>
        <p:nvSpPr>
          <p:cNvPr id="21" name="TextBox 11"/>
          <p:cNvSpPr txBox="1"/>
          <p:nvPr/>
        </p:nvSpPr>
        <p:spPr>
          <a:xfrm>
            <a:off x="8812530" y="3857942"/>
            <a:ext cx="5303520" cy="1554272"/>
          </a:xfrm>
          <a:prstGeom prst="rect">
            <a:avLst/>
          </a:prstGeom>
          <a:noFill/>
        </p:spPr>
        <p:txBody>
          <a:bodyPr wrap="square">
            <a:spAutoFit/>
          </a:bodyPr>
          <a:lstStyle/>
          <a:p>
            <a:pPr>
              <a:spcAft>
                <a:spcPts val="600"/>
              </a:spcAft>
              <a:defRPr sz="1100">
                <a:solidFill>
                  <a:srgbClr val="38A169"/>
                </a:solidFill>
                <a:latin typeface="Calibri"/>
              </a:defRPr>
            </a:pPr>
            <a:r>
              <a:rPr sz="2000" dirty="0">
                <a:solidFill>
                  <a:srgbClr val="2D3748"/>
                </a:solidFill>
                <a:latin typeface="Calibri"/>
              </a:rPr>
              <a:t>✓ Plus simple à </a:t>
            </a:r>
            <a:r>
              <a:rPr sz="2000" dirty="0" err="1">
                <a:solidFill>
                  <a:srgbClr val="2D3748"/>
                </a:solidFill>
                <a:latin typeface="Calibri"/>
              </a:rPr>
              <a:t>administrer</a:t>
            </a:r>
            <a:endParaRPr sz="2000" dirty="0">
              <a:solidFill>
                <a:srgbClr val="2D3748"/>
              </a:solidFill>
              <a:latin typeface="Calibri"/>
            </a:endParaRPr>
          </a:p>
          <a:p>
            <a:pPr>
              <a:spcAft>
                <a:spcPts val="600"/>
              </a:spcAft>
              <a:defRPr sz="1100">
                <a:solidFill>
                  <a:srgbClr val="38A169"/>
                </a:solidFill>
                <a:latin typeface="Calibri"/>
              </a:defRPr>
            </a:pPr>
            <a:r>
              <a:rPr sz="2000" dirty="0">
                <a:solidFill>
                  <a:srgbClr val="2D3748"/>
                </a:solidFill>
                <a:latin typeface="Calibri"/>
              </a:rPr>
              <a:t>✓ Facile à </a:t>
            </a:r>
            <a:r>
              <a:rPr sz="2000" dirty="0" err="1">
                <a:solidFill>
                  <a:srgbClr val="2D3748"/>
                </a:solidFill>
                <a:latin typeface="Calibri"/>
              </a:rPr>
              <a:t>auditer</a:t>
            </a:r>
            <a:endParaRPr sz="2000" dirty="0">
              <a:solidFill>
                <a:srgbClr val="2D3748"/>
              </a:solidFill>
              <a:latin typeface="Calibri"/>
            </a:endParaRPr>
          </a:p>
          <a:p>
            <a:pPr>
              <a:spcAft>
                <a:spcPts val="600"/>
              </a:spcAft>
              <a:defRPr sz="1100">
                <a:solidFill>
                  <a:srgbClr val="38A169"/>
                </a:solidFill>
                <a:latin typeface="Calibri"/>
              </a:defRPr>
            </a:pPr>
            <a:r>
              <a:rPr sz="2000" dirty="0">
                <a:solidFill>
                  <a:srgbClr val="2D3748"/>
                </a:solidFill>
                <a:latin typeface="Calibri"/>
              </a:rPr>
              <a:t>✓ Plus </a:t>
            </a:r>
            <a:r>
              <a:rPr sz="2000" dirty="0" err="1">
                <a:solidFill>
                  <a:srgbClr val="2D3748"/>
                </a:solidFill>
                <a:latin typeface="Calibri"/>
              </a:rPr>
              <a:t>rapide</a:t>
            </a:r>
            <a:r>
              <a:rPr sz="2000" dirty="0">
                <a:solidFill>
                  <a:srgbClr val="2D3748"/>
                </a:solidFill>
                <a:latin typeface="Calibri"/>
              </a:rPr>
              <a:t> à </a:t>
            </a:r>
            <a:r>
              <a:rPr sz="2000" dirty="0" err="1">
                <a:solidFill>
                  <a:srgbClr val="2D3748"/>
                </a:solidFill>
                <a:latin typeface="Calibri"/>
              </a:rPr>
              <a:t>mettre</a:t>
            </a:r>
            <a:r>
              <a:rPr sz="2000" dirty="0">
                <a:solidFill>
                  <a:srgbClr val="2D3748"/>
                </a:solidFill>
                <a:latin typeface="Calibri"/>
              </a:rPr>
              <a:t> </a:t>
            </a:r>
            <a:r>
              <a:rPr sz="2000" dirty="0" err="1">
                <a:solidFill>
                  <a:srgbClr val="2D3748"/>
                </a:solidFill>
                <a:latin typeface="Calibri"/>
              </a:rPr>
              <a:t>en</a:t>
            </a:r>
            <a:r>
              <a:rPr sz="2000" dirty="0">
                <a:solidFill>
                  <a:srgbClr val="2D3748"/>
                </a:solidFill>
                <a:latin typeface="Calibri"/>
              </a:rPr>
              <a:t> </a:t>
            </a:r>
            <a:r>
              <a:rPr sz="2000" dirty="0" err="1">
                <a:solidFill>
                  <a:srgbClr val="2D3748"/>
                </a:solidFill>
                <a:latin typeface="Calibri"/>
              </a:rPr>
              <a:t>œuvre</a:t>
            </a:r>
            <a:endParaRPr sz="2000" dirty="0">
              <a:solidFill>
                <a:srgbClr val="2D3748"/>
              </a:solidFill>
              <a:latin typeface="Calibri"/>
            </a:endParaRPr>
          </a:p>
          <a:p>
            <a:pPr>
              <a:spcAft>
                <a:spcPts val="600"/>
              </a:spcAft>
              <a:defRPr sz="1100">
                <a:solidFill>
                  <a:srgbClr val="38A169"/>
                </a:solidFill>
                <a:latin typeface="Calibri"/>
              </a:defRPr>
            </a:pPr>
            <a:r>
              <a:rPr sz="2000" dirty="0">
                <a:solidFill>
                  <a:srgbClr val="2D3748"/>
                </a:solidFill>
                <a:latin typeface="Calibri"/>
              </a:rPr>
              <a:t>✓ </a:t>
            </a:r>
            <a:r>
              <a:rPr sz="2000" dirty="0" err="1">
                <a:solidFill>
                  <a:srgbClr val="2D3748"/>
                </a:solidFill>
                <a:latin typeface="Calibri"/>
              </a:rPr>
              <a:t>Suffisant</a:t>
            </a:r>
            <a:r>
              <a:rPr sz="2000" dirty="0">
                <a:solidFill>
                  <a:srgbClr val="2D3748"/>
                </a:solidFill>
                <a:latin typeface="Calibri"/>
              </a:rPr>
              <a:t> pour les </a:t>
            </a:r>
            <a:r>
              <a:rPr sz="2000" dirty="0" err="1">
                <a:solidFill>
                  <a:srgbClr val="2D3748"/>
                </a:solidFill>
                <a:latin typeface="Calibri"/>
              </a:rPr>
              <a:t>besoins</a:t>
            </a:r>
            <a:r>
              <a:rPr sz="2000" dirty="0">
                <a:solidFill>
                  <a:srgbClr val="2D3748"/>
                </a:solidFill>
                <a:latin typeface="Calibri"/>
              </a:rPr>
              <a:t> TMPA</a:t>
            </a:r>
          </a:p>
        </p:txBody>
      </p:sp>
      <p:sp>
        <p:nvSpPr>
          <p:cNvPr id="18" name="TextBox 66"/>
          <p:cNvSpPr txBox="1"/>
          <p:nvPr/>
        </p:nvSpPr>
        <p:spPr>
          <a:xfrm>
            <a:off x="3669615" y="1461646"/>
            <a:ext cx="10948769" cy="641201"/>
          </a:xfrm>
          <a:prstGeom prst="rect">
            <a:avLst/>
          </a:prstGeom>
          <a:blipFill>
            <a:blip r:embed="rId3"/>
            <a:stretch>
              <a:fillRect l="-13320" r="-13320"/>
            </a:stretch>
          </a:blipFill>
        </p:spPr>
        <p:txBody>
          <a:bodyPr lIns="0" tIns="0" rIns="0" bIns="0" rtlCol="0" anchor="t">
            <a:spAutoFit/>
          </a:bodyPr>
          <a:lstStyle/>
          <a:p>
            <a:pPr algn="ctr">
              <a:lnSpc>
                <a:spcPts val="5040"/>
              </a:lnSpc>
              <a:spcBef>
                <a:spcPct val="0"/>
              </a:spcBef>
            </a:pPr>
            <a:r>
              <a:rPr lang="fr-FR" sz="3600" b="1" dirty="0">
                <a:solidFill>
                  <a:srgbClr val="000000"/>
                </a:solidFill>
                <a:latin typeface="Open Sauce Bold"/>
                <a:ea typeface="Open Sauce Bold"/>
                <a:cs typeface="Open Sauce Bold"/>
              </a:rPr>
              <a:t>Couche</a:t>
            </a:r>
            <a:r>
              <a:rPr lang="fr-FR" sz="3600" dirty="0" smtClean="0"/>
              <a:t> </a:t>
            </a:r>
            <a:r>
              <a:rPr lang="fr-FR" sz="3600" b="1" dirty="0">
                <a:solidFill>
                  <a:srgbClr val="000000"/>
                </a:solidFill>
                <a:latin typeface="Open Sauce Bold"/>
                <a:ea typeface="Open Sauce Bold"/>
                <a:cs typeface="Open Sauce Bold"/>
              </a:rPr>
              <a:t>2 :</a:t>
            </a:r>
            <a:r>
              <a:rPr lang="fr-FR" sz="3600" b="1" dirty="0" err="1">
                <a:solidFill>
                  <a:srgbClr val="000000"/>
                </a:solidFill>
                <a:latin typeface="Open Sauce Bold"/>
                <a:ea typeface="Open Sauce Bold"/>
                <a:cs typeface="Open Sauce Bold"/>
              </a:rPr>
              <a:t>Keycloak</a:t>
            </a:r>
            <a:r>
              <a:rPr lang="fr-FR" sz="3600" b="1" dirty="0">
                <a:solidFill>
                  <a:srgbClr val="000000"/>
                </a:solidFill>
                <a:latin typeface="Open Sauce Bold"/>
                <a:ea typeface="Open Sauce Bold"/>
                <a:cs typeface="Open Sauce Bold"/>
              </a:rPr>
              <a:t> RBAC</a:t>
            </a:r>
            <a:r>
              <a:rPr lang="fr-FR" sz="3600" dirty="0"/>
              <a:t> </a:t>
            </a:r>
            <a:r>
              <a:rPr lang="fr-FR" sz="3600" b="1" dirty="0">
                <a:solidFill>
                  <a:srgbClr val="000000"/>
                </a:solidFill>
                <a:latin typeface="Open Sauce Bold"/>
                <a:ea typeface="Open Sauce Bold"/>
                <a:cs typeface="Open Sauce Bold"/>
              </a:rPr>
              <a:t>vs</a:t>
            </a:r>
            <a:r>
              <a:rPr lang="fr-FR" sz="3600" dirty="0"/>
              <a:t> </a:t>
            </a:r>
            <a:r>
              <a:rPr lang="fr-FR" sz="3600" b="1" dirty="0">
                <a:solidFill>
                  <a:srgbClr val="000000"/>
                </a:solidFill>
                <a:latin typeface="Open Sauce Bold"/>
                <a:ea typeface="Open Sauce Bold"/>
                <a:cs typeface="Open Sauce Bold"/>
              </a:rPr>
              <a:t>ABAC</a:t>
            </a:r>
          </a:p>
        </p:txBody>
      </p:sp>
    </p:spTree>
    <p:extLst>
      <p:ext uri="{BB962C8B-B14F-4D97-AF65-F5344CB8AC3E}">
        <p14:creationId xmlns:p14="http://schemas.microsoft.com/office/powerpoint/2010/main" val="2216430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1000"/>
                                        <p:tgtEl>
                                          <p:spTgt spid="33"/>
                                        </p:tgtEl>
                                      </p:cBhvr>
                                    </p:animEffect>
                                    <p:anim calcmode="lin" valueType="num">
                                      <p:cBhvr>
                                        <p:cTn id="8" dur="1000" fill="hold"/>
                                        <p:tgtEl>
                                          <p:spTgt spid="33"/>
                                        </p:tgtEl>
                                        <p:attrNameLst>
                                          <p:attrName>ppt_x</p:attrName>
                                        </p:attrNameLst>
                                      </p:cBhvr>
                                      <p:tavLst>
                                        <p:tav tm="0">
                                          <p:val>
                                            <p:strVal val="#ppt_x"/>
                                          </p:val>
                                        </p:tav>
                                        <p:tav tm="100000">
                                          <p:val>
                                            <p:strVal val="#ppt_x"/>
                                          </p:val>
                                        </p:tav>
                                      </p:tavLst>
                                    </p:anim>
                                    <p:anim calcmode="lin" valueType="num">
                                      <p:cBhvr>
                                        <p:cTn id="9" dur="10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grpId="0" nodeType="click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barn(inVertical)">
                                      <p:cBhvr>
                                        <p:cTn id="14" dur="500"/>
                                        <p:tgtEl>
                                          <p:spTgt spid="16"/>
                                        </p:tgtEl>
                                      </p:cBhvr>
                                    </p:animEffect>
                                  </p:childTnLst>
                                </p:cTn>
                              </p:par>
                              <p:par>
                                <p:cTn id="15" presetID="16" presetClass="entr" presetSubtype="21"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barn(inVertical)">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1000"/>
                                        <p:tgtEl>
                                          <p:spTgt spid="15"/>
                                        </p:tgtEl>
                                      </p:cBhvr>
                                    </p:animEffect>
                                    <p:anim calcmode="lin" valueType="num">
                                      <p:cBhvr>
                                        <p:cTn id="23" dur="1000" fill="hold"/>
                                        <p:tgtEl>
                                          <p:spTgt spid="15"/>
                                        </p:tgtEl>
                                        <p:attrNameLst>
                                          <p:attrName>ppt_x</p:attrName>
                                        </p:attrNameLst>
                                      </p:cBhvr>
                                      <p:tavLst>
                                        <p:tav tm="0">
                                          <p:val>
                                            <p:strVal val="#ppt_x"/>
                                          </p:val>
                                        </p:tav>
                                        <p:tav tm="100000">
                                          <p:val>
                                            <p:strVal val="#ppt_x"/>
                                          </p:val>
                                        </p:tav>
                                      </p:tavLst>
                                    </p:anim>
                                    <p:anim calcmode="lin" valueType="num">
                                      <p:cBhvr>
                                        <p:cTn id="24"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wipe(down)">
                                      <p:cBhvr>
                                        <p:cTn id="29" dur="500"/>
                                        <p:tgtEl>
                                          <p:spTgt spid="20"/>
                                        </p:tgtEl>
                                      </p:cBhvr>
                                    </p:animEffect>
                                  </p:childTnLst>
                                </p:cTn>
                              </p:par>
                              <p:par>
                                <p:cTn id="30" presetID="22" presetClass="entr" presetSubtype="4"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20" grpId="0"/>
      <p:bldP spid="2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12373" y="134203"/>
            <a:ext cx="18288000" cy="1019604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a:xfrm>
            <a:off x="16040428" y="9822924"/>
            <a:ext cx="2133600" cy="365125"/>
          </a:xfrm>
        </p:spPr>
        <p:txBody>
          <a:bodyPr/>
          <a:lstStyle/>
          <a:p>
            <a:fld id="{B6F15528-21DE-4FAA-801E-634DDDAF4B2B}" type="slidenum">
              <a:rPr lang="en-US" sz="2400" b="1" smtClean="0"/>
              <a:pPr/>
              <a:t>14</a:t>
            </a:fld>
            <a:endParaRPr lang="en-US" b="1" dirty="0"/>
          </a:p>
        </p:txBody>
      </p:sp>
      <p:sp>
        <p:nvSpPr>
          <p:cNvPr id="15" name="TextBox 66"/>
          <p:cNvSpPr txBox="1"/>
          <p:nvPr/>
        </p:nvSpPr>
        <p:spPr>
          <a:xfrm>
            <a:off x="2558034" y="1397777"/>
            <a:ext cx="13120233" cy="641201"/>
          </a:xfrm>
          <a:prstGeom prst="rect">
            <a:avLst/>
          </a:prstGeom>
        </p:spPr>
        <p:txBody>
          <a:bodyPr wrap="square" lIns="0" tIns="0" rIns="0" bIns="0" rtlCol="0" anchor="t">
            <a:spAutoFit/>
          </a:bodyPr>
          <a:lstStyle/>
          <a:p>
            <a:pPr algn="ctr">
              <a:lnSpc>
                <a:spcPts val="5040"/>
              </a:lnSpc>
              <a:spcBef>
                <a:spcPct val="0"/>
              </a:spcBef>
            </a:pPr>
            <a:r>
              <a:rPr lang="fr-FR" sz="3600" dirty="0">
                <a:solidFill>
                  <a:srgbClr val="000000"/>
                </a:solidFill>
                <a:latin typeface="Open Sauce Bold"/>
                <a:ea typeface="Open Sauce Bold"/>
                <a:cs typeface="Open Sauce Bold"/>
              </a:rPr>
              <a:t>Couche 2 : SSO &amp; OIDC : Intégration </a:t>
            </a:r>
            <a:r>
              <a:rPr lang="fr-FR" sz="3600" dirty="0" smtClean="0">
                <a:solidFill>
                  <a:srgbClr val="000000"/>
                </a:solidFill>
                <a:latin typeface="Open Sauce Bold"/>
                <a:ea typeface="Open Sauce Bold"/>
                <a:cs typeface="Open Sauce Bold"/>
              </a:rPr>
              <a:t> ( </a:t>
            </a:r>
            <a:r>
              <a:rPr lang="fr-FR" sz="3600" dirty="0" err="1" smtClean="0">
                <a:solidFill>
                  <a:srgbClr val="000000"/>
                </a:solidFill>
                <a:latin typeface="Open Sauce Bold"/>
                <a:ea typeface="Open Sauce Bold"/>
                <a:cs typeface="Open Sauce Bold"/>
              </a:rPr>
              <a:t>Keycloak</a:t>
            </a:r>
            <a:r>
              <a:rPr lang="fr-FR" sz="3600" dirty="0" smtClean="0">
                <a:solidFill>
                  <a:srgbClr val="000000"/>
                </a:solidFill>
                <a:latin typeface="Open Sauce Bold"/>
                <a:ea typeface="Open Sauce Bold"/>
                <a:cs typeface="Open Sauce Bold"/>
              </a:rPr>
              <a:t> </a:t>
            </a:r>
            <a:r>
              <a:rPr lang="fr-FR" sz="3600" dirty="0">
                <a:solidFill>
                  <a:srgbClr val="000000"/>
                </a:solidFill>
                <a:latin typeface="Open Sauce Bold"/>
                <a:ea typeface="Open Sauce Bold"/>
                <a:cs typeface="Open Sauce Bold"/>
              </a:rPr>
              <a:t>- </a:t>
            </a:r>
            <a:r>
              <a:rPr lang="fr-FR" sz="3600" dirty="0" err="1">
                <a:solidFill>
                  <a:srgbClr val="000000"/>
                </a:solidFill>
                <a:latin typeface="Open Sauce Bold"/>
                <a:ea typeface="Open Sauce Bold"/>
                <a:cs typeface="Open Sauce Bold"/>
              </a:rPr>
              <a:t>Proxmox</a:t>
            </a:r>
            <a:r>
              <a:rPr lang="fr-FR" sz="4800" dirty="0" smtClean="0"/>
              <a:t> )</a:t>
            </a:r>
            <a:endParaRPr lang="fr-FR" sz="3600" dirty="0"/>
          </a:p>
        </p:txBody>
      </p:sp>
      <p:grpSp>
        <p:nvGrpSpPr>
          <p:cNvPr id="16" name="Group 2"/>
          <p:cNvGrpSpPr/>
          <p:nvPr/>
        </p:nvGrpSpPr>
        <p:grpSpPr>
          <a:xfrm>
            <a:off x="2362200" y="8062143"/>
            <a:ext cx="2206070" cy="434916"/>
            <a:chOff x="0" y="0"/>
            <a:chExt cx="2538647" cy="524430"/>
          </a:xfrm>
        </p:grpSpPr>
        <p:sp>
          <p:nvSpPr>
            <p:cNvPr id="17" name="Freeform 3"/>
            <p:cNvSpPr/>
            <p:nvPr/>
          </p:nvSpPr>
          <p:spPr>
            <a:xfrm>
              <a:off x="0" y="0"/>
              <a:ext cx="2538647" cy="524430"/>
            </a:xfrm>
            <a:custGeom>
              <a:avLst/>
              <a:gdLst/>
              <a:ahLst/>
              <a:cxnLst/>
              <a:rect l="l" t="t" r="r" b="b"/>
              <a:pathLst>
                <a:path w="2538647" h="524430">
                  <a:moveTo>
                    <a:pt x="0" y="0"/>
                  </a:moveTo>
                  <a:lnTo>
                    <a:pt x="2335447" y="0"/>
                  </a:lnTo>
                  <a:lnTo>
                    <a:pt x="2538647" y="262215"/>
                  </a:lnTo>
                  <a:lnTo>
                    <a:pt x="2335447" y="524430"/>
                  </a:lnTo>
                  <a:lnTo>
                    <a:pt x="0" y="524430"/>
                  </a:lnTo>
                  <a:lnTo>
                    <a:pt x="203200" y="262215"/>
                  </a:lnTo>
                  <a:lnTo>
                    <a:pt x="0" y="0"/>
                  </a:lnTo>
                  <a:close/>
                </a:path>
              </a:pathLst>
            </a:custGeom>
            <a:solidFill>
              <a:srgbClr val="3EDAD8"/>
            </a:solidFill>
          </p:spPr>
        </p:sp>
        <p:sp>
          <p:nvSpPr>
            <p:cNvPr id="18" name="TextBox 4"/>
            <p:cNvSpPr txBox="1"/>
            <p:nvPr/>
          </p:nvSpPr>
          <p:spPr>
            <a:xfrm>
              <a:off x="177800" y="-57150"/>
              <a:ext cx="2284647" cy="58158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19" name="Group 5"/>
          <p:cNvGrpSpPr/>
          <p:nvPr/>
        </p:nvGrpSpPr>
        <p:grpSpPr>
          <a:xfrm>
            <a:off x="4452078" y="8062143"/>
            <a:ext cx="2206070" cy="434916"/>
            <a:chOff x="0" y="0"/>
            <a:chExt cx="2538647" cy="524430"/>
          </a:xfrm>
        </p:grpSpPr>
        <p:sp>
          <p:nvSpPr>
            <p:cNvPr id="20" name="Freeform 6"/>
            <p:cNvSpPr/>
            <p:nvPr/>
          </p:nvSpPr>
          <p:spPr>
            <a:xfrm>
              <a:off x="0" y="0"/>
              <a:ext cx="2538647" cy="524430"/>
            </a:xfrm>
            <a:custGeom>
              <a:avLst/>
              <a:gdLst/>
              <a:ahLst/>
              <a:cxnLst/>
              <a:rect l="l" t="t" r="r" b="b"/>
              <a:pathLst>
                <a:path w="2538647" h="524430">
                  <a:moveTo>
                    <a:pt x="0" y="0"/>
                  </a:moveTo>
                  <a:lnTo>
                    <a:pt x="2335447" y="0"/>
                  </a:lnTo>
                  <a:lnTo>
                    <a:pt x="2538647" y="262215"/>
                  </a:lnTo>
                  <a:lnTo>
                    <a:pt x="2335447" y="524430"/>
                  </a:lnTo>
                  <a:lnTo>
                    <a:pt x="0" y="524430"/>
                  </a:lnTo>
                  <a:lnTo>
                    <a:pt x="203200" y="262215"/>
                  </a:lnTo>
                  <a:lnTo>
                    <a:pt x="0" y="0"/>
                  </a:lnTo>
                  <a:close/>
                </a:path>
              </a:pathLst>
            </a:custGeom>
            <a:solidFill>
              <a:srgbClr val="2C92D5"/>
            </a:solidFill>
          </p:spPr>
        </p:sp>
        <p:sp>
          <p:nvSpPr>
            <p:cNvPr id="21" name="TextBox 7"/>
            <p:cNvSpPr txBox="1"/>
            <p:nvPr/>
          </p:nvSpPr>
          <p:spPr>
            <a:xfrm>
              <a:off x="177800" y="-57150"/>
              <a:ext cx="2284647" cy="58158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22" name="Group 8"/>
          <p:cNvGrpSpPr/>
          <p:nvPr/>
        </p:nvGrpSpPr>
        <p:grpSpPr>
          <a:xfrm>
            <a:off x="6541956" y="8062143"/>
            <a:ext cx="2206070" cy="434916"/>
            <a:chOff x="0" y="0"/>
            <a:chExt cx="2538647" cy="524430"/>
          </a:xfrm>
        </p:grpSpPr>
        <p:sp>
          <p:nvSpPr>
            <p:cNvPr id="23" name="Freeform 9"/>
            <p:cNvSpPr/>
            <p:nvPr/>
          </p:nvSpPr>
          <p:spPr>
            <a:xfrm>
              <a:off x="0" y="0"/>
              <a:ext cx="2538647" cy="524430"/>
            </a:xfrm>
            <a:custGeom>
              <a:avLst/>
              <a:gdLst/>
              <a:ahLst/>
              <a:cxnLst/>
              <a:rect l="l" t="t" r="r" b="b"/>
              <a:pathLst>
                <a:path w="2538647" h="524430">
                  <a:moveTo>
                    <a:pt x="0" y="0"/>
                  </a:moveTo>
                  <a:lnTo>
                    <a:pt x="2335447" y="0"/>
                  </a:lnTo>
                  <a:lnTo>
                    <a:pt x="2538647" y="262215"/>
                  </a:lnTo>
                  <a:lnTo>
                    <a:pt x="2335447" y="524430"/>
                  </a:lnTo>
                  <a:lnTo>
                    <a:pt x="0" y="524430"/>
                  </a:lnTo>
                  <a:lnTo>
                    <a:pt x="203200" y="262215"/>
                  </a:lnTo>
                  <a:lnTo>
                    <a:pt x="0" y="0"/>
                  </a:lnTo>
                  <a:close/>
                </a:path>
              </a:pathLst>
            </a:custGeom>
            <a:solidFill>
              <a:srgbClr val="38B6FF"/>
            </a:solidFill>
          </p:spPr>
        </p:sp>
        <p:sp>
          <p:nvSpPr>
            <p:cNvPr id="24" name="TextBox 10"/>
            <p:cNvSpPr txBox="1"/>
            <p:nvPr/>
          </p:nvSpPr>
          <p:spPr>
            <a:xfrm>
              <a:off x="177800" y="-57150"/>
              <a:ext cx="2284647" cy="58158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25" name="Group 11"/>
          <p:cNvGrpSpPr/>
          <p:nvPr/>
        </p:nvGrpSpPr>
        <p:grpSpPr>
          <a:xfrm>
            <a:off x="8631834" y="8062143"/>
            <a:ext cx="2206070" cy="434916"/>
            <a:chOff x="0" y="0"/>
            <a:chExt cx="2538647" cy="524430"/>
          </a:xfrm>
        </p:grpSpPr>
        <p:sp>
          <p:nvSpPr>
            <p:cNvPr id="26" name="Freeform 12"/>
            <p:cNvSpPr/>
            <p:nvPr/>
          </p:nvSpPr>
          <p:spPr>
            <a:xfrm>
              <a:off x="0" y="0"/>
              <a:ext cx="2538647" cy="524430"/>
            </a:xfrm>
            <a:custGeom>
              <a:avLst/>
              <a:gdLst/>
              <a:ahLst/>
              <a:cxnLst/>
              <a:rect l="l" t="t" r="r" b="b"/>
              <a:pathLst>
                <a:path w="2538647" h="524430">
                  <a:moveTo>
                    <a:pt x="0" y="0"/>
                  </a:moveTo>
                  <a:lnTo>
                    <a:pt x="2335447" y="0"/>
                  </a:lnTo>
                  <a:lnTo>
                    <a:pt x="2538647" y="262215"/>
                  </a:lnTo>
                  <a:lnTo>
                    <a:pt x="2335447" y="524430"/>
                  </a:lnTo>
                  <a:lnTo>
                    <a:pt x="0" y="524430"/>
                  </a:lnTo>
                  <a:lnTo>
                    <a:pt x="203200" y="262215"/>
                  </a:lnTo>
                  <a:lnTo>
                    <a:pt x="0" y="0"/>
                  </a:lnTo>
                  <a:close/>
                </a:path>
              </a:pathLst>
            </a:custGeom>
            <a:solidFill>
              <a:srgbClr val="5CE1E6"/>
            </a:solidFill>
          </p:spPr>
        </p:sp>
        <p:sp>
          <p:nvSpPr>
            <p:cNvPr id="27" name="TextBox 13"/>
            <p:cNvSpPr txBox="1"/>
            <p:nvPr/>
          </p:nvSpPr>
          <p:spPr>
            <a:xfrm>
              <a:off x="177800" y="-57150"/>
              <a:ext cx="2284647" cy="58158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28" name="Group 14"/>
          <p:cNvGrpSpPr/>
          <p:nvPr/>
        </p:nvGrpSpPr>
        <p:grpSpPr>
          <a:xfrm>
            <a:off x="10721712" y="8062143"/>
            <a:ext cx="2206070" cy="434916"/>
            <a:chOff x="0" y="0"/>
            <a:chExt cx="2538647" cy="524430"/>
          </a:xfrm>
        </p:grpSpPr>
        <p:sp>
          <p:nvSpPr>
            <p:cNvPr id="29" name="Freeform 15"/>
            <p:cNvSpPr/>
            <p:nvPr/>
          </p:nvSpPr>
          <p:spPr>
            <a:xfrm>
              <a:off x="0" y="0"/>
              <a:ext cx="2538647" cy="524430"/>
            </a:xfrm>
            <a:custGeom>
              <a:avLst/>
              <a:gdLst/>
              <a:ahLst/>
              <a:cxnLst/>
              <a:rect l="l" t="t" r="r" b="b"/>
              <a:pathLst>
                <a:path w="2538647" h="524430">
                  <a:moveTo>
                    <a:pt x="0" y="0"/>
                  </a:moveTo>
                  <a:lnTo>
                    <a:pt x="2335447" y="0"/>
                  </a:lnTo>
                  <a:lnTo>
                    <a:pt x="2538647" y="262215"/>
                  </a:lnTo>
                  <a:lnTo>
                    <a:pt x="2335447" y="524430"/>
                  </a:lnTo>
                  <a:lnTo>
                    <a:pt x="0" y="524430"/>
                  </a:lnTo>
                  <a:lnTo>
                    <a:pt x="203200" y="262215"/>
                  </a:lnTo>
                  <a:lnTo>
                    <a:pt x="0" y="0"/>
                  </a:lnTo>
                  <a:close/>
                </a:path>
              </a:pathLst>
            </a:custGeom>
            <a:solidFill>
              <a:srgbClr val="004259"/>
            </a:solidFill>
          </p:spPr>
        </p:sp>
        <p:sp>
          <p:nvSpPr>
            <p:cNvPr id="30" name="TextBox 16"/>
            <p:cNvSpPr txBox="1"/>
            <p:nvPr/>
          </p:nvSpPr>
          <p:spPr>
            <a:xfrm>
              <a:off x="177800" y="-57150"/>
              <a:ext cx="2284647" cy="58158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31" name="Group 17"/>
          <p:cNvGrpSpPr/>
          <p:nvPr/>
        </p:nvGrpSpPr>
        <p:grpSpPr>
          <a:xfrm>
            <a:off x="12811590" y="8062143"/>
            <a:ext cx="2206070" cy="434916"/>
            <a:chOff x="0" y="0"/>
            <a:chExt cx="2538647" cy="524430"/>
          </a:xfrm>
        </p:grpSpPr>
        <p:sp>
          <p:nvSpPr>
            <p:cNvPr id="32" name="Freeform 18"/>
            <p:cNvSpPr/>
            <p:nvPr/>
          </p:nvSpPr>
          <p:spPr>
            <a:xfrm>
              <a:off x="0" y="0"/>
              <a:ext cx="2538647" cy="524430"/>
            </a:xfrm>
            <a:custGeom>
              <a:avLst/>
              <a:gdLst/>
              <a:ahLst/>
              <a:cxnLst/>
              <a:rect l="l" t="t" r="r" b="b"/>
              <a:pathLst>
                <a:path w="2538647" h="524430">
                  <a:moveTo>
                    <a:pt x="0" y="0"/>
                  </a:moveTo>
                  <a:lnTo>
                    <a:pt x="2335447" y="0"/>
                  </a:lnTo>
                  <a:lnTo>
                    <a:pt x="2538647" y="262215"/>
                  </a:lnTo>
                  <a:lnTo>
                    <a:pt x="2335447" y="524430"/>
                  </a:lnTo>
                  <a:lnTo>
                    <a:pt x="0" y="524430"/>
                  </a:lnTo>
                  <a:lnTo>
                    <a:pt x="203200" y="262215"/>
                  </a:lnTo>
                  <a:lnTo>
                    <a:pt x="0" y="0"/>
                  </a:lnTo>
                  <a:close/>
                </a:path>
              </a:pathLst>
            </a:custGeom>
            <a:solidFill>
              <a:srgbClr val="000038"/>
            </a:solidFill>
          </p:spPr>
        </p:sp>
        <p:sp>
          <p:nvSpPr>
            <p:cNvPr id="34" name="TextBox 19"/>
            <p:cNvSpPr txBox="1"/>
            <p:nvPr/>
          </p:nvSpPr>
          <p:spPr>
            <a:xfrm>
              <a:off x="177800" y="-57150"/>
              <a:ext cx="2284647" cy="581580"/>
            </a:xfrm>
            <a:prstGeom prst="rect">
              <a:avLst/>
            </a:prstGeom>
          </p:spPr>
          <p:txBody>
            <a:bodyPr lIns="50800" tIns="50800" rIns="50800" bIns="50800" rtlCol="0" anchor="ctr"/>
            <a:lstStyle/>
            <a:p>
              <a:pPr marL="0" lvl="0" indent="0" algn="ctr">
                <a:lnSpc>
                  <a:spcPts val="4059"/>
                </a:lnSpc>
                <a:spcBef>
                  <a:spcPct val="0"/>
                </a:spcBef>
              </a:pPr>
              <a:endParaRPr/>
            </a:p>
          </p:txBody>
        </p:sp>
      </p:grpSp>
      <p:sp>
        <p:nvSpPr>
          <p:cNvPr id="35" name="AutoShape 20"/>
          <p:cNvSpPr/>
          <p:nvPr/>
        </p:nvSpPr>
        <p:spPr>
          <a:xfrm>
            <a:off x="3441020" y="8539183"/>
            <a:ext cx="0" cy="525310"/>
          </a:xfrm>
          <a:prstGeom prst="line">
            <a:avLst/>
          </a:prstGeom>
          <a:ln w="28575" cap="flat">
            <a:solidFill>
              <a:srgbClr val="57E11C"/>
            </a:solidFill>
            <a:prstDash val="solid"/>
            <a:headEnd type="none" w="sm" len="sm"/>
            <a:tailEnd type="none" w="sm" len="sm"/>
          </a:ln>
        </p:spPr>
      </p:sp>
      <p:grpSp>
        <p:nvGrpSpPr>
          <p:cNvPr id="36" name="Group 21"/>
          <p:cNvGrpSpPr/>
          <p:nvPr/>
        </p:nvGrpSpPr>
        <p:grpSpPr>
          <a:xfrm>
            <a:off x="3087614" y="9120304"/>
            <a:ext cx="729317" cy="696012"/>
            <a:chOff x="0" y="0"/>
            <a:chExt cx="812800" cy="812800"/>
          </a:xfrm>
        </p:grpSpPr>
        <p:sp>
          <p:nvSpPr>
            <p:cNvPr id="37"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EDAD8"/>
            </a:solidFill>
          </p:spPr>
        </p:sp>
        <p:sp>
          <p:nvSpPr>
            <p:cNvPr id="38" name="TextBox 23"/>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sp>
        <p:nvSpPr>
          <p:cNvPr id="39" name="AutoShape 24"/>
          <p:cNvSpPr/>
          <p:nvPr/>
        </p:nvSpPr>
        <p:spPr>
          <a:xfrm flipH="1" flipV="1">
            <a:off x="5474944" y="7546845"/>
            <a:ext cx="0" cy="480424"/>
          </a:xfrm>
          <a:prstGeom prst="line">
            <a:avLst/>
          </a:prstGeom>
          <a:ln w="28575" cap="flat">
            <a:solidFill>
              <a:srgbClr val="00C367"/>
            </a:solidFill>
            <a:prstDash val="solid"/>
            <a:headEnd type="none" w="sm" len="sm"/>
            <a:tailEnd type="none" w="sm" len="sm"/>
          </a:ln>
        </p:spPr>
      </p:sp>
      <p:grpSp>
        <p:nvGrpSpPr>
          <p:cNvPr id="40" name="Group 25"/>
          <p:cNvGrpSpPr/>
          <p:nvPr/>
        </p:nvGrpSpPr>
        <p:grpSpPr>
          <a:xfrm rot="-10800000">
            <a:off x="5121538" y="6812308"/>
            <a:ext cx="729317" cy="696012"/>
            <a:chOff x="0" y="0"/>
            <a:chExt cx="812800" cy="812800"/>
          </a:xfrm>
        </p:grpSpPr>
        <p:sp>
          <p:nvSpPr>
            <p:cNvPr id="41"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C92D5"/>
            </a:solidFill>
          </p:spPr>
        </p:sp>
        <p:sp>
          <p:nvSpPr>
            <p:cNvPr id="42" name="TextBox 27"/>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sp>
        <p:nvSpPr>
          <p:cNvPr id="43" name="AutoShape 28"/>
          <p:cNvSpPr/>
          <p:nvPr/>
        </p:nvSpPr>
        <p:spPr>
          <a:xfrm flipV="1">
            <a:off x="9658322" y="7536527"/>
            <a:ext cx="0" cy="490741"/>
          </a:xfrm>
          <a:prstGeom prst="line">
            <a:avLst/>
          </a:prstGeom>
          <a:ln w="28575" cap="flat">
            <a:solidFill>
              <a:srgbClr val="027B80"/>
            </a:solidFill>
            <a:prstDash val="solid"/>
            <a:headEnd type="none" w="sm" len="sm"/>
            <a:tailEnd type="none" w="sm" len="sm"/>
          </a:ln>
        </p:spPr>
      </p:sp>
      <p:grpSp>
        <p:nvGrpSpPr>
          <p:cNvPr id="44" name="Group 29"/>
          <p:cNvGrpSpPr/>
          <p:nvPr/>
        </p:nvGrpSpPr>
        <p:grpSpPr>
          <a:xfrm rot="-10800000">
            <a:off x="9304916" y="6801164"/>
            <a:ext cx="729317" cy="696012"/>
            <a:chOff x="0" y="0"/>
            <a:chExt cx="812800" cy="812800"/>
          </a:xfrm>
        </p:grpSpPr>
        <p:sp>
          <p:nvSpPr>
            <p:cNvPr id="45"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5CE1E6"/>
            </a:solidFill>
          </p:spPr>
        </p:sp>
        <p:sp>
          <p:nvSpPr>
            <p:cNvPr id="46" name="TextBox 31"/>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sp>
        <p:nvSpPr>
          <p:cNvPr id="47" name="AutoShape 32"/>
          <p:cNvSpPr/>
          <p:nvPr/>
        </p:nvSpPr>
        <p:spPr>
          <a:xfrm flipH="1">
            <a:off x="7485547" y="8544164"/>
            <a:ext cx="1259" cy="587434"/>
          </a:xfrm>
          <a:prstGeom prst="line">
            <a:avLst/>
          </a:prstGeom>
          <a:ln w="28575" cap="flat">
            <a:solidFill>
              <a:srgbClr val="019E82"/>
            </a:solidFill>
            <a:prstDash val="solid"/>
            <a:headEnd type="none" w="sm" len="sm"/>
            <a:tailEnd type="none" w="sm" len="sm"/>
          </a:ln>
        </p:spPr>
      </p:sp>
      <p:grpSp>
        <p:nvGrpSpPr>
          <p:cNvPr id="48" name="Group 33"/>
          <p:cNvGrpSpPr/>
          <p:nvPr/>
        </p:nvGrpSpPr>
        <p:grpSpPr>
          <a:xfrm>
            <a:off x="7131334" y="9187408"/>
            <a:ext cx="729317" cy="696012"/>
            <a:chOff x="0" y="0"/>
            <a:chExt cx="812800" cy="812800"/>
          </a:xfrm>
        </p:grpSpPr>
        <p:sp>
          <p:nvSpPr>
            <p:cNvPr id="49" name="Freeform 3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8B6FF"/>
            </a:solidFill>
          </p:spPr>
        </p:sp>
        <p:sp>
          <p:nvSpPr>
            <p:cNvPr id="50" name="TextBox 35"/>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sp>
        <p:nvSpPr>
          <p:cNvPr id="51" name="AutoShape 36"/>
          <p:cNvSpPr/>
          <p:nvPr/>
        </p:nvSpPr>
        <p:spPr>
          <a:xfrm flipH="1">
            <a:off x="11781394" y="8544164"/>
            <a:ext cx="8394" cy="587433"/>
          </a:xfrm>
          <a:prstGeom prst="line">
            <a:avLst/>
          </a:prstGeom>
          <a:ln w="28575" cap="flat">
            <a:solidFill>
              <a:srgbClr val="004259"/>
            </a:solidFill>
            <a:prstDash val="solid"/>
            <a:headEnd type="none" w="sm" len="sm"/>
            <a:tailEnd type="none" w="sm" len="sm"/>
          </a:ln>
        </p:spPr>
      </p:sp>
      <p:grpSp>
        <p:nvGrpSpPr>
          <p:cNvPr id="52" name="Group 37"/>
          <p:cNvGrpSpPr/>
          <p:nvPr/>
        </p:nvGrpSpPr>
        <p:grpSpPr>
          <a:xfrm>
            <a:off x="11422605" y="9187374"/>
            <a:ext cx="729317" cy="696012"/>
            <a:chOff x="0" y="0"/>
            <a:chExt cx="812800" cy="812800"/>
          </a:xfrm>
        </p:grpSpPr>
        <p:sp>
          <p:nvSpPr>
            <p:cNvPr id="53"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259"/>
            </a:solidFill>
          </p:spPr>
        </p:sp>
        <p:sp>
          <p:nvSpPr>
            <p:cNvPr id="54" name="TextBox 39"/>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sp>
        <p:nvSpPr>
          <p:cNvPr id="55" name="AutoShape 40"/>
          <p:cNvSpPr/>
          <p:nvPr/>
        </p:nvSpPr>
        <p:spPr>
          <a:xfrm flipV="1">
            <a:off x="14054817" y="7300583"/>
            <a:ext cx="0" cy="736420"/>
          </a:xfrm>
          <a:prstGeom prst="line">
            <a:avLst/>
          </a:prstGeom>
          <a:ln w="28575" cap="flat">
            <a:solidFill>
              <a:srgbClr val="000039"/>
            </a:solidFill>
            <a:prstDash val="solid"/>
            <a:headEnd type="none" w="sm" len="sm"/>
            <a:tailEnd type="none" w="sm" len="sm"/>
          </a:ln>
        </p:spPr>
      </p:sp>
      <p:grpSp>
        <p:nvGrpSpPr>
          <p:cNvPr id="56" name="Group 41"/>
          <p:cNvGrpSpPr/>
          <p:nvPr/>
        </p:nvGrpSpPr>
        <p:grpSpPr>
          <a:xfrm rot="-10800000">
            <a:off x="13701410" y="6743700"/>
            <a:ext cx="729317" cy="696012"/>
            <a:chOff x="0" y="0"/>
            <a:chExt cx="812800" cy="812800"/>
          </a:xfrm>
        </p:grpSpPr>
        <p:sp>
          <p:nvSpPr>
            <p:cNvPr id="57"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38"/>
            </a:solidFill>
          </p:spPr>
        </p:sp>
        <p:sp>
          <p:nvSpPr>
            <p:cNvPr id="58" name="TextBox 43"/>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sp>
        <p:nvSpPr>
          <p:cNvPr id="61" name="Freeform 46"/>
          <p:cNvSpPr/>
          <p:nvPr/>
        </p:nvSpPr>
        <p:spPr>
          <a:xfrm>
            <a:off x="13927276" y="6906621"/>
            <a:ext cx="263204" cy="334912"/>
          </a:xfrm>
          <a:custGeom>
            <a:avLst/>
            <a:gdLst/>
            <a:ahLst/>
            <a:cxnLst/>
            <a:rect l="l" t="t" r="r" b="b"/>
            <a:pathLst>
              <a:path w="271326" h="361768">
                <a:moveTo>
                  <a:pt x="0" y="0"/>
                </a:moveTo>
                <a:lnTo>
                  <a:pt x="271326" y="0"/>
                </a:lnTo>
                <a:lnTo>
                  <a:pt x="271326" y="361768"/>
                </a:lnTo>
                <a:lnTo>
                  <a:pt x="0" y="361768"/>
                </a:lnTo>
                <a:lnTo>
                  <a:pt x="0" y="0"/>
                </a:lnTo>
                <a:close/>
              </a:path>
            </a:pathLst>
          </a:custGeom>
          <a:blipFill>
            <a:blip r:embed="rId4">
              <a:extLst>
                <a:ext uri="{96DAC541-7B7A-43D3-8B79-37D633B846F1}">
                  <asvg:svgBlip xmlns:asvg="http://schemas.microsoft.com/office/drawing/2016/SVG/main" xmlns="" r:embed="rId7"/>
                </a:ext>
              </a:extLst>
            </a:blip>
            <a:stretch>
              <a:fillRect/>
            </a:stretch>
          </a:blipFill>
          <a:ln cap="sq">
            <a:noFill/>
            <a:prstDash val="solid"/>
            <a:miter/>
          </a:ln>
        </p:spPr>
      </p:sp>
      <p:grpSp>
        <p:nvGrpSpPr>
          <p:cNvPr id="62" name="Group 47"/>
          <p:cNvGrpSpPr/>
          <p:nvPr/>
        </p:nvGrpSpPr>
        <p:grpSpPr>
          <a:xfrm>
            <a:off x="772057" y="2733831"/>
            <a:ext cx="8236713" cy="3313575"/>
            <a:chOff x="0" y="0"/>
            <a:chExt cx="11321188" cy="4772373"/>
          </a:xfrm>
        </p:grpSpPr>
        <p:sp>
          <p:nvSpPr>
            <p:cNvPr id="63" name="Freeform 48"/>
            <p:cNvSpPr/>
            <p:nvPr/>
          </p:nvSpPr>
          <p:spPr>
            <a:xfrm rot="5400000">
              <a:off x="3999536" y="-1773273"/>
              <a:ext cx="2546110" cy="10545182"/>
            </a:xfrm>
            <a:custGeom>
              <a:avLst/>
              <a:gdLst/>
              <a:ahLst/>
              <a:cxnLst/>
              <a:rect l="l" t="t" r="r" b="b"/>
              <a:pathLst>
                <a:path w="2546110" h="10545182">
                  <a:moveTo>
                    <a:pt x="0" y="0"/>
                  </a:moveTo>
                  <a:lnTo>
                    <a:pt x="2546110" y="0"/>
                  </a:lnTo>
                  <a:lnTo>
                    <a:pt x="2546110" y="10545182"/>
                  </a:lnTo>
                  <a:lnTo>
                    <a:pt x="0" y="10545182"/>
                  </a:lnTo>
                  <a:lnTo>
                    <a:pt x="0" y="0"/>
                  </a:lnTo>
                  <a:close/>
                </a:path>
              </a:pathLst>
            </a:custGeom>
            <a:blipFill>
              <a:blip r:embed="rId8"/>
              <a:stretch>
                <a:fillRect l="-46416" r="-35064"/>
              </a:stretch>
            </a:blipFill>
          </p:spPr>
        </p:sp>
        <p:grpSp>
          <p:nvGrpSpPr>
            <p:cNvPr id="64" name="Group 49"/>
            <p:cNvGrpSpPr/>
            <p:nvPr/>
          </p:nvGrpSpPr>
          <p:grpSpPr>
            <a:xfrm>
              <a:off x="469079" y="485484"/>
              <a:ext cx="10698578" cy="4065642"/>
              <a:chOff x="0" y="0"/>
              <a:chExt cx="1782171" cy="677255"/>
            </a:xfrm>
          </p:grpSpPr>
          <p:sp>
            <p:nvSpPr>
              <p:cNvPr id="76" name="Freeform 50"/>
              <p:cNvSpPr/>
              <p:nvPr/>
            </p:nvSpPr>
            <p:spPr>
              <a:xfrm>
                <a:off x="0" y="0"/>
                <a:ext cx="1782171" cy="677255"/>
              </a:xfrm>
              <a:custGeom>
                <a:avLst/>
                <a:gdLst/>
                <a:ahLst/>
                <a:cxnLst/>
                <a:rect l="l" t="t" r="r" b="b"/>
                <a:pathLst>
                  <a:path w="1782171" h="677255">
                    <a:moveTo>
                      <a:pt x="20354" y="0"/>
                    </a:moveTo>
                    <a:lnTo>
                      <a:pt x="1761817" y="0"/>
                    </a:lnTo>
                    <a:cubicBezTo>
                      <a:pt x="1767215" y="0"/>
                      <a:pt x="1772392" y="2144"/>
                      <a:pt x="1776209" y="5961"/>
                    </a:cubicBezTo>
                    <a:cubicBezTo>
                      <a:pt x="1780026" y="9779"/>
                      <a:pt x="1782171" y="14956"/>
                      <a:pt x="1782171" y="20354"/>
                    </a:cubicBezTo>
                    <a:lnTo>
                      <a:pt x="1782171" y="656902"/>
                    </a:lnTo>
                    <a:cubicBezTo>
                      <a:pt x="1782171" y="668143"/>
                      <a:pt x="1773058" y="677255"/>
                      <a:pt x="1761817" y="677255"/>
                    </a:cubicBezTo>
                    <a:lnTo>
                      <a:pt x="20354" y="677255"/>
                    </a:lnTo>
                    <a:cubicBezTo>
                      <a:pt x="9113" y="677255"/>
                      <a:pt x="0" y="668143"/>
                      <a:pt x="0" y="656902"/>
                    </a:cubicBezTo>
                    <a:lnTo>
                      <a:pt x="0" y="20354"/>
                    </a:lnTo>
                    <a:cubicBezTo>
                      <a:pt x="0" y="9113"/>
                      <a:pt x="9113" y="0"/>
                      <a:pt x="20354" y="0"/>
                    </a:cubicBezTo>
                    <a:close/>
                  </a:path>
                </a:pathLst>
              </a:custGeom>
              <a:solidFill>
                <a:srgbClr val="FFFFFF"/>
              </a:solidFill>
            </p:spPr>
          </p:sp>
          <p:sp>
            <p:nvSpPr>
              <p:cNvPr id="77" name="TextBox 51"/>
              <p:cNvSpPr txBox="1"/>
              <p:nvPr/>
            </p:nvSpPr>
            <p:spPr>
              <a:xfrm>
                <a:off x="0" y="-19050"/>
                <a:ext cx="1782171" cy="696305"/>
              </a:xfrm>
              <a:prstGeom prst="rect">
                <a:avLst/>
              </a:prstGeom>
            </p:spPr>
            <p:txBody>
              <a:bodyPr lIns="50800" tIns="50800" rIns="50800" bIns="50800" rtlCol="0" anchor="ctr"/>
              <a:lstStyle/>
              <a:p>
                <a:pPr algn="ctr">
                  <a:lnSpc>
                    <a:spcPts val="1399"/>
                  </a:lnSpc>
                </a:pPr>
                <a:endParaRPr/>
              </a:p>
            </p:txBody>
          </p:sp>
        </p:grpSp>
        <p:grpSp>
          <p:nvGrpSpPr>
            <p:cNvPr id="65" name="Group 52"/>
            <p:cNvGrpSpPr/>
            <p:nvPr/>
          </p:nvGrpSpPr>
          <p:grpSpPr>
            <a:xfrm>
              <a:off x="8831019" y="0"/>
              <a:ext cx="2490169" cy="1209680"/>
              <a:chOff x="0" y="0"/>
              <a:chExt cx="832970" cy="404642"/>
            </a:xfrm>
          </p:grpSpPr>
          <p:sp>
            <p:nvSpPr>
              <p:cNvPr id="74" name="Freeform 53"/>
              <p:cNvSpPr/>
              <p:nvPr/>
            </p:nvSpPr>
            <p:spPr>
              <a:xfrm>
                <a:off x="0" y="0"/>
                <a:ext cx="832970" cy="404642"/>
              </a:xfrm>
              <a:custGeom>
                <a:avLst/>
                <a:gdLst/>
                <a:ahLst/>
                <a:cxnLst/>
                <a:rect l="l" t="t" r="r" b="b"/>
                <a:pathLst>
                  <a:path w="832970" h="404642">
                    <a:moveTo>
                      <a:pt x="119663" y="0"/>
                    </a:moveTo>
                    <a:lnTo>
                      <a:pt x="713307" y="0"/>
                    </a:lnTo>
                    <a:cubicBezTo>
                      <a:pt x="745043" y="0"/>
                      <a:pt x="775480" y="12607"/>
                      <a:pt x="797921" y="35049"/>
                    </a:cubicBezTo>
                    <a:cubicBezTo>
                      <a:pt x="820363" y="57490"/>
                      <a:pt x="832970" y="87927"/>
                      <a:pt x="832970" y="119663"/>
                    </a:cubicBezTo>
                    <a:lnTo>
                      <a:pt x="832970" y="284979"/>
                    </a:lnTo>
                    <a:cubicBezTo>
                      <a:pt x="832970" y="316715"/>
                      <a:pt x="820363" y="347152"/>
                      <a:pt x="797921" y="369593"/>
                    </a:cubicBezTo>
                    <a:cubicBezTo>
                      <a:pt x="775480" y="392035"/>
                      <a:pt x="745043" y="404642"/>
                      <a:pt x="713307" y="404642"/>
                    </a:cubicBezTo>
                    <a:lnTo>
                      <a:pt x="119663" y="404642"/>
                    </a:lnTo>
                    <a:cubicBezTo>
                      <a:pt x="87927" y="404642"/>
                      <a:pt x="57490" y="392035"/>
                      <a:pt x="35049" y="369593"/>
                    </a:cubicBezTo>
                    <a:cubicBezTo>
                      <a:pt x="12607" y="347152"/>
                      <a:pt x="0" y="316715"/>
                      <a:pt x="0" y="284979"/>
                    </a:cubicBezTo>
                    <a:lnTo>
                      <a:pt x="0" y="119663"/>
                    </a:lnTo>
                    <a:cubicBezTo>
                      <a:pt x="0" y="87927"/>
                      <a:pt x="12607" y="57490"/>
                      <a:pt x="35049" y="35049"/>
                    </a:cubicBezTo>
                    <a:cubicBezTo>
                      <a:pt x="57490" y="12607"/>
                      <a:pt x="87927" y="0"/>
                      <a:pt x="119663" y="0"/>
                    </a:cubicBezTo>
                    <a:close/>
                  </a:path>
                </a:pathLst>
              </a:custGeom>
              <a:solidFill>
                <a:srgbClr val="3EDAD8"/>
              </a:solidFill>
            </p:spPr>
          </p:sp>
          <p:sp>
            <p:nvSpPr>
              <p:cNvPr id="75" name="TextBox 54"/>
              <p:cNvSpPr txBox="1"/>
              <p:nvPr/>
            </p:nvSpPr>
            <p:spPr>
              <a:xfrm>
                <a:off x="0" y="-57150"/>
                <a:ext cx="832970" cy="461792"/>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66" name="Group 55"/>
            <p:cNvGrpSpPr/>
            <p:nvPr/>
          </p:nvGrpSpPr>
          <p:grpSpPr>
            <a:xfrm>
              <a:off x="1320689" y="394926"/>
              <a:ext cx="7989047" cy="181116"/>
              <a:chOff x="0" y="0"/>
              <a:chExt cx="17926380" cy="406400"/>
            </a:xfrm>
          </p:grpSpPr>
          <p:sp>
            <p:nvSpPr>
              <p:cNvPr id="72" name="Freeform 56"/>
              <p:cNvSpPr/>
              <p:nvPr/>
            </p:nvSpPr>
            <p:spPr>
              <a:xfrm>
                <a:off x="0" y="0"/>
                <a:ext cx="17926380" cy="406400"/>
              </a:xfrm>
              <a:custGeom>
                <a:avLst/>
                <a:gdLst/>
                <a:ahLst/>
                <a:cxnLst/>
                <a:rect l="l" t="t" r="r" b="b"/>
                <a:pathLst>
                  <a:path w="17926380" h="406400">
                    <a:moveTo>
                      <a:pt x="17723180" y="0"/>
                    </a:moveTo>
                    <a:cubicBezTo>
                      <a:pt x="17835404" y="0"/>
                      <a:pt x="17926380" y="90976"/>
                      <a:pt x="17926380" y="203200"/>
                    </a:cubicBezTo>
                    <a:cubicBezTo>
                      <a:pt x="17926380" y="315424"/>
                      <a:pt x="17835404" y="406400"/>
                      <a:pt x="17723180" y="406400"/>
                    </a:cubicBezTo>
                    <a:lnTo>
                      <a:pt x="203200" y="406400"/>
                    </a:lnTo>
                    <a:cubicBezTo>
                      <a:pt x="90976" y="406400"/>
                      <a:pt x="0" y="315424"/>
                      <a:pt x="0" y="203200"/>
                    </a:cubicBezTo>
                    <a:cubicBezTo>
                      <a:pt x="0" y="90976"/>
                      <a:pt x="90976" y="0"/>
                      <a:pt x="203200" y="0"/>
                    </a:cubicBezTo>
                    <a:close/>
                  </a:path>
                </a:pathLst>
              </a:custGeom>
              <a:solidFill>
                <a:srgbClr val="3EDAD8"/>
              </a:solidFill>
            </p:spPr>
          </p:sp>
          <p:sp>
            <p:nvSpPr>
              <p:cNvPr id="73" name="TextBox 57"/>
              <p:cNvSpPr txBox="1"/>
              <p:nvPr/>
            </p:nvSpPr>
            <p:spPr>
              <a:xfrm>
                <a:off x="0" y="-57150"/>
                <a:ext cx="17926380" cy="463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67" name="Group 58"/>
            <p:cNvGrpSpPr/>
            <p:nvPr/>
          </p:nvGrpSpPr>
          <p:grpSpPr>
            <a:xfrm>
              <a:off x="8984550" y="79455"/>
              <a:ext cx="2183106" cy="1060514"/>
              <a:chOff x="0" y="0"/>
              <a:chExt cx="730256" cy="354746"/>
            </a:xfrm>
          </p:grpSpPr>
          <p:sp>
            <p:nvSpPr>
              <p:cNvPr id="70" name="Freeform 59"/>
              <p:cNvSpPr/>
              <p:nvPr/>
            </p:nvSpPr>
            <p:spPr>
              <a:xfrm>
                <a:off x="0" y="0"/>
                <a:ext cx="730256" cy="354746"/>
              </a:xfrm>
              <a:custGeom>
                <a:avLst/>
                <a:gdLst/>
                <a:ahLst/>
                <a:cxnLst/>
                <a:rect l="l" t="t" r="r" b="b"/>
                <a:pathLst>
                  <a:path w="730256" h="354746">
                    <a:moveTo>
                      <a:pt x="115495" y="0"/>
                    </a:moveTo>
                    <a:lnTo>
                      <a:pt x="614761" y="0"/>
                    </a:lnTo>
                    <a:cubicBezTo>
                      <a:pt x="678547" y="0"/>
                      <a:pt x="730256" y="51709"/>
                      <a:pt x="730256" y="115495"/>
                    </a:cubicBezTo>
                    <a:lnTo>
                      <a:pt x="730256" y="239250"/>
                    </a:lnTo>
                    <a:cubicBezTo>
                      <a:pt x="730256" y="303036"/>
                      <a:pt x="678547" y="354746"/>
                      <a:pt x="614761" y="354746"/>
                    </a:cubicBezTo>
                    <a:lnTo>
                      <a:pt x="115495" y="354746"/>
                    </a:lnTo>
                    <a:cubicBezTo>
                      <a:pt x="84864" y="354746"/>
                      <a:pt x="55487" y="342577"/>
                      <a:pt x="33828" y="320918"/>
                    </a:cubicBezTo>
                    <a:cubicBezTo>
                      <a:pt x="12168" y="299258"/>
                      <a:pt x="0" y="269881"/>
                      <a:pt x="0" y="239250"/>
                    </a:cubicBezTo>
                    <a:lnTo>
                      <a:pt x="0" y="115495"/>
                    </a:lnTo>
                    <a:cubicBezTo>
                      <a:pt x="0" y="84864"/>
                      <a:pt x="12168" y="55487"/>
                      <a:pt x="33828" y="33828"/>
                    </a:cubicBezTo>
                    <a:cubicBezTo>
                      <a:pt x="55487" y="12168"/>
                      <a:pt x="84864" y="0"/>
                      <a:pt x="115495" y="0"/>
                    </a:cubicBezTo>
                    <a:close/>
                  </a:path>
                </a:pathLst>
              </a:custGeom>
              <a:ln w="38100" cap="rnd">
                <a:solidFill>
                  <a:srgbClr val="FFFFFF"/>
                </a:solidFill>
                <a:prstDash val="solid"/>
                <a:round/>
              </a:ln>
            </p:spPr>
          </p:sp>
          <p:sp>
            <p:nvSpPr>
              <p:cNvPr id="71" name="TextBox 60"/>
              <p:cNvSpPr txBox="1"/>
              <p:nvPr/>
            </p:nvSpPr>
            <p:spPr>
              <a:xfrm>
                <a:off x="0" y="-28575"/>
                <a:ext cx="730256" cy="383321"/>
              </a:xfrm>
              <a:prstGeom prst="rect">
                <a:avLst/>
              </a:prstGeom>
            </p:spPr>
            <p:txBody>
              <a:bodyPr lIns="50800" tIns="50800" rIns="50800" bIns="50800" rtlCol="0" anchor="ctr"/>
              <a:lstStyle/>
              <a:p>
                <a:pPr algn="ctr">
                  <a:lnSpc>
                    <a:spcPts val="2660"/>
                  </a:lnSpc>
                </a:pPr>
                <a:r>
                  <a:rPr lang="en-US" sz="1900" b="1">
                    <a:solidFill>
                      <a:srgbClr val="FFFFFF"/>
                    </a:solidFill>
                    <a:latin typeface="Gordita Bold"/>
                    <a:ea typeface="Gordita Bold"/>
                    <a:cs typeface="Gordita Bold"/>
                    <a:sym typeface="Gordita Bold"/>
                  </a:rPr>
                  <a:t>01</a:t>
                </a:r>
              </a:p>
            </p:txBody>
          </p:sp>
        </p:grpSp>
        <p:sp>
          <p:nvSpPr>
            <p:cNvPr id="68" name="TextBox 61"/>
            <p:cNvSpPr txBox="1"/>
            <p:nvPr/>
          </p:nvSpPr>
          <p:spPr>
            <a:xfrm>
              <a:off x="1307855" y="779929"/>
              <a:ext cx="7348735" cy="1204348"/>
            </a:xfrm>
            <a:prstGeom prst="rect">
              <a:avLst/>
            </a:prstGeom>
          </p:spPr>
          <p:txBody>
            <a:bodyPr lIns="0" tIns="0" rIns="0" bIns="0" rtlCol="0" anchor="t">
              <a:spAutoFit/>
            </a:bodyPr>
            <a:lstStyle/>
            <a:p>
              <a:pPr algn="l">
                <a:lnSpc>
                  <a:spcPts val="2487"/>
                </a:lnSpc>
              </a:pPr>
              <a:r>
                <a:rPr lang="en-US" sz="1776" b="1" dirty="0">
                  <a:solidFill>
                    <a:srgbClr val="000000"/>
                  </a:solidFill>
                  <a:latin typeface="Gordita Bold"/>
                  <a:ea typeface="Gordita Bold"/>
                  <a:cs typeface="Gordita Bold"/>
                  <a:sym typeface="Gordita Bold"/>
                </a:rPr>
                <a:t>SSO (Single Sign-On) : </a:t>
              </a:r>
              <a:r>
                <a:rPr lang="en-US" sz="1776" b="1" dirty="0" err="1">
                  <a:solidFill>
                    <a:srgbClr val="000000"/>
                  </a:solidFill>
                  <a:latin typeface="Gordita Bold"/>
                  <a:ea typeface="Gordita Bold"/>
                  <a:cs typeface="Gordita Bold"/>
                  <a:sym typeface="Gordita Bold"/>
                </a:rPr>
                <a:t>Une</a:t>
              </a:r>
              <a:r>
                <a:rPr lang="en-US" sz="1776" b="1" dirty="0">
                  <a:solidFill>
                    <a:srgbClr val="000000"/>
                  </a:solidFill>
                  <a:latin typeface="Gordita Bold"/>
                  <a:ea typeface="Gordita Bold"/>
                  <a:cs typeface="Gordita Bold"/>
                  <a:sym typeface="Gordita Bold"/>
                </a:rPr>
                <a:t> </a:t>
              </a:r>
              <a:r>
                <a:rPr lang="en-US" sz="1776" b="1" dirty="0" err="1">
                  <a:solidFill>
                    <a:srgbClr val="000000"/>
                  </a:solidFill>
                  <a:latin typeface="Gordita Bold"/>
                  <a:ea typeface="Gordita Bold"/>
                  <a:cs typeface="Gordita Bold"/>
                  <a:sym typeface="Gordita Bold"/>
                </a:rPr>
                <a:t>Connexion</a:t>
              </a:r>
              <a:r>
                <a:rPr lang="en-US" sz="1776" b="1" dirty="0">
                  <a:solidFill>
                    <a:srgbClr val="000000"/>
                  </a:solidFill>
                  <a:latin typeface="Gordita Bold"/>
                  <a:ea typeface="Gordita Bold"/>
                  <a:cs typeface="Gordita Bold"/>
                  <a:sym typeface="Gordita Bold"/>
                </a:rPr>
                <a:t> = </a:t>
              </a:r>
              <a:r>
                <a:rPr lang="en-US" sz="1776" b="1" dirty="0" err="1">
                  <a:solidFill>
                    <a:srgbClr val="000000"/>
                  </a:solidFill>
                  <a:latin typeface="Gordita Bold"/>
                  <a:ea typeface="Gordita Bold"/>
                  <a:cs typeface="Gordita Bold"/>
                  <a:sym typeface="Gordita Bold"/>
                </a:rPr>
                <a:t>Tous</a:t>
              </a:r>
              <a:r>
                <a:rPr lang="en-US" sz="1776" b="1" dirty="0">
                  <a:solidFill>
                    <a:srgbClr val="000000"/>
                  </a:solidFill>
                  <a:latin typeface="Gordita Bold"/>
                  <a:ea typeface="Gordita Bold"/>
                  <a:cs typeface="Gordita Bold"/>
                  <a:sym typeface="Gordita Bold"/>
                </a:rPr>
                <a:t> les Services</a:t>
              </a:r>
            </a:p>
            <a:p>
              <a:pPr algn="l">
                <a:lnSpc>
                  <a:spcPts val="2487"/>
                </a:lnSpc>
                <a:spcBef>
                  <a:spcPct val="0"/>
                </a:spcBef>
              </a:pPr>
              <a:endParaRPr lang="en-US" sz="1776" b="1" dirty="0">
                <a:solidFill>
                  <a:srgbClr val="000000"/>
                </a:solidFill>
                <a:latin typeface="Gordita Bold"/>
                <a:ea typeface="Gordita Bold"/>
                <a:cs typeface="Gordita Bold"/>
                <a:sym typeface="Gordita Bold"/>
              </a:endParaRPr>
            </a:p>
          </p:txBody>
        </p:sp>
        <p:sp>
          <p:nvSpPr>
            <p:cNvPr id="69" name="TextBox 62"/>
            <p:cNvSpPr txBox="1"/>
            <p:nvPr/>
          </p:nvSpPr>
          <p:spPr>
            <a:xfrm>
              <a:off x="1434243" y="1711566"/>
              <a:ext cx="8459306" cy="1846978"/>
            </a:xfrm>
            <a:prstGeom prst="rect">
              <a:avLst/>
            </a:prstGeom>
          </p:spPr>
          <p:txBody>
            <a:bodyPr lIns="0" tIns="0" rIns="0" bIns="0" rtlCol="0" anchor="t">
              <a:spAutoFit/>
            </a:bodyPr>
            <a:lstStyle/>
            <a:p>
              <a:pPr algn="l">
                <a:lnSpc>
                  <a:spcPts val="2487"/>
                </a:lnSpc>
              </a:pPr>
              <a:r>
                <a:rPr lang="en-US" sz="1776" dirty="0" smtClean="0">
                  <a:solidFill>
                    <a:srgbClr val="000000"/>
                  </a:solidFill>
                  <a:latin typeface="Gordita"/>
                  <a:ea typeface="Gordita"/>
                  <a:cs typeface="Gordita"/>
                  <a:sym typeface="Gordita"/>
                </a:rPr>
                <a:t>Se connecter UNE SEULE FOIS à </a:t>
              </a:r>
              <a:r>
                <a:rPr lang="en-US" sz="1776" dirty="0" err="1" smtClean="0">
                  <a:solidFill>
                    <a:srgbClr val="000000"/>
                  </a:solidFill>
                  <a:latin typeface="Gordita"/>
                  <a:ea typeface="Gordita"/>
                  <a:cs typeface="Gordita"/>
                  <a:sym typeface="Gordita"/>
                </a:rPr>
                <a:t>Keycloak</a:t>
              </a:r>
              <a:endParaRPr lang="en-US" sz="1776" dirty="0" smtClean="0">
                <a:solidFill>
                  <a:srgbClr val="000000"/>
                </a:solidFill>
                <a:latin typeface="Gordita"/>
                <a:ea typeface="Gordita"/>
                <a:cs typeface="Gordita"/>
                <a:sym typeface="Gordita"/>
              </a:endParaRPr>
            </a:p>
            <a:p>
              <a:pPr algn="l">
                <a:lnSpc>
                  <a:spcPts val="2487"/>
                </a:lnSpc>
              </a:pPr>
              <a:r>
                <a:rPr lang="en-US" sz="1776" dirty="0" err="1" smtClean="0">
                  <a:solidFill>
                    <a:srgbClr val="000000"/>
                  </a:solidFill>
                  <a:latin typeface="Gordita"/>
                  <a:ea typeface="Gordita"/>
                  <a:cs typeface="Gordita"/>
                  <a:sym typeface="Gordita"/>
                </a:rPr>
                <a:t>Accéder</a:t>
              </a:r>
              <a:r>
                <a:rPr lang="en-US" sz="1776" dirty="0" smtClean="0">
                  <a:solidFill>
                    <a:srgbClr val="000000"/>
                  </a:solidFill>
                  <a:latin typeface="Gordita"/>
                  <a:ea typeface="Gordita"/>
                  <a:cs typeface="Gordita"/>
                  <a:sym typeface="Gordita"/>
                </a:rPr>
                <a:t> </a:t>
              </a:r>
              <a:r>
                <a:rPr lang="en-US" sz="1776" dirty="0">
                  <a:solidFill>
                    <a:srgbClr val="000000"/>
                  </a:solidFill>
                  <a:latin typeface="Gordita"/>
                  <a:ea typeface="Gordita"/>
                  <a:cs typeface="Gordita"/>
                  <a:sym typeface="Gordita"/>
                </a:rPr>
                <a:t>à TOUS les services </a:t>
              </a:r>
              <a:r>
                <a:rPr lang="en-US" sz="1776" dirty="0" err="1">
                  <a:solidFill>
                    <a:srgbClr val="000000"/>
                  </a:solidFill>
                  <a:latin typeface="Gordita"/>
                  <a:ea typeface="Gordita"/>
                  <a:cs typeface="Gordita"/>
                  <a:sym typeface="Gordita"/>
                </a:rPr>
                <a:t>autorisés</a:t>
              </a:r>
              <a:r>
                <a:rPr lang="en-US" sz="1776" dirty="0">
                  <a:solidFill>
                    <a:srgbClr val="000000"/>
                  </a:solidFill>
                  <a:latin typeface="Gordita"/>
                  <a:ea typeface="Gordita"/>
                  <a:cs typeface="Gordita"/>
                  <a:sym typeface="Gordita"/>
                </a:rPr>
                <a:t> sans re-</a:t>
              </a:r>
              <a:r>
                <a:rPr lang="en-US" sz="1776" dirty="0" err="1">
                  <a:solidFill>
                    <a:srgbClr val="000000"/>
                  </a:solidFill>
                  <a:latin typeface="Gordita"/>
                  <a:ea typeface="Gordita"/>
                  <a:cs typeface="Gordita"/>
                  <a:sym typeface="Gordita"/>
                </a:rPr>
                <a:t>saisir</a:t>
              </a:r>
              <a:r>
                <a:rPr lang="en-US" sz="1776" dirty="0">
                  <a:solidFill>
                    <a:srgbClr val="000000"/>
                  </a:solidFill>
                  <a:latin typeface="Gordita"/>
                  <a:ea typeface="Gordita"/>
                  <a:cs typeface="Gordita"/>
                  <a:sym typeface="Gordita"/>
                </a:rPr>
                <a:t> de mot de </a:t>
              </a:r>
              <a:r>
                <a:rPr lang="en-US" sz="1776" dirty="0" err="1">
                  <a:solidFill>
                    <a:srgbClr val="000000"/>
                  </a:solidFill>
                  <a:latin typeface="Gordita"/>
                  <a:ea typeface="Gordita"/>
                  <a:cs typeface="Gordita"/>
                  <a:sym typeface="Gordita"/>
                </a:rPr>
                <a:t>passe</a:t>
              </a:r>
              <a:endParaRPr lang="en-US" sz="1776" dirty="0">
                <a:solidFill>
                  <a:srgbClr val="000000"/>
                </a:solidFill>
                <a:latin typeface="Gordita"/>
                <a:ea typeface="Gordita"/>
                <a:cs typeface="Gordita"/>
                <a:sym typeface="Gordita"/>
              </a:endParaRPr>
            </a:p>
            <a:p>
              <a:pPr algn="l">
                <a:lnSpc>
                  <a:spcPts val="2487"/>
                </a:lnSpc>
                <a:spcBef>
                  <a:spcPct val="0"/>
                </a:spcBef>
              </a:pPr>
              <a:endParaRPr lang="en-US" sz="1776" dirty="0">
                <a:solidFill>
                  <a:srgbClr val="000000"/>
                </a:solidFill>
                <a:latin typeface="Gordita"/>
                <a:ea typeface="Gordita"/>
                <a:cs typeface="Gordita"/>
                <a:sym typeface="Gordita"/>
              </a:endParaRPr>
            </a:p>
          </p:txBody>
        </p:sp>
      </p:grpSp>
      <p:grpSp>
        <p:nvGrpSpPr>
          <p:cNvPr id="80" name="Group 63"/>
          <p:cNvGrpSpPr/>
          <p:nvPr/>
        </p:nvGrpSpPr>
        <p:grpSpPr>
          <a:xfrm>
            <a:off x="9504860" y="2728085"/>
            <a:ext cx="8236713" cy="3241900"/>
            <a:chOff x="0" y="0"/>
            <a:chExt cx="11321188" cy="4669144"/>
          </a:xfrm>
        </p:grpSpPr>
        <p:sp>
          <p:nvSpPr>
            <p:cNvPr id="83" name="Freeform 64"/>
            <p:cNvSpPr/>
            <p:nvPr/>
          </p:nvSpPr>
          <p:spPr>
            <a:xfrm rot="5400000">
              <a:off x="4051150" y="-1824887"/>
              <a:ext cx="2442881" cy="10545182"/>
            </a:xfrm>
            <a:custGeom>
              <a:avLst/>
              <a:gdLst/>
              <a:ahLst/>
              <a:cxnLst/>
              <a:rect l="l" t="t" r="r" b="b"/>
              <a:pathLst>
                <a:path w="2442881" h="10545182">
                  <a:moveTo>
                    <a:pt x="0" y="0"/>
                  </a:moveTo>
                  <a:lnTo>
                    <a:pt x="2442881" y="0"/>
                  </a:lnTo>
                  <a:lnTo>
                    <a:pt x="2442881" y="10545182"/>
                  </a:lnTo>
                  <a:lnTo>
                    <a:pt x="0" y="10545182"/>
                  </a:lnTo>
                  <a:lnTo>
                    <a:pt x="0" y="0"/>
                  </a:lnTo>
                  <a:close/>
                </a:path>
              </a:pathLst>
            </a:custGeom>
            <a:blipFill>
              <a:blip r:embed="rId8"/>
              <a:stretch>
                <a:fillRect l="-48378" r="-40771"/>
              </a:stretch>
            </a:blipFill>
          </p:spPr>
        </p:sp>
        <p:grpSp>
          <p:nvGrpSpPr>
            <p:cNvPr id="86" name="Group 65"/>
            <p:cNvGrpSpPr/>
            <p:nvPr/>
          </p:nvGrpSpPr>
          <p:grpSpPr>
            <a:xfrm>
              <a:off x="469079" y="485484"/>
              <a:ext cx="9607025" cy="3997848"/>
              <a:chOff x="0" y="0"/>
              <a:chExt cx="1600340" cy="665962"/>
            </a:xfrm>
          </p:grpSpPr>
          <p:sp>
            <p:nvSpPr>
              <p:cNvPr id="98" name="Freeform 66"/>
              <p:cNvSpPr/>
              <p:nvPr/>
            </p:nvSpPr>
            <p:spPr>
              <a:xfrm>
                <a:off x="0" y="0"/>
                <a:ext cx="1600340" cy="665962"/>
              </a:xfrm>
              <a:custGeom>
                <a:avLst/>
                <a:gdLst/>
                <a:ahLst/>
                <a:cxnLst/>
                <a:rect l="l" t="t" r="r" b="b"/>
                <a:pathLst>
                  <a:path w="1600340" h="665962">
                    <a:moveTo>
                      <a:pt x="22666" y="0"/>
                    </a:moveTo>
                    <a:lnTo>
                      <a:pt x="1577673" y="0"/>
                    </a:lnTo>
                    <a:cubicBezTo>
                      <a:pt x="1590192" y="0"/>
                      <a:pt x="1600340" y="10148"/>
                      <a:pt x="1600340" y="22666"/>
                    </a:cubicBezTo>
                    <a:lnTo>
                      <a:pt x="1600340" y="643296"/>
                    </a:lnTo>
                    <a:cubicBezTo>
                      <a:pt x="1600340" y="655814"/>
                      <a:pt x="1590192" y="665962"/>
                      <a:pt x="1577673" y="665962"/>
                    </a:cubicBezTo>
                    <a:lnTo>
                      <a:pt x="22666" y="665962"/>
                    </a:lnTo>
                    <a:cubicBezTo>
                      <a:pt x="10148" y="665962"/>
                      <a:pt x="0" y="655814"/>
                      <a:pt x="0" y="643296"/>
                    </a:cubicBezTo>
                    <a:lnTo>
                      <a:pt x="0" y="22666"/>
                    </a:lnTo>
                    <a:cubicBezTo>
                      <a:pt x="0" y="10148"/>
                      <a:pt x="10148" y="0"/>
                      <a:pt x="22666" y="0"/>
                    </a:cubicBezTo>
                    <a:close/>
                  </a:path>
                </a:pathLst>
              </a:custGeom>
              <a:solidFill>
                <a:srgbClr val="FFFFFF"/>
              </a:solidFill>
            </p:spPr>
          </p:sp>
          <p:sp>
            <p:nvSpPr>
              <p:cNvPr id="100" name="TextBox 67"/>
              <p:cNvSpPr txBox="1"/>
              <p:nvPr/>
            </p:nvSpPr>
            <p:spPr>
              <a:xfrm>
                <a:off x="0" y="-19050"/>
                <a:ext cx="1600340" cy="685012"/>
              </a:xfrm>
              <a:prstGeom prst="rect">
                <a:avLst/>
              </a:prstGeom>
            </p:spPr>
            <p:txBody>
              <a:bodyPr lIns="50800" tIns="50800" rIns="50800" bIns="50800" rtlCol="0" anchor="ctr"/>
              <a:lstStyle/>
              <a:p>
                <a:pPr algn="ctr">
                  <a:lnSpc>
                    <a:spcPts val="1399"/>
                  </a:lnSpc>
                </a:pPr>
                <a:endParaRPr/>
              </a:p>
            </p:txBody>
          </p:sp>
        </p:grpSp>
        <p:grpSp>
          <p:nvGrpSpPr>
            <p:cNvPr id="87" name="Group 68"/>
            <p:cNvGrpSpPr/>
            <p:nvPr/>
          </p:nvGrpSpPr>
          <p:grpSpPr>
            <a:xfrm>
              <a:off x="8831019" y="0"/>
              <a:ext cx="2490169" cy="1209680"/>
              <a:chOff x="0" y="0"/>
              <a:chExt cx="832970" cy="404642"/>
            </a:xfrm>
          </p:grpSpPr>
          <p:sp>
            <p:nvSpPr>
              <p:cNvPr id="96" name="Freeform 69"/>
              <p:cNvSpPr/>
              <p:nvPr/>
            </p:nvSpPr>
            <p:spPr>
              <a:xfrm>
                <a:off x="0" y="0"/>
                <a:ext cx="832970" cy="404642"/>
              </a:xfrm>
              <a:custGeom>
                <a:avLst/>
                <a:gdLst/>
                <a:ahLst/>
                <a:cxnLst/>
                <a:rect l="l" t="t" r="r" b="b"/>
                <a:pathLst>
                  <a:path w="832970" h="404642">
                    <a:moveTo>
                      <a:pt x="119663" y="0"/>
                    </a:moveTo>
                    <a:lnTo>
                      <a:pt x="713307" y="0"/>
                    </a:lnTo>
                    <a:cubicBezTo>
                      <a:pt x="745043" y="0"/>
                      <a:pt x="775480" y="12607"/>
                      <a:pt x="797921" y="35049"/>
                    </a:cubicBezTo>
                    <a:cubicBezTo>
                      <a:pt x="820363" y="57490"/>
                      <a:pt x="832970" y="87927"/>
                      <a:pt x="832970" y="119663"/>
                    </a:cubicBezTo>
                    <a:lnTo>
                      <a:pt x="832970" y="284979"/>
                    </a:lnTo>
                    <a:cubicBezTo>
                      <a:pt x="832970" y="316715"/>
                      <a:pt x="820363" y="347152"/>
                      <a:pt x="797921" y="369593"/>
                    </a:cubicBezTo>
                    <a:cubicBezTo>
                      <a:pt x="775480" y="392035"/>
                      <a:pt x="745043" y="404642"/>
                      <a:pt x="713307" y="404642"/>
                    </a:cubicBezTo>
                    <a:lnTo>
                      <a:pt x="119663" y="404642"/>
                    </a:lnTo>
                    <a:cubicBezTo>
                      <a:pt x="87927" y="404642"/>
                      <a:pt x="57490" y="392035"/>
                      <a:pt x="35049" y="369593"/>
                    </a:cubicBezTo>
                    <a:cubicBezTo>
                      <a:pt x="12607" y="347152"/>
                      <a:pt x="0" y="316715"/>
                      <a:pt x="0" y="284979"/>
                    </a:cubicBezTo>
                    <a:lnTo>
                      <a:pt x="0" y="119663"/>
                    </a:lnTo>
                    <a:cubicBezTo>
                      <a:pt x="0" y="87927"/>
                      <a:pt x="12607" y="57490"/>
                      <a:pt x="35049" y="35049"/>
                    </a:cubicBezTo>
                    <a:cubicBezTo>
                      <a:pt x="57490" y="12607"/>
                      <a:pt x="87927" y="0"/>
                      <a:pt x="119663" y="0"/>
                    </a:cubicBezTo>
                    <a:close/>
                  </a:path>
                </a:pathLst>
              </a:custGeom>
              <a:solidFill>
                <a:srgbClr val="86EAE9"/>
              </a:solidFill>
            </p:spPr>
          </p:sp>
          <p:sp>
            <p:nvSpPr>
              <p:cNvPr id="97" name="TextBox 70"/>
              <p:cNvSpPr txBox="1"/>
              <p:nvPr/>
            </p:nvSpPr>
            <p:spPr>
              <a:xfrm>
                <a:off x="0" y="-57150"/>
                <a:ext cx="832970" cy="461792"/>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88" name="Group 71"/>
            <p:cNvGrpSpPr/>
            <p:nvPr/>
          </p:nvGrpSpPr>
          <p:grpSpPr>
            <a:xfrm>
              <a:off x="1320689" y="394926"/>
              <a:ext cx="7989047" cy="181116"/>
              <a:chOff x="0" y="0"/>
              <a:chExt cx="17926380" cy="406400"/>
            </a:xfrm>
          </p:grpSpPr>
          <p:sp>
            <p:nvSpPr>
              <p:cNvPr id="94" name="Freeform 72"/>
              <p:cNvSpPr/>
              <p:nvPr/>
            </p:nvSpPr>
            <p:spPr>
              <a:xfrm>
                <a:off x="0" y="0"/>
                <a:ext cx="17926380" cy="406400"/>
              </a:xfrm>
              <a:custGeom>
                <a:avLst/>
                <a:gdLst/>
                <a:ahLst/>
                <a:cxnLst/>
                <a:rect l="l" t="t" r="r" b="b"/>
                <a:pathLst>
                  <a:path w="17926380" h="406400">
                    <a:moveTo>
                      <a:pt x="17723180" y="0"/>
                    </a:moveTo>
                    <a:cubicBezTo>
                      <a:pt x="17835404" y="0"/>
                      <a:pt x="17926380" y="90976"/>
                      <a:pt x="17926380" y="203200"/>
                    </a:cubicBezTo>
                    <a:cubicBezTo>
                      <a:pt x="17926380" y="315424"/>
                      <a:pt x="17835404" y="406400"/>
                      <a:pt x="17723180" y="406400"/>
                    </a:cubicBezTo>
                    <a:lnTo>
                      <a:pt x="203200" y="406400"/>
                    </a:lnTo>
                    <a:cubicBezTo>
                      <a:pt x="90976" y="406400"/>
                      <a:pt x="0" y="315424"/>
                      <a:pt x="0" y="203200"/>
                    </a:cubicBezTo>
                    <a:cubicBezTo>
                      <a:pt x="0" y="90976"/>
                      <a:pt x="90976" y="0"/>
                      <a:pt x="203200" y="0"/>
                    </a:cubicBezTo>
                    <a:close/>
                  </a:path>
                </a:pathLst>
              </a:custGeom>
              <a:solidFill>
                <a:srgbClr val="86EAE9"/>
              </a:solidFill>
            </p:spPr>
          </p:sp>
          <p:sp>
            <p:nvSpPr>
              <p:cNvPr id="95" name="TextBox 73"/>
              <p:cNvSpPr txBox="1"/>
              <p:nvPr/>
            </p:nvSpPr>
            <p:spPr>
              <a:xfrm>
                <a:off x="0" y="-57150"/>
                <a:ext cx="17926380" cy="463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89" name="Group 74"/>
            <p:cNvGrpSpPr/>
            <p:nvPr/>
          </p:nvGrpSpPr>
          <p:grpSpPr>
            <a:xfrm>
              <a:off x="8984550" y="79455"/>
              <a:ext cx="2183106" cy="1060514"/>
              <a:chOff x="0" y="0"/>
              <a:chExt cx="730256" cy="354746"/>
            </a:xfrm>
          </p:grpSpPr>
          <p:sp>
            <p:nvSpPr>
              <p:cNvPr id="92" name="Freeform 75"/>
              <p:cNvSpPr/>
              <p:nvPr/>
            </p:nvSpPr>
            <p:spPr>
              <a:xfrm>
                <a:off x="0" y="0"/>
                <a:ext cx="730256" cy="354746"/>
              </a:xfrm>
              <a:custGeom>
                <a:avLst/>
                <a:gdLst/>
                <a:ahLst/>
                <a:cxnLst/>
                <a:rect l="l" t="t" r="r" b="b"/>
                <a:pathLst>
                  <a:path w="730256" h="354746">
                    <a:moveTo>
                      <a:pt x="115495" y="0"/>
                    </a:moveTo>
                    <a:lnTo>
                      <a:pt x="614761" y="0"/>
                    </a:lnTo>
                    <a:cubicBezTo>
                      <a:pt x="678547" y="0"/>
                      <a:pt x="730256" y="51709"/>
                      <a:pt x="730256" y="115495"/>
                    </a:cubicBezTo>
                    <a:lnTo>
                      <a:pt x="730256" y="239250"/>
                    </a:lnTo>
                    <a:cubicBezTo>
                      <a:pt x="730256" y="303036"/>
                      <a:pt x="678547" y="354746"/>
                      <a:pt x="614761" y="354746"/>
                    </a:cubicBezTo>
                    <a:lnTo>
                      <a:pt x="115495" y="354746"/>
                    </a:lnTo>
                    <a:cubicBezTo>
                      <a:pt x="84864" y="354746"/>
                      <a:pt x="55487" y="342577"/>
                      <a:pt x="33828" y="320918"/>
                    </a:cubicBezTo>
                    <a:cubicBezTo>
                      <a:pt x="12168" y="299258"/>
                      <a:pt x="0" y="269881"/>
                      <a:pt x="0" y="239250"/>
                    </a:cubicBezTo>
                    <a:lnTo>
                      <a:pt x="0" y="115495"/>
                    </a:lnTo>
                    <a:cubicBezTo>
                      <a:pt x="0" y="84864"/>
                      <a:pt x="12168" y="55487"/>
                      <a:pt x="33828" y="33828"/>
                    </a:cubicBezTo>
                    <a:cubicBezTo>
                      <a:pt x="55487" y="12168"/>
                      <a:pt x="84864" y="0"/>
                      <a:pt x="115495" y="0"/>
                    </a:cubicBezTo>
                    <a:close/>
                  </a:path>
                </a:pathLst>
              </a:custGeom>
              <a:ln w="38100" cap="rnd">
                <a:solidFill>
                  <a:srgbClr val="FFFFFF"/>
                </a:solidFill>
                <a:prstDash val="solid"/>
                <a:round/>
              </a:ln>
            </p:spPr>
          </p:sp>
          <p:sp>
            <p:nvSpPr>
              <p:cNvPr id="93" name="TextBox 76"/>
              <p:cNvSpPr txBox="1"/>
              <p:nvPr/>
            </p:nvSpPr>
            <p:spPr>
              <a:xfrm>
                <a:off x="0" y="-28575"/>
                <a:ext cx="730256" cy="383321"/>
              </a:xfrm>
              <a:prstGeom prst="rect">
                <a:avLst/>
              </a:prstGeom>
            </p:spPr>
            <p:txBody>
              <a:bodyPr lIns="50800" tIns="50800" rIns="50800" bIns="50800" rtlCol="0" anchor="ctr"/>
              <a:lstStyle/>
              <a:p>
                <a:pPr algn="ctr">
                  <a:lnSpc>
                    <a:spcPts val="2660"/>
                  </a:lnSpc>
                </a:pPr>
                <a:r>
                  <a:rPr lang="en-US" sz="1900" b="1">
                    <a:solidFill>
                      <a:srgbClr val="FFFFFF"/>
                    </a:solidFill>
                    <a:latin typeface="Gordita Bold"/>
                    <a:ea typeface="Gordita Bold"/>
                    <a:cs typeface="Gordita Bold"/>
                    <a:sym typeface="Gordita Bold"/>
                  </a:rPr>
                  <a:t>02</a:t>
                </a:r>
              </a:p>
            </p:txBody>
          </p:sp>
        </p:grpSp>
        <p:sp>
          <p:nvSpPr>
            <p:cNvPr id="90" name="TextBox 77"/>
            <p:cNvSpPr txBox="1"/>
            <p:nvPr/>
          </p:nvSpPr>
          <p:spPr>
            <a:xfrm>
              <a:off x="1476865" y="779929"/>
              <a:ext cx="7676695" cy="1204348"/>
            </a:xfrm>
            <a:prstGeom prst="rect">
              <a:avLst/>
            </a:prstGeom>
          </p:spPr>
          <p:txBody>
            <a:bodyPr lIns="0" tIns="0" rIns="0" bIns="0" rtlCol="0" anchor="t">
              <a:spAutoFit/>
            </a:bodyPr>
            <a:lstStyle/>
            <a:p>
              <a:pPr algn="l">
                <a:lnSpc>
                  <a:spcPts val="2487"/>
                </a:lnSpc>
              </a:pPr>
              <a:r>
                <a:rPr lang="en-US" sz="1776" b="1">
                  <a:solidFill>
                    <a:srgbClr val="000000"/>
                  </a:solidFill>
                  <a:latin typeface="Gordita Bold"/>
                  <a:ea typeface="Gordita Bold"/>
                  <a:cs typeface="Gordita Bold"/>
                  <a:sym typeface="Gordita Bold"/>
                </a:rPr>
                <a:t>OIDC (OpenID Connect) : Protocole de Confiance</a:t>
              </a:r>
            </a:p>
            <a:p>
              <a:pPr algn="l">
                <a:lnSpc>
                  <a:spcPts val="2487"/>
                </a:lnSpc>
                <a:spcBef>
                  <a:spcPct val="0"/>
                </a:spcBef>
              </a:pPr>
              <a:endParaRPr lang="en-US" sz="1776" b="1">
                <a:solidFill>
                  <a:srgbClr val="000000"/>
                </a:solidFill>
                <a:latin typeface="Gordita Bold"/>
                <a:ea typeface="Gordita Bold"/>
                <a:cs typeface="Gordita Bold"/>
                <a:sym typeface="Gordita Bold"/>
              </a:endParaRPr>
            </a:p>
          </p:txBody>
        </p:sp>
        <p:sp>
          <p:nvSpPr>
            <p:cNvPr id="91" name="TextBox 78"/>
            <p:cNvSpPr txBox="1"/>
            <p:nvPr/>
          </p:nvSpPr>
          <p:spPr>
            <a:xfrm>
              <a:off x="1476865" y="1809441"/>
              <a:ext cx="7676695" cy="2308724"/>
            </a:xfrm>
            <a:prstGeom prst="rect">
              <a:avLst/>
            </a:prstGeom>
          </p:spPr>
          <p:txBody>
            <a:bodyPr lIns="0" tIns="0" rIns="0" bIns="0" rtlCol="0" anchor="t">
              <a:spAutoFit/>
            </a:bodyPr>
            <a:lstStyle/>
            <a:p>
              <a:pPr algn="l">
                <a:lnSpc>
                  <a:spcPts val="2487"/>
                </a:lnSpc>
              </a:pPr>
              <a:r>
                <a:rPr lang="en-US" sz="1776" dirty="0" err="1">
                  <a:solidFill>
                    <a:srgbClr val="000000"/>
                  </a:solidFill>
                  <a:latin typeface="Gordita"/>
                  <a:ea typeface="Gordita"/>
                  <a:cs typeface="Gordita"/>
                  <a:sym typeface="Gordita"/>
                </a:rPr>
                <a:t>Proxmox</a:t>
              </a:r>
              <a:r>
                <a:rPr lang="en-US" sz="1776" dirty="0">
                  <a:solidFill>
                    <a:srgbClr val="000000"/>
                  </a:solidFill>
                  <a:latin typeface="Gordita"/>
                  <a:ea typeface="Gordita"/>
                  <a:cs typeface="Gordita"/>
                  <a:sym typeface="Gordita"/>
                </a:rPr>
                <a:t> 'fait </a:t>
              </a:r>
              <a:r>
                <a:rPr lang="en-US" sz="1776" dirty="0" err="1">
                  <a:solidFill>
                    <a:srgbClr val="000000"/>
                  </a:solidFill>
                  <a:latin typeface="Gordita"/>
                  <a:ea typeface="Gordita"/>
                  <a:cs typeface="Gordita"/>
                  <a:sym typeface="Gordita"/>
                </a:rPr>
                <a:t>confiance</a:t>
              </a:r>
              <a:r>
                <a:rPr lang="en-US" sz="1776" dirty="0">
                  <a:solidFill>
                    <a:srgbClr val="000000"/>
                  </a:solidFill>
                  <a:latin typeface="Gordita"/>
                  <a:ea typeface="Gordita"/>
                  <a:cs typeface="Gordita"/>
                  <a:sym typeface="Gordita"/>
                </a:rPr>
                <a:t>' à </a:t>
              </a:r>
              <a:r>
                <a:rPr lang="en-US" sz="1776" dirty="0" err="1">
                  <a:solidFill>
                    <a:srgbClr val="000000"/>
                  </a:solidFill>
                  <a:latin typeface="Gordita"/>
                  <a:ea typeface="Gordita"/>
                  <a:cs typeface="Gordita"/>
                  <a:sym typeface="Gordita"/>
                </a:rPr>
                <a:t>Keycloak</a:t>
              </a:r>
              <a:r>
                <a:rPr lang="en-US" sz="1776" dirty="0">
                  <a:solidFill>
                    <a:srgbClr val="000000"/>
                  </a:solidFill>
                  <a:latin typeface="Gordita"/>
                  <a:ea typeface="Gordita"/>
                  <a:cs typeface="Gordita"/>
                  <a:sym typeface="Gordita"/>
                </a:rPr>
                <a:t> pour </a:t>
              </a:r>
              <a:r>
                <a:rPr lang="en-US" sz="1776" dirty="0" err="1">
                  <a:solidFill>
                    <a:srgbClr val="000000"/>
                  </a:solidFill>
                  <a:latin typeface="Gordita"/>
                  <a:ea typeface="Gordita"/>
                  <a:cs typeface="Gordita"/>
                  <a:sym typeface="Gordita"/>
                </a:rPr>
                <a:t>l'authentification</a:t>
              </a:r>
              <a:endParaRPr lang="en-US" sz="1776" dirty="0">
                <a:solidFill>
                  <a:srgbClr val="000000"/>
                </a:solidFill>
                <a:latin typeface="Gordita"/>
                <a:ea typeface="Gordita"/>
                <a:cs typeface="Gordita"/>
                <a:sym typeface="Gordita"/>
              </a:endParaRPr>
            </a:p>
            <a:p>
              <a:pPr algn="l">
                <a:lnSpc>
                  <a:spcPts val="2487"/>
                </a:lnSpc>
              </a:pPr>
              <a:r>
                <a:rPr lang="en-US" sz="1776" dirty="0" err="1">
                  <a:solidFill>
                    <a:srgbClr val="000000"/>
                  </a:solidFill>
                  <a:latin typeface="Gordita"/>
                  <a:ea typeface="Gordita"/>
                  <a:cs typeface="Gordita"/>
                  <a:sym typeface="Gordita"/>
                </a:rPr>
                <a:t>Keycloak</a:t>
              </a:r>
              <a:r>
                <a:rPr lang="en-US" sz="1776" dirty="0">
                  <a:solidFill>
                    <a:srgbClr val="000000"/>
                  </a:solidFill>
                  <a:latin typeface="Gordita"/>
                  <a:ea typeface="Gordita"/>
                  <a:cs typeface="Gordita"/>
                  <a:sym typeface="Gordita"/>
                </a:rPr>
                <a:t> </a:t>
              </a:r>
              <a:r>
                <a:rPr lang="en-US" sz="1776" dirty="0" err="1">
                  <a:solidFill>
                    <a:srgbClr val="000000"/>
                  </a:solidFill>
                  <a:latin typeface="Gordita"/>
                  <a:ea typeface="Gordita"/>
                  <a:cs typeface="Gordita"/>
                  <a:sym typeface="Gordita"/>
                </a:rPr>
                <a:t>génère</a:t>
              </a:r>
              <a:r>
                <a:rPr lang="en-US" sz="1776" dirty="0">
                  <a:solidFill>
                    <a:srgbClr val="000000"/>
                  </a:solidFill>
                  <a:latin typeface="Gordita"/>
                  <a:ea typeface="Gordita"/>
                  <a:cs typeface="Gordita"/>
                  <a:sym typeface="Gordita"/>
                </a:rPr>
                <a:t> un JWT (JSON Web Token) </a:t>
              </a:r>
              <a:r>
                <a:rPr lang="en-US" sz="1776" dirty="0" err="1">
                  <a:solidFill>
                    <a:srgbClr val="000000"/>
                  </a:solidFill>
                  <a:latin typeface="Gordita"/>
                  <a:ea typeface="Gordita"/>
                  <a:cs typeface="Gordita"/>
                  <a:sym typeface="Gordita"/>
                </a:rPr>
                <a:t>signé</a:t>
              </a:r>
              <a:endParaRPr lang="en-US" sz="1776" dirty="0">
                <a:solidFill>
                  <a:srgbClr val="000000"/>
                </a:solidFill>
                <a:latin typeface="Gordita"/>
                <a:ea typeface="Gordita"/>
                <a:cs typeface="Gordita"/>
                <a:sym typeface="Gordita"/>
              </a:endParaRPr>
            </a:p>
            <a:p>
              <a:pPr marL="0" lvl="0" indent="0" algn="l">
                <a:lnSpc>
                  <a:spcPts val="2487"/>
                </a:lnSpc>
                <a:spcBef>
                  <a:spcPct val="0"/>
                </a:spcBef>
              </a:pPr>
              <a:r>
                <a:rPr lang="en-US" sz="1776" dirty="0">
                  <a:solidFill>
                    <a:srgbClr val="000000"/>
                  </a:solidFill>
                  <a:latin typeface="Gordita"/>
                  <a:ea typeface="Gordita"/>
                  <a:cs typeface="Gordita"/>
                  <a:sym typeface="Gordita"/>
                </a:rPr>
                <a:t>Le JWT </a:t>
              </a:r>
              <a:r>
                <a:rPr lang="en-US" sz="1776" dirty="0" err="1">
                  <a:solidFill>
                    <a:srgbClr val="000000"/>
                  </a:solidFill>
                  <a:latin typeface="Gordita"/>
                  <a:ea typeface="Gordita"/>
                  <a:cs typeface="Gordita"/>
                  <a:sym typeface="Gordita"/>
                </a:rPr>
                <a:t>contient</a:t>
              </a:r>
              <a:r>
                <a:rPr lang="en-US" sz="1776" dirty="0">
                  <a:solidFill>
                    <a:srgbClr val="000000"/>
                  </a:solidFill>
                  <a:latin typeface="Gordita"/>
                  <a:ea typeface="Gordita"/>
                  <a:cs typeface="Gordita"/>
                  <a:sym typeface="Gordita"/>
                </a:rPr>
                <a:t> : </a:t>
              </a:r>
              <a:r>
                <a:rPr lang="en-US" sz="1776" dirty="0" err="1">
                  <a:solidFill>
                    <a:srgbClr val="000000"/>
                  </a:solidFill>
                  <a:latin typeface="Gordita"/>
                  <a:ea typeface="Gordita"/>
                  <a:cs typeface="Gordita"/>
                  <a:sym typeface="Gordita"/>
                </a:rPr>
                <a:t>identité</a:t>
              </a:r>
              <a:r>
                <a:rPr lang="en-US" sz="1776" dirty="0">
                  <a:solidFill>
                    <a:srgbClr val="000000"/>
                  </a:solidFill>
                  <a:latin typeface="Gordita"/>
                  <a:ea typeface="Gordita"/>
                  <a:cs typeface="Gordita"/>
                  <a:sym typeface="Gordita"/>
                </a:rPr>
                <a:t>, </a:t>
              </a:r>
              <a:r>
                <a:rPr lang="en-US" sz="1776" dirty="0" err="1">
                  <a:solidFill>
                    <a:srgbClr val="000000"/>
                  </a:solidFill>
                  <a:latin typeface="Gordita"/>
                  <a:ea typeface="Gordita"/>
                  <a:cs typeface="Gordita"/>
                  <a:sym typeface="Gordita"/>
                </a:rPr>
                <a:t>rôle</a:t>
              </a:r>
              <a:r>
                <a:rPr lang="en-US" sz="1776" dirty="0">
                  <a:solidFill>
                    <a:srgbClr val="000000"/>
                  </a:solidFill>
                  <a:latin typeface="Gordita"/>
                  <a:ea typeface="Gordita"/>
                  <a:cs typeface="Gordita"/>
                  <a:sym typeface="Gordita"/>
                </a:rPr>
                <a:t>, realm, permissions</a:t>
              </a:r>
            </a:p>
            <a:p>
              <a:pPr algn="l">
                <a:lnSpc>
                  <a:spcPts val="2487"/>
                </a:lnSpc>
                <a:spcBef>
                  <a:spcPct val="0"/>
                </a:spcBef>
              </a:pPr>
              <a:endParaRPr lang="en-US" sz="1776" dirty="0">
                <a:solidFill>
                  <a:srgbClr val="000000"/>
                </a:solidFill>
                <a:latin typeface="Gordita"/>
                <a:ea typeface="Gordita"/>
                <a:cs typeface="Gordita"/>
                <a:sym typeface="Gordita"/>
              </a:endParaRPr>
            </a:p>
          </p:txBody>
        </p:sp>
      </p:grpSp>
      <p:sp>
        <p:nvSpPr>
          <p:cNvPr id="101" name="Freeform 79"/>
          <p:cNvSpPr/>
          <p:nvPr/>
        </p:nvSpPr>
        <p:spPr>
          <a:xfrm>
            <a:off x="3263420" y="9274093"/>
            <a:ext cx="346240" cy="361619"/>
          </a:xfrm>
          <a:custGeom>
            <a:avLst/>
            <a:gdLst/>
            <a:ahLst/>
            <a:cxnLst/>
            <a:rect l="l" t="t" r="r" b="b"/>
            <a:pathLst>
              <a:path w="356925" h="390616">
                <a:moveTo>
                  <a:pt x="0" y="0"/>
                </a:moveTo>
                <a:lnTo>
                  <a:pt x="356925" y="0"/>
                </a:lnTo>
                <a:lnTo>
                  <a:pt x="356925" y="390615"/>
                </a:lnTo>
                <a:lnTo>
                  <a:pt x="0" y="390615"/>
                </a:lnTo>
                <a:lnTo>
                  <a:pt x="0" y="0"/>
                </a:lnTo>
                <a:close/>
              </a:path>
            </a:pathLst>
          </a:custGeom>
          <a:blipFill>
            <a:blip r:embed="rId9">
              <a:extLst>
                <a:ext uri="{96DAC541-7B7A-43D3-8B79-37D633B846F1}">
                  <asvg:svgBlip xmlns:asvg="http://schemas.microsoft.com/office/drawing/2016/SVG/main" xmlns="" r:embed="rId10"/>
                </a:ext>
              </a:extLst>
            </a:blip>
            <a:stretch>
              <a:fillRect/>
            </a:stretch>
          </a:blipFill>
        </p:spPr>
      </p:sp>
      <p:sp>
        <p:nvSpPr>
          <p:cNvPr id="102" name="Freeform 80"/>
          <p:cNvSpPr/>
          <p:nvPr/>
        </p:nvSpPr>
        <p:spPr>
          <a:xfrm>
            <a:off x="5314456" y="6935933"/>
            <a:ext cx="412959" cy="427210"/>
          </a:xfrm>
          <a:custGeom>
            <a:avLst/>
            <a:gdLst/>
            <a:ahLst/>
            <a:cxnLst/>
            <a:rect l="l" t="t" r="r" b="b"/>
            <a:pathLst>
              <a:path w="425703" h="461467">
                <a:moveTo>
                  <a:pt x="0" y="0"/>
                </a:moveTo>
                <a:lnTo>
                  <a:pt x="425703" y="0"/>
                </a:lnTo>
                <a:lnTo>
                  <a:pt x="425703" y="461467"/>
                </a:lnTo>
                <a:lnTo>
                  <a:pt x="0" y="461467"/>
                </a:lnTo>
                <a:lnTo>
                  <a:pt x="0" y="0"/>
                </a:lnTo>
                <a:close/>
              </a:path>
            </a:pathLst>
          </a:custGeom>
          <a:blipFill>
            <a:blip r:embed="rId11">
              <a:extLst>
                <a:ext uri="{96DAC541-7B7A-43D3-8B79-37D633B846F1}">
                  <asvg:svgBlip xmlns:asvg="http://schemas.microsoft.com/office/drawing/2016/SVG/main" xmlns="" r:embed="rId12"/>
                </a:ext>
              </a:extLst>
            </a:blip>
            <a:stretch>
              <a:fillRect/>
            </a:stretch>
          </a:blipFill>
        </p:spPr>
      </p:sp>
      <p:sp>
        <p:nvSpPr>
          <p:cNvPr id="103" name="Freeform 81"/>
          <p:cNvSpPr/>
          <p:nvPr/>
        </p:nvSpPr>
        <p:spPr>
          <a:xfrm>
            <a:off x="7304009" y="9331177"/>
            <a:ext cx="423232" cy="403905"/>
          </a:xfrm>
          <a:custGeom>
            <a:avLst/>
            <a:gdLst/>
            <a:ahLst/>
            <a:cxnLst/>
            <a:rect l="l" t="t" r="r" b="b"/>
            <a:pathLst>
              <a:path w="436293" h="436293">
                <a:moveTo>
                  <a:pt x="0" y="0"/>
                </a:moveTo>
                <a:lnTo>
                  <a:pt x="436293" y="0"/>
                </a:lnTo>
                <a:lnTo>
                  <a:pt x="436293" y="436292"/>
                </a:lnTo>
                <a:lnTo>
                  <a:pt x="0" y="436292"/>
                </a:lnTo>
                <a:lnTo>
                  <a:pt x="0" y="0"/>
                </a:lnTo>
                <a:close/>
              </a:path>
            </a:pathLst>
          </a:custGeom>
          <a:blipFill>
            <a:blip r:embed="rId13">
              <a:extLst>
                <a:ext uri="{96DAC541-7B7A-43D3-8B79-37D633B846F1}">
                  <asvg:svgBlip xmlns:asvg="http://schemas.microsoft.com/office/drawing/2016/SVG/main" xmlns="" r:embed="rId14"/>
                </a:ext>
              </a:extLst>
            </a:blip>
            <a:stretch>
              <a:fillRect/>
            </a:stretch>
          </a:blipFill>
        </p:spPr>
      </p:sp>
      <p:sp>
        <p:nvSpPr>
          <p:cNvPr id="104" name="Freeform 82"/>
          <p:cNvSpPr/>
          <p:nvPr/>
        </p:nvSpPr>
        <p:spPr>
          <a:xfrm>
            <a:off x="9445085" y="6913313"/>
            <a:ext cx="440053" cy="418383"/>
          </a:xfrm>
          <a:custGeom>
            <a:avLst/>
            <a:gdLst/>
            <a:ahLst/>
            <a:cxnLst/>
            <a:rect l="l" t="t" r="r" b="b"/>
            <a:pathLst>
              <a:path w="453633" h="451932">
                <a:moveTo>
                  <a:pt x="0" y="0"/>
                </a:moveTo>
                <a:lnTo>
                  <a:pt x="453634" y="0"/>
                </a:lnTo>
                <a:lnTo>
                  <a:pt x="453634" y="451932"/>
                </a:lnTo>
                <a:lnTo>
                  <a:pt x="0" y="451932"/>
                </a:lnTo>
                <a:lnTo>
                  <a:pt x="0" y="0"/>
                </a:lnTo>
                <a:close/>
              </a:path>
            </a:pathLst>
          </a:custGeom>
          <a:blipFill>
            <a:blip r:embed="rId15">
              <a:extLst>
                <a:ext uri="{96DAC541-7B7A-43D3-8B79-37D633B846F1}">
                  <asvg:svgBlip xmlns:asvg="http://schemas.microsoft.com/office/drawing/2016/SVG/main" xmlns="" r:embed="rId16"/>
                </a:ext>
              </a:extLst>
            </a:blip>
            <a:stretch>
              <a:fillRect/>
            </a:stretch>
          </a:blipFill>
        </p:spPr>
      </p:sp>
      <p:sp>
        <p:nvSpPr>
          <p:cNvPr id="105" name="Freeform 83"/>
          <p:cNvSpPr/>
          <p:nvPr/>
        </p:nvSpPr>
        <p:spPr>
          <a:xfrm>
            <a:off x="11553622" y="9326423"/>
            <a:ext cx="458565" cy="344629"/>
          </a:xfrm>
          <a:custGeom>
            <a:avLst/>
            <a:gdLst/>
            <a:ahLst/>
            <a:cxnLst/>
            <a:rect l="l" t="t" r="r" b="b"/>
            <a:pathLst>
              <a:path w="472716" h="372264">
                <a:moveTo>
                  <a:pt x="0" y="0"/>
                </a:moveTo>
                <a:lnTo>
                  <a:pt x="472716" y="0"/>
                </a:lnTo>
                <a:lnTo>
                  <a:pt x="472716" y="372264"/>
                </a:lnTo>
                <a:lnTo>
                  <a:pt x="0" y="372264"/>
                </a:lnTo>
                <a:lnTo>
                  <a:pt x="0" y="0"/>
                </a:lnTo>
                <a:close/>
              </a:path>
            </a:pathLst>
          </a:custGeom>
          <a:blipFill>
            <a:blip r:embed="rId17">
              <a:extLst>
                <a:ext uri="{96DAC541-7B7A-43D3-8B79-37D633B846F1}">
                  <asvg:svgBlip xmlns:asvg="http://schemas.microsoft.com/office/drawing/2016/SVG/main" xmlns="" r:embed="rId18"/>
                </a:ext>
              </a:extLst>
            </a:blip>
            <a:stretch>
              <a:fillRect/>
            </a:stretch>
          </a:blipFill>
        </p:spPr>
      </p:sp>
      <p:sp>
        <p:nvSpPr>
          <p:cNvPr id="106" name="TextBox 84"/>
          <p:cNvSpPr txBox="1"/>
          <p:nvPr/>
        </p:nvSpPr>
        <p:spPr>
          <a:xfrm>
            <a:off x="3696316" y="8702511"/>
            <a:ext cx="1352671" cy="333425"/>
          </a:xfrm>
          <a:prstGeom prst="rect">
            <a:avLst/>
          </a:prstGeom>
        </p:spPr>
        <p:txBody>
          <a:bodyPr wrap="square" lIns="0" tIns="0" rIns="0" bIns="0" rtlCol="0" anchor="t">
            <a:spAutoFit/>
          </a:bodyPr>
          <a:lstStyle/>
          <a:p>
            <a:pPr algn="l">
              <a:lnSpc>
                <a:spcPts val="2620"/>
              </a:lnSpc>
              <a:spcBef>
                <a:spcPct val="0"/>
              </a:spcBef>
            </a:pPr>
            <a:r>
              <a:rPr lang="en-US" sz="1871" b="1" dirty="0" err="1" smtClean="0">
                <a:solidFill>
                  <a:srgbClr val="000000"/>
                </a:solidFill>
                <a:latin typeface="Gordita Bold"/>
                <a:ea typeface="Gordita Bold"/>
                <a:cs typeface="Gordita Bold"/>
                <a:sym typeface="Gordita Bold"/>
              </a:rPr>
              <a:t>Utilisateur</a:t>
            </a:r>
            <a:endParaRPr lang="en-US" sz="1871" b="1" dirty="0">
              <a:solidFill>
                <a:srgbClr val="000000"/>
              </a:solidFill>
              <a:latin typeface="Gordita Bold"/>
              <a:ea typeface="Gordita Bold"/>
              <a:cs typeface="Gordita Bold"/>
              <a:sym typeface="Gordita Bold"/>
            </a:endParaRPr>
          </a:p>
        </p:txBody>
      </p:sp>
      <p:sp>
        <p:nvSpPr>
          <p:cNvPr id="107" name="TextBox 85"/>
          <p:cNvSpPr txBox="1"/>
          <p:nvPr/>
        </p:nvSpPr>
        <p:spPr>
          <a:xfrm>
            <a:off x="7903079" y="8710245"/>
            <a:ext cx="1374905" cy="666849"/>
          </a:xfrm>
          <a:prstGeom prst="rect">
            <a:avLst/>
          </a:prstGeom>
        </p:spPr>
        <p:txBody>
          <a:bodyPr wrap="square" lIns="0" tIns="0" rIns="0" bIns="0" rtlCol="0" anchor="t">
            <a:spAutoFit/>
          </a:bodyPr>
          <a:lstStyle/>
          <a:p>
            <a:pPr marL="0" lvl="0" indent="0" algn="l">
              <a:lnSpc>
                <a:spcPts val="2620"/>
              </a:lnSpc>
              <a:spcBef>
                <a:spcPct val="0"/>
              </a:spcBef>
            </a:pPr>
            <a:r>
              <a:rPr lang="en-US" sz="1871" b="1" u="none" strike="noStrike">
                <a:solidFill>
                  <a:srgbClr val="000000"/>
                </a:solidFill>
                <a:latin typeface="Gordita Bold"/>
                <a:ea typeface="Gordita Bold"/>
                <a:cs typeface="Gordita Bold"/>
                <a:sym typeface="Gordita Bold"/>
              </a:rPr>
              <a:t>JWT Token signé</a:t>
            </a:r>
          </a:p>
        </p:txBody>
      </p:sp>
      <p:sp>
        <p:nvSpPr>
          <p:cNvPr id="108" name="TextBox 86"/>
          <p:cNvSpPr txBox="1"/>
          <p:nvPr/>
        </p:nvSpPr>
        <p:spPr>
          <a:xfrm>
            <a:off x="5975752" y="7242987"/>
            <a:ext cx="2158851" cy="666849"/>
          </a:xfrm>
          <a:prstGeom prst="rect">
            <a:avLst/>
          </a:prstGeom>
        </p:spPr>
        <p:txBody>
          <a:bodyPr wrap="square" lIns="0" tIns="0" rIns="0" bIns="0" rtlCol="0" anchor="t">
            <a:spAutoFit/>
          </a:bodyPr>
          <a:lstStyle/>
          <a:p>
            <a:pPr marL="0" lvl="0" indent="0" algn="l">
              <a:lnSpc>
                <a:spcPts val="2620"/>
              </a:lnSpc>
              <a:spcBef>
                <a:spcPct val="0"/>
              </a:spcBef>
            </a:pPr>
            <a:r>
              <a:rPr lang="en-US" sz="1871" b="1" u="none" strike="noStrike" dirty="0" err="1">
                <a:solidFill>
                  <a:srgbClr val="000000"/>
                </a:solidFill>
                <a:latin typeface="Gordita Bold"/>
                <a:ea typeface="Gordita Bold"/>
                <a:cs typeface="Gordita Bold"/>
                <a:sym typeface="Gordita Bold"/>
              </a:rPr>
              <a:t>Keycloak</a:t>
            </a:r>
            <a:r>
              <a:rPr lang="en-US" sz="1871" b="1" u="none" strike="noStrike" dirty="0">
                <a:solidFill>
                  <a:srgbClr val="000000"/>
                </a:solidFill>
                <a:latin typeface="Gordita Bold"/>
                <a:ea typeface="Gordita Bold"/>
                <a:cs typeface="Gordita Bold"/>
                <a:sym typeface="Gordita Bold"/>
              </a:rPr>
              <a:t> (login + MFA+OTP) </a:t>
            </a:r>
          </a:p>
        </p:txBody>
      </p:sp>
      <p:sp>
        <p:nvSpPr>
          <p:cNvPr id="109" name="TextBox 87"/>
          <p:cNvSpPr txBox="1"/>
          <p:nvPr/>
        </p:nvSpPr>
        <p:spPr>
          <a:xfrm>
            <a:off x="10178665" y="7203021"/>
            <a:ext cx="2352912" cy="666849"/>
          </a:xfrm>
          <a:prstGeom prst="rect">
            <a:avLst/>
          </a:prstGeom>
        </p:spPr>
        <p:txBody>
          <a:bodyPr wrap="square" lIns="0" tIns="0" rIns="0" bIns="0" rtlCol="0" anchor="t">
            <a:spAutoFit/>
          </a:bodyPr>
          <a:lstStyle/>
          <a:p>
            <a:pPr marL="0" lvl="0" indent="0" algn="l">
              <a:lnSpc>
                <a:spcPts val="2620"/>
              </a:lnSpc>
              <a:spcBef>
                <a:spcPct val="0"/>
              </a:spcBef>
            </a:pPr>
            <a:r>
              <a:rPr lang="en-US" sz="1871" b="1" u="none" strike="noStrike">
                <a:solidFill>
                  <a:srgbClr val="000000"/>
                </a:solidFill>
                <a:latin typeface="Gordita Bold"/>
                <a:ea typeface="Gordita Bold"/>
                <a:cs typeface="Gordita Bold"/>
                <a:sym typeface="Gordita Bold"/>
              </a:rPr>
              <a:t>Proxmox (vérification OIDC) </a:t>
            </a:r>
          </a:p>
        </p:txBody>
      </p:sp>
      <p:sp>
        <p:nvSpPr>
          <p:cNvPr id="110" name="TextBox 88"/>
          <p:cNvSpPr txBox="1"/>
          <p:nvPr/>
        </p:nvSpPr>
        <p:spPr>
          <a:xfrm>
            <a:off x="12189854" y="8696503"/>
            <a:ext cx="2158851" cy="666849"/>
          </a:xfrm>
          <a:prstGeom prst="rect">
            <a:avLst/>
          </a:prstGeom>
        </p:spPr>
        <p:txBody>
          <a:bodyPr wrap="square" lIns="0" tIns="0" rIns="0" bIns="0" rtlCol="0" anchor="t">
            <a:spAutoFit/>
          </a:bodyPr>
          <a:lstStyle/>
          <a:p>
            <a:pPr marL="0" lvl="0" indent="0" algn="l">
              <a:lnSpc>
                <a:spcPts val="2620"/>
              </a:lnSpc>
              <a:spcBef>
                <a:spcPct val="0"/>
              </a:spcBef>
            </a:pPr>
            <a:r>
              <a:rPr lang="en-US" sz="1871" b="1" u="none" strike="noStrike">
                <a:solidFill>
                  <a:srgbClr val="000000"/>
                </a:solidFill>
                <a:latin typeface="Gordita Bold"/>
                <a:ea typeface="Gordita Bold"/>
                <a:cs typeface="Gordita Bold"/>
                <a:sym typeface="Gordita Bold"/>
              </a:rPr>
              <a:t>Accès avec identité Keycloak</a:t>
            </a:r>
          </a:p>
        </p:txBody>
      </p:sp>
      <p:sp>
        <p:nvSpPr>
          <p:cNvPr id="111" name="TextBox 89"/>
          <p:cNvSpPr txBox="1"/>
          <p:nvPr/>
        </p:nvSpPr>
        <p:spPr>
          <a:xfrm>
            <a:off x="3087614" y="8065028"/>
            <a:ext cx="729317" cy="500137"/>
          </a:xfrm>
          <a:prstGeom prst="rect">
            <a:avLst/>
          </a:prstGeom>
        </p:spPr>
        <p:txBody>
          <a:bodyPr wrap="square" lIns="0" tIns="0" rIns="0" bIns="0" rtlCol="0" anchor="t">
            <a:spAutoFit/>
          </a:bodyPr>
          <a:lstStyle/>
          <a:p>
            <a:pPr algn="ctr">
              <a:lnSpc>
                <a:spcPts val="3931"/>
              </a:lnSpc>
              <a:spcBef>
                <a:spcPct val="0"/>
              </a:spcBef>
            </a:pPr>
            <a:r>
              <a:rPr lang="en-US" sz="2807" b="1" dirty="0">
                <a:solidFill>
                  <a:srgbClr val="FFFFFF"/>
                </a:solidFill>
                <a:latin typeface="Canva Sans Bold"/>
                <a:ea typeface="Canva Sans Bold"/>
                <a:cs typeface="Canva Sans Bold"/>
                <a:sym typeface="Canva Sans Bold"/>
              </a:rPr>
              <a:t>01</a:t>
            </a:r>
          </a:p>
        </p:txBody>
      </p:sp>
      <p:sp>
        <p:nvSpPr>
          <p:cNvPr id="112" name="TextBox 90"/>
          <p:cNvSpPr txBox="1"/>
          <p:nvPr/>
        </p:nvSpPr>
        <p:spPr>
          <a:xfrm>
            <a:off x="5121539" y="8039657"/>
            <a:ext cx="729317" cy="500137"/>
          </a:xfrm>
          <a:prstGeom prst="rect">
            <a:avLst/>
          </a:prstGeom>
        </p:spPr>
        <p:txBody>
          <a:bodyPr wrap="square" lIns="0" tIns="0" rIns="0" bIns="0" rtlCol="0" anchor="t">
            <a:spAutoFit/>
          </a:bodyPr>
          <a:lstStyle/>
          <a:p>
            <a:pPr algn="ctr">
              <a:lnSpc>
                <a:spcPts val="3931"/>
              </a:lnSpc>
              <a:spcBef>
                <a:spcPct val="0"/>
              </a:spcBef>
            </a:pPr>
            <a:r>
              <a:rPr lang="en-US" sz="2807" b="1" dirty="0">
                <a:solidFill>
                  <a:srgbClr val="FFFFFF"/>
                </a:solidFill>
                <a:latin typeface="Canva Sans Bold"/>
                <a:ea typeface="Canva Sans Bold"/>
                <a:cs typeface="Canva Sans Bold"/>
                <a:sym typeface="Canva Sans Bold"/>
              </a:rPr>
              <a:t>02</a:t>
            </a:r>
          </a:p>
        </p:txBody>
      </p:sp>
      <p:sp>
        <p:nvSpPr>
          <p:cNvPr id="113" name="TextBox 91"/>
          <p:cNvSpPr txBox="1"/>
          <p:nvPr/>
        </p:nvSpPr>
        <p:spPr>
          <a:xfrm>
            <a:off x="7131334" y="8024021"/>
            <a:ext cx="729317" cy="500137"/>
          </a:xfrm>
          <a:prstGeom prst="rect">
            <a:avLst/>
          </a:prstGeom>
        </p:spPr>
        <p:txBody>
          <a:bodyPr wrap="square" lIns="0" tIns="0" rIns="0" bIns="0" rtlCol="0" anchor="t">
            <a:spAutoFit/>
          </a:bodyPr>
          <a:lstStyle/>
          <a:p>
            <a:pPr algn="ctr">
              <a:lnSpc>
                <a:spcPts val="3931"/>
              </a:lnSpc>
              <a:spcBef>
                <a:spcPct val="0"/>
              </a:spcBef>
            </a:pPr>
            <a:r>
              <a:rPr lang="en-US" sz="2807" b="1">
                <a:solidFill>
                  <a:srgbClr val="FFFFFF"/>
                </a:solidFill>
                <a:latin typeface="Canva Sans Bold"/>
                <a:ea typeface="Canva Sans Bold"/>
                <a:cs typeface="Canva Sans Bold"/>
                <a:sym typeface="Canva Sans Bold"/>
              </a:rPr>
              <a:t>03</a:t>
            </a:r>
          </a:p>
        </p:txBody>
      </p:sp>
      <p:sp>
        <p:nvSpPr>
          <p:cNvPr id="114" name="TextBox 92"/>
          <p:cNvSpPr txBox="1"/>
          <p:nvPr/>
        </p:nvSpPr>
        <p:spPr>
          <a:xfrm>
            <a:off x="9249714" y="8039657"/>
            <a:ext cx="729317" cy="500137"/>
          </a:xfrm>
          <a:prstGeom prst="rect">
            <a:avLst/>
          </a:prstGeom>
        </p:spPr>
        <p:txBody>
          <a:bodyPr wrap="square" lIns="0" tIns="0" rIns="0" bIns="0" rtlCol="0" anchor="t">
            <a:spAutoFit/>
          </a:bodyPr>
          <a:lstStyle/>
          <a:p>
            <a:pPr algn="ctr">
              <a:lnSpc>
                <a:spcPts val="3931"/>
              </a:lnSpc>
              <a:spcBef>
                <a:spcPct val="0"/>
              </a:spcBef>
            </a:pPr>
            <a:r>
              <a:rPr lang="en-US" sz="2807" b="1" dirty="0">
                <a:solidFill>
                  <a:srgbClr val="FFFFFF"/>
                </a:solidFill>
                <a:latin typeface="Canva Sans Bold"/>
                <a:ea typeface="Canva Sans Bold"/>
                <a:cs typeface="Canva Sans Bold"/>
                <a:sym typeface="Canva Sans Bold"/>
              </a:rPr>
              <a:t>04</a:t>
            </a:r>
          </a:p>
        </p:txBody>
      </p:sp>
      <p:sp>
        <p:nvSpPr>
          <p:cNvPr id="115" name="TextBox 93"/>
          <p:cNvSpPr txBox="1"/>
          <p:nvPr/>
        </p:nvSpPr>
        <p:spPr>
          <a:xfrm>
            <a:off x="11422605" y="8013824"/>
            <a:ext cx="729317" cy="500137"/>
          </a:xfrm>
          <a:prstGeom prst="rect">
            <a:avLst/>
          </a:prstGeom>
        </p:spPr>
        <p:txBody>
          <a:bodyPr wrap="square" lIns="0" tIns="0" rIns="0" bIns="0" rtlCol="0" anchor="t">
            <a:spAutoFit/>
          </a:bodyPr>
          <a:lstStyle/>
          <a:p>
            <a:pPr algn="ctr">
              <a:lnSpc>
                <a:spcPts val="3931"/>
              </a:lnSpc>
              <a:spcBef>
                <a:spcPct val="0"/>
              </a:spcBef>
            </a:pPr>
            <a:r>
              <a:rPr lang="en-US" sz="2807" b="1" dirty="0">
                <a:solidFill>
                  <a:srgbClr val="FFFFFF"/>
                </a:solidFill>
                <a:latin typeface="Canva Sans Bold"/>
                <a:ea typeface="Canva Sans Bold"/>
                <a:cs typeface="Canva Sans Bold"/>
                <a:sym typeface="Canva Sans Bold"/>
              </a:rPr>
              <a:t>05</a:t>
            </a:r>
          </a:p>
        </p:txBody>
      </p:sp>
      <p:sp>
        <p:nvSpPr>
          <p:cNvPr id="116" name="TextBox 94"/>
          <p:cNvSpPr txBox="1"/>
          <p:nvPr/>
        </p:nvSpPr>
        <p:spPr>
          <a:xfrm>
            <a:off x="6887442" y="6471503"/>
            <a:ext cx="3373157" cy="320601"/>
          </a:xfrm>
          <a:prstGeom prst="rect">
            <a:avLst/>
          </a:prstGeom>
        </p:spPr>
        <p:txBody>
          <a:bodyPr wrap="square" lIns="0" tIns="0" rIns="0" bIns="0" rtlCol="0" anchor="t">
            <a:spAutoFit/>
          </a:bodyPr>
          <a:lstStyle/>
          <a:p>
            <a:pPr algn="ctr">
              <a:lnSpc>
                <a:spcPts val="2520"/>
              </a:lnSpc>
            </a:pPr>
            <a:r>
              <a:rPr lang="en-US" sz="2100" b="1" dirty="0">
                <a:solidFill>
                  <a:srgbClr val="191919"/>
                </a:solidFill>
                <a:latin typeface="Aileron Bold"/>
                <a:ea typeface="Aileron Bold"/>
                <a:cs typeface="Aileron Bold"/>
                <a:sym typeface="Aileron Bold"/>
              </a:rPr>
              <a:t>FLUX SSO OIDC</a:t>
            </a:r>
          </a:p>
        </p:txBody>
      </p:sp>
      <p:sp>
        <p:nvSpPr>
          <p:cNvPr id="118"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119"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120"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121"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122"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123"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124"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5" name="TextBox 84"/>
          <p:cNvSpPr txBox="1"/>
          <p:nvPr/>
        </p:nvSpPr>
        <p:spPr>
          <a:xfrm>
            <a:off x="3885190" y="9074675"/>
            <a:ext cx="1352671" cy="830997"/>
          </a:xfrm>
          <a:prstGeom prst="rect">
            <a:avLst/>
          </a:prstGeom>
        </p:spPr>
        <p:txBody>
          <a:bodyPr wrap="square" lIns="0" tIns="0" rIns="0" bIns="0" rtlCol="0" anchor="t">
            <a:spAutoFit/>
          </a:bodyPr>
          <a:lstStyle/>
          <a:p>
            <a:r>
              <a:rPr lang="fr-FR" dirty="0"/>
              <a:t>d'accéder à une ressource (ex: </a:t>
            </a:r>
            <a:r>
              <a:rPr lang="fr-FR" dirty="0" err="1"/>
              <a:t>Proxmox</a:t>
            </a:r>
            <a:r>
              <a:rPr lang="fr-FR" dirty="0"/>
              <a:t>).</a:t>
            </a:r>
            <a:endParaRPr lang="fr-FR" sz="2000" dirty="0">
              <a:effectLst/>
            </a:endParaRPr>
          </a:p>
        </p:txBody>
      </p:sp>
    </p:spTree>
    <p:extLst>
      <p:ext uri="{BB962C8B-B14F-4D97-AF65-F5344CB8AC3E}">
        <p14:creationId xmlns:p14="http://schemas.microsoft.com/office/powerpoint/2010/main" val="98619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 calcmode="lin" valueType="num">
                                      <p:cBhvr additive="base">
                                        <p:cTn id="7" dur="500" fill="hold"/>
                                        <p:tgtEl>
                                          <p:spTgt spid="62"/>
                                        </p:tgtEl>
                                        <p:attrNameLst>
                                          <p:attrName>ppt_x</p:attrName>
                                        </p:attrNameLst>
                                      </p:cBhvr>
                                      <p:tavLst>
                                        <p:tav tm="0">
                                          <p:val>
                                            <p:strVal val="0-#ppt_w/2"/>
                                          </p:val>
                                        </p:tav>
                                        <p:tav tm="100000">
                                          <p:val>
                                            <p:strVal val="#ppt_x"/>
                                          </p:val>
                                        </p:tav>
                                      </p:tavLst>
                                    </p:anim>
                                    <p:anim calcmode="lin" valueType="num">
                                      <p:cBhvr additive="base">
                                        <p:cTn id="8" dur="500" fill="hold"/>
                                        <p:tgtEl>
                                          <p:spTgt spid="6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80"/>
                                        </p:tgtEl>
                                        <p:attrNameLst>
                                          <p:attrName>style.visibility</p:attrName>
                                        </p:attrNameLst>
                                      </p:cBhvr>
                                      <p:to>
                                        <p:strVal val="visible"/>
                                      </p:to>
                                    </p:set>
                                    <p:anim calcmode="lin" valueType="num">
                                      <p:cBhvr additive="base">
                                        <p:cTn id="13" dur="500" fill="hold"/>
                                        <p:tgtEl>
                                          <p:spTgt spid="80"/>
                                        </p:tgtEl>
                                        <p:attrNameLst>
                                          <p:attrName>ppt_x</p:attrName>
                                        </p:attrNameLst>
                                      </p:cBhvr>
                                      <p:tavLst>
                                        <p:tav tm="0">
                                          <p:val>
                                            <p:strVal val="1+#ppt_w/2"/>
                                          </p:val>
                                        </p:tav>
                                        <p:tav tm="100000">
                                          <p:val>
                                            <p:strVal val="#ppt_x"/>
                                          </p:val>
                                        </p:tav>
                                      </p:tavLst>
                                    </p:anim>
                                    <p:anim calcmode="lin" valueType="num">
                                      <p:cBhvr additive="base">
                                        <p:cTn id="14" dur="500" fill="hold"/>
                                        <p:tgtEl>
                                          <p:spTgt spid="80"/>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16"/>
                                        </p:tgtEl>
                                        <p:attrNameLst>
                                          <p:attrName>style.visibility</p:attrName>
                                        </p:attrNameLst>
                                      </p:cBhvr>
                                      <p:to>
                                        <p:strVal val="visible"/>
                                      </p:to>
                                    </p:set>
                                    <p:animEffect transition="in" filter="fade">
                                      <p:cBhvr>
                                        <p:cTn id="19" dur="1000"/>
                                        <p:tgtEl>
                                          <p:spTgt spid="116"/>
                                        </p:tgtEl>
                                      </p:cBhvr>
                                    </p:animEffect>
                                    <p:anim calcmode="lin" valueType="num">
                                      <p:cBhvr>
                                        <p:cTn id="20" dur="1000" fill="hold"/>
                                        <p:tgtEl>
                                          <p:spTgt spid="116"/>
                                        </p:tgtEl>
                                        <p:attrNameLst>
                                          <p:attrName>ppt_x</p:attrName>
                                        </p:attrNameLst>
                                      </p:cBhvr>
                                      <p:tavLst>
                                        <p:tav tm="0">
                                          <p:val>
                                            <p:strVal val="#ppt_x"/>
                                          </p:val>
                                        </p:tav>
                                        <p:tav tm="100000">
                                          <p:val>
                                            <p:strVal val="#ppt_x"/>
                                          </p:val>
                                        </p:tav>
                                      </p:tavLst>
                                    </p:anim>
                                    <p:anim calcmode="lin" valueType="num">
                                      <p:cBhvr>
                                        <p:cTn id="21" dur="1000" fill="hold"/>
                                        <p:tgtEl>
                                          <p:spTgt spid="1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8" fill="hold" grpId="0" nodeType="clickEffect">
                                  <p:stCondLst>
                                    <p:cond delay="0"/>
                                  </p:stCondLst>
                                  <p:childTnLst>
                                    <p:set>
                                      <p:cBhvr>
                                        <p:cTn id="25" dur="1" fill="hold">
                                          <p:stCondLst>
                                            <p:cond delay="0"/>
                                          </p:stCondLst>
                                        </p:cTn>
                                        <p:tgtEl>
                                          <p:spTgt spid="111"/>
                                        </p:tgtEl>
                                        <p:attrNameLst>
                                          <p:attrName>style.visibility</p:attrName>
                                        </p:attrNameLst>
                                      </p:cBhvr>
                                      <p:to>
                                        <p:strVal val="visible"/>
                                      </p:to>
                                    </p:set>
                                    <p:anim calcmode="lin" valueType="num">
                                      <p:cBhvr additive="base">
                                        <p:cTn id="26" dur="500" fill="hold"/>
                                        <p:tgtEl>
                                          <p:spTgt spid="111"/>
                                        </p:tgtEl>
                                        <p:attrNameLst>
                                          <p:attrName>ppt_x</p:attrName>
                                        </p:attrNameLst>
                                      </p:cBhvr>
                                      <p:tavLst>
                                        <p:tav tm="0">
                                          <p:val>
                                            <p:strVal val="0-#ppt_w/2"/>
                                          </p:val>
                                        </p:tav>
                                        <p:tav tm="100000">
                                          <p:val>
                                            <p:strVal val="#ppt_x"/>
                                          </p:val>
                                        </p:tav>
                                      </p:tavLst>
                                    </p:anim>
                                    <p:anim calcmode="lin" valueType="num">
                                      <p:cBhvr additive="base">
                                        <p:cTn id="27" dur="500" fill="hold"/>
                                        <p:tgtEl>
                                          <p:spTgt spid="111"/>
                                        </p:tgtEl>
                                        <p:attrNameLst>
                                          <p:attrName>ppt_y</p:attrName>
                                        </p:attrNameLst>
                                      </p:cBhvr>
                                      <p:tavLst>
                                        <p:tav tm="0">
                                          <p:val>
                                            <p:strVal val="#ppt_y"/>
                                          </p:val>
                                        </p:tav>
                                        <p:tav tm="100000">
                                          <p:val>
                                            <p:strVal val="#ppt_y"/>
                                          </p:val>
                                        </p:tav>
                                      </p:tavLst>
                                    </p:anim>
                                  </p:childTnLst>
                                </p:cTn>
                              </p:par>
                              <p:par>
                                <p:cTn id="28" presetID="2" presetClass="entr" presetSubtype="8"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 calcmode="lin" valueType="num">
                                      <p:cBhvr additive="base">
                                        <p:cTn id="30" dur="500" fill="hold"/>
                                        <p:tgtEl>
                                          <p:spTgt spid="16"/>
                                        </p:tgtEl>
                                        <p:attrNameLst>
                                          <p:attrName>ppt_x</p:attrName>
                                        </p:attrNameLst>
                                      </p:cBhvr>
                                      <p:tavLst>
                                        <p:tav tm="0">
                                          <p:val>
                                            <p:strVal val="0-#ppt_w/2"/>
                                          </p:val>
                                        </p:tav>
                                        <p:tav tm="100000">
                                          <p:val>
                                            <p:strVal val="#ppt_x"/>
                                          </p:val>
                                        </p:tav>
                                      </p:tavLst>
                                    </p:anim>
                                    <p:anim calcmode="lin" valueType="num">
                                      <p:cBhvr additive="base">
                                        <p:cTn id="31" dur="500" fill="hold"/>
                                        <p:tgtEl>
                                          <p:spTgt spid="16"/>
                                        </p:tgtEl>
                                        <p:attrNameLst>
                                          <p:attrName>ppt_y</p:attrName>
                                        </p:attrNameLst>
                                      </p:cBhvr>
                                      <p:tavLst>
                                        <p:tav tm="0">
                                          <p:val>
                                            <p:strVal val="#ppt_y"/>
                                          </p:val>
                                        </p:tav>
                                        <p:tav tm="100000">
                                          <p:val>
                                            <p:strVal val="#ppt_y"/>
                                          </p:val>
                                        </p:tav>
                                      </p:tavLst>
                                    </p:anim>
                                  </p:childTnLst>
                                </p:cTn>
                              </p:par>
                              <p:par>
                                <p:cTn id="32" presetID="2" presetClass="entr" presetSubtype="8"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 calcmode="lin" valueType="num">
                                      <p:cBhvr additive="base">
                                        <p:cTn id="34" dur="500" fill="hold"/>
                                        <p:tgtEl>
                                          <p:spTgt spid="35"/>
                                        </p:tgtEl>
                                        <p:attrNameLst>
                                          <p:attrName>ppt_x</p:attrName>
                                        </p:attrNameLst>
                                      </p:cBhvr>
                                      <p:tavLst>
                                        <p:tav tm="0">
                                          <p:val>
                                            <p:strVal val="0-#ppt_w/2"/>
                                          </p:val>
                                        </p:tav>
                                        <p:tav tm="100000">
                                          <p:val>
                                            <p:strVal val="#ppt_x"/>
                                          </p:val>
                                        </p:tav>
                                      </p:tavLst>
                                    </p:anim>
                                    <p:anim calcmode="lin" valueType="num">
                                      <p:cBhvr additive="base">
                                        <p:cTn id="35" dur="500" fill="hold"/>
                                        <p:tgtEl>
                                          <p:spTgt spid="35"/>
                                        </p:tgtEl>
                                        <p:attrNameLst>
                                          <p:attrName>ppt_y</p:attrName>
                                        </p:attrNameLst>
                                      </p:cBhvr>
                                      <p:tavLst>
                                        <p:tav tm="0">
                                          <p:val>
                                            <p:strVal val="#ppt_y"/>
                                          </p:val>
                                        </p:tav>
                                        <p:tav tm="100000">
                                          <p:val>
                                            <p:strVal val="#ppt_y"/>
                                          </p:val>
                                        </p:tav>
                                      </p:tavLst>
                                    </p:anim>
                                  </p:childTnLst>
                                </p:cTn>
                              </p:par>
                              <p:par>
                                <p:cTn id="36" presetID="2" presetClass="entr" presetSubtype="8" fill="hold" nodeType="withEffect">
                                  <p:stCondLst>
                                    <p:cond delay="0"/>
                                  </p:stCondLst>
                                  <p:childTnLst>
                                    <p:set>
                                      <p:cBhvr>
                                        <p:cTn id="37" dur="1" fill="hold">
                                          <p:stCondLst>
                                            <p:cond delay="0"/>
                                          </p:stCondLst>
                                        </p:cTn>
                                        <p:tgtEl>
                                          <p:spTgt spid="101"/>
                                        </p:tgtEl>
                                        <p:attrNameLst>
                                          <p:attrName>style.visibility</p:attrName>
                                        </p:attrNameLst>
                                      </p:cBhvr>
                                      <p:to>
                                        <p:strVal val="visible"/>
                                      </p:to>
                                    </p:set>
                                    <p:anim calcmode="lin" valueType="num">
                                      <p:cBhvr additive="base">
                                        <p:cTn id="38" dur="500" fill="hold"/>
                                        <p:tgtEl>
                                          <p:spTgt spid="101"/>
                                        </p:tgtEl>
                                        <p:attrNameLst>
                                          <p:attrName>ppt_x</p:attrName>
                                        </p:attrNameLst>
                                      </p:cBhvr>
                                      <p:tavLst>
                                        <p:tav tm="0">
                                          <p:val>
                                            <p:strVal val="0-#ppt_w/2"/>
                                          </p:val>
                                        </p:tav>
                                        <p:tav tm="100000">
                                          <p:val>
                                            <p:strVal val="#ppt_x"/>
                                          </p:val>
                                        </p:tav>
                                      </p:tavLst>
                                    </p:anim>
                                    <p:anim calcmode="lin" valueType="num">
                                      <p:cBhvr additive="base">
                                        <p:cTn id="39" dur="500" fill="hold"/>
                                        <p:tgtEl>
                                          <p:spTgt spid="101"/>
                                        </p:tgtEl>
                                        <p:attrNameLst>
                                          <p:attrName>ppt_y</p:attrName>
                                        </p:attrNameLst>
                                      </p:cBhvr>
                                      <p:tavLst>
                                        <p:tav tm="0">
                                          <p:val>
                                            <p:strVal val="#ppt_y"/>
                                          </p:val>
                                        </p:tav>
                                        <p:tav tm="100000">
                                          <p:val>
                                            <p:strVal val="#ppt_y"/>
                                          </p:val>
                                        </p:tav>
                                      </p:tavLst>
                                    </p:anim>
                                  </p:childTnLst>
                                </p:cTn>
                              </p:par>
                              <p:par>
                                <p:cTn id="40" presetID="2" presetClass="entr" presetSubtype="8" fill="hold" nodeType="withEffect">
                                  <p:stCondLst>
                                    <p:cond delay="0"/>
                                  </p:stCondLst>
                                  <p:childTnLst>
                                    <p:set>
                                      <p:cBhvr>
                                        <p:cTn id="41" dur="1" fill="hold">
                                          <p:stCondLst>
                                            <p:cond delay="0"/>
                                          </p:stCondLst>
                                        </p:cTn>
                                        <p:tgtEl>
                                          <p:spTgt spid="36"/>
                                        </p:tgtEl>
                                        <p:attrNameLst>
                                          <p:attrName>style.visibility</p:attrName>
                                        </p:attrNameLst>
                                      </p:cBhvr>
                                      <p:to>
                                        <p:strVal val="visible"/>
                                      </p:to>
                                    </p:set>
                                    <p:anim calcmode="lin" valueType="num">
                                      <p:cBhvr additive="base">
                                        <p:cTn id="42" dur="500" fill="hold"/>
                                        <p:tgtEl>
                                          <p:spTgt spid="36"/>
                                        </p:tgtEl>
                                        <p:attrNameLst>
                                          <p:attrName>ppt_x</p:attrName>
                                        </p:attrNameLst>
                                      </p:cBhvr>
                                      <p:tavLst>
                                        <p:tav tm="0">
                                          <p:val>
                                            <p:strVal val="0-#ppt_w/2"/>
                                          </p:val>
                                        </p:tav>
                                        <p:tav tm="100000">
                                          <p:val>
                                            <p:strVal val="#ppt_x"/>
                                          </p:val>
                                        </p:tav>
                                      </p:tavLst>
                                    </p:anim>
                                    <p:anim calcmode="lin" valueType="num">
                                      <p:cBhvr additive="base">
                                        <p:cTn id="43" dur="500" fill="hold"/>
                                        <p:tgtEl>
                                          <p:spTgt spid="36"/>
                                        </p:tgtEl>
                                        <p:attrNameLst>
                                          <p:attrName>ppt_y</p:attrName>
                                        </p:attrNameLst>
                                      </p:cBhvr>
                                      <p:tavLst>
                                        <p:tav tm="0">
                                          <p:val>
                                            <p:strVal val="#ppt_y"/>
                                          </p:val>
                                        </p:tav>
                                        <p:tav tm="100000">
                                          <p:val>
                                            <p:strVal val="#ppt_y"/>
                                          </p:val>
                                        </p:tav>
                                      </p:tavLst>
                                    </p:anim>
                                  </p:childTnLst>
                                </p:cTn>
                              </p:par>
                              <p:par>
                                <p:cTn id="44" presetID="2" presetClass="entr" presetSubtype="8" fill="hold" grpId="0" nodeType="withEffect">
                                  <p:stCondLst>
                                    <p:cond delay="0"/>
                                  </p:stCondLst>
                                  <p:childTnLst>
                                    <p:set>
                                      <p:cBhvr>
                                        <p:cTn id="45" dur="1" fill="hold">
                                          <p:stCondLst>
                                            <p:cond delay="0"/>
                                          </p:stCondLst>
                                        </p:cTn>
                                        <p:tgtEl>
                                          <p:spTgt spid="106"/>
                                        </p:tgtEl>
                                        <p:attrNameLst>
                                          <p:attrName>style.visibility</p:attrName>
                                        </p:attrNameLst>
                                      </p:cBhvr>
                                      <p:to>
                                        <p:strVal val="visible"/>
                                      </p:to>
                                    </p:set>
                                    <p:anim calcmode="lin" valueType="num">
                                      <p:cBhvr additive="base">
                                        <p:cTn id="46" dur="500" fill="hold"/>
                                        <p:tgtEl>
                                          <p:spTgt spid="106"/>
                                        </p:tgtEl>
                                        <p:attrNameLst>
                                          <p:attrName>ppt_x</p:attrName>
                                        </p:attrNameLst>
                                      </p:cBhvr>
                                      <p:tavLst>
                                        <p:tav tm="0">
                                          <p:val>
                                            <p:strVal val="0-#ppt_w/2"/>
                                          </p:val>
                                        </p:tav>
                                        <p:tav tm="100000">
                                          <p:val>
                                            <p:strVal val="#ppt_x"/>
                                          </p:val>
                                        </p:tav>
                                      </p:tavLst>
                                    </p:anim>
                                    <p:anim calcmode="lin" valueType="num">
                                      <p:cBhvr additive="base">
                                        <p:cTn id="47" dur="500" fill="hold"/>
                                        <p:tgtEl>
                                          <p:spTgt spid="106"/>
                                        </p:tgtEl>
                                        <p:attrNameLst>
                                          <p:attrName>ppt_y</p:attrName>
                                        </p:attrNameLst>
                                      </p:cBhvr>
                                      <p:tavLst>
                                        <p:tav tm="0">
                                          <p:val>
                                            <p:strVal val="#ppt_y"/>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8" fill="hold" nodeType="clickEffect">
                                  <p:stCondLst>
                                    <p:cond delay="0"/>
                                  </p:stCondLst>
                                  <p:childTnLst>
                                    <p:set>
                                      <p:cBhvr>
                                        <p:cTn id="51" dur="1" fill="hold">
                                          <p:stCondLst>
                                            <p:cond delay="0"/>
                                          </p:stCondLst>
                                        </p:cTn>
                                        <p:tgtEl>
                                          <p:spTgt spid="39"/>
                                        </p:tgtEl>
                                        <p:attrNameLst>
                                          <p:attrName>style.visibility</p:attrName>
                                        </p:attrNameLst>
                                      </p:cBhvr>
                                      <p:to>
                                        <p:strVal val="visible"/>
                                      </p:to>
                                    </p:set>
                                    <p:anim calcmode="lin" valueType="num">
                                      <p:cBhvr additive="base">
                                        <p:cTn id="52" dur="500" fill="hold"/>
                                        <p:tgtEl>
                                          <p:spTgt spid="39"/>
                                        </p:tgtEl>
                                        <p:attrNameLst>
                                          <p:attrName>ppt_x</p:attrName>
                                        </p:attrNameLst>
                                      </p:cBhvr>
                                      <p:tavLst>
                                        <p:tav tm="0">
                                          <p:val>
                                            <p:strVal val="0-#ppt_w/2"/>
                                          </p:val>
                                        </p:tav>
                                        <p:tav tm="100000">
                                          <p:val>
                                            <p:strVal val="#ppt_x"/>
                                          </p:val>
                                        </p:tav>
                                      </p:tavLst>
                                    </p:anim>
                                    <p:anim calcmode="lin" valueType="num">
                                      <p:cBhvr additive="base">
                                        <p:cTn id="53" dur="500" fill="hold"/>
                                        <p:tgtEl>
                                          <p:spTgt spid="39"/>
                                        </p:tgtEl>
                                        <p:attrNameLst>
                                          <p:attrName>ppt_y</p:attrName>
                                        </p:attrNameLst>
                                      </p:cBhvr>
                                      <p:tavLst>
                                        <p:tav tm="0">
                                          <p:val>
                                            <p:strVal val="#ppt_y"/>
                                          </p:val>
                                        </p:tav>
                                        <p:tav tm="100000">
                                          <p:val>
                                            <p:strVal val="#ppt_y"/>
                                          </p:val>
                                        </p:tav>
                                      </p:tavLst>
                                    </p:anim>
                                  </p:childTnLst>
                                </p:cTn>
                              </p:par>
                              <p:par>
                                <p:cTn id="54" presetID="2" presetClass="entr" presetSubtype="8" fill="hold" grpId="0" nodeType="withEffect">
                                  <p:stCondLst>
                                    <p:cond delay="0"/>
                                  </p:stCondLst>
                                  <p:childTnLst>
                                    <p:set>
                                      <p:cBhvr>
                                        <p:cTn id="55" dur="1" fill="hold">
                                          <p:stCondLst>
                                            <p:cond delay="0"/>
                                          </p:stCondLst>
                                        </p:cTn>
                                        <p:tgtEl>
                                          <p:spTgt spid="112"/>
                                        </p:tgtEl>
                                        <p:attrNameLst>
                                          <p:attrName>style.visibility</p:attrName>
                                        </p:attrNameLst>
                                      </p:cBhvr>
                                      <p:to>
                                        <p:strVal val="visible"/>
                                      </p:to>
                                    </p:set>
                                    <p:anim calcmode="lin" valueType="num">
                                      <p:cBhvr additive="base">
                                        <p:cTn id="56" dur="500" fill="hold"/>
                                        <p:tgtEl>
                                          <p:spTgt spid="112"/>
                                        </p:tgtEl>
                                        <p:attrNameLst>
                                          <p:attrName>ppt_x</p:attrName>
                                        </p:attrNameLst>
                                      </p:cBhvr>
                                      <p:tavLst>
                                        <p:tav tm="0">
                                          <p:val>
                                            <p:strVal val="0-#ppt_w/2"/>
                                          </p:val>
                                        </p:tav>
                                        <p:tav tm="100000">
                                          <p:val>
                                            <p:strVal val="#ppt_x"/>
                                          </p:val>
                                        </p:tav>
                                      </p:tavLst>
                                    </p:anim>
                                    <p:anim calcmode="lin" valueType="num">
                                      <p:cBhvr additive="base">
                                        <p:cTn id="57" dur="500" fill="hold"/>
                                        <p:tgtEl>
                                          <p:spTgt spid="112"/>
                                        </p:tgtEl>
                                        <p:attrNameLst>
                                          <p:attrName>ppt_y</p:attrName>
                                        </p:attrNameLst>
                                      </p:cBhvr>
                                      <p:tavLst>
                                        <p:tav tm="0">
                                          <p:val>
                                            <p:strVal val="#ppt_y"/>
                                          </p:val>
                                        </p:tav>
                                        <p:tav tm="100000">
                                          <p:val>
                                            <p:strVal val="#ppt_y"/>
                                          </p:val>
                                        </p:tav>
                                      </p:tavLst>
                                    </p:anim>
                                  </p:childTnLst>
                                </p:cTn>
                              </p:par>
                              <p:par>
                                <p:cTn id="58" presetID="2" presetClass="entr" presetSubtype="8" fill="hold" nodeType="withEffect">
                                  <p:stCondLst>
                                    <p:cond delay="0"/>
                                  </p:stCondLst>
                                  <p:childTnLst>
                                    <p:set>
                                      <p:cBhvr>
                                        <p:cTn id="59" dur="1" fill="hold">
                                          <p:stCondLst>
                                            <p:cond delay="0"/>
                                          </p:stCondLst>
                                        </p:cTn>
                                        <p:tgtEl>
                                          <p:spTgt spid="19"/>
                                        </p:tgtEl>
                                        <p:attrNameLst>
                                          <p:attrName>style.visibility</p:attrName>
                                        </p:attrNameLst>
                                      </p:cBhvr>
                                      <p:to>
                                        <p:strVal val="visible"/>
                                      </p:to>
                                    </p:set>
                                    <p:anim calcmode="lin" valueType="num">
                                      <p:cBhvr additive="base">
                                        <p:cTn id="60" dur="500" fill="hold"/>
                                        <p:tgtEl>
                                          <p:spTgt spid="19"/>
                                        </p:tgtEl>
                                        <p:attrNameLst>
                                          <p:attrName>ppt_x</p:attrName>
                                        </p:attrNameLst>
                                      </p:cBhvr>
                                      <p:tavLst>
                                        <p:tav tm="0">
                                          <p:val>
                                            <p:strVal val="0-#ppt_w/2"/>
                                          </p:val>
                                        </p:tav>
                                        <p:tav tm="100000">
                                          <p:val>
                                            <p:strVal val="#ppt_x"/>
                                          </p:val>
                                        </p:tav>
                                      </p:tavLst>
                                    </p:anim>
                                    <p:anim calcmode="lin" valueType="num">
                                      <p:cBhvr additive="base">
                                        <p:cTn id="61" dur="500" fill="hold"/>
                                        <p:tgtEl>
                                          <p:spTgt spid="19"/>
                                        </p:tgtEl>
                                        <p:attrNameLst>
                                          <p:attrName>ppt_y</p:attrName>
                                        </p:attrNameLst>
                                      </p:cBhvr>
                                      <p:tavLst>
                                        <p:tav tm="0">
                                          <p:val>
                                            <p:strVal val="#ppt_y"/>
                                          </p:val>
                                        </p:tav>
                                        <p:tav tm="100000">
                                          <p:val>
                                            <p:strVal val="#ppt_y"/>
                                          </p:val>
                                        </p:tav>
                                      </p:tavLst>
                                    </p:anim>
                                  </p:childTnLst>
                                </p:cTn>
                              </p:par>
                              <p:par>
                                <p:cTn id="62" presetID="2" presetClass="entr" presetSubtype="8" fill="hold" grpId="0" nodeType="withEffect">
                                  <p:stCondLst>
                                    <p:cond delay="0"/>
                                  </p:stCondLst>
                                  <p:childTnLst>
                                    <p:set>
                                      <p:cBhvr>
                                        <p:cTn id="63" dur="1" fill="hold">
                                          <p:stCondLst>
                                            <p:cond delay="0"/>
                                          </p:stCondLst>
                                        </p:cTn>
                                        <p:tgtEl>
                                          <p:spTgt spid="108"/>
                                        </p:tgtEl>
                                        <p:attrNameLst>
                                          <p:attrName>style.visibility</p:attrName>
                                        </p:attrNameLst>
                                      </p:cBhvr>
                                      <p:to>
                                        <p:strVal val="visible"/>
                                      </p:to>
                                    </p:set>
                                    <p:anim calcmode="lin" valueType="num">
                                      <p:cBhvr additive="base">
                                        <p:cTn id="64" dur="500" fill="hold"/>
                                        <p:tgtEl>
                                          <p:spTgt spid="108"/>
                                        </p:tgtEl>
                                        <p:attrNameLst>
                                          <p:attrName>ppt_x</p:attrName>
                                        </p:attrNameLst>
                                      </p:cBhvr>
                                      <p:tavLst>
                                        <p:tav tm="0">
                                          <p:val>
                                            <p:strVal val="0-#ppt_w/2"/>
                                          </p:val>
                                        </p:tav>
                                        <p:tav tm="100000">
                                          <p:val>
                                            <p:strVal val="#ppt_x"/>
                                          </p:val>
                                        </p:tav>
                                      </p:tavLst>
                                    </p:anim>
                                    <p:anim calcmode="lin" valueType="num">
                                      <p:cBhvr additive="base">
                                        <p:cTn id="65" dur="500" fill="hold"/>
                                        <p:tgtEl>
                                          <p:spTgt spid="108"/>
                                        </p:tgtEl>
                                        <p:attrNameLst>
                                          <p:attrName>ppt_y</p:attrName>
                                        </p:attrNameLst>
                                      </p:cBhvr>
                                      <p:tavLst>
                                        <p:tav tm="0">
                                          <p:val>
                                            <p:strVal val="#ppt_y"/>
                                          </p:val>
                                        </p:tav>
                                        <p:tav tm="100000">
                                          <p:val>
                                            <p:strVal val="#ppt_y"/>
                                          </p:val>
                                        </p:tav>
                                      </p:tavLst>
                                    </p:anim>
                                  </p:childTnLst>
                                </p:cTn>
                              </p:par>
                              <p:par>
                                <p:cTn id="66" presetID="2" presetClass="entr" presetSubtype="8" fill="hold" nodeType="withEffect">
                                  <p:stCondLst>
                                    <p:cond delay="0"/>
                                  </p:stCondLst>
                                  <p:childTnLst>
                                    <p:set>
                                      <p:cBhvr>
                                        <p:cTn id="67" dur="1" fill="hold">
                                          <p:stCondLst>
                                            <p:cond delay="0"/>
                                          </p:stCondLst>
                                        </p:cTn>
                                        <p:tgtEl>
                                          <p:spTgt spid="102"/>
                                        </p:tgtEl>
                                        <p:attrNameLst>
                                          <p:attrName>style.visibility</p:attrName>
                                        </p:attrNameLst>
                                      </p:cBhvr>
                                      <p:to>
                                        <p:strVal val="visible"/>
                                      </p:to>
                                    </p:set>
                                    <p:anim calcmode="lin" valueType="num">
                                      <p:cBhvr additive="base">
                                        <p:cTn id="68" dur="500" fill="hold"/>
                                        <p:tgtEl>
                                          <p:spTgt spid="102"/>
                                        </p:tgtEl>
                                        <p:attrNameLst>
                                          <p:attrName>ppt_x</p:attrName>
                                        </p:attrNameLst>
                                      </p:cBhvr>
                                      <p:tavLst>
                                        <p:tav tm="0">
                                          <p:val>
                                            <p:strVal val="0-#ppt_w/2"/>
                                          </p:val>
                                        </p:tav>
                                        <p:tav tm="100000">
                                          <p:val>
                                            <p:strVal val="#ppt_x"/>
                                          </p:val>
                                        </p:tav>
                                      </p:tavLst>
                                    </p:anim>
                                    <p:anim calcmode="lin" valueType="num">
                                      <p:cBhvr additive="base">
                                        <p:cTn id="69" dur="500" fill="hold"/>
                                        <p:tgtEl>
                                          <p:spTgt spid="102"/>
                                        </p:tgtEl>
                                        <p:attrNameLst>
                                          <p:attrName>ppt_y</p:attrName>
                                        </p:attrNameLst>
                                      </p:cBhvr>
                                      <p:tavLst>
                                        <p:tav tm="0">
                                          <p:val>
                                            <p:strVal val="#ppt_y"/>
                                          </p:val>
                                        </p:tav>
                                        <p:tav tm="100000">
                                          <p:val>
                                            <p:strVal val="#ppt_y"/>
                                          </p:val>
                                        </p:tav>
                                      </p:tavLst>
                                    </p:anim>
                                  </p:childTnLst>
                                </p:cTn>
                              </p:par>
                              <p:par>
                                <p:cTn id="70" presetID="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 calcmode="lin" valueType="num">
                                      <p:cBhvr additive="base">
                                        <p:cTn id="72" dur="500" fill="hold"/>
                                        <p:tgtEl>
                                          <p:spTgt spid="40"/>
                                        </p:tgtEl>
                                        <p:attrNameLst>
                                          <p:attrName>ppt_x</p:attrName>
                                        </p:attrNameLst>
                                      </p:cBhvr>
                                      <p:tavLst>
                                        <p:tav tm="0">
                                          <p:val>
                                            <p:strVal val="0-#ppt_w/2"/>
                                          </p:val>
                                        </p:tav>
                                        <p:tav tm="100000">
                                          <p:val>
                                            <p:strVal val="#ppt_x"/>
                                          </p:val>
                                        </p:tav>
                                      </p:tavLst>
                                    </p:anim>
                                    <p:anim calcmode="lin" valueType="num">
                                      <p:cBhvr additive="base">
                                        <p:cTn id="73" dur="500" fill="hold"/>
                                        <p:tgtEl>
                                          <p:spTgt spid="40"/>
                                        </p:tgtEl>
                                        <p:attrNameLst>
                                          <p:attrName>ppt_y</p:attrName>
                                        </p:attrNameLst>
                                      </p:cBhvr>
                                      <p:tavLst>
                                        <p:tav tm="0">
                                          <p:val>
                                            <p:strVal val="#ppt_y"/>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6" presetID="2" presetClass="entr" presetSubtype="8" fill="hold" nodeType="clickEffect">
                                  <p:stCondLst>
                                    <p:cond delay="0"/>
                                  </p:stCondLst>
                                  <p:childTnLst>
                                    <p:set>
                                      <p:cBhvr>
                                        <p:cTn id="77" dur="1" fill="hold">
                                          <p:stCondLst>
                                            <p:cond delay="0"/>
                                          </p:stCondLst>
                                        </p:cTn>
                                        <p:tgtEl>
                                          <p:spTgt spid="103"/>
                                        </p:tgtEl>
                                        <p:attrNameLst>
                                          <p:attrName>style.visibility</p:attrName>
                                        </p:attrNameLst>
                                      </p:cBhvr>
                                      <p:to>
                                        <p:strVal val="visible"/>
                                      </p:to>
                                    </p:set>
                                    <p:anim calcmode="lin" valueType="num">
                                      <p:cBhvr additive="base">
                                        <p:cTn id="78" dur="500" fill="hold"/>
                                        <p:tgtEl>
                                          <p:spTgt spid="103"/>
                                        </p:tgtEl>
                                        <p:attrNameLst>
                                          <p:attrName>ppt_x</p:attrName>
                                        </p:attrNameLst>
                                      </p:cBhvr>
                                      <p:tavLst>
                                        <p:tav tm="0">
                                          <p:val>
                                            <p:strVal val="0-#ppt_w/2"/>
                                          </p:val>
                                        </p:tav>
                                        <p:tav tm="100000">
                                          <p:val>
                                            <p:strVal val="#ppt_x"/>
                                          </p:val>
                                        </p:tav>
                                      </p:tavLst>
                                    </p:anim>
                                    <p:anim calcmode="lin" valueType="num">
                                      <p:cBhvr additive="base">
                                        <p:cTn id="79" dur="500" fill="hold"/>
                                        <p:tgtEl>
                                          <p:spTgt spid="103"/>
                                        </p:tgtEl>
                                        <p:attrNameLst>
                                          <p:attrName>ppt_y</p:attrName>
                                        </p:attrNameLst>
                                      </p:cBhvr>
                                      <p:tavLst>
                                        <p:tav tm="0">
                                          <p:val>
                                            <p:strVal val="#ppt_y"/>
                                          </p:val>
                                        </p:tav>
                                        <p:tav tm="100000">
                                          <p:val>
                                            <p:strVal val="#ppt_y"/>
                                          </p:val>
                                        </p:tav>
                                      </p:tavLst>
                                    </p:anim>
                                  </p:childTnLst>
                                </p:cTn>
                              </p:par>
                              <p:par>
                                <p:cTn id="80" presetID="2" presetClass="entr" presetSubtype="8" fill="hold" nodeType="withEffect">
                                  <p:stCondLst>
                                    <p:cond delay="0"/>
                                  </p:stCondLst>
                                  <p:childTnLst>
                                    <p:set>
                                      <p:cBhvr>
                                        <p:cTn id="81" dur="1" fill="hold">
                                          <p:stCondLst>
                                            <p:cond delay="0"/>
                                          </p:stCondLst>
                                        </p:cTn>
                                        <p:tgtEl>
                                          <p:spTgt spid="48"/>
                                        </p:tgtEl>
                                        <p:attrNameLst>
                                          <p:attrName>style.visibility</p:attrName>
                                        </p:attrNameLst>
                                      </p:cBhvr>
                                      <p:to>
                                        <p:strVal val="visible"/>
                                      </p:to>
                                    </p:set>
                                    <p:anim calcmode="lin" valueType="num">
                                      <p:cBhvr additive="base">
                                        <p:cTn id="82" dur="500" fill="hold"/>
                                        <p:tgtEl>
                                          <p:spTgt spid="48"/>
                                        </p:tgtEl>
                                        <p:attrNameLst>
                                          <p:attrName>ppt_x</p:attrName>
                                        </p:attrNameLst>
                                      </p:cBhvr>
                                      <p:tavLst>
                                        <p:tav tm="0">
                                          <p:val>
                                            <p:strVal val="0-#ppt_w/2"/>
                                          </p:val>
                                        </p:tav>
                                        <p:tav tm="100000">
                                          <p:val>
                                            <p:strVal val="#ppt_x"/>
                                          </p:val>
                                        </p:tav>
                                      </p:tavLst>
                                    </p:anim>
                                    <p:anim calcmode="lin" valueType="num">
                                      <p:cBhvr additive="base">
                                        <p:cTn id="83" dur="500" fill="hold"/>
                                        <p:tgtEl>
                                          <p:spTgt spid="48"/>
                                        </p:tgtEl>
                                        <p:attrNameLst>
                                          <p:attrName>ppt_y</p:attrName>
                                        </p:attrNameLst>
                                      </p:cBhvr>
                                      <p:tavLst>
                                        <p:tav tm="0">
                                          <p:val>
                                            <p:strVal val="#ppt_y"/>
                                          </p:val>
                                        </p:tav>
                                        <p:tav tm="100000">
                                          <p:val>
                                            <p:strVal val="#ppt_y"/>
                                          </p:val>
                                        </p:tav>
                                      </p:tavLst>
                                    </p:anim>
                                  </p:childTnLst>
                                </p:cTn>
                              </p:par>
                              <p:par>
                                <p:cTn id="84" presetID="2" presetClass="entr" presetSubtype="8" fill="hold" nodeType="withEffect">
                                  <p:stCondLst>
                                    <p:cond delay="0"/>
                                  </p:stCondLst>
                                  <p:childTnLst>
                                    <p:set>
                                      <p:cBhvr>
                                        <p:cTn id="85" dur="1" fill="hold">
                                          <p:stCondLst>
                                            <p:cond delay="0"/>
                                          </p:stCondLst>
                                        </p:cTn>
                                        <p:tgtEl>
                                          <p:spTgt spid="47"/>
                                        </p:tgtEl>
                                        <p:attrNameLst>
                                          <p:attrName>style.visibility</p:attrName>
                                        </p:attrNameLst>
                                      </p:cBhvr>
                                      <p:to>
                                        <p:strVal val="visible"/>
                                      </p:to>
                                    </p:set>
                                    <p:anim calcmode="lin" valueType="num">
                                      <p:cBhvr additive="base">
                                        <p:cTn id="86" dur="500" fill="hold"/>
                                        <p:tgtEl>
                                          <p:spTgt spid="47"/>
                                        </p:tgtEl>
                                        <p:attrNameLst>
                                          <p:attrName>ppt_x</p:attrName>
                                        </p:attrNameLst>
                                      </p:cBhvr>
                                      <p:tavLst>
                                        <p:tav tm="0">
                                          <p:val>
                                            <p:strVal val="0-#ppt_w/2"/>
                                          </p:val>
                                        </p:tav>
                                        <p:tav tm="100000">
                                          <p:val>
                                            <p:strVal val="#ppt_x"/>
                                          </p:val>
                                        </p:tav>
                                      </p:tavLst>
                                    </p:anim>
                                    <p:anim calcmode="lin" valueType="num">
                                      <p:cBhvr additive="base">
                                        <p:cTn id="87" dur="500" fill="hold"/>
                                        <p:tgtEl>
                                          <p:spTgt spid="47"/>
                                        </p:tgtEl>
                                        <p:attrNameLst>
                                          <p:attrName>ppt_y</p:attrName>
                                        </p:attrNameLst>
                                      </p:cBhvr>
                                      <p:tavLst>
                                        <p:tav tm="0">
                                          <p:val>
                                            <p:strVal val="#ppt_y"/>
                                          </p:val>
                                        </p:tav>
                                        <p:tav tm="100000">
                                          <p:val>
                                            <p:strVal val="#ppt_y"/>
                                          </p:val>
                                        </p:tav>
                                      </p:tavLst>
                                    </p:anim>
                                  </p:childTnLst>
                                </p:cTn>
                              </p:par>
                              <p:par>
                                <p:cTn id="88" presetID="2" presetClass="entr" presetSubtype="8" fill="hold" grpId="0" nodeType="withEffect">
                                  <p:stCondLst>
                                    <p:cond delay="0"/>
                                  </p:stCondLst>
                                  <p:childTnLst>
                                    <p:set>
                                      <p:cBhvr>
                                        <p:cTn id="89" dur="1" fill="hold">
                                          <p:stCondLst>
                                            <p:cond delay="0"/>
                                          </p:stCondLst>
                                        </p:cTn>
                                        <p:tgtEl>
                                          <p:spTgt spid="107"/>
                                        </p:tgtEl>
                                        <p:attrNameLst>
                                          <p:attrName>style.visibility</p:attrName>
                                        </p:attrNameLst>
                                      </p:cBhvr>
                                      <p:to>
                                        <p:strVal val="visible"/>
                                      </p:to>
                                    </p:set>
                                    <p:anim calcmode="lin" valueType="num">
                                      <p:cBhvr additive="base">
                                        <p:cTn id="90" dur="500" fill="hold"/>
                                        <p:tgtEl>
                                          <p:spTgt spid="107"/>
                                        </p:tgtEl>
                                        <p:attrNameLst>
                                          <p:attrName>ppt_x</p:attrName>
                                        </p:attrNameLst>
                                      </p:cBhvr>
                                      <p:tavLst>
                                        <p:tav tm="0">
                                          <p:val>
                                            <p:strVal val="0-#ppt_w/2"/>
                                          </p:val>
                                        </p:tav>
                                        <p:tav tm="100000">
                                          <p:val>
                                            <p:strVal val="#ppt_x"/>
                                          </p:val>
                                        </p:tav>
                                      </p:tavLst>
                                    </p:anim>
                                    <p:anim calcmode="lin" valueType="num">
                                      <p:cBhvr additive="base">
                                        <p:cTn id="91" dur="500" fill="hold"/>
                                        <p:tgtEl>
                                          <p:spTgt spid="107"/>
                                        </p:tgtEl>
                                        <p:attrNameLst>
                                          <p:attrName>ppt_y</p:attrName>
                                        </p:attrNameLst>
                                      </p:cBhvr>
                                      <p:tavLst>
                                        <p:tav tm="0">
                                          <p:val>
                                            <p:strVal val="#ppt_y"/>
                                          </p:val>
                                        </p:tav>
                                        <p:tav tm="100000">
                                          <p:val>
                                            <p:strVal val="#ppt_y"/>
                                          </p:val>
                                        </p:tav>
                                      </p:tavLst>
                                    </p:anim>
                                  </p:childTnLst>
                                </p:cTn>
                              </p:par>
                              <p:par>
                                <p:cTn id="92" presetID="2" presetClass="entr" presetSubtype="8" fill="hold" grpId="0" nodeType="withEffect">
                                  <p:stCondLst>
                                    <p:cond delay="0"/>
                                  </p:stCondLst>
                                  <p:childTnLst>
                                    <p:set>
                                      <p:cBhvr>
                                        <p:cTn id="93" dur="1" fill="hold">
                                          <p:stCondLst>
                                            <p:cond delay="0"/>
                                          </p:stCondLst>
                                        </p:cTn>
                                        <p:tgtEl>
                                          <p:spTgt spid="113"/>
                                        </p:tgtEl>
                                        <p:attrNameLst>
                                          <p:attrName>style.visibility</p:attrName>
                                        </p:attrNameLst>
                                      </p:cBhvr>
                                      <p:to>
                                        <p:strVal val="visible"/>
                                      </p:to>
                                    </p:set>
                                    <p:anim calcmode="lin" valueType="num">
                                      <p:cBhvr additive="base">
                                        <p:cTn id="94" dur="500" fill="hold"/>
                                        <p:tgtEl>
                                          <p:spTgt spid="113"/>
                                        </p:tgtEl>
                                        <p:attrNameLst>
                                          <p:attrName>ppt_x</p:attrName>
                                        </p:attrNameLst>
                                      </p:cBhvr>
                                      <p:tavLst>
                                        <p:tav tm="0">
                                          <p:val>
                                            <p:strVal val="0-#ppt_w/2"/>
                                          </p:val>
                                        </p:tav>
                                        <p:tav tm="100000">
                                          <p:val>
                                            <p:strVal val="#ppt_x"/>
                                          </p:val>
                                        </p:tav>
                                      </p:tavLst>
                                    </p:anim>
                                    <p:anim calcmode="lin" valueType="num">
                                      <p:cBhvr additive="base">
                                        <p:cTn id="95" dur="500" fill="hold"/>
                                        <p:tgtEl>
                                          <p:spTgt spid="113"/>
                                        </p:tgtEl>
                                        <p:attrNameLst>
                                          <p:attrName>ppt_y</p:attrName>
                                        </p:attrNameLst>
                                      </p:cBhvr>
                                      <p:tavLst>
                                        <p:tav tm="0">
                                          <p:val>
                                            <p:strVal val="#ppt_y"/>
                                          </p:val>
                                        </p:tav>
                                        <p:tav tm="100000">
                                          <p:val>
                                            <p:strVal val="#ppt_y"/>
                                          </p:val>
                                        </p:tav>
                                      </p:tavLst>
                                    </p:anim>
                                  </p:childTnLst>
                                </p:cTn>
                              </p:par>
                              <p:par>
                                <p:cTn id="96" presetID="2" presetClass="entr" presetSubtype="8" fill="hold" nodeType="withEffect">
                                  <p:stCondLst>
                                    <p:cond delay="0"/>
                                  </p:stCondLst>
                                  <p:childTnLst>
                                    <p:set>
                                      <p:cBhvr>
                                        <p:cTn id="97" dur="1" fill="hold">
                                          <p:stCondLst>
                                            <p:cond delay="0"/>
                                          </p:stCondLst>
                                        </p:cTn>
                                        <p:tgtEl>
                                          <p:spTgt spid="22"/>
                                        </p:tgtEl>
                                        <p:attrNameLst>
                                          <p:attrName>style.visibility</p:attrName>
                                        </p:attrNameLst>
                                      </p:cBhvr>
                                      <p:to>
                                        <p:strVal val="visible"/>
                                      </p:to>
                                    </p:set>
                                    <p:anim calcmode="lin" valueType="num">
                                      <p:cBhvr additive="base">
                                        <p:cTn id="98" dur="500" fill="hold"/>
                                        <p:tgtEl>
                                          <p:spTgt spid="22"/>
                                        </p:tgtEl>
                                        <p:attrNameLst>
                                          <p:attrName>ppt_x</p:attrName>
                                        </p:attrNameLst>
                                      </p:cBhvr>
                                      <p:tavLst>
                                        <p:tav tm="0">
                                          <p:val>
                                            <p:strVal val="0-#ppt_w/2"/>
                                          </p:val>
                                        </p:tav>
                                        <p:tav tm="100000">
                                          <p:val>
                                            <p:strVal val="#ppt_x"/>
                                          </p:val>
                                        </p:tav>
                                      </p:tavLst>
                                    </p:anim>
                                    <p:anim calcmode="lin" valueType="num">
                                      <p:cBhvr additive="base">
                                        <p:cTn id="99" dur="500" fill="hold"/>
                                        <p:tgtEl>
                                          <p:spTgt spid="22"/>
                                        </p:tgtEl>
                                        <p:attrNameLst>
                                          <p:attrName>ppt_y</p:attrName>
                                        </p:attrNameLst>
                                      </p:cBhvr>
                                      <p:tavLst>
                                        <p:tav tm="0">
                                          <p:val>
                                            <p:strVal val="#ppt_y"/>
                                          </p:val>
                                        </p:tav>
                                        <p:tav tm="100000">
                                          <p:val>
                                            <p:strVal val="#ppt_y"/>
                                          </p:val>
                                        </p:tav>
                                      </p:tavLst>
                                    </p:anim>
                                  </p:childTnLst>
                                </p:cTn>
                              </p:par>
                            </p:childTnLst>
                          </p:cTn>
                        </p:par>
                      </p:childTnLst>
                    </p:cTn>
                  </p:par>
                  <p:par>
                    <p:cTn id="100" fill="hold">
                      <p:stCondLst>
                        <p:cond delay="indefinite"/>
                      </p:stCondLst>
                      <p:childTnLst>
                        <p:par>
                          <p:cTn id="101" fill="hold">
                            <p:stCondLst>
                              <p:cond delay="0"/>
                            </p:stCondLst>
                            <p:childTnLst>
                              <p:par>
                                <p:cTn id="102" presetID="2" presetClass="entr" presetSubtype="8" fill="hold" grpId="0" nodeType="clickEffect">
                                  <p:stCondLst>
                                    <p:cond delay="0"/>
                                  </p:stCondLst>
                                  <p:childTnLst>
                                    <p:set>
                                      <p:cBhvr>
                                        <p:cTn id="103" dur="1" fill="hold">
                                          <p:stCondLst>
                                            <p:cond delay="0"/>
                                          </p:stCondLst>
                                        </p:cTn>
                                        <p:tgtEl>
                                          <p:spTgt spid="114"/>
                                        </p:tgtEl>
                                        <p:attrNameLst>
                                          <p:attrName>style.visibility</p:attrName>
                                        </p:attrNameLst>
                                      </p:cBhvr>
                                      <p:to>
                                        <p:strVal val="visible"/>
                                      </p:to>
                                    </p:set>
                                    <p:anim calcmode="lin" valueType="num">
                                      <p:cBhvr additive="base">
                                        <p:cTn id="104" dur="500" fill="hold"/>
                                        <p:tgtEl>
                                          <p:spTgt spid="114"/>
                                        </p:tgtEl>
                                        <p:attrNameLst>
                                          <p:attrName>ppt_x</p:attrName>
                                        </p:attrNameLst>
                                      </p:cBhvr>
                                      <p:tavLst>
                                        <p:tav tm="0">
                                          <p:val>
                                            <p:strVal val="0-#ppt_w/2"/>
                                          </p:val>
                                        </p:tav>
                                        <p:tav tm="100000">
                                          <p:val>
                                            <p:strVal val="#ppt_x"/>
                                          </p:val>
                                        </p:tav>
                                      </p:tavLst>
                                    </p:anim>
                                    <p:anim calcmode="lin" valueType="num">
                                      <p:cBhvr additive="base">
                                        <p:cTn id="105" dur="500" fill="hold"/>
                                        <p:tgtEl>
                                          <p:spTgt spid="114"/>
                                        </p:tgtEl>
                                        <p:attrNameLst>
                                          <p:attrName>ppt_y</p:attrName>
                                        </p:attrNameLst>
                                      </p:cBhvr>
                                      <p:tavLst>
                                        <p:tav tm="0">
                                          <p:val>
                                            <p:strVal val="#ppt_y"/>
                                          </p:val>
                                        </p:tav>
                                        <p:tav tm="100000">
                                          <p:val>
                                            <p:strVal val="#ppt_y"/>
                                          </p:val>
                                        </p:tav>
                                      </p:tavLst>
                                    </p:anim>
                                  </p:childTnLst>
                                </p:cTn>
                              </p:par>
                              <p:par>
                                <p:cTn id="106" presetID="2" presetClass="entr" presetSubtype="8" fill="hold" nodeType="withEffect">
                                  <p:stCondLst>
                                    <p:cond delay="0"/>
                                  </p:stCondLst>
                                  <p:childTnLst>
                                    <p:set>
                                      <p:cBhvr>
                                        <p:cTn id="107" dur="1" fill="hold">
                                          <p:stCondLst>
                                            <p:cond delay="0"/>
                                          </p:stCondLst>
                                        </p:cTn>
                                        <p:tgtEl>
                                          <p:spTgt spid="25"/>
                                        </p:tgtEl>
                                        <p:attrNameLst>
                                          <p:attrName>style.visibility</p:attrName>
                                        </p:attrNameLst>
                                      </p:cBhvr>
                                      <p:to>
                                        <p:strVal val="visible"/>
                                      </p:to>
                                    </p:set>
                                    <p:anim calcmode="lin" valueType="num">
                                      <p:cBhvr additive="base">
                                        <p:cTn id="108" dur="500" fill="hold"/>
                                        <p:tgtEl>
                                          <p:spTgt spid="25"/>
                                        </p:tgtEl>
                                        <p:attrNameLst>
                                          <p:attrName>ppt_x</p:attrName>
                                        </p:attrNameLst>
                                      </p:cBhvr>
                                      <p:tavLst>
                                        <p:tav tm="0">
                                          <p:val>
                                            <p:strVal val="0-#ppt_w/2"/>
                                          </p:val>
                                        </p:tav>
                                        <p:tav tm="100000">
                                          <p:val>
                                            <p:strVal val="#ppt_x"/>
                                          </p:val>
                                        </p:tav>
                                      </p:tavLst>
                                    </p:anim>
                                    <p:anim calcmode="lin" valueType="num">
                                      <p:cBhvr additive="base">
                                        <p:cTn id="109" dur="500" fill="hold"/>
                                        <p:tgtEl>
                                          <p:spTgt spid="25"/>
                                        </p:tgtEl>
                                        <p:attrNameLst>
                                          <p:attrName>ppt_y</p:attrName>
                                        </p:attrNameLst>
                                      </p:cBhvr>
                                      <p:tavLst>
                                        <p:tav tm="0">
                                          <p:val>
                                            <p:strVal val="#ppt_y"/>
                                          </p:val>
                                        </p:tav>
                                        <p:tav tm="100000">
                                          <p:val>
                                            <p:strVal val="#ppt_y"/>
                                          </p:val>
                                        </p:tav>
                                      </p:tavLst>
                                    </p:anim>
                                  </p:childTnLst>
                                </p:cTn>
                              </p:par>
                              <p:par>
                                <p:cTn id="110" presetID="2" presetClass="entr" presetSubtype="8" fill="hold" nodeType="withEffect">
                                  <p:stCondLst>
                                    <p:cond delay="0"/>
                                  </p:stCondLst>
                                  <p:childTnLst>
                                    <p:set>
                                      <p:cBhvr>
                                        <p:cTn id="111" dur="1" fill="hold">
                                          <p:stCondLst>
                                            <p:cond delay="0"/>
                                          </p:stCondLst>
                                        </p:cTn>
                                        <p:tgtEl>
                                          <p:spTgt spid="43"/>
                                        </p:tgtEl>
                                        <p:attrNameLst>
                                          <p:attrName>style.visibility</p:attrName>
                                        </p:attrNameLst>
                                      </p:cBhvr>
                                      <p:to>
                                        <p:strVal val="visible"/>
                                      </p:to>
                                    </p:set>
                                    <p:anim calcmode="lin" valueType="num">
                                      <p:cBhvr additive="base">
                                        <p:cTn id="112" dur="500" fill="hold"/>
                                        <p:tgtEl>
                                          <p:spTgt spid="43"/>
                                        </p:tgtEl>
                                        <p:attrNameLst>
                                          <p:attrName>ppt_x</p:attrName>
                                        </p:attrNameLst>
                                      </p:cBhvr>
                                      <p:tavLst>
                                        <p:tav tm="0">
                                          <p:val>
                                            <p:strVal val="0-#ppt_w/2"/>
                                          </p:val>
                                        </p:tav>
                                        <p:tav tm="100000">
                                          <p:val>
                                            <p:strVal val="#ppt_x"/>
                                          </p:val>
                                        </p:tav>
                                      </p:tavLst>
                                    </p:anim>
                                    <p:anim calcmode="lin" valueType="num">
                                      <p:cBhvr additive="base">
                                        <p:cTn id="113" dur="500" fill="hold"/>
                                        <p:tgtEl>
                                          <p:spTgt spid="43"/>
                                        </p:tgtEl>
                                        <p:attrNameLst>
                                          <p:attrName>ppt_y</p:attrName>
                                        </p:attrNameLst>
                                      </p:cBhvr>
                                      <p:tavLst>
                                        <p:tav tm="0">
                                          <p:val>
                                            <p:strVal val="#ppt_y"/>
                                          </p:val>
                                        </p:tav>
                                        <p:tav tm="100000">
                                          <p:val>
                                            <p:strVal val="#ppt_y"/>
                                          </p:val>
                                        </p:tav>
                                      </p:tavLst>
                                    </p:anim>
                                  </p:childTnLst>
                                </p:cTn>
                              </p:par>
                              <p:par>
                                <p:cTn id="114" presetID="2" presetClass="entr" presetSubtype="8" fill="hold" nodeType="withEffect">
                                  <p:stCondLst>
                                    <p:cond delay="0"/>
                                  </p:stCondLst>
                                  <p:childTnLst>
                                    <p:set>
                                      <p:cBhvr>
                                        <p:cTn id="115" dur="1" fill="hold">
                                          <p:stCondLst>
                                            <p:cond delay="0"/>
                                          </p:stCondLst>
                                        </p:cTn>
                                        <p:tgtEl>
                                          <p:spTgt spid="104"/>
                                        </p:tgtEl>
                                        <p:attrNameLst>
                                          <p:attrName>style.visibility</p:attrName>
                                        </p:attrNameLst>
                                      </p:cBhvr>
                                      <p:to>
                                        <p:strVal val="visible"/>
                                      </p:to>
                                    </p:set>
                                    <p:anim calcmode="lin" valueType="num">
                                      <p:cBhvr additive="base">
                                        <p:cTn id="116" dur="500" fill="hold"/>
                                        <p:tgtEl>
                                          <p:spTgt spid="104"/>
                                        </p:tgtEl>
                                        <p:attrNameLst>
                                          <p:attrName>ppt_x</p:attrName>
                                        </p:attrNameLst>
                                      </p:cBhvr>
                                      <p:tavLst>
                                        <p:tav tm="0">
                                          <p:val>
                                            <p:strVal val="0-#ppt_w/2"/>
                                          </p:val>
                                        </p:tav>
                                        <p:tav tm="100000">
                                          <p:val>
                                            <p:strVal val="#ppt_x"/>
                                          </p:val>
                                        </p:tav>
                                      </p:tavLst>
                                    </p:anim>
                                    <p:anim calcmode="lin" valueType="num">
                                      <p:cBhvr additive="base">
                                        <p:cTn id="117" dur="500" fill="hold"/>
                                        <p:tgtEl>
                                          <p:spTgt spid="104"/>
                                        </p:tgtEl>
                                        <p:attrNameLst>
                                          <p:attrName>ppt_y</p:attrName>
                                        </p:attrNameLst>
                                      </p:cBhvr>
                                      <p:tavLst>
                                        <p:tav tm="0">
                                          <p:val>
                                            <p:strVal val="#ppt_y"/>
                                          </p:val>
                                        </p:tav>
                                        <p:tav tm="100000">
                                          <p:val>
                                            <p:strVal val="#ppt_y"/>
                                          </p:val>
                                        </p:tav>
                                      </p:tavLst>
                                    </p:anim>
                                  </p:childTnLst>
                                </p:cTn>
                              </p:par>
                              <p:par>
                                <p:cTn id="118" presetID="2" presetClass="entr" presetSubtype="8" fill="hold" nodeType="withEffect">
                                  <p:stCondLst>
                                    <p:cond delay="0"/>
                                  </p:stCondLst>
                                  <p:childTnLst>
                                    <p:set>
                                      <p:cBhvr>
                                        <p:cTn id="119" dur="1" fill="hold">
                                          <p:stCondLst>
                                            <p:cond delay="0"/>
                                          </p:stCondLst>
                                        </p:cTn>
                                        <p:tgtEl>
                                          <p:spTgt spid="44"/>
                                        </p:tgtEl>
                                        <p:attrNameLst>
                                          <p:attrName>style.visibility</p:attrName>
                                        </p:attrNameLst>
                                      </p:cBhvr>
                                      <p:to>
                                        <p:strVal val="visible"/>
                                      </p:to>
                                    </p:set>
                                    <p:anim calcmode="lin" valueType="num">
                                      <p:cBhvr additive="base">
                                        <p:cTn id="120" dur="500" fill="hold"/>
                                        <p:tgtEl>
                                          <p:spTgt spid="44"/>
                                        </p:tgtEl>
                                        <p:attrNameLst>
                                          <p:attrName>ppt_x</p:attrName>
                                        </p:attrNameLst>
                                      </p:cBhvr>
                                      <p:tavLst>
                                        <p:tav tm="0">
                                          <p:val>
                                            <p:strVal val="0-#ppt_w/2"/>
                                          </p:val>
                                        </p:tav>
                                        <p:tav tm="100000">
                                          <p:val>
                                            <p:strVal val="#ppt_x"/>
                                          </p:val>
                                        </p:tav>
                                      </p:tavLst>
                                    </p:anim>
                                    <p:anim calcmode="lin" valueType="num">
                                      <p:cBhvr additive="base">
                                        <p:cTn id="121" dur="500" fill="hold"/>
                                        <p:tgtEl>
                                          <p:spTgt spid="44"/>
                                        </p:tgtEl>
                                        <p:attrNameLst>
                                          <p:attrName>ppt_y</p:attrName>
                                        </p:attrNameLst>
                                      </p:cBhvr>
                                      <p:tavLst>
                                        <p:tav tm="0">
                                          <p:val>
                                            <p:strVal val="#ppt_y"/>
                                          </p:val>
                                        </p:tav>
                                        <p:tav tm="100000">
                                          <p:val>
                                            <p:strVal val="#ppt_y"/>
                                          </p:val>
                                        </p:tav>
                                      </p:tavLst>
                                    </p:anim>
                                  </p:childTnLst>
                                </p:cTn>
                              </p:par>
                            </p:childTnLst>
                          </p:cTn>
                        </p:par>
                      </p:childTnLst>
                    </p:cTn>
                  </p:par>
                  <p:par>
                    <p:cTn id="122" fill="hold">
                      <p:stCondLst>
                        <p:cond delay="indefinite"/>
                      </p:stCondLst>
                      <p:childTnLst>
                        <p:par>
                          <p:cTn id="123" fill="hold">
                            <p:stCondLst>
                              <p:cond delay="0"/>
                            </p:stCondLst>
                            <p:childTnLst>
                              <p:par>
                                <p:cTn id="124" presetID="2" presetClass="entr" presetSubtype="4" fill="hold" grpId="0" nodeType="clickEffect">
                                  <p:stCondLst>
                                    <p:cond delay="0"/>
                                  </p:stCondLst>
                                  <p:childTnLst>
                                    <p:set>
                                      <p:cBhvr>
                                        <p:cTn id="125" dur="1" fill="hold">
                                          <p:stCondLst>
                                            <p:cond delay="0"/>
                                          </p:stCondLst>
                                        </p:cTn>
                                        <p:tgtEl>
                                          <p:spTgt spid="109"/>
                                        </p:tgtEl>
                                        <p:attrNameLst>
                                          <p:attrName>style.visibility</p:attrName>
                                        </p:attrNameLst>
                                      </p:cBhvr>
                                      <p:to>
                                        <p:strVal val="visible"/>
                                      </p:to>
                                    </p:set>
                                    <p:anim calcmode="lin" valueType="num">
                                      <p:cBhvr additive="base">
                                        <p:cTn id="126" dur="500" fill="hold"/>
                                        <p:tgtEl>
                                          <p:spTgt spid="109"/>
                                        </p:tgtEl>
                                        <p:attrNameLst>
                                          <p:attrName>ppt_x</p:attrName>
                                        </p:attrNameLst>
                                      </p:cBhvr>
                                      <p:tavLst>
                                        <p:tav tm="0">
                                          <p:val>
                                            <p:strVal val="#ppt_x"/>
                                          </p:val>
                                        </p:tav>
                                        <p:tav tm="100000">
                                          <p:val>
                                            <p:strVal val="#ppt_x"/>
                                          </p:val>
                                        </p:tav>
                                      </p:tavLst>
                                    </p:anim>
                                    <p:anim calcmode="lin" valueType="num">
                                      <p:cBhvr additive="base">
                                        <p:cTn id="127" dur="500" fill="hold"/>
                                        <p:tgtEl>
                                          <p:spTgt spid="109"/>
                                        </p:tgtEl>
                                        <p:attrNameLst>
                                          <p:attrName>ppt_y</p:attrName>
                                        </p:attrNameLst>
                                      </p:cBhvr>
                                      <p:tavLst>
                                        <p:tav tm="0">
                                          <p:val>
                                            <p:strVal val="1+#ppt_h/2"/>
                                          </p:val>
                                        </p:tav>
                                        <p:tav tm="100000">
                                          <p:val>
                                            <p:strVal val="#ppt_y"/>
                                          </p:val>
                                        </p:tav>
                                      </p:tavLst>
                                    </p:anim>
                                  </p:childTnLst>
                                </p:cTn>
                              </p:par>
                            </p:childTnLst>
                          </p:cTn>
                        </p:par>
                      </p:childTnLst>
                    </p:cTn>
                  </p:par>
                  <p:par>
                    <p:cTn id="128" fill="hold">
                      <p:stCondLst>
                        <p:cond delay="indefinite"/>
                      </p:stCondLst>
                      <p:childTnLst>
                        <p:par>
                          <p:cTn id="129" fill="hold">
                            <p:stCondLst>
                              <p:cond delay="0"/>
                            </p:stCondLst>
                            <p:childTnLst>
                              <p:par>
                                <p:cTn id="130" presetID="2" presetClass="entr" presetSubtype="8" fill="hold" grpId="0" nodeType="clickEffect">
                                  <p:stCondLst>
                                    <p:cond delay="0"/>
                                  </p:stCondLst>
                                  <p:childTnLst>
                                    <p:set>
                                      <p:cBhvr>
                                        <p:cTn id="131" dur="1" fill="hold">
                                          <p:stCondLst>
                                            <p:cond delay="0"/>
                                          </p:stCondLst>
                                        </p:cTn>
                                        <p:tgtEl>
                                          <p:spTgt spid="115"/>
                                        </p:tgtEl>
                                        <p:attrNameLst>
                                          <p:attrName>style.visibility</p:attrName>
                                        </p:attrNameLst>
                                      </p:cBhvr>
                                      <p:to>
                                        <p:strVal val="visible"/>
                                      </p:to>
                                    </p:set>
                                    <p:anim calcmode="lin" valueType="num">
                                      <p:cBhvr additive="base">
                                        <p:cTn id="132" dur="500" fill="hold"/>
                                        <p:tgtEl>
                                          <p:spTgt spid="115"/>
                                        </p:tgtEl>
                                        <p:attrNameLst>
                                          <p:attrName>ppt_x</p:attrName>
                                        </p:attrNameLst>
                                      </p:cBhvr>
                                      <p:tavLst>
                                        <p:tav tm="0">
                                          <p:val>
                                            <p:strVal val="0-#ppt_w/2"/>
                                          </p:val>
                                        </p:tav>
                                        <p:tav tm="100000">
                                          <p:val>
                                            <p:strVal val="#ppt_x"/>
                                          </p:val>
                                        </p:tav>
                                      </p:tavLst>
                                    </p:anim>
                                    <p:anim calcmode="lin" valueType="num">
                                      <p:cBhvr additive="base">
                                        <p:cTn id="133" dur="500" fill="hold"/>
                                        <p:tgtEl>
                                          <p:spTgt spid="115"/>
                                        </p:tgtEl>
                                        <p:attrNameLst>
                                          <p:attrName>ppt_y</p:attrName>
                                        </p:attrNameLst>
                                      </p:cBhvr>
                                      <p:tavLst>
                                        <p:tav tm="0">
                                          <p:val>
                                            <p:strVal val="#ppt_y"/>
                                          </p:val>
                                        </p:tav>
                                        <p:tav tm="100000">
                                          <p:val>
                                            <p:strVal val="#ppt_y"/>
                                          </p:val>
                                        </p:tav>
                                      </p:tavLst>
                                    </p:anim>
                                  </p:childTnLst>
                                </p:cTn>
                              </p:par>
                              <p:par>
                                <p:cTn id="134" presetID="2" presetClass="entr" presetSubtype="8" fill="hold" nodeType="withEffect">
                                  <p:stCondLst>
                                    <p:cond delay="0"/>
                                  </p:stCondLst>
                                  <p:childTnLst>
                                    <p:set>
                                      <p:cBhvr>
                                        <p:cTn id="135" dur="1" fill="hold">
                                          <p:stCondLst>
                                            <p:cond delay="0"/>
                                          </p:stCondLst>
                                        </p:cTn>
                                        <p:tgtEl>
                                          <p:spTgt spid="51"/>
                                        </p:tgtEl>
                                        <p:attrNameLst>
                                          <p:attrName>style.visibility</p:attrName>
                                        </p:attrNameLst>
                                      </p:cBhvr>
                                      <p:to>
                                        <p:strVal val="visible"/>
                                      </p:to>
                                    </p:set>
                                    <p:anim calcmode="lin" valueType="num">
                                      <p:cBhvr additive="base">
                                        <p:cTn id="136" dur="500" fill="hold"/>
                                        <p:tgtEl>
                                          <p:spTgt spid="51"/>
                                        </p:tgtEl>
                                        <p:attrNameLst>
                                          <p:attrName>ppt_x</p:attrName>
                                        </p:attrNameLst>
                                      </p:cBhvr>
                                      <p:tavLst>
                                        <p:tav tm="0">
                                          <p:val>
                                            <p:strVal val="0-#ppt_w/2"/>
                                          </p:val>
                                        </p:tav>
                                        <p:tav tm="100000">
                                          <p:val>
                                            <p:strVal val="#ppt_x"/>
                                          </p:val>
                                        </p:tav>
                                      </p:tavLst>
                                    </p:anim>
                                    <p:anim calcmode="lin" valueType="num">
                                      <p:cBhvr additive="base">
                                        <p:cTn id="137" dur="500" fill="hold"/>
                                        <p:tgtEl>
                                          <p:spTgt spid="51"/>
                                        </p:tgtEl>
                                        <p:attrNameLst>
                                          <p:attrName>ppt_y</p:attrName>
                                        </p:attrNameLst>
                                      </p:cBhvr>
                                      <p:tavLst>
                                        <p:tav tm="0">
                                          <p:val>
                                            <p:strVal val="#ppt_y"/>
                                          </p:val>
                                        </p:tav>
                                        <p:tav tm="100000">
                                          <p:val>
                                            <p:strVal val="#ppt_y"/>
                                          </p:val>
                                        </p:tav>
                                      </p:tavLst>
                                    </p:anim>
                                  </p:childTnLst>
                                </p:cTn>
                              </p:par>
                              <p:par>
                                <p:cTn id="138" presetID="2" presetClass="entr" presetSubtype="8" fill="hold" nodeType="withEffect">
                                  <p:stCondLst>
                                    <p:cond delay="0"/>
                                  </p:stCondLst>
                                  <p:childTnLst>
                                    <p:set>
                                      <p:cBhvr>
                                        <p:cTn id="139" dur="1" fill="hold">
                                          <p:stCondLst>
                                            <p:cond delay="0"/>
                                          </p:stCondLst>
                                        </p:cTn>
                                        <p:tgtEl>
                                          <p:spTgt spid="105"/>
                                        </p:tgtEl>
                                        <p:attrNameLst>
                                          <p:attrName>style.visibility</p:attrName>
                                        </p:attrNameLst>
                                      </p:cBhvr>
                                      <p:to>
                                        <p:strVal val="visible"/>
                                      </p:to>
                                    </p:set>
                                    <p:anim calcmode="lin" valueType="num">
                                      <p:cBhvr additive="base">
                                        <p:cTn id="140" dur="500" fill="hold"/>
                                        <p:tgtEl>
                                          <p:spTgt spid="105"/>
                                        </p:tgtEl>
                                        <p:attrNameLst>
                                          <p:attrName>ppt_x</p:attrName>
                                        </p:attrNameLst>
                                      </p:cBhvr>
                                      <p:tavLst>
                                        <p:tav tm="0">
                                          <p:val>
                                            <p:strVal val="0-#ppt_w/2"/>
                                          </p:val>
                                        </p:tav>
                                        <p:tav tm="100000">
                                          <p:val>
                                            <p:strVal val="#ppt_x"/>
                                          </p:val>
                                        </p:tav>
                                      </p:tavLst>
                                    </p:anim>
                                    <p:anim calcmode="lin" valueType="num">
                                      <p:cBhvr additive="base">
                                        <p:cTn id="141" dur="500" fill="hold"/>
                                        <p:tgtEl>
                                          <p:spTgt spid="105"/>
                                        </p:tgtEl>
                                        <p:attrNameLst>
                                          <p:attrName>ppt_y</p:attrName>
                                        </p:attrNameLst>
                                      </p:cBhvr>
                                      <p:tavLst>
                                        <p:tav tm="0">
                                          <p:val>
                                            <p:strVal val="#ppt_y"/>
                                          </p:val>
                                        </p:tav>
                                        <p:tav tm="100000">
                                          <p:val>
                                            <p:strVal val="#ppt_y"/>
                                          </p:val>
                                        </p:tav>
                                      </p:tavLst>
                                    </p:anim>
                                  </p:childTnLst>
                                </p:cTn>
                              </p:par>
                              <p:par>
                                <p:cTn id="142" presetID="2" presetClass="entr" presetSubtype="8" fill="hold" nodeType="withEffect">
                                  <p:stCondLst>
                                    <p:cond delay="0"/>
                                  </p:stCondLst>
                                  <p:childTnLst>
                                    <p:set>
                                      <p:cBhvr>
                                        <p:cTn id="143" dur="1" fill="hold">
                                          <p:stCondLst>
                                            <p:cond delay="0"/>
                                          </p:stCondLst>
                                        </p:cTn>
                                        <p:tgtEl>
                                          <p:spTgt spid="52"/>
                                        </p:tgtEl>
                                        <p:attrNameLst>
                                          <p:attrName>style.visibility</p:attrName>
                                        </p:attrNameLst>
                                      </p:cBhvr>
                                      <p:to>
                                        <p:strVal val="visible"/>
                                      </p:to>
                                    </p:set>
                                    <p:anim calcmode="lin" valueType="num">
                                      <p:cBhvr additive="base">
                                        <p:cTn id="144" dur="500" fill="hold"/>
                                        <p:tgtEl>
                                          <p:spTgt spid="52"/>
                                        </p:tgtEl>
                                        <p:attrNameLst>
                                          <p:attrName>ppt_x</p:attrName>
                                        </p:attrNameLst>
                                      </p:cBhvr>
                                      <p:tavLst>
                                        <p:tav tm="0">
                                          <p:val>
                                            <p:strVal val="0-#ppt_w/2"/>
                                          </p:val>
                                        </p:tav>
                                        <p:tav tm="100000">
                                          <p:val>
                                            <p:strVal val="#ppt_x"/>
                                          </p:val>
                                        </p:tav>
                                      </p:tavLst>
                                    </p:anim>
                                    <p:anim calcmode="lin" valueType="num">
                                      <p:cBhvr additive="base">
                                        <p:cTn id="145" dur="500" fill="hold"/>
                                        <p:tgtEl>
                                          <p:spTgt spid="52"/>
                                        </p:tgtEl>
                                        <p:attrNameLst>
                                          <p:attrName>ppt_y</p:attrName>
                                        </p:attrNameLst>
                                      </p:cBhvr>
                                      <p:tavLst>
                                        <p:tav tm="0">
                                          <p:val>
                                            <p:strVal val="#ppt_y"/>
                                          </p:val>
                                        </p:tav>
                                        <p:tav tm="100000">
                                          <p:val>
                                            <p:strVal val="#ppt_y"/>
                                          </p:val>
                                        </p:tav>
                                      </p:tavLst>
                                    </p:anim>
                                  </p:childTnLst>
                                </p:cTn>
                              </p:par>
                              <p:par>
                                <p:cTn id="146" presetID="2" presetClass="entr" presetSubtype="8" fill="hold" grpId="0" nodeType="withEffect">
                                  <p:stCondLst>
                                    <p:cond delay="0"/>
                                  </p:stCondLst>
                                  <p:childTnLst>
                                    <p:set>
                                      <p:cBhvr>
                                        <p:cTn id="147" dur="1" fill="hold">
                                          <p:stCondLst>
                                            <p:cond delay="0"/>
                                          </p:stCondLst>
                                        </p:cTn>
                                        <p:tgtEl>
                                          <p:spTgt spid="110"/>
                                        </p:tgtEl>
                                        <p:attrNameLst>
                                          <p:attrName>style.visibility</p:attrName>
                                        </p:attrNameLst>
                                      </p:cBhvr>
                                      <p:to>
                                        <p:strVal val="visible"/>
                                      </p:to>
                                    </p:set>
                                    <p:anim calcmode="lin" valueType="num">
                                      <p:cBhvr additive="base">
                                        <p:cTn id="148" dur="500" fill="hold"/>
                                        <p:tgtEl>
                                          <p:spTgt spid="110"/>
                                        </p:tgtEl>
                                        <p:attrNameLst>
                                          <p:attrName>ppt_x</p:attrName>
                                        </p:attrNameLst>
                                      </p:cBhvr>
                                      <p:tavLst>
                                        <p:tav tm="0">
                                          <p:val>
                                            <p:strVal val="0-#ppt_w/2"/>
                                          </p:val>
                                        </p:tav>
                                        <p:tav tm="100000">
                                          <p:val>
                                            <p:strVal val="#ppt_x"/>
                                          </p:val>
                                        </p:tav>
                                      </p:tavLst>
                                    </p:anim>
                                    <p:anim calcmode="lin" valueType="num">
                                      <p:cBhvr additive="base">
                                        <p:cTn id="149" dur="500" fill="hold"/>
                                        <p:tgtEl>
                                          <p:spTgt spid="110"/>
                                        </p:tgtEl>
                                        <p:attrNameLst>
                                          <p:attrName>ppt_y</p:attrName>
                                        </p:attrNameLst>
                                      </p:cBhvr>
                                      <p:tavLst>
                                        <p:tav tm="0">
                                          <p:val>
                                            <p:strVal val="#ppt_y"/>
                                          </p:val>
                                        </p:tav>
                                        <p:tav tm="100000">
                                          <p:val>
                                            <p:strVal val="#ppt_y"/>
                                          </p:val>
                                        </p:tav>
                                      </p:tavLst>
                                    </p:anim>
                                  </p:childTnLst>
                                </p:cTn>
                              </p:par>
                              <p:par>
                                <p:cTn id="150" presetID="2" presetClass="entr" presetSubtype="8" fill="hold" nodeType="withEffect">
                                  <p:stCondLst>
                                    <p:cond delay="0"/>
                                  </p:stCondLst>
                                  <p:childTnLst>
                                    <p:set>
                                      <p:cBhvr>
                                        <p:cTn id="151" dur="1" fill="hold">
                                          <p:stCondLst>
                                            <p:cond delay="0"/>
                                          </p:stCondLst>
                                        </p:cTn>
                                        <p:tgtEl>
                                          <p:spTgt spid="28"/>
                                        </p:tgtEl>
                                        <p:attrNameLst>
                                          <p:attrName>style.visibility</p:attrName>
                                        </p:attrNameLst>
                                      </p:cBhvr>
                                      <p:to>
                                        <p:strVal val="visible"/>
                                      </p:to>
                                    </p:set>
                                    <p:anim calcmode="lin" valueType="num">
                                      <p:cBhvr additive="base">
                                        <p:cTn id="152" dur="500" fill="hold"/>
                                        <p:tgtEl>
                                          <p:spTgt spid="28"/>
                                        </p:tgtEl>
                                        <p:attrNameLst>
                                          <p:attrName>ppt_x</p:attrName>
                                        </p:attrNameLst>
                                      </p:cBhvr>
                                      <p:tavLst>
                                        <p:tav tm="0">
                                          <p:val>
                                            <p:strVal val="0-#ppt_w/2"/>
                                          </p:val>
                                        </p:tav>
                                        <p:tav tm="100000">
                                          <p:val>
                                            <p:strVal val="#ppt_x"/>
                                          </p:val>
                                        </p:tav>
                                      </p:tavLst>
                                    </p:anim>
                                    <p:anim calcmode="lin" valueType="num">
                                      <p:cBhvr additive="base">
                                        <p:cTn id="153"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54" fill="hold">
                      <p:stCondLst>
                        <p:cond delay="indefinite"/>
                      </p:stCondLst>
                      <p:childTnLst>
                        <p:par>
                          <p:cTn id="155" fill="hold">
                            <p:stCondLst>
                              <p:cond delay="0"/>
                            </p:stCondLst>
                            <p:childTnLst>
                              <p:par>
                                <p:cTn id="156" presetID="16" presetClass="entr" presetSubtype="21" fill="hold" nodeType="clickEffect">
                                  <p:stCondLst>
                                    <p:cond delay="0"/>
                                  </p:stCondLst>
                                  <p:childTnLst>
                                    <p:set>
                                      <p:cBhvr>
                                        <p:cTn id="157" dur="1" fill="hold">
                                          <p:stCondLst>
                                            <p:cond delay="0"/>
                                          </p:stCondLst>
                                        </p:cTn>
                                        <p:tgtEl>
                                          <p:spTgt spid="31"/>
                                        </p:tgtEl>
                                        <p:attrNameLst>
                                          <p:attrName>style.visibility</p:attrName>
                                        </p:attrNameLst>
                                      </p:cBhvr>
                                      <p:to>
                                        <p:strVal val="visible"/>
                                      </p:to>
                                    </p:set>
                                    <p:animEffect transition="in" filter="barn(inVertical)">
                                      <p:cBhvr>
                                        <p:cTn id="158" dur="500"/>
                                        <p:tgtEl>
                                          <p:spTgt spid="31"/>
                                        </p:tgtEl>
                                      </p:cBhvr>
                                    </p:animEffect>
                                  </p:childTnLst>
                                </p:cTn>
                              </p:par>
                              <p:par>
                                <p:cTn id="159" presetID="16" presetClass="entr" presetSubtype="21" fill="hold" nodeType="withEffect">
                                  <p:stCondLst>
                                    <p:cond delay="0"/>
                                  </p:stCondLst>
                                  <p:childTnLst>
                                    <p:set>
                                      <p:cBhvr>
                                        <p:cTn id="160" dur="1" fill="hold">
                                          <p:stCondLst>
                                            <p:cond delay="0"/>
                                          </p:stCondLst>
                                        </p:cTn>
                                        <p:tgtEl>
                                          <p:spTgt spid="55"/>
                                        </p:tgtEl>
                                        <p:attrNameLst>
                                          <p:attrName>style.visibility</p:attrName>
                                        </p:attrNameLst>
                                      </p:cBhvr>
                                      <p:to>
                                        <p:strVal val="visible"/>
                                      </p:to>
                                    </p:set>
                                    <p:animEffect transition="in" filter="barn(inVertical)">
                                      <p:cBhvr>
                                        <p:cTn id="161" dur="500"/>
                                        <p:tgtEl>
                                          <p:spTgt spid="55"/>
                                        </p:tgtEl>
                                      </p:cBhvr>
                                    </p:animEffect>
                                  </p:childTnLst>
                                </p:cTn>
                              </p:par>
                              <p:par>
                                <p:cTn id="162" presetID="16" presetClass="entr" presetSubtype="21" fill="hold" nodeType="withEffect">
                                  <p:stCondLst>
                                    <p:cond delay="0"/>
                                  </p:stCondLst>
                                  <p:childTnLst>
                                    <p:set>
                                      <p:cBhvr>
                                        <p:cTn id="163" dur="1" fill="hold">
                                          <p:stCondLst>
                                            <p:cond delay="0"/>
                                          </p:stCondLst>
                                        </p:cTn>
                                        <p:tgtEl>
                                          <p:spTgt spid="61"/>
                                        </p:tgtEl>
                                        <p:attrNameLst>
                                          <p:attrName>style.visibility</p:attrName>
                                        </p:attrNameLst>
                                      </p:cBhvr>
                                      <p:to>
                                        <p:strVal val="visible"/>
                                      </p:to>
                                    </p:set>
                                    <p:animEffect transition="in" filter="barn(inVertical)">
                                      <p:cBhvr>
                                        <p:cTn id="164" dur="500"/>
                                        <p:tgtEl>
                                          <p:spTgt spid="61"/>
                                        </p:tgtEl>
                                      </p:cBhvr>
                                    </p:animEffect>
                                  </p:childTnLst>
                                </p:cTn>
                              </p:par>
                              <p:par>
                                <p:cTn id="165" presetID="16" presetClass="entr" presetSubtype="21" fill="hold" nodeType="withEffect">
                                  <p:stCondLst>
                                    <p:cond delay="0"/>
                                  </p:stCondLst>
                                  <p:childTnLst>
                                    <p:set>
                                      <p:cBhvr>
                                        <p:cTn id="166" dur="1" fill="hold">
                                          <p:stCondLst>
                                            <p:cond delay="0"/>
                                          </p:stCondLst>
                                        </p:cTn>
                                        <p:tgtEl>
                                          <p:spTgt spid="56"/>
                                        </p:tgtEl>
                                        <p:attrNameLst>
                                          <p:attrName>style.visibility</p:attrName>
                                        </p:attrNameLst>
                                      </p:cBhvr>
                                      <p:to>
                                        <p:strVal val="visible"/>
                                      </p:to>
                                    </p:set>
                                    <p:animEffect transition="in" filter="barn(inVertical)">
                                      <p:cBhvr>
                                        <p:cTn id="167" dur="500"/>
                                        <p:tgtEl>
                                          <p:spTgt spid="56"/>
                                        </p:tgtEl>
                                      </p:cBhvr>
                                    </p:animEffect>
                                  </p:childTnLst>
                                </p:cTn>
                              </p:par>
                              <p:par>
                                <p:cTn id="168" presetID="2" presetClass="entr" presetSubtype="8" fill="hold" grpId="0" nodeType="withEffect">
                                  <p:stCondLst>
                                    <p:cond delay="0"/>
                                  </p:stCondLst>
                                  <p:childTnLst>
                                    <p:set>
                                      <p:cBhvr>
                                        <p:cTn id="169" dur="1" fill="hold">
                                          <p:stCondLst>
                                            <p:cond delay="0"/>
                                          </p:stCondLst>
                                        </p:cTn>
                                        <p:tgtEl>
                                          <p:spTgt spid="125"/>
                                        </p:tgtEl>
                                        <p:attrNameLst>
                                          <p:attrName>style.visibility</p:attrName>
                                        </p:attrNameLst>
                                      </p:cBhvr>
                                      <p:to>
                                        <p:strVal val="visible"/>
                                      </p:to>
                                    </p:set>
                                    <p:anim calcmode="lin" valueType="num">
                                      <p:cBhvr additive="base">
                                        <p:cTn id="170" dur="500" fill="hold"/>
                                        <p:tgtEl>
                                          <p:spTgt spid="125"/>
                                        </p:tgtEl>
                                        <p:attrNameLst>
                                          <p:attrName>ppt_x</p:attrName>
                                        </p:attrNameLst>
                                      </p:cBhvr>
                                      <p:tavLst>
                                        <p:tav tm="0">
                                          <p:val>
                                            <p:strVal val="0-#ppt_w/2"/>
                                          </p:val>
                                        </p:tav>
                                        <p:tav tm="100000">
                                          <p:val>
                                            <p:strVal val="#ppt_x"/>
                                          </p:val>
                                        </p:tav>
                                      </p:tavLst>
                                    </p:anim>
                                    <p:anim calcmode="lin" valueType="num">
                                      <p:cBhvr additive="base">
                                        <p:cTn id="171" dur="500" fill="hold"/>
                                        <p:tgtEl>
                                          <p:spTgt spid="12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p:bldP spid="107" grpId="0"/>
      <p:bldP spid="108" grpId="0"/>
      <p:bldP spid="109" grpId="0"/>
      <p:bldP spid="110" grpId="0"/>
      <p:bldP spid="111" grpId="0"/>
      <p:bldP spid="112" grpId="0"/>
      <p:bldP spid="113" grpId="0"/>
      <p:bldP spid="114" grpId="0"/>
      <p:bldP spid="115" grpId="0"/>
      <p:bldP spid="116" grpId="0"/>
      <p:bldP spid="12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533400" y="5780835"/>
            <a:ext cx="17221200" cy="10361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a:xfrm>
            <a:off x="16070144" y="10047377"/>
            <a:ext cx="2133600" cy="365125"/>
          </a:xfrm>
        </p:spPr>
        <p:txBody>
          <a:bodyPr/>
          <a:lstStyle/>
          <a:p>
            <a:fld id="{B6F15528-21DE-4FAA-801E-634DDDAF4B2B}" type="slidenum">
              <a:rPr lang="en-US" sz="2400" b="1" smtClean="0"/>
              <a:pPr/>
              <a:t>15</a:t>
            </a:fld>
            <a:endParaRPr lang="en-US" b="1" dirty="0"/>
          </a:p>
        </p:txBody>
      </p:sp>
      <p:sp>
        <p:nvSpPr>
          <p:cNvPr id="15" name="TextBox 66"/>
          <p:cNvSpPr txBox="1"/>
          <p:nvPr/>
        </p:nvSpPr>
        <p:spPr>
          <a:xfrm>
            <a:off x="3643767" y="1372378"/>
            <a:ext cx="10948769" cy="641201"/>
          </a:xfrm>
          <a:prstGeom prst="rect">
            <a:avLst/>
          </a:prstGeom>
        </p:spPr>
        <p:txBody>
          <a:bodyPr lIns="0" tIns="0" rIns="0" bIns="0" rtlCol="0" anchor="t">
            <a:spAutoFit/>
          </a:bodyPr>
          <a:lstStyle/>
          <a:p>
            <a:pPr algn="ctr">
              <a:lnSpc>
                <a:spcPts val="5040"/>
              </a:lnSpc>
              <a:spcBef>
                <a:spcPct val="0"/>
              </a:spcBef>
            </a:pPr>
            <a:r>
              <a:rPr lang="en-US" sz="2200" dirty="0" smtClean="0"/>
              <a:t> </a:t>
            </a:r>
            <a:r>
              <a:rPr lang="en-US" sz="2200" dirty="0"/>
              <a:t>Couche 3 : </a:t>
            </a:r>
            <a:r>
              <a:rPr lang="en-US" sz="2200" dirty="0" err="1"/>
              <a:t>Cloudflare</a:t>
            </a:r>
            <a:r>
              <a:rPr lang="en-US" sz="2200" dirty="0"/>
              <a:t> Zero Trust </a:t>
            </a:r>
            <a:r>
              <a:rPr lang="en-US" sz="2200" dirty="0" smtClean="0"/>
              <a:t>- Architecture</a:t>
            </a:r>
            <a:endParaRPr lang="en-US" sz="2200" dirty="0"/>
          </a:p>
        </p:txBody>
      </p:sp>
      <p:sp>
        <p:nvSpPr>
          <p:cNvPr id="14"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16"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17"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18"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19"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20"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21"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graphicFrame>
        <p:nvGraphicFramePr>
          <p:cNvPr id="22" name="Table 9"/>
          <p:cNvGraphicFramePr>
            <a:graphicFrameLocks noGrp="1"/>
          </p:cNvGraphicFramePr>
          <p:nvPr>
            <p:extLst>
              <p:ext uri="{D42A27DB-BD31-4B8C-83A1-F6EECF244321}">
                <p14:modId xmlns:p14="http://schemas.microsoft.com/office/powerpoint/2010/main" val="261403141"/>
              </p:ext>
            </p:extLst>
          </p:nvPr>
        </p:nvGraphicFramePr>
        <p:xfrm>
          <a:off x="372912" y="6117062"/>
          <a:ext cx="17526032" cy="3667226"/>
        </p:xfrm>
        <a:graphic>
          <a:graphicData uri="http://schemas.openxmlformats.org/drawingml/2006/table">
            <a:tbl>
              <a:tblPr firstRow="1" bandRow="1">
                <a:tableStyleId>{5C22544A-7EE6-4342-B048-85BDC9FD1C3A}</a:tableStyleId>
              </a:tblPr>
              <a:tblGrid>
                <a:gridCol w="4381508">
                  <a:extLst>
                    <a:ext uri="{9D8B030D-6E8A-4147-A177-3AD203B41FA5}">
                      <a16:colId xmlns:a16="http://schemas.microsoft.com/office/drawing/2014/main" val="20000"/>
                    </a:ext>
                  </a:extLst>
                </a:gridCol>
                <a:gridCol w="4381508">
                  <a:extLst>
                    <a:ext uri="{9D8B030D-6E8A-4147-A177-3AD203B41FA5}">
                      <a16:colId xmlns:a16="http://schemas.microsoft.com/office/drawing/2014/main" val="20001"/>
                    </a:ext>
                  </a:extLst>
                </a:gridCol>
                <a:gridCol w="4381508">
                  <a:extLst>
                    <a:ext uri="{9D8B030D-6E8A-4147-A177-3AD203B41FA5}">
                      <a16:colId xmlns:a16="http://schemas.microsoft.com/office/drawing/2014/main" val="20002"/>
                    </a:ext>
                  </a:extLst>
                </a:gridCol>
                <a:gridCol w="4381508">
                  <a:extLst>
                    <a:ext uri="{9D8B030D-6E8A-4147-A177-3AD203B41FA5}">
                      <a16:colId xmlns:a16="http://schemas.microsoft.com/office/drawing/2014/main" val="20003"/>
                    </a:ext>
                  </a:extLst>
                </a:gridCol>
              </a:tblGrid>
              <a:tr h="326433">
                <a:tc>
                  <a:txBody>
                    <a:bodyPr/>
                    <a:lstStyle/>
                    <a:p>
                      <a:pPr algn="ctr">
                        <a:defRPr sz="1000" b="1">
                          <a:solidFill>
                            <a:srgbClr val="FFFFFF"/>
                          </a:solidFill>
                          <a:latin typeface="Calibri"/>
                        </a:defRPr>
                      </a:pPr>
                      <a:r>
                        <a:rPr sz="1800"/>
                        <a:t>#</a:t>
                      </a:r>
                    </a:p>
                  </a:txBody>
                  <a:tcPr anchor="ctr">
                    <a:solidFill>
                      <a:srgbClr val="2C5282"/>
                    </a:solidFill>
                  </a:tcPr>
                </a:tc>
                <a:tc>
                  <a:txBody>
                    <a:bodyPr/>
                    <a:lstStyle/>
                    <a:p>
                      <a:pPr algn="ctr">
                        <a:defRPr sz="1000" b="1">
                          <a:solidFill>
                            <a:srgbClr val="FFFFFF"/>
                          </a:solidFill>
                          <a:latin typeface="Calibri"/>
                        </a:defRPr>
                      </a:pPr>
                      <a:r>
                        <a:rPr sz="1800"/>
                        <a:t>Sous-domaine</a:t>
                      </a:r>
                    </a:p>
                  </a:txBody>
                  <a:tcPr anchor="ctr">
                    <a:solidFill>
                      <a:srgbClr val="2C5282"/>
                    </a:solidFill>
                  </a:tcPr>
                </a:tc>
                <a:tc>
                  <a:txBody>
                    <a:bodyPr/>
                    <a:lstStyle/>
                    <a:p>
                      <a:pPr algn="ctr">
                        <a:defRPr sz="1000" b="1">
                          <a:solidFill>
                            <a:srgbClr val="FFFFFF"/>
                          </a:solidFill>
                          <a:latin typeface="Calibri"/>
                        </a:defRPr>
                      </a:pPr>
                      <a:r>
                        <a:rPr sz="1800"/>
                        <a:t>Service</a:t>
                      </a:r>
                    </a:p>
                  </a:txBody>
                  <a:tcPr anchor="ctr">
                    <a:solidFill>
                      <a:srgbClr val="2C5282"/>
                    </a:solidFill>
                  </a:tcPr>
                </a:tc>
                <a:tc>
                  <a:txBody>
                    <a:bodyPr/>
                    <a:lstStyle/>
                    <a:p>
                      <a:pPr algn="ctr">
                        <a:defRPr sz="1000" b="1">
                          <a:solidFill>
                            <a:srgbClr val="FFFFFF"/>
                          </a:solidFill>
                          <a:latin typeface="Calibri"/>
                        </a:defRPr>
                      </a:pPr>
                      <a:r>
                        <a:rPr sz="1800"/>
                        <a:t>Destination interne</a:t>
                      </a:r>
                    </a:p>
                  </a:txBody>
                  <a:tcPr anchor="ctr">
                    <a:solidFill>
                      <a:srgbClr val="2C5282"/>
                    </a:solidFill>
                  </a:tcPr>
                </a:tc>
                <a:extLst>
                  <a:ext uri="{0D108BD9-81ED-4DB2-BD59-A6C34878D82A}">
                    <a16:rowId xmlns:a16="http://schemas.microsoft.com/office/drawing/2014/main" val="10000"/>
                  </a:ext>
                </a:extLst>
              </a:tr>
              <a:tr h="326433">
                <a:tc>
                  <a:txBody>
                    <a:bodyPr/>
                    <a:lstStyle/>
                    <a:p>
                      <a:pPr algn="l">
                        <a:defRPr sz="900">
                          <a:solidFill>
                            <a:srgbClr val="2D3748"/>
                          </a:solidFill>
                          <a:latin typeface="Calibri"/>
                        </a:defRPr>
                      </a:pPr>
                      <a:r>
                        <a:rPr sz="1800"/>
                        <a:t>1</a:t>
                      </a:r>
                    </a:p>
                  </a:txBody>
                  <a:tcPr anchor="ctr">
                    <a:solidFill>
                      <a:srgbClr val="F7FAFC"/>
                    </a:solidFill>
                  </a:tcPr>
                </a:tc>
                <a:tc>
                  <a:txBody>
                    <a:bodyPr/>
                    <a:lstStyle/>
                    <a:p>
                      <a:pPr algn="ctr">
                        <a:defRPr sz="900">
                          <a:solidFill>
                            <a:srgbClr val="2D3748"/>
                          </a:solidFill>
                          <a:latin typeface="Calibri"/>
                        </a:defRPr>
                      </a:pPr>
                      <a:r>
                        <a:rPr sz="1800" dirty="0"/>
                        <a:t>pve.ayoub-tmsa.org</a:t>
                      </a:r>
                    </a:p>
                  </a:txBody>
                  <a:tcPr anchor="ctr">
                    <a:solidFill>
                      <a:srgbClr val="F7FAFC"/>
                    </a:solidFill>
                  </a:tcPr>
                </a:tc>
                <a:tc>
                  <a:txBody>
                    <a:bodyPr/>
                    <a:lstStyle/>
                    <a:p>
                      <a:pPr algn="ctr">
                        <a:defRPr sz="900">
                          <a:solidFill>
                            <a:srgbClr val="2D3748"/>
                          </a:solidFill>
                          <a:latin typeface="Calibri"/>
                        </a:defRPr>
                      </a:pPr>
                      <a:r>
                        <a:rPr sz="1800"/>
                        <a:t>Proxmox VE</a:t>
                      </a:r>
                    </a:p>
                  </a:txBody>
                  <a:tcPr anchor="ctr">
                    <a:solidFill>
                      <a:srgbClr val="F7FAFC"/>
                    </a:solidFill>
                  </a:tcPr>
                </a:tc>
                <a:tc>
                  <a:txBody>
                    <a:bodyPr/>
                    <a:lstStyle/>
                    <a:p>
                      <a:pPr algn="ctr">
                        <a:defRPr sz="900">
                          <a:solidFill>
                            <a:srgbClr val="2D3748"/>
                          </a:solidFill>
                          <a:latin typeface="Calibri"/>
                        </a:defRPr>
                      </a:pPr>
                      <a:r>
                        <a:rPr sz="1800"/>
                        <a:t>https://192.168.1.102:8006</a:t>
                      </a:r>
                    </a:p>
                  </a:txBody>
                  <a:tcPr anchor="ctr">
                    <a:solidFill>
                      <a:srgbClr val="F7FAFC"/>
                    </a:solidFill>
                  </a:tcPr>
                </a:tc>
                <a:extLst>
                  <a:ext uri="{0D108BD9-81ED-4DB2-BD59-A6C34878D82A}">
                    <a16:rowId xmlns:a16="http://schemas.microsoft.com/office/drawing/2014/main" val="10001"/>
                  </a:ext>
                </a:extLst>
              </a:tr>
              <a:tr h="326433">
                <a:tc>
                  <a:txBody>
                    <a:bodyPr/>
                    <a:lstStyle/>
                    <a:p>
                      <a:pPr algn="l">
                        <a:defRPr sz="900">
                          <a:solidFill>
                            <a:srgbClr val="2D3748"/>
                          </a:solidFill>
                          <a:latin typeface="Calibri"/>
                        </a:defRPr>
                      </a:pPr>
                      <a:r>
                        <a:rPr sz="1800"/>
                        <a:t>2</a:t>
                      </a:r>
                    </a:p>
                  </a:txBody>
                  <a:tcPr anchor="ctr"/>
                </a:tc>
                <a:tc>
                  <a:txBody>
                    <a:bodyPr/>
                    <a:lstStyle/>
                    <a:p>
                      <a:pPr algn="ctr">
                        <a:defRPr sz="900">
                          <a:solidFill>
                            <a:srgbClr val="2D3748"/>
                          </a:solidFill>
                          <a:latin typeface="Calibri"/>
                        </a:defRPr>
                      </a:pPr>
                      <a:r>
                        <a:rPr sz="1800"/>
                        <a:t>auth.ayoub-tmsa.org</a:t>
                      </a:r>
                    </a:p>
                  </a:txBody>
                  <a:tcPr anchor="ctr"/>
                </a:tc>
                <a:tc>
                  <a:txBody>
                    <a:bodyPr/>
                    <a:lstStyle/>
                    <a:p>
                      <a:pPr algn="ctr">
                        <a:defRPr sz="900">
                          <a:solidFill>
                            <a:srgbClr val="2D3748"/>
                          </a:solidFill>
                          <a:latin typeface="Calibri"/>
                        </a:defRPr>
                      </a:pPr>
                      <a:r>
                        <a:rPr sz="1800"/>
                        <a:t>Keycloak / Authentik</a:t>
                      </a:r>
                    </a:p>
                  </a:txBody>
                  <a:tcPr anchor="ctr"/>
                </a:tc>
                <a:tc>
                  <a:txBody>
                    <a:bodyPr/>
                    <a:lstStyle/>
                    <a:p>
                      <a:pPr algn="ctr">
                        <a:defRPr sz="900">
                          <a:solidFill>
                            <a:srgbClr val="2D3748"/>
                          </a:solidFill>
                          <a:latin typeface="Calibri"/>
                        </a:defRPr>
                      </a:pPr>
                      <a:r>
                        <a:rPr sz="1800"/>
                        <a:t>https://192.168.1.x:8080</a:t>
                      </a:r>
                    </a:p>
                  </a:txBody>
                  <a:tcPr anchor="ctr"/>
                </a:tc>
                <a:extLst>
                  <a:ext uri="{0D108BD9-81ED-4DB2-BD59-A6C34878D82A}">
                    <a16:rowId xmlns:a16="http://schemas.microsoft.com/office/drawing/2014/main" val="10002"/>
                  </a:ext>
                </a:extLst>
              </a:tr>
              <a:tr h="326433">
                <a:tc>
                  <a:txBody>
                    <a:bodyPr/>
                    <a:lstStyle/>
                    <a:p>
                      <a:pPr algn="l">
                        <a:defRPr sz="900">
                          <a:solidFill>
                            <a:srgbClr val="2D3748"/>
                          </a:solidFill>
                          <a:latin typeface="Calibri"/>
                        </a:defRPr>
                      </a:pPr>
                      <a:r>
                        <a:rPr sz="1800"/>
                        <a:t>3</a:t>
                      </a:r>
                    </a:p>
                  </a:txBody>
                  <a:tcPr anchor="ctr">
                    <a:solidFill>
                      <a:srgbClr val="F7FAFC"/>
                    </a:solidFill>
                  </a:tcPr>
                </a:tc>
                <a:tc>
                  <a:txBody>
                    <a:bodyPr/>
                    <a:lstStyle/>
                    <a:p>
                      <a:pPr algn="ctr">
                        <a:defRPr sz="900">
                          <a:solidFill>
                            <a:srgbClr val="2D3748"/>
                          </a:solidFill>
                          <a:latin typeface="Calibri"/>
                        </a:defRPr>
                      </a:pPr>
                      <a:r>
                        <a:rPr sz="1800" dirty="0"/>
                        <a:t>cloud-tmsa.ayoub-tmsa.org</a:t>
                      </a:r>
                    </a:p>
                  </a:txBody>
                  <a:tcPr anchor="ctr">
                    <a:solidFill>
                      <a:srgbClr val="F7FAFC"/>
                    </a:solidFill>
                  </a:tcPr>
                </a:tc>
                <a:tc>
                  <a:txBody>
                    <a:bodyPr/>
                    <a:lstStyle/>
                    <a:p>
                      <a:pPr algn="ctr">
                        <a:defRPr sz="900">
                          <a:solidFill>
                            <a:srgbClr val="2D3748"/>
                          </a:solidFill>
                          <a:latin typeface="Calibri"/>
                        </a:defRPr>
                      </a:pPr>
                      <a:r>
                        <a:rPr sz="1800"/>
                        <a:t>Portail Cloud TMPA</a:t>
                      </a:r>
                    </a:p>
                  </a:txBody>
                  <a:tcPr anchor="ctr">
                    <a:solidFill>
                      <a:srgbClr val="F7FAFC"/>
                    </a:solidFill>
                  </a:tcPr>
                </a:tc>
                <a:tc>
                  <a:txBody>
                    <a:bodyPr/>
                    <a:lstStyle/>
                    <a:p>
                      <a:pPr algn="ctr">
                        <a:defRPr sz="900">
                          <a:solidFill>
                            <a:srgbClr val="2D3748"/>
                          </a:solidFill>
                          <a:latin typeface="Calibri"/>
                        </a:defRPr>
                      </a:pPr>
                      <a:r>
                        <a:rPr sz="1800"/>
                        <a:t>https://192.168.1.122:5000</a:t>
                      </a:r>
                    </a:p>
                  </a:txBody>
                  <a:tcPr anchor="ctr">
                    <a:solidFill>
                      <a:srgbClr val="F7FAFC"/>
                    </a:solidFill>
                  </a:tcPr>
                </a:tc>
                <a:extLst>
                  <a:ext uri="{0D108BD9-81ED-4DB2-BD59-A6C34878D82A}">
                    <a16:rowId xmlns:a16="http://schemas.microsoft.com/office/drawing/2014/main" val="10003"/>
                  </a:ext>
                </a:extLst>
              </a:tr>
              <a:tr h="741146">
                <a:tc>
                  <a:txBody>
                    <a:bodyPr/>
                    <a:lstStyle/>
                    <a:p>
                      <a:pPr algn="l">
                        <a:defRPr sz="900">
                          <a:solidFill>
                            <a:srgbClr val="2D3748"/>
                          </a:solidFill>
                          <a:latin typeface="Calibri"/>
                        </a:defRPr>
                      </a:pPr>
                      <a:r>
                        <a:rPr sz="1800"/>
                        <a:t>4</a:t>
                      </a:r>
                    </a:p>
                  </a:txBody>
                  <a:tcPr anchor="ctr"/>
                </a:tc>
                <a:tc>
                  <a:txBody>
                    <a:bodyPr/>
                    <a:lstStyle/>
                    <a:p>
                      <a:pPr algn="ctr">
                        <a:defRPr sz="900">
                          <a:solidFill>
                            <a:srgbClr val="2D3748"/>
                          </a:solidFill>
                          <a:latin typeface="Calibri"/>
                        </a:defRPr>
                      </a:pPr>
                      <a:r>
                        <a:rPr sz="1800"/>
                        <a:t>ssh-finance-tmsa.ayoub-tmsa.org</a:t>
                      </a:r>
                    </a:p>
                  </a:txBody>
                  <a:tcPr anchor="ctr"/>
                </a:tc>
                <a:tc>
                  <a:txBody>
                    <a:bodyPr/>
                    <a:lstStyle/>
                    <a:p>
                      <a:pPr algn="ctr">
                        <a:defRPr sz="900">
                          <a:solidFill>
                            <a:srgbClr val="2D3748"/>
                          </a:solidFill>
                          <a:latin typeface="Calibri"/>
                        </a:defRPr>
                      </a:pPr>
                      <a:r>
                        <a:rPr sz="1800"/>
                        <a:t>SSH VM Finance</a:t>
                      </a:r>
                    </a:p>
                  </a:txBody>
                  <a:tcPr anchor="ctr"/>
                </a:tc>
                <a:tc>
                  <a:txBody>
                    <a:bodyPr/>
                    <a:lstStyle/>
                    <a:p>
                      <a:pPr algn="ctr">
                        <a:defRPr sz="900">
                          <a:solidFill>
                            <a:srgbClr val="2D3748"/>
                          </a:solidFill>
                          <a:latin typeface="Calibri"/>
                        </a:defRPr>
                      </a:pPr>
                      <a:r>
                        <a:rPr sz="1800" dirty="0"/>
                        <a:t>ssh://192.168.20.100</a:t>
                      </a:r>
                    </a:p>
                  </a:txBody>
                  <a:tcPr anchor="ctr"/>
                </a:tc>
                <a:extLst>
                  <a:ext uri="{0D108BD9-81ED-4DB2-BD59-A6C34878D82A}">
                    <a16:rowId xmlns:a16="http://schemas.microsoft.com/office/drawing/2014/main" val="10004"/>
                  </a:ext>
                </a:extLst>
              </a:tr>
              <a:tr h="326433">
                <a:tc>
                  <a:txBody>
                    <a:bodyPr/>
                    <a:lstStyle/>
                    <a:p>
                      <a:pPr algn="l">
                        <a:defRPr sz="900">
                          <a:solidFill>
                            <a:srgbClr val="2D3748"/>
                          </a:solidFill>
                          <a:latin typeface="Calibri"/>
                        </a:defRPr>
                      </a:pPr>
                      <a:r>
                        <a:rPr sz="1800"/>
                        <a:t>5</a:t>
                      </a:r>
                    </a:p>
                  </a:txBody>
                  <a:tcPr anchor="ctr">
                    <a:solidFill>
                      <a:srgbClr val="F7FAFC"/>
                    </a:solidFill>
                  </a:tcPr>
                </a:tc>
                <a:tc>
                  <a:txBody>
                    <a:bodyPr/>
                    <a:lstStyle/>
                    <a:p>
                      <a:pPr algn="ctr">
                        <a:defRPr sz="900">
                          <a:solidFill>
                            <a:srgbClr val="2D3748"/>
                          </a:solidFill>
                          <a:latin typeface="Calibri"/>
                        </a:defRPr>
                      </a:pPr>
                      <a:r>
                        <a:rPr sz="1800"/>
                        <a:t>app-finance-tmsa.ayoub-tmsa.org</a:t>
                      </a:r>
                    </a:p>
                  </a:txBody>
                  <a:tcPr anchor="ctr">
                    <a:solidFill>
                      <a:srgbClr val="F7FAFC"/>
                    </a:solidFill>
                  </a:tcPr>
                </a:tc>
                <a:tc>
                  <a:txBody>
                    <a:bodyPr/>
                    <a:lstStyle/>
                    <a:p>
                      <a:pPr algn="ctr">
                        <a:defRPr sz="900">
                          <a:solidFill>
                            <a:srgbClr val="2D3748"/>
                          </a:solidFill>
                          <a:latin typeface="Calibri"/>
                        </a:defRPr>
                      </a:pPr>
                      <a:r>
                        <a:rPr sz="1800"/>
                        <a:t>App Flask Finance</a:t>
                      </a:r>
                    </a:p>
                  </a:txBody>
                  <a:tcPr anchor="ctr">
                    <a:solidFill>
                      <a:srgbClr val="F7FAFC"/>
                    </a:solidFill>
                  </a:tcPr>
                </a:tc>
                <a:tc>
                  <a:txBody>
                    <a:bodyPr/>
                    <a:lstStyle/>
                    <a:p>
                      <a:pPr algn="ctr">
                        <a:defRPr sz="900">
                          <a:solidFill>
                            <a:srgbClr val="2D3748"/>
                          </a:solidFill>
                          <a:latin typeface="Calibri"/>
                        </a:defRPr>
                      </a:pPr>
                      <a:r>
                        <a:rPr sz="1800"/>
                        <a:t>http://192.168.20.100:5000</a:t>
                      </a:r>
                    </a:p>
                  </a:txBody>
                  <a:tcPr anchor="ctr">
                    <a:solidFill>
                      <a:srgbClr val="F7FAFC"/>
                    </a:solidFill>
                  </a:tcPr>
                </a:tc>
                <a:extLst>
                  <a:ext uri="{0D108BD9-81ED-4DB2-BD59-A6C34878D82A}">
                    <a16:rowId xmlns:a16="http://schemas.microsoft.com/office/drawing/2014/main" val="10005"/>
                  </a:ext>
                </a:extLst>
              </a:tr>
              <a:tr h="326433">
                <a:tc>
                  <a:txBody>
                    <a:bodyPr/>
                    <a:lstStyle/>
                    <a:p>
                      <a:pPr algn="l">
                        <a:defRPr sz="900">
                          <a:solidFill>
                            <a:srgbClr val="2D3748"/>
                          </a:solidFill>
                          <a:latin typeface="Calibri"/>
                        </a:defRPr>
                      </a:pPr>
                      <a:r>
                        <a:rPr sz="1800"/>
                        <a:t>6</a:t>
                      </a:r>
                    </a:p>
                  </a:txBody>
                  <a:tcPr anchor="ctr"/>
                </a:tc>
                <a:tc>
                  <a:txBody>
                    <a:bodyPr/>
                    <a:lstStyle/>
                    <a:p>
                      <a:pPr algn="ctr">
                        <a:defRPr sz="900">
                          <a:solidFill>
                            <a:srgbClr val="2D3748"/>
                          </a:solidFill>
                          <a:latin typeface="Calibri"/>
                        </a:defRPr>
                      </a:pPr>
                      <a:r>
                        <a:rPr sz="1800"/>
                        <a:t>authentik-tmsa.ayoub-tmsa.org</a:t>
                      </a:r>
                    </a:p>
                  </a:txBody>
                  <a:tcPr anchor="ctr"/>
                </a:tc>
                <a:tc>
                  <a:txBody>
                    <a:bodyPr/>
                    <a:lstStyle/>
                    <a:p>
                      <a:pPr algn="ctr">
                        <a:defRPr sz="900">
                          <a:solidFill>
                            <a:srgbClr val="2D3748"/>
                          </a:solidFill>
                          <a:latin typeface="Calibri"/>
                        </a:defRPr>
                      </a:pPr>
                      <a:r>
                        <a:rPr sz="1800"/>
                        <a:t>Authentik SSO</a:t>
                      </a:r>
                    </a:p>
                  </a:txBody>
                  <a:tcPr anchor="ctr"/>
                </a:tc>
                <a:tc>
                  <a:txBody>
                    <a:bodyPr/>
                    <a:lstStyle/>
                    <a:p>
                      <a:pPr algn="ctr">
                        <a:defRPr sz="900">
                          <a:solidFill>
                            <a:srgbClr val="2D3748"/>
                          </a:solidFill>
                          <a:latin typeface="Calibri"/>
                        </a:defRPr>
                      </a:pPr>
                      <a:r>
                        <a:rPr sz="1800"/>
                        <a:t>http://192.168.1.x:9000</a:t>
                      </a:r>
                    </a:p>
                  </a:txBody>
                  <a:tcPr anchor="ctr"/>
                </a:tc>
                <a:extLst>
                  <a:ext uri="{0D108BD9-81ED-4DB2-BD59-A6C34878D82A}">
                    <a16:rowId xmlns:a16="http://schemas.microsoft.com/office/drawing/2014/main" val="10006"/>
                  </a:ext>
                </a:extLst>
              </a:tr>
              <a:tr h="326433">
                <a:tc>
                  <a:txBody>
                    <a:bodyPr/>
                    <a:lstStyle/>
                    <a:p>
                      <a:pPr algn="l">
                        <a:defRPr sz="900">
                          <a:solidFill>
                            <a:srgbClr val="2D3748"/>
                          </a:solidFill>
                          <a:latin typeface="Calibri"/>
                        </a:defRPr>
                      </a:pPr>
                      <a:r>
                        <a:rPr sz="1800"/>
                        <a:t>7</a:t>
                      </a:r>
                    </a:p>
                  </a:txBody>
                  <a:tcPr anchor="ctr">
                    <a:solidFill>
                      <a:srgbClr val="F7FAFC"/>
                    </a:solidFill>
                  </a:tcPr>
                </a:tc>
                <a:tc>
                  <a:txBody>
                    <a:bodyPr/>
                    <a:lstStyle/>
                    <a:p>
                      <a:pPr algn="ctr">
                        <a:defRPr sz="900">
                          <a:solidFill>
                            <a:srgbClr val="2D3748"/>
                          </a:solidFill>
                          <a:latin typeface="Calibri"/>
                        </a:defRPr>
                      </a:pPr>
                      <a:r>
                        <a:rPr sz="1800"/>
                        <a:t>zabbix-cv.ayoub-tmsa.org</a:t>
                      </a:r>
                    </a:p>
                  </a:txBody>
                  <a:tcPr anchor="ctr">
                    <a:solidFill>
                      <a:srgbClr val="F7FAFC"/>
                    </a:solidFill>
                  </a:tcPr>
                </a:tc>
                <a:tc>
                  <a:txBody>
                    <a:bodyPr/>
                    <a:lstStyle/>
                    <a:p>
                      <a:pPr algn="ctr">
                        <a:defRPr sz="900">
                          <a:solidFill>
                            <a:srgbClr val="2D3748"/>
                          </a:solidFill>
                          <a:latin typeface="Calibri"/>
                        </a:defRPr>
                      </a:pPr>
                      <a:r>
                        <a:rPr sz="1800"/>
                        <a:t>Monitoring Zabbix</a:t>
                      </a:r>
                    </a:p>
                  </a:txBody>
                  <a:tcPr anchor="ctr">
                    <a:solidFill>
                      <a:srgbClr val="F7FAFC"/>
                    </a:solidFill>
                  </a:tcPr>
                </a:tc>
                <a:tc>
                  <a:txBody>
                    <a:bodyPr/>
                    <a:lstStyle/>
                    <a:p>
                      <a:pPr algn="ctr">
                        <a:defRPr sz="900">
                          <a:solidFill>
                            <a:srgbClr val="2D3748"/>
                          </a:solidFill>
                          <a:latin typeface="Calibri"/>
                        </a:defRPr>
                      </a:pPr>
                      <a:r>
                        <a:rPr sz="1800"/>
                        <a:t>http://192.168.1.x:8050</a:t>
                      </a:r>
                    </a:p>
                  </a:txBody>
                  <a:tcPr anchor="ctr">
                    <a:solidFill>
                      <a:srgbClr val="F7FAFC"/>
                    </a:solidFill>
                  </a:tcPr>
                </a:tc>
                <a:extLst>
                  <a:ext uri="{0D108BD9-81ED-4DB2-BD59-A6C34878D82A}">
                    <a16:rowId xmlns:a16="http://schemas.microsoft.com/office/drawing/2014/main" val="10007"/>
                  </a:ext>
                </a:extLst>
              </a:tr>
              <a:tr h="326433">
                <a:tc>
                  <a:txBody>
                    <a:bodyPr/>
                    <a:lstStyle/>
                    <a:p>
                      <a:pPr algn="l">
                        <a:defRPr sz="900">
                          <a:solidFill>
                            <a:srgbClr val="2D3748"/>
                          </a:solidFill>
                          <a:latin typeface="Calibri"/>
                        </a:defRPr>
                      </a:pPr>
                      <a:r>
                        <a:rPr sz="1800"/>
                        <a:t>8</a:t>
                      </a:r>
                    </a:p>
                  </a:txBody>
                  <a:tcPr anchor="ctr"/>
                </a:tc>
                <a:tc>
                  <a:txBody>
                    <a:bodyPr/>
                    <a:lstStyle/>
                    <a:p>
                      <a:pPr algn="ctr">
                        <a:defRPr sz="900">
                          <a:solidFill>
                            <a:srgbClr val="2D3748"/>
                          </a:solidFill>
                          <a:latin typeface="Calibri"/>
                        </a:defRPr>
                      </a:pPr>
                      <a:r>
                        <a:rPr sz="1800"/>
                        <a:t>server3-cloud-tmsa.ayoub-tmsa.org</a:t>
                      </a:r>
                    </a:p>
                  </a:txBody>
                  <a:tcPr anchor="ctr"/>
                </a:tc>
                <a:tc>
                  <a:txBody>
                    <a:bodyPr/>
                    <a:lstStyle/>
                    <a:p>
                      <a:pPr algn="ctr">
                        <a:defRPr sz="900">
                          <a:solidFill>
                            <a:srgbClr val="2D3748"/>
                          </a:solidFill>
                          <a:latin typeface="Calibri"/>
                        </a:defRPr>
                      </a:pPr>
                      <a:r>
                        <a:rPr sz="1800"/>
                        <a:t>Server3 Cloud</a:t>
                      </a:r>
                    </a:p>
                  </a:txBody>
                  <a:tcPr anchor="ctr"/>
                </a:tc>
                <a:tc>
                  <a:txBody>
                    <a:bodyPr/>
                    <a:lstStyle/>
                    <a:p>
                      <a:pPr algn="ctr">
                        <a:defRPr sz="900">
                          <a:solidFill>
                            <a:srgbClr val="2D3748"/>
                          </a:solidFill>
                          <a:latin typeface="Calibri"/>
                        </a:defRPr>
                      </a:pPr>
                      <a:r>
                        <a:rPr sz="1800" dirty="0"/>
                        <a:t>https://192.168.1.104:8006</a:t>
                      </a:r>
                    </a:p>
                  </a:txBody>
                  <a:tcPr anchor="ctr"/>
                </a:tc>
                <a:extLst>
                  <a:ext uri="{0D108BD9-81ED-4DB2-BD59-A6C34878D82A}">
                    <a16:rowId xmlns:a16="http://schemas.microsoft.com/office/drawing/2014/main" val="10008"/>
                  </a:ext>
                </a:extLst>
              </a:tr>
            </a:tbl>
          </a:graphicData>
        </a:graphic>
      </p:graphicFrame>
      <p:grpSp>
        <p:nvGrpSpPr>
          <p:cNvPr id="27" name="Group 2"/>
          <p:cNvGrpSpPr/>
          <p:nvPr/>
        </p:nvGrpSpPr>
        <p:grpSpPr>
          <a:xfrm>
            <a:off x="926136" y="2697788"/>
            <a:ext cx="11342063" cy="3131455"/>
            <a:chOff x="0" y="0"/>
            <a:chExt cx="2104212" cy="1035611"/>
          </a:xfrm>
        </p:grpSpPr>
        <p:sp>
          <p:nvSpPr>
            <p:cNvPr id="28" name="Freeform 3"/>
            <p:cNvSpPr/>
            <p:nvPr/>
          </p:nvSpPr>
          <p:spPr>
            <a:xfrm>
              <a:off x="0" y="0"/>
              <a:ext cx="2104212" cy="1035611"/>
            </a:xfrm>
            <a:custGeom>
              <a:avLst/>
              <a:gdLst/>
              <a:ahLst/>
              <a:cxnLst/>
              <a:rect l="l" t="t" r="r" b="b"/>
              <a:pathLst>
                <a:path w="2104212" h="1035611">
                  <a:moveTo>
                    <a:pt x="0" y="0"/>
                  </a:moveTo>
                  <a:lnTo>
                    <a:pt x="2104212" y="0"/>
                  </a:lnTo>
                  <a:lnTo>
                    <a:pt x="2104212" y="1035611"/>
                  </a:lnTo>
                  <a:lnTo>
                    <a:pt x="0" y="1035611"/>
                  </a:lnTo>
                  <a:close/>
                </a:path>
              </a:pathLst>
            </a:custGeom>
            <a:solidFill>
              <a:srgbClr val="CEF0F6"/>
            </a:solidFill>
          </p:spPr>
        </p:sp>
        <p:sp>
          <p:nvSpPr>
            <p:cNvPr id="29" name="TextBox 4"/>
            <p:cNvSpPr txBox="1"/>
            <p:nvPr/>
          </p:nvSpPr>
          <p:spPr>
            <a:xfrm>
              <a:off x="0" y="-95250"/>
              <a:ext cx="2104212" cy="1130861"/>
            </a:xfrm>
            <a:prstGeom prst="rect">
              <a:avLst/>
            </a:prstGeom>
          </p:spPr>
          <p:txBody>
            <a:bodyPr lIns="50800" tIns="50800" rIns="50800" bIns="50800" rtlCol="0" anchor="ctr"/>
            <a:lstStyle/>
            <a:p>
              <a:pPr algn="ctr">
                <a:lnSpc>
                  <a:spcPts val="7279"/>
                </a:lnSpc>
              </a:pPr>
              <a:endParaRPr/>
            </a:p>
          </p:txBody>
        </p:sp>
      </p:grpSp>
      <p:sp>
        <p:nvSpPr>
          <p:cNvPr id="30" name="Rectangle 29"/>
          <p:cNvSpPr/>
          <p:nvPr/>
        </p:nvSpPr>
        <p:spPr>
          <a:xfrm>
            <a:off x="1832076" y="2373060"/>
            <a:ext cx="9445524" cy="74439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smtClean="0"/>
          </a:p>
          <a:p>
            <a:pPr algn="ctr"/>
            <a:endParaRPr lang="en-US" dirty="0"/>
          </a:p>
          <a:p>
            <a:pPr algn="ctr"/>
            <a:endParaRPr lang="en-US" dirty="0" smtClean="0"/>
          </a:p>
          <a:p>
            <a:pPr algn="ctr"/>
            <a:endParaRPr lang="en-US" dirty="0"/>
          </a:p>
          <a:p>
            <a:pPr algn="ctr"/>
            <a:endParaRPr lang="en-US" dirty="0" smtClean="0"/>
          </a:p>
          <a:p>
            <a:pPr algn="ctr"/>
            <a:endParaRPr lang="en-US" dirty="0"/>
          </a:p>
          <a:p>
            <a:pPr algn="ctr"/>
            <a:endParaRPr lang="en-US" dirty="0" smtClean="0"/>
          </a:p>
          <a:p>
            <a:pPr algn="ctr"/>
            <a:endParaRPr lang="fr-FR" dirty="0"/>
          </a:p>
        </p:txBody>
      </p:sp>
      <p:sp>
        <p:nvSpPr>
          <p:cNvPr id="34" name="TextBox 10"/>
          <p:cNvSpPr txBox="1"/>
          <p:nvPr/>
        </p:nvSpPr>
        <p:spPr>
          <a:xfrm>
            <a:off x="1557445" y="2408291"/>
            <a:ext cx="6278273" cy="537583"/>
          </a:xfrm>
          <a:prstGeom prst="rect">
            <a:avLst/>
          </a:prstGeom>
        </p:spPr>
        <p:txBody>
          <a:bodyPr lIns="0" tIns="0" rIns="0" bIns="0" rtlCol="0" anchor="t">
            <a:spAutoFit/>
          </a:bodyPr>
          <a:lstStyle/>
          <a:p>
            <a:pPr algn="ctr">
              <a:lnSpc>
                <a:spcPts val="4824"/>
              </a:lnSpc>
              <a:spcBef>
                <a:spcPct val="0"/>
              </a:spcBef>
            </a:pPr>
            <a:r>
              <a:rPr lang="en-US" sz="2600" b="1" spc="34" dirty="0">
                <a:solidFill>
                  <a:srgbClr val="FCFDFE"/>
                </a:solidFill>
                <a:latin typeface="Open Sans Bold"/>
                <a:ea typeface="Open Sans Bold"/>
                <a:cs typeface="Open Sans Bold"/>
                <a:sym typeface="Open Sans Bold"/>
              </a:rPr>
              <a:t>POURQUOI CLOUDFLARE ?</a:t>
            </a:r>
          </a:p>
        </p:txBody>
      </p:sp>
      <p:sp>
        <p:nvSpPr>
          <p:cNvPr id="36" name="TextBox 12"/>
          <p:cNvSpPr txBox="1"/>
          <p:nvPr/>
        </p:nvSpPr>
        <p:spPr>
          <a:xfrm>
            <a:off x="1844776" y="3269401"/>
            <a:ext cx="7939668" cy="2308324"/>
          </a:xfrm>
          <a:prstGeom prst="rect">
            <a:avLst/>
          </a:prstGeom>
        </p:spPr>
        <p:txBody>
          <a:bodyPr lIns="0" tIns="0" rIns="0" bIns="0" rtlCol="0" anchor="t">
            <a:spAutoFit/>
          </a:bodyPr>
          <a:lstStyle/>
          <a:p>
            <a:pPr marL="342900" indent="-342900" algn="l">
              <a:lnSpc>
                <a:spcPts val="3640"/>
              </a:lnSpc>
              <a:buFont typeface="Arial" panose="020B0604020202020204" pitchFamily="34" charset="0"/>
              <a:buChar char="•"/>
            </a:pPr>
            <a:r>
              <a:rPr lang="en-US" sz="2000" spc="143" dirty="0" err="1">
                <a:latin typeface="Open Sans"/>
                <a:ea typeface="Open Sans"/>
                <a:cs typeface="Open Sans"/>
                <a:sym typeface="Open Sans"/>
              </a:rPr>
              <a:t>Éviter</a:t>
            </a:r>
            <a:r>
              <a:rPr lang="en-US" sz="2000" spc="143" dirty="0">
                <a:latin typeface="Open Sans"/>
                <a:ea typeface="Open Sans"/>
                <a:cs typeface="Open Sans"/>
                <a:sym typeface="Open Sans"/>
              </a:rPr>
              <a:t> </a:t>
            </a:r>
            <a:r>
              <a:rPr lang="en-US" sz="2000" spc="143" dirty="0" err="1" smtClean="0">
                <a:latin typeface="Open Sans"/>
                <a:ea typeface="Open Sans"/>
                <a:cs typeface="Open Sans"/>
                <a:sym typeface="Open Sans"/>
              </a:rPr>
              <a:t>d'exposer</a:t>
            </a:r>
            <a:r>
              <a:rPr lang="en-US" sz="2000" spc="143" dirty="0" smtClean="0">
                <a:latin typeface="Open Sans"/>
                <a:ea typeface="Open Sans"/>
                <a:cs typeface="Open Sans"/>
                <a:sym typeface="Open Sans"/>
              </a:rPr>
              <a:t> </a:t>
            </a:r>
            <a:r>
              <a:rPr lang="en-US" sz="2000" spc="143" dirty="0">
                <a:latin typeface="Open Sans"/>
                <a:ea typeface="Open Sans"/>
                <a:cs typeface="Open Sans"/>
                <a:sym typeface="Open Sans"/>
              </a:rPr>
              <a:t>les </a:t>
            </a:r>
            <a:r>
              <a:rPr lang="en-US" sz="2000" spc="143" dirty="0" err="1">
                <a:latin typeface="Open Sans"/>
                <a:ea typeface="Open Sans"/>
                <a:cs typeface="Open Sans"/>
                <a:sym typeface="Open Sans"/>
              </a:rPr>
              <a:t>serveurs</a:t>
            </a:r>
            <a:r>
              <a:rPr lang="en-US" sz="2000" spc="143" dirty="0">
                <a:latin typeface="Open Sans"/>
                <a:ea typeface="Open Sans"/>
                <a:cs typeface="Open Sans"/>
                <a:sym typeface="Open Sans"/>
              </a:rPr>
              <a:t> TMPA sur Internet</a:t>
            </a:r>
          </a:p>
          <a:p>
            <a:pPr marL="342900" indent="-342900">
              <a:lnSpc>
                <a:spcPts val="3640"/>
              </a:lnSpc>
              <a:buFont typeface="Arial" panose="020B0604020202020204" pitchFamily="34" charset="0"/>
              <a:buChar char="•"/>
            </a:pPr>
            <a:r>
              <a:rPr lang="fr-FR" sz="2000" spc="143" dirty="0">
                <a:latin typeface="Open Sans"/>
                <a:ea typeface="Open Sans"/>
                <a:cs typeface="Open Sans"/>
              </a:rPr>
              <a:t>Accès distant sécurisé </a:t>
            </a:r>
            <a:endParaRPr lang="fr-FR" sz="2000" spc="143" dirty="0" smtClean="0">
              <a:latin typeface="Open Sans"/>
              <a:ea typeface="Open Sans"/>
              <a:cs typeface="Open Sans"/>
            </a:endParaRPr>
          </a:p>
          <a:p>
            <a:pPr marL="342900" indent="-342900">
              <a:lnSpc>
                <a:spcPts val="3640"/>
              </a:lnSpc>
              <a:buFont typeface="Arial" panose="020B0604020202020204" pitchFamily="34" charset="0"/>
              <a:buChar char="•"/>
            </a:pPr>
            <a:r>
              <a:rPr lang="fr-FR" sz="2000" spc="143" dirty="0">
                <a:latin typeface="Open Sans"/>
                <a:ea typeface="Open Sans"/>
                <a:cs typeface="Open Sans"/>
              </a:rPr>
              <a:t>Alternative au VPN traditionnel (La simplicité opérationnelle</a:t>
            </a:r>
            <a:r>
              <a:rPr lang="fr-FR" sz="2000" spc="143" dirty="0" smtClean="0">
                <a:latin typeface="Open Sans"/>
                <a:ea typeface="Open Sans"/>
                <a:cs typeface="Open Sans"/>
              </a:rPr>
              <a:t>)</a:t>
            </a:r>
          </a:p>
          <a:p>
            <a:pPr marL="342900" indent="-342900" algn="l">
              <a:lnSpc>
                <a:spcPts val="3640"/>
              </a:lnSpc>
              <a:spcBef>
                <a:spcPct val="0"/>
              </a:spcBef>
              <a:buFont typeface="Arial" panose="020B0604020202020204" pitchFamily="34" charset="0"/>
              <a:buChar char="•"/>
            </a:pPr>
            <a:r>
              <a:rPr lang="en-US" sz="2000" spc="143" dirty="0" err="1" smtClean="0">
                <a:latin typeface="Open Sans"/>
                <a:ea typeface="Open Sans"/>
                <a:cs typeface="Open Sans"/>
                <a:sym typeface="Open Sans"/>
              </a:rPr>
              <a:t>Chiffrement</a:t>
            </a:r>
            <a:r>
              <a:rPr lang="en-US" sz="2000" spc="143" dirty="0" smtClean="0">
                <a:latin typeface="Open Sans"/>
                <a:ea typeface="Open Sans"/>
                <a:cs typeface="Open Sans"/>
                <a:sym typeface="Open Sans"/>
              </a:rPr>
              <a:t> </a:t>
            </a:r>
            <a:r>
              <a:rPr lang="en-US" sz="2000" spc="143" dirty="0">
                <a:latin typeface="Open Sans"/>
                <a:ea typeface="Open Sans"/>
                <a:cs typeface="Open Sans"/>
                <a:sym typeface="Open Sans"/>
              </a:rPr>
              <a:t>de bout </a:t>
            </a:r>
            <a:r>
              <a:rPr lang="en-US" sz="2000" spc="143" dirty="0" err="1">
                <a:latin typeface="Open Sans"/>
                <a:ea typeface="Open Sans"/>
                <a:cs typeface="Open Sans"/>
                <a:sym typeface="Open Sans"/>
              </a:rPr>
              <a:t>en</a:t>
            </a:r>
            <a:r>
              <a:rPr lang="en-US" sz="2000" spc="143" dirty="0">
                <a:latin typeface="Open Sans"/>
                <a:ea typeface="Open Sans"/>
                <a:cs typeface="Open Sans"/>
                <a:sym typeface="Open Sans"/>
              </a:rPr>
              <a:t> bout</a:t>
            </a:r>
          </a:p>
        </p:txBody>
      </p:sp>
    </p:spTree>
    <p:extLst>
      <p:ext uri="{BB962C8B-B14F-4D97-AF65-F5344CB8AC3E}">
        <p14:creationId xmlns:p14="http://schemas.microsoft.com/office/powerpoint/2010/main" val="3765717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1000"/>
                                        <p:tgtEl>
                                          <p:spTgt spid="34"/>
                                        </p:tgtEl>
                                      </p:cBhvr>
                                    </p:animEffect>
                                    <p:anim calcmode="lin" valueType="num">
                                      <p:cBhvr>
                                        <p:cTn id="8" dur="1000" fill="hold"/>
                                        <p:tgtEl>
                                          <p:spTgt spid="34"/>
                                        </p:tgtEl>
                                        <p:attrNameLst>
                                          <p:attrName>ppt_x</p:attrName>
                                        </p:attrNameLst>
                                      </p:cBhvr>
                                      <p:tavLst>
                                        <p:tav tm="0">
                                          <p:val>
                                            <p:strVal val="#ppt_x"/>
                                          </p:val>
                                        </p:tav>
                                        <p:tav tm="100000">
                                          <p:val>
                                            <p:strVal val="#ppt_x"/>
                                          </p:val>
                                        </p:tav>
                                      </p:tavLst>
                                    </p:anim>
                                    <p:anim calcmode="lin" valueType="num">
                                      <p:cBhvr>
                                        <p:cTn id="9" dur="1000" fill="hold"/>
                                        <p:tgtEl>
                                          <p:spTgt spid="3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1000"/>
                                        <p:tgtEl>
                                          <p:spTgt spid="36"/>
                                        </p:tgtEl>
                                      </p:cBhvr>
                                    </p:animEffect>
                                    <p:anim calcmode="lin" valueType="num">
                                      <p:cBhvr>
                                        <p:cTn id="13" dur="1000" fill="hold"/>
                                        <p:tgtEl>
                                          <p:spTgt spid="36"/>
                                        </p:tgtEl>
                                        <p:attrNameLst>
                                          <p:attrName>ppt_x</p:attrName>
                                        </p:attrNameLst>
                                      </p:cBhvr>
                                      <p:tavLst>
                                        <p:tav tm="0">
                                          <p:val>
                                            <p:strVal val="#ppt_x"/>
                                          </p:val>
                                        </p:tav>
                                        <p:tav tm="100000">
                                          <p:val>
                                            <p:strVal val="#ppt_x"/>
                                          </p:val>
                                        </p:tav>
                                      </p:tavLst>
                                    </p:anim>
                                    <p:anim calcmode="lin" valueType="num">
                                      <p:cBhvr>
                                        <p:cTn id="14" dur="1000" fill="hold"/>
                                        <p:tgtEl>
                                          <p:spTgt spid="3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1000"/>
                                        <p:tgtEl>
                                          <p:spTgt spid="30"/>
                                        </p:tgtEl>
                                      </p:cBhvr>
                                    </p:animEffect>
                                    <p:anim calcmode="lin" valueType="num">
                                      <p:cBhvr>
                                        <p:cTn id="18" dur="1000" fill="hold"/>
                                        <p:tgtEl>
                                          <p:spTgt spid="30"/>
                                        </p:tgtEl>
                                        <p:attrNameLst>
                                          <p:attrName>ppt_x</p:attrName>
                                        </p:attrNameLst>
                                      </p:cBhvr>
                                      <p:tavLst>
                                        <p:tav tm="0">
                                          <p:val>
                                            <p:strVal val="#ppt_x"/>
                                          </p:val>
                                        </p:tav>
                                        <p:tav tm="100000">
                                          <p:val>
                                            <p:strVal val="#ppt_x"/>
                                          </p:val>
                                        </p:tav>
                                      </p:tavLst>
                                    </p:anim>
                                    <p:anim calcmode="lin" valueType="num">
                                      <p:cBhvr>
                                        <p:cTn id="19" dur="1000" fill="hold"/>
                                        <p:tgtEl>
                                          <p:spTgt spid="30"/>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1000"/>
                                        <p:tgtEl>
                                          <p:spTgt spid="27"/>
                                        </p:tgtEl>
                                      </p:cBhvr>
                                    </p:animEffect>
                                    <p:anim calcmode="lin" valueType="num">
                                      <p:cBhvr>
                                        <p:cTn id="23" dur="1000" fill="hold"/>
                                        <p:tgtEl>
                                          <p:spTgt spid="27"/>
                                        </p:tgtEl>
                                        <p:attrNameLst>
                                          <p:attrName>ppt_x</p:attrName>
                                        </p:attrNameLst>
                                      </p:cBhvr>
                                      <p:tavLst>
                                        <p:tav tm="0">
                                          <p:val>
                                            <p:strVal val="#ppt_x"/>
                                          </p:val>
                                        </p:tav>
                                        <p:tav tm="100000">
                                          <p:val>
                                            <p:strVal val="#ppt_x"/>
                                          </p:val>
                                        </p:tav>
                                      </p:tavLst>
                                    </p:anim>
                                    <p:anim calcmode="lin" valueType="num">
                                      <p:cBhvr>
                                        <p:cTn id="24"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barn(inVertical)">
                                      <p:cBhvr>
                                        <p:cTn id="2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4" grpId="0"/>
      <p:bldP spid="3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42435"/>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mtClean="0"/>
              <a:pPr/>
              <a:t>16</a:t>
            </a:fld>
            <a:endParaRPr lang="en-US"/>
          </a:p>
        </p:txBody>
      </p:sp>
      <p:sp>
        <p:nvSpPr>
          <p:cNvPr id="15" name="TextBox 66"/>
          <p:cNvSpPr txBox="1"/>
          <p:nvPr/>
        </p:nvSpPr>
        <p:spPr>
          <a:xfrm>
            <a:off x="3643767" y="1372378"/>
            <a:ext cx="10948769" cy="643381"/>
          </a:xfrm>
          <a:prstGeom prst="rect">
            <a:avLst/>
          </a:prstGeom>
        </p:spPr>
        <p:txBody>
          <a:bodyPr lIns="0" tIns="0" rIns="0" bIns="0" rtlCol="0" anchor="t">
            <a:spAutoFit/>
          </a:bodyPr>
          <a:lstStyle/>
          <a:p>
            <a:pPr algn="ctr">
              <a:lnSpc>
                <a:spcPts val="5040"/>
              </a:lnSpc>
              <a:spcBef>
                <a:spcPct val="0"/>
              </a:spcBef>
            </a:pPr>
            <a:r>
              <a:rPr lang="fr-FR" sz="3600" dirty="0" smtClean="0"/>
              <a:t>Couche 3 : </a:t>
            </a:r>
            <a:r>
              <a:rPr lang="en-US" sz="3600" dirty="0" err="1"/>
              <a:t>Cloudflare</a:t>
            </a:r>
            <a:r>
              <a:rPr lang="en-US" sz="3600" dirty="0"/>
              <a:t> Zero Trust </a:t>
            </a:r>
            <a:r>
              <a:rPr lang="en-US" sz="3600" dirty="0" smtClean="0"/>
              <a:t>- </a:t>
            </a:r>
            <a:r>
              <a:rPr lang="en-US" sz="3600" dirty="0" err="1"/>
              <a:t>Accès</a:t>
            </a:r>
            <a:r>
              <a:rPr lang="en-US" sz="3600" dirty="0"/>
              <a:t> Distant </a:t>
            </a:r>
            <a:r>
              <a:rPr lang="en-US" sz="3600" dirty="0" err="1" smtClean="0"/>
              <a:t>Sécurisé</a:t>
            </a:r>
            <a:r>
              <a:rPr lang="fr-FR" sz="4800" dirty="0" smtClean="0"/>
              <a:t> </a:t>
            </a:r>
            <a:endParaRPr lang="fr-FR" sz="3600" dirty="0"/>
          </a:p>
        </p:txBody>
      </p:sp>
      <p:sp>
        <p:nvSpPr>
          <p:cNvPr id="14"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16"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17"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18"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19"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20"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21"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grpSp>
        <p:nvGrpSpPr>
          <p:cNvPr id="93" name="Group 2"/>
          <p:cNvGrpSpPr/>
          <p:nvPr/>
        </p:nvGrpSpPr>
        <p:grpSpPr>
          <a:xfrm>
            <a:off x="4230814" y="7452663"/>
            <a:ext cx="4248357" cy="2700987"/>
            <a:chOff x="0" y="0"/>
            <a:chExt cx="1104944" cy="742843"/>
          </a:xfrm>
        </p:grpSpPr>
        <p:sp>
          <p:nvSpPr>
            <p:cNvPr id="94" name="Freeform 3"/>
            <p:cNvSpPr/>
            <p:nvPr/>
          </p:nvSpPr>
          <p:spPr>
            <a:xfrm>
              <a:off x="0" y="0"/>
              <a:ext cx="1104944" cy="742843"/>
            </a:xfrm>
            <a:custGeom>
              <a:avLst/>
              <a:gdLst/>
              <a:ahLst/>
              <a:cxnLst/>
              <a:rect l="l" t="t" r="r" b="b"/>
              <a:pathLst>
                <a:path w="1104944" h="742843">
                  <a:moveTo>
                    <a:pt x="27335" y="0"/>
                  </a:moveTo>
                  <a:lnTo>
                    <a:pt x="1077609" y="0"/>
                  </a:lnTo>
                  <a:cubicBezTo>
                    <a:pt x="1084858" y="0"/>
                    <a:pt x="1091811" y="2880"/>
                    <a:pt x="1096938" y="8006"/>
                  </a:cubicBezTo>
                  <a:cubicBezTo>
                    <a:pt x="1102064" y="13133"/>
                    <a:pt x="1104944" y="20085"/>
                    <a:pt x="1104944" y="27335"/>
                  </a:cubicBezTo>
                  <a:lnTo>
                    <a:pt x="1104944" y="715508"/>
                  </a:lnTo>
                  <a:cubicBezTo>
                    <a:pt x="1104944" y="730605"/>
                    <a:pt x="1092705" y="742843"/>
                    <a:pt x="1077609" y="742843"/>
                  </a:cubicBezTo>
                  <a:lnTo>
                    <a:pt x="27335" y="742843"/>
                  </a:lnTo>
                  <a:cubicBezTo>
                    <a:pt x="12238" y="742843"/>
                    <a:pt x="0" y="730605"/>
                    <a:pt x="0" y="715508"/>
                  </a:cubicBezTo>
                  <a:lnTo>
                    <a:pt x="0" y="27335"/>
                  </a:lnTo>
                  <a:cubicBezTo>
                    <a:pt x="0" y="12238"/>
                    <a:pt x="12238" y="0"/>
                    <a:pt x="27335" y="0"/>
                  </a:cubicBezTo>
                  <a:close/>
                </a:path>
              </a:pathLst>
            </a:custGeom>
            <a:solidFill>
              <a:srgbClr val="E6E6E6"/>
            </a:solidFill>
          </p:spPr>
        </p:sp>
        <p:sp>
          <p:nvSpPr>
            <p:cNvPr id="95" name="TextBox 4"/>
            <p:cNvSpPr txBox="1"/>
            <p:nvPr/>
          </p:nvSpPr>
          <p:spPr>
            <a:xfrm>
              <a:off x="0" y="28575"/>
              <a:ext cx="1104944" cy="714268"/>
            </a:xfrm>
            <a:prstGeom prst="rect">
              <a:avLst/>
            </a:prstGeom>
          </p:spPr>
          <p:txBody>
            <a:bodyPr lIns="50800" tIns="50800" rIns="50800" bIns="50800" rtlCol="0" anchor="ctr"/>
            <a:lstStyle/>
            <a:p>
              <a:pPr algn="ctr">
                <a:lnSpc>
                  <a:spcPts val="2100"/>
                </a:lnSpc>
              </a:pPr>
              <a:endParaRPr/>
            </a:p>
          </p:txBody>
        </p:sp>
      </p:grpSp>
      <p:sp>
        <p:nvSpPr>
          <p:cNvPr id="96" name="Freeform 5"/>
          <p:cNvSpPr/>
          <p:nvPr/>
        </p:nvSpPr>
        <p:spPr>
          <a:xfrm>
            <a:off x="4118456" y="6669974"/>
            <a:ext cx="4505396" cy="1480347"/>
          </a:xfrm>
          <a:custGeom>
            <a:avLst/>
            <a:gdLst/>
            <a:ahLst/>
            <a:cxnLst/>
            <a:rect l="l" t="t" r="r" b="b"/>
            <a:pathLst>
              <a:path w="4505396" h="1565378">
                <a:moveTo>
                  <a:pt x="0" y="0"/>
                </a:moveTo>
                <a:lnTo>
                  <a:pt x="4505396" y="0"/>
                </a:lnTo>
                <a:lnTo>
                  <a:pt x="4505396" y="1565378"/>
                </a:lnTo>
                <a:lnTo>
                  <a:pt x="0" y="1565378"/>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97" name="Group 6"/>
          <p:cNvGrpSpPr/>
          <p:nvPr/>
        </p:nvGrpSpPr>
        <p:grpSpPr>
          <a:xfrm>
            <a:off x="9398612" y="7452663"/>
            <a:ext cx="4248357" cy="2700987"/>
            <a:chOff x="0" y="0"/>
            <a:chExt cx="1104944" cy="742843"/>
          </a:xfrm>
        </p:grpSpPr>
        <p:sp>
          <p:nvSpPr>
            <p:cNvPr id="98" name="Freeform 7"/>
            <p:cNvSpPr/>
            <p:nvPr/>
          </p:nvSpPr>
          <p:spPr>
            <a:xfrm>
              <a:off x="0" y="0"/>
              <a:ext cx="1104944" cy="742843"/>
            </a:xfrm>
            <a:custGeom>
              <a:avLst/>
              <a:gdLst/>
              <a:ahLst/>
              <a:cxnLst/>
              <a:rect l="l" t="t" r="r" b="b"/>
              <a:pathLst>
                <a:path w="1104944" h="742843">
                  <a:moveTo>
                    <a:pt x="27335" y="0"/>
                  </a:moveTo>
                  <a:lnTo>
                    <a:pt x="1077609" y="0"/>
                  </a:lnTo>
                  <a:cubicBezTo>
                    <a:pt x="1084858" y="0"/>
                    <a:pt x="1091811" y="2880"/>
                    <a:pt x="1096938" y="8006"/>
                  </a:cubicBezTo>
                  <a:cubicBezTo>
                    <a:pt x="1102064" y="13133"/>
                    <a:pt x="1104944" y="20085"/>
                    <a:pt x="1104944" y="27335"/>
                  </a:cubicBezTo>
                  <a:lnTo>
                    <a:pt x="1104944" y="715508"/>
                  </a:lnTo>
                  <a:cubicBezTo>
                    <a:pt x="1104944" y="730605"/>
                    <a:pt x="1092705" y="742843"/>
                    <a:pt x="1077609" y="742843"/>
                  </a:cubicBezTo>
                  <a:lnTo>
                    <a:pt x="27335" y="742843"/>
                  </a:lnTo>
                  <a:cubicBezTo>
                    <a:pt x="12238" y="742843"/>
                    <a:pt x="0" y="730605"/>
                    <a:pt x="0" y="715508"/>
                  </a:cubicBezTo>
                  <a:lnTo>
                    <a:pt x="0" y="27335"/>
                  </a:lnTo>
                  <a:cubicBezTo>
                    <a:pt x="0" y="12238"/>
                    <a:pt x="12238" y="0"/>
                    <a:pt x="27335" y="0"/>
                  </a:cubicBezTo>
                  <a:close/>
                </a:path>
              </a:pathLst>
            </a:custGeom>
            <a:solidFill>
              <a:srgbClr val="E6E6E6"/>
            </a:solidFill>
          </p:spPr>
        </p:sp>
        <p:sp>
          <p:nvSpPr>
            <p:cNvPr id="100" name="TextBox 8"/>
            <p:cNvSpPr txBox="1"/>
            <p:nvPr/>
          </p:nvSpPr>
          <p:spPr>
            <a:xfrm>
              <a:off x="0" y="28575"/>
              <a:ext cx="1104944" cy="714268"/>
            </a:xfrm>
            <a:prstGeom prst="rect">
              <a:avLst/>
            </a:prstGeom>
          </p:spPr>
          <p:txBody>
            <a:bodyPr lIns="50800" tIns="50800" rIns="50800" bIns="50800" rtlCol="0" anchor="ctr"/>
            <a:lstStyle/>
            <a:p>
              <a:pPr algn="ctr">
                <a:lnSpc>
                  <a:spcPts val="2100"/>
                </a:lnSpc>
              </a:pPr>
              <a:endParaRPr/>
            </a:p>
          </p:txBody>
        </p:sp>
      </p:grpSp>
      <p:sp>
        <p:nvSpPr>
          <p:cNvPr id="101" name="Freeform 9"/>
          <p:cNvSpPr/>
          <p:nvPr/>
        </p:nvSpPr>
        <p:spPr>
          <a:xfrm>
            <a:off x="9270092" y="6669974"/>
            <a:ext cx="4505396" cy="1480347"/>
          </a:xfrm>
          <a:custGeom>
            <a:avLst/>
            <a:gdLst/>
            <a:ahLst/>
            <a:cxnLst/>
            <a:rect l="l" t="t" r="r" b="b"/>
            <a:pathLst>
              <a:path w="4505396" h="1565378">
                <a:moveTo>
                  <a:pt x="0" y="0"/>
                </a:moveTo>
                <a:lnTo>
                  <a:pt x="4505396" y="0"/>
                </a:lnTo>
                <a:lnTo>
                  <a:pt x="4505396" y="1565378"/>
                </a:lnTo>
                <a:lnTo>
                  <a:pt x="0" y="1565378"/>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02" name="Freeform 10"/>
          <p:cNvSpPr/>
          <p:nvPr/>
        </p:nvSpPr>
        <p:spPr>
          <a:xfrm>
            <a:off x="4616446" y="7155585"/>
            <a:ext cx="594156" cy="561882"/>
          </a:xfrm>
          <a:custGeom>
            <a:avLst/>
            <a:gdLst/>
            <a:ahLst/>
            <a:cxnLst/>
            <a:rect l="l" t="t" r="r" b="b"/>
            <a:pathLst>
              <a:path w="594156" h="594156">
                <a:moveTo>
                  <a:pt x="0" y="0"/>
                </a:moveTo>
                <a:lnTo>
                  <a:pt x="594155" y="0"/>
                </a:lnTo>
                <a:lnTo>
                  <a:pt x="594155" y="594156"/>
                </a:lnTo>
                <a:lnTo>
                  <a:pt x="0" y="59415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103" name="Freeform 11"/>
          <p:cNvSpPr/>
          <p:nvPr/>
        </p:nvSpPr>
        <p:spPr>
          <a:xfrm>
            <a:off x="9806021" y="7222658"/>
            <a:ext cx="422929" cy="435022"/>
          </a:xfrm>
          <a:custGeom>
            <a:avLst/>
            <a:gdLst/>
            <a:ahLst/>
            <a:cxnLst/>
            <a:rect l="l" t="t" r="r" b="b"/>
            <a:pathLst>
              <a:path w="422929" h="460010">
                <a:moveTo>
                  <a:pt x="0" y="0"/>
                </a:moveTo>
                <a:lnTo>
                  <a:pt x="422929" y="0"/>
                </a:lnTo>
                <a:lnTo>
                  <a:pt x="422929" y="460010"/>
                </a:lnTo>
                <a:lnTo>
                  <a:pt x="0" y="460010"/>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p:spPr>
      </p:sp>
      <p:grpSp>
        <p:nvGrpSpPr>
          <p:cNvPr id="104" name="Group 12"/>
          <p:cNvGrpSpPr/>
          <p:nvPr/>
        </p:nvGrpSpPr>
        <p:grpSpPr>
          <a:xfrm>
            <a:off x="2630586" y="2199079"/>
            <a:ext cx="3613144" cy="1589812"/>
            <a:chOff x="0" y="0"/>
            <a:chExt cx="6667622" cy="3102323"/>
          </a:xfrm>
        </p:grpSpPr>
        <p:sp>
          <p:nvSpPr>
            <p:cNvPr id="105" name="Freeform 13"/>
            <p:cNvSpPr/>
            <p:nvPr/>
          </p:nvSpPr>
          <p:spPr>
            <a:xfrm>
              <a:off x="0" y="0"/>
              <a:ext cx="6667622" cy="3102323"/>
            </a:xfrm>
            <a:custGeom>
              <a:avLst/>
              <a:gdLst/>
              <a:ahLst/>
              <a:cxnLst/>
              <a:rect l="l" t="t" r="r" b="b"/>
              <a:pathLst>
                <a:path w="6667622" h="3102323">
                  <a:moveTo>
                    <a:pt x="0" y="0"/>
                  </a:moveTo>
                  <a:lnTo>
                    <a:pt x="0" y="3102323"/>
                  </a:lnTo>
                  <a:lnTo>
                    <a:pt x="6667622" y="3102323"/>
                  </a:lnTo>
                  <a:lnTo>
                    <a:pt x="6667622" y="0"/>
                  </a:lnTo>
                  <a:lnTo>
                    <a:pt x="0" y="0"/>
                  </a:lnTo>
                  <a:close/>
                  <a:moveTo>
                    <a:pt x="6606661" y="3041363"/>
                  </a:moveTo>
                  <a:lnTo>
                    <a:pt x="59690" y="3041363"/>
                  </a:lnTo>
                  <a:lnTo>
                    <a:pt x="59690" y="59690"/>
                  </a:lnTo>
                  <a:lnTo>
                    <a:pt x="6606661" y="59690"/>
                  </a:lnTo>
                  <a:lnTo>
                    <a:pt x="6606661" y="3041363"/>
                  </a:lnTo>
                  <a:close/>
                </a:path>
              </a:pathLst>
            </a:custGeom>
            <a:solidFill>
              <a:srgbClr val="86EAE9"/>
            </a:solidFill>
          </p:spPr>
        </p:sp>
      </p:grpSp>
      <p:grpSp>
        <p:nvGrpSpPr>
          <p:cNvPr id="106" name="Group 14"/>
          <p:cNvGrpSpPr/>
          <p:nvPr/>
        </p:nvGrpSpPr>
        <p:grpSpPr>
          <a:xfrm>
            <a:off x="2295554" y="2644877"/>
            <a:ext cx="670063" cy="746645"/>
            <a:chOff x="0" y="0"/>
            <a:chExt cx="893417" cy="1052710"/>
          </a:xfrm>
        </p:grpSpPr>
        <p:sp>
          <p:nvSpPr>
            <p:cNvPr id="107" name="Freeform 15"/>
            <p:cNvSpPr/>
            <p:nvPr/>
          </p:nvSpPr>
          <p:spPr>
            <a:xfrm>
              <a:off x="0" y="0"/>
              <a:ext cx="893417" cy="1052710"/>
            </a:xfrm>
            <a:custGeom>
              <a:avLst/>
              <a:gdLst/>
              <a:ahLst/>
              <a:cxnLst/>
              <a:rect l="l" t="t" r="r" b="b"/>
              <a:pathLst>
                <a:path w="893417" h="1052710">
                  <a:moveTo>
                    <a:pt x="0" y="0"/>
                  </a:moveTo>
                  <a:lnTo>
                    <a:pt x="893417" y="0"/>
                  </a:lnTo>
                  <a:lnTo>
                    <a:pt x="893417" y="1052710"/>
                  </a:lnTo>
                  <a:lnTo>
                    <a:pt x="0" y="1052710"/>
                  </a:lnTo>
                  <a:lnTo>
                    <a:pt x="0" y="0"/>
                  </a:lnTo>
                  <a:close/>
                </a:path>
              </a:pathLst>
            </a:custGeom>
            <a:blipFill>
              <a:blip r:embed="rId10">
                <a:extLst>
                  <a:ext uri="{96DAC541-7B7A-43D3-8B79-37D633B846F1}">
                    <asvg:svgBlip xmlns:asvg="http://schemas.microsoft.com/office/drawing/2016/SVG/main" xmlns="" r:embed="rId11"/>
                  </a:ext>
                </a:extLst>
              </a:blip>
              <a:stretch>
                <a:fillRect l="-8914" r="-8914"/>
              </a:stretch>
            </a:blipFill>
          </p:spPr>
        </p:sp>
        <p:sp>
          <p:nvSpPr>
            <p:cNvPr id="108" name="TextBox 16"/>
            <p:cNvSpPr txBox="1"/>
            <p:nvPr/>
          </p:nvSpPr>
          <p:spPr>
            <a:xfrm>
              <a:off x="116089" y="195495"/>
              <a:ext cx="661238" cy="687073"/>
            </a:xfrm>
            <a:prstGeom prst="rect">
              <a:avLst/>
            </a:prstGeom>
          </p:spPr>
          <p:txBody>
            <a:bodyPr wrap="square" lIns="0" tIns="0" rIns="0" bIns="0" rtlCol="0" anchor="t">
              <a:spAutoFit/>
            </a:bodyPr>
            <a:lstStyle/>
            <a:p>
              <a:pPr marL="0" lvl="0" indent="0" algn="ctr">
                <a:lnSpc>
                  <a:spcPts val="3827"/>
                </a:lnSpc>
                <a:spcBef>
                  <a:spcPct val="0"/>
                </a:spcBef>
              </a:pPr>
              <a:r>
                <a:rPr lang="en-US" sz="2921" b="1" u="none" dirty="0">
                  <a:solidFill>
                    <a:srgbClr val="FFFFFF"/>
                  </a:solidFill>
                  <a:latin typeface="Aileron Ultra-Bold"/>
                  <a:ea typeface="Aileron Ultra-Bold"/>
                  <a:cs typeface="Aileron Ultra-Bold"/>
                  <a:sym typeface="Aileron Ultra-Bold"/>
                </a:rPr>
                <a:t>01</a:t>
              </a:r>
            </a:p>
          </p:txBody>
        </p:sp>
      </p:grpSp>
      <p:grpSp>
        <p:nvGrpSpPr>
          <p:cNvPr id="109" name="Group 17"/>
          <p:cNvGrpSpPr/>
          <p:nvPr/>
        </p:nvGrpSpPr>
        <p:grpSpPr>
          <a:xfrm>
            <a:off x="7127924" y="2199079"/>
            <a:ext cx="3613144" cy="1589812"/>
            <a:chOff x="0" y="0"/>
            <a:chExt cx="6667622" cy="3102323"/>
          </a:xfrm>
        </p:grpSpPr>
        <p:sp>
          <p:nvSpPr>
            <p:cNvPr id="110" name="Freeform 18"/>
            <p:cNvSpPr/>
            <p:nvPr/>
          </p:nvSpPr>
          <p:spPr>
            <a:xfrm>
              <a:off x="0" y="0"/>
              <a:ext cx="6667622" cy="3102323"/>
            </a:xfrm>
            <a:custGeom>
              <a:avLst/>
              <a:gdLst/>
              <a:ahLst/>
              <a:cxnLst/>
              <a:rect l="l" t="t" r="r" b="b"/>
              <a:pathLst>
                <a:path w="6667622" h="3102323">
                  <a:moveTo>
                    <a:pt x="0" y="0"/>
                  </a:moveTo>
                  <a:lnTo>
                    <a:pt x="0" y="3102323"/>
                  </a:lnTo>
                  <a:lnTo>
                    <a:pt x="6667622" y="3102323"/>
                  </a:lnTo>
                  <a:lnTo>
                    <a:pt x="6667622" y="0"/>
                  </a:lnTo>
                  <a:lnTo>
                    <a:pt x="0" y="0"/>
                  </a:lnTo>
                  <a:close/>
                  <a:moveTo>
                    <a:pt x="6606661" y="3041363"/>
                  </a:moveTo>
                  <a:lnTo>
                    <a:pt x="59690" y="3041363"/>
                  </a:lnTo>
                  <a:lnTo>
                    <a:pt x="59690" y="59690"/>
                  </a:lnTo>
                  <a:lnTo>
                    <a:pt x="6606661" y="59690"/>
                  </a:lnTo>
                  <a:lnTo>
                    <a:pt x="6606661" y="3041363"/>
                  </a:lnTo>
                  <a:close/>
                </a:path>
              </a:pathLst>
            </a:custGeom>
            <a:solidFill>
              <a:srgbClr val="3EDAD8"/>
            </a:solidFill>
          </p:spPr>
        </p:sp>
      </p:grpSp>
      <p:grpSp>
        <p:nvGrpSpPr>
          <p:cNvPr id="111" name="Group 19"/>
          <p:cNvGrpSpPr/>
          <p:nvPr/>
        </p:nvGrpSpPr>
        <p:grpSpPr>
          <a:xfrm>
            <a:off x="6792893" y="2644409"/>
            <a:ext cx="670063" cy="747532"/>
            <a:chOff x="0" y="0"/>
            <a:chExt cx="893417" cy="1053960"/>
          </a:xfrm>
        </p:grpSpPr>
        <p:sp>
          <p:nvSpPr>
            <p:cNvPr id="112" name="Freeform 20"/>
            <p:cNvSpPr/>
            <p:nvPr/>
          </p:nvSpPr>
          <p:spPr>
            <a:xfrm>
              <a:off x="0" y="0"/>
              <a:ext cx="893417" cy="1053960"/>
            </a:xfrm>
            <a:custGeom>
              <a:avLst/>
              <a:gdLst/>
              <a:ahLst/>
              <a:cxnLst/>
              <a:rect l="l" t="t" r="r" b="b"/>
              <a:pathLst>
                <a:path w="893417" h="1053960">
                  <a:moveTo>
                    <a:pt x="0" y="0"/>
                  </a:moveTo>
                  <a:lnTo>
                    <a:pt x="893417" y="0"/>
                  </a:lnTo>
                  <a:lnTo>
                    <a:pt x="893417" y="1053960"/>
                  </a:lnTo>
                  <a:lnTo>
                    <a:pt x="0" y="1053960"/>
                  </a:lnTo>
                  <a:lnTo>
                    <a:pt x="0" y="0"/>
                  </a:lnTo>
                  <a:close/>
                </a:path>
              </a:pathLst>
            </a:custGeom>
            <a:blipFill>
              <a:blip r:embed="rId12">
                <a:extLst>
                  <a:ext uri="{96DAC541-7B7A-43D3-8B79-37D633B846F1}">
                    <asvg:svgBlip xmlns:asvg="http://schemas.microsoft.com/office/drawing/2016/SVG/main" xmlns="" r:embed="rId13"/>
                  </a:ext>
                </a:extLst>
              </a:blip>
              <a:stretch>
                <a:fillRect l="-8984" r="-8984"/>
              </a:stretch>
            </a:blipFill>
          </p:spPr>
        </p:sp>
        <p:sp>
          <p:nvSpPr>
            <p:cNvPr id="113" name="TextBox 21"/>
            <p:cNvSpPr txBox="1"/>
            <p:nvPr/>
          </p:nvSpPr>
          <p:spPr>
            <a:xfrm>
              <a:off x="116089" y="195496"/>
              <a:ext cx="661238" cy="624867"/>
            </a:xfrm>
            <a:prstGeom prst="rect">
              <a:avLst/>
            </a:prstGeom>
          </p:spPr>
          <p:txBody>
            <a:bodyPr lIns="0" tIns="0" rIns="0" bIns="0" rtlCol="0" anchor="t">
              <a:spAutoFit/>
            </a:bodyPr>
            <a:lstStyle/>
            <a:p>
              <a:pPr marL="0" lvl="0" indent="0" algn="ctr">
                <a:lnSpc>
                  <a:spcPts val="3827"/>
                </a:lnSpc>
                <a:spcBef>
                  <a:spcPct val="0"/>
                </a:spcBef>
              </a:pPr>
              <a:r>
                <a:rPr lang="en-US" sz="2921" b="1">
                  <a:solidFill>
                    <a:srgbClr val="FFFFFF"/>
                  </a:solidFill>
                  <a:latin typeface="Aileron Ultra-Bold"/>
                  <a:ea typeface="Aileron Ultra-Bold"/>
                  <a:cs typeface="Aileron Ultra-Bold"/>
                  <a:sym typeface="Aileron Ultra-Bold"/>
                </a:rPr>
                <a:t>02</a:t>
              </a:r>
            </a:p>
          </p:txBody>
        </p:sp>
      </p:grpSp>
      <p:grpSp>
        <p:nvGrpSpPr>
          <p:cNvPr id="114" name="Group 22"/>
          <p:cNvGrpSpPr/>
          <p:nvPr/>
        </p:nvGrpSpPr>
        <p:grpSpPr>
          <a:xfrm>
            <a:off x="11632993" y="2199079"/>
            <a:ext cx="3720414" cy="1589812"/>
            <a:chOff x="0" y="0"/>
            <a:chExt cx="6865576" cy="3102323"/>
          </a:xfrm>
        </p:grpSpPr>
        <p:sp>
          <p:nvSpPr>
            <p:cNvPr id="115" name="Freeform 23"/>
            <p:cNvSpPr/>
            <p:nvPr/>
          </p:nvSpPr>
          <p:spPr>
            <a:xfrm>
              <a:off x="0" y="0"/>
              <a:ext cx="6865576" cy="3102323"/>
            </a:xfrm>
            <a:custGeom>
              <a:avLst/>
              <a:gdLst/>
              <a:ahLst/>
              <a:cxnLst/>
              <a:rect l="l" t="t" r="r" b="b"/>
              <a:pathLst>
                <a:path w="6865576" h="3102323">
                  <a:moveTo>
                    <a:pt x="0" y="0"/>
                  </a:moveTo>
                  <a:lnTo>
                    <a:pt x="0" y="3102323"/>
                  </a:lnTo>
                  <a:lnTo>
                    <a:pt x="6865576" y="3102323"/>
                  </a:lnTo>
                  <a:lnTo>
                    <a:pt x="6865576" y="0"/>
                  </a:lnTo>
                  <a:lnTo>
                    <a:pt x="0" y="0"/>
                  </a:lnTo>
                  <a:close/>
                  <a:moveTo>
                    <a:pt x="6804616" y="3041363"/>
                  </a:moveTo>
                  <a:lnTo>
                    <a:pt x="59690" y="3041363"/>
                  </a:lnTo>
                  <a:lnTo>
                    <a:pt x="59690" y="59690"/>
                  </a:lnTo>
                  <a:lnTo>
                    <a:pt x="6804616" y="59690"/>
                  </a:lnTo>
                  <a:lnTo>
                    <a:pt x="6804616" y="3041363"/>
                  </a:lnTo>
                  <a:close/>
                </a:path>
              </a:pathLst>
            </a:custGeom>
            <a:solidFill>
              <a:srgbClr val="37C9EF"/>
            </a:solidFill>
          </p:spPr>
        </p:sp>
      </p:grpSp>
      <p:grpSp>
        <p:nvGrpSpPr>
          <p:cNvPr id="116" name="Group 24"/>
          <p:cNvGrpSpPr/>
          <p:nvPr/>
        </p:nvGrpSpPr>
        <p:grpSpPr>
          <a:xfrm>
            <a:off x="11297962" y="2644877"/>
            <a:ext cx="670063" cy="746645"/>
            <a:chOff x="0" y="0"/>
            <a:chExt cx="893417" cy="1052710"/>
          </a:xfrm>
        </p:grpSpPr>
        <p:sp>
          <p:nvSpPr>
            <p:cNvPr id="117" name="Freeform 25"/>
            <p:cNvSpPr/>
            <p:nvPr/>
          </p:nvSpPr>
          <p:spPr>
            <a:xfrm>
              <a:off x="0" y="0"/>
              <a:ext cx="893417" cy="1052710"/>
            </a:xfrm>
            <a:custGeom>
              <a:avLst/>
              <a:gdLst/>
              <a:ahLst/>
              <a:cxnLst/>
              <a:rect l="l" t="t" r="r" b="b"/>
              <a:pathLst>
                <a:path w="893417" h="1052710">
                  <a:moveTo>
                    <a:pt x="0" y="0"/>
                  </a:moveTo>
                  <a:lnTo>
                    <a:pt x="893417" y="0"/>
                  </a:lnTo>
                  <a:lnTo>
                    <a:pt x="893417" y="1052710"/>
                  </a:lnTo>
                  <a:lnTo>
                    <a:pt x="0" y="1052710"/>
                  </a:lnTo>
                  <a:lnTo>
                    <a:pt x="0" y="0"/>
                  </a:lnTo>
                  <a:close/>
                </a:path>
              </a:pathLst>
            </a:custGeom>
            <a:blipFill>
              <a:blip r:embed="rId14">
                <a:extLst>
                  <a:ext uri="{96DAC541-7B7A-43D3-8B79-37D633B846F1}">
                    <asvg:svgBlip xmlns:asvg="http://schemas.microsoft.com/office/drawing/2016/SVG/main" xmlns="" r:embed="rId15"/>
                  </a:ext>
                </a:extLst>
              </a:blip>
              <a:stretch>
                <a:fillRect l="-8914" r="-8914"/>
              </a:stretch>
            </a:blipFill>
          </p:spPr>
        </p:sp>
        <p:sp>
          <p:nvSpPr>
            <p:cNvPr id="118" name="TextBox 26"/>
            <p:cNvSpPr txBox="1"/>
            <p:nvPr/>
          </p:nvSpPr>
          <p:spPr>
            <a:xfrm>
              <a:off x="116089" y="195496"/>
              <a:ext cx="661238" cy="623617"/>
            </a:xfrm>
            <a:prstGeom prst="rect">
              <a:avLst/>
            </a:prstGeom>
          </p:spPr>
          <p:txBody>
            <a:bodyPr lIns="0" tIns="0" rIns="0" bIns="0" rtlCol="0" anchor="t">
              <a:spAutoFit/>
            </a:bodyPr>
            <a:lstStyle/>
            <a:p>
              <a:pPr marL="0" lvl="0" indent="0" algn="ctr">
                <a:lnSpc>
                  <a:spcPts val="3827"/>
                </a:lnSpc>
                <a:spcBef>
                  <a:spcPct val="0"/>
                </a:spcBef>
              </a:pPr>
              <a:r>
                <a:rPr lang="en-US" sz="2921" b="1" u="none">
                  <a:solidFill>
                    <a:srgbClr val="FFFFFF"/>
                  </a:solidFill>
                  <a:latin typeface="Aileron Ultra-Bold"/>
                  <a:ea typeface="Aileron Ultra-Bold"/>
                  <a:cs typeface="Aileron Ultra-Bold"/>
                  <a:sym typeface="Aileron Ultra-Bold"/>
                </a:rPr>
                <a:t>03</a:t>
              </a:r>
            </a:p>
          </p:txBody>
        </p:sp>
      </p:grpSp>
      <p:grpSp>
        <p:nvGrpSpPr>
          <p:cNvPr id="119" name="Group 27"/>
          <p:cNvGrpSpPr/>
          <p:nvPr/>
        </p:nvGrpSpPr>
        <p:grpSpPr>
          <a:xfrm>
            <a:off x="4879255" y="4703094"/>
            <a:ext cx="3613144" cy="1589812"/>
            <a:chOff x="0" y="0"/>
            <a:chExt cx="6667622" cy="3102323"/>
          </a:xfrm>
        </p:grpSpPr>
        <p:sp>
          <p:nvSpPr>
            <p:cNvPr id="120" name="Freeform 28"/>
            <p:cNvSpPr/>
            <p:nvPr/>
          </p:nvSpPr>
          <p:spPr>
            <a:xfrm>
              <a:off x="0" y="0"/>
              <a:ext cx="6667622" cy="3102323"/>
            </a:xfrm>
            <a:custGeom>
              <a:avLst/>
              <a:gdLst/>
              <a:ahLst/>
              <a:cxnLst/>
              <a:rect l="l" t="t" r="r" b="b"/>
              <a:pathLst>
                <a:path w="6667622" h="3102323">
                  <a:moveTo>
                    <a:pt x="0" y="0"/>
                  </a:moveTo>
                  <a:lnTo>
                    <a:pt x="0" y="3102323"/>
                  </a:lnTo>
                  <a:lnTo>
                    <a:pt x="6667622" y="3102323"/>
                  </a:lnTo>
                  <a:lnTo>
                    <a:pt x="6667622" y="0"/>
                  </a:lnTo>
                  <a:lnTo>
                    <a:pt x="0" y="0"/>
                  </a:lnTo>
                  <a:close/>
                  <a:moveTo>
                    <a:pt x="6606661" y="3041363"/>
                  </a:moveTo>
                  <a:lnTo>
                    <a:pt x="59690" y="3041363"/>
                  </a:lnTo>
                  <a:lnTo>
                    <a:pt x="59690" y="59690"/>
                  </a:lnTo>
                  <a:lnTo>
                    <a:pt x="6606661" y="59690"/>
                  </a:lnTo>
                  <a:lnTo>
                    <a:pt x="6606661" y="3041363"/>
                  </a:lnTo>
                  <a:close/>
                </a:path>
              </a:pathLst>
            </a:custGeom>
            <a:solidFill>
              <a:srgbClr val="13538A"/>
            </a:solidFill>
          </p:spPr>
        </p:sp>
      </p:grpSp>
      <p:grpSp>
        <p:nvGrpSpPr>
          <p:cNvPr id="121" name="Group 29"/>
          <p:cNvGrpSpPr/>
          <p:nvPr/>
        </p:nvGrpSpPr>
        <p:grpSpPr>
          <a:xfrm>
            <a:off x="4544224" y="5148893"/>
            <a:ext cx="670063" cy="746645"/>
            <a:chOff x="0" y="0"/>
            <a:chExt cx="893417" cy="1052710"/>
          </a:xfrm>
        </p:grpSpPr>
        <p:sp>
          <p:nvSpPr>
            <p:cNvPr id="122" name="Freeform 30"/>
            <p:cNvSpPr/>
            <p:nvPr/>
          </p:nvSpPr>
          <p:spPr>
            <a:xfrm>
              <a:off x="0" y="0"/>
              <a:ext cx="893417" cy="1052710"/>
            </a:xfrm>
            <a:custGeom>
              <a:avLst/>
              <a:gdLst/>
              <a:ahLst/>
              <a:cxnLst/>
              <a:rect l="l" t="t" r="r" b="b"/>
              <a:pathLst>
                <a:path w="893417" h="1052710">
                  <a:moveTo>
                    <a:pt x="0" y="0"/>
                  </a:moveTo>
                  <a:lnTo>
                    <a:pt x="893417" y="0"/>
                  </a:lnTo>
                  <a:lnTo>
                    <a:pt x="893417" y="1052710"/>
                  </a:lnTo>
                  <a:lnTo>
                    <a:pt x="0" y="1052710"/>
                  </a:lnTo>
                  <a:lnTo>
                    <a:pt x="0" y="0"/>
                  </a:lnTo>
                  <a:close/>
                </a:path>
              </a:pathLst>
            </a:custGeom>
            <a:blipFill>
              <a:blip r:embed="rId16">
                <a:extLst>
                  <a:ext uri="{96DAC541-7B7A-43D3-8B79-37D633B846F1}">
                    <asvg:svgBlip xmlns:asvg="http://schemas.microsoft.com/office/drawing/2016/SVG/main" xmlns="" r:embed="rId17"/>
                  </a:ext>
                </a:extLst>
              </a:blip>
              <a:stretch>
                <a:fillRect l="-8914" r="-8914"/>
              </a:stretch>
            </a:blipFill>
          </p:spPr>
        </p:sp>
        <p:sp>
          <p:nvSpPr>
            <p:cNvPr id="123" name="TextBox 31"/>
            <p:cNvSpPr txBox="1"/>
            <p:nvPr/>
          </p:nvSpPr>
          <p:spPr>
            <a:xfrm>
              <a:off x="116089" y="195496"/>
              <a:ext cx="661238" cy="623617"/>
            </a:xfrm>
            <a:prstGeom prst="rect">
              <a:avLst/>
            </a:prstGeom>
          </p:spPr>
          <p:txBody>
            <a:bodyPr lIns="0" tIns="0" rIns="0" bIns="0" rtlCol="0" anchor="t">
              <a:spAutoFit/>
            </a:bodyPr>
            <a:lstStyle/>
            <a:p>
              <a:pPr marL="0" lvl="0" indent="0" algn="ctr">
                <a:lnSpc>
                  <a:spcPts val="3827"/>
                </a:lnSpc>
                <a:spcBef>
                  <a:spcPct val="0"/>
                </a:spcBef>
              </a:pPr>
              <a:r>
                <a:rPr lang="en-US" sz="2921" b="1" u="none">
                  <a:solidFill>
                    <a:srgbClr val="FFFFFF"/>
                  </a:solidFill>
                  <a:latin typeface="Aileron Ultra-Bold"/>
                  <a:ea typeface="Aileron Ultra-Bold"/>
                  <a:cs typeface="Aileron Ultra-Bold"/>
                  <a:sym typeface="Aileron Ultra-Bold"/>
                </a:rPr>
                <a:t>05</a:t>
              </a:r>
            </a:p>
          </p:txBody>
        </p:sp>
      </p:grpSp>
      <p:grpSp>
        <p:nvGrpSpPr>
          <p:cNvPr id="124" name="Group 32"/>
          <p:cNvGrpSpPr/>
          <p:nvPr/>
        </p:nvGrpSpPr>
        <p:grpSpPr>
          <a:xfrm>
            <a:off x="9376594" y="4703094"/>
            <a:ext cx="3613144" cy="1589812"/>
            <a:chOff x="0" y="0"/>
            <a:chExt cx="6667622" cy="3102323"/>
          </a:xfrm>
        </p:grpSpPr>
        <p:sp>
          <p:nvSpPr>
            <p:cNvPr id="125" name="Freeform 33"/>
            <p:cNvSpPr/>
            <p:nvPr/>
          </p:nvSpPr>
          <p:spPr>
            <a:xfrm>
              <a:off x="0" y="0"/>
              <a:ext cx="6667622" cy="3102323"/>
            </a:xfrm>
            <a:custGeom>
              <a:avLst/>
              <a:gdLst/>
              <a:ahLst/>
              <a:cxnLst/>
              <a:rect l="l" t="t" r="r" b="b"/>
              <a:pathLst>
                <a:path w="6667622" h="3102323">
                  <a:moveTo>
                    <a:pt x="0" y="0"/>
                  </a:moveTo>
                  <a:lnTo>
                    <a:pt x="0" y="3102323"/>
                  </a:lnTo>
                  <a:lnTo>
                    <a:pt x="6667622" y="3102323"/>
                  </a:lnTo>
                  <a:lnTo>
                    <a:pt x="6667622" y="0"/>
                  </a:lnTo>
                  <a:lnTo>
                    <a:pt x="0" y="0"/>
                  </a:lnTo>
                  <a:close/>
                  <a:moveTo>
                    <a:pt x="6606661" y="3041363"/>
                  </a:moveTo>
                  <a:lnTo>
                    <a:pt x="59690" y="3041363"/>
                  </a:lnTo>
                  <a:lnTo>
                    <a:pt x="59690" y="59690"/>
                  </a:lnTo>
                  <a:lnTo>
                    <a:pt x="6606661" y="59690"/>
                  </a:lnTo>
                  <a:lnTo>
                    <a:pt x="6606661" y="3041363"/>
                  </a:lnTo>
                  <a:close/>
                </a:path>
              </a:pathLst>
            </a:custGeom>
            <a:solidFill>
              <a:srgbClr val="2C92D5"/>
            </a:solidFill>
          </p:spPr>
        </p:sp>
      </p:grpSp>
      <p:grpSp>
        <p:nvGrpSpPr>
          <p:cNvPr id="126" name="Group 34"/>
          <p:cNvGrpSpPr/>
          <p:nvPr/>
        </p:nvGrpSpPr>
        <p:grpSpPr>
          <a:xfrm>
            <a:off x="9041562" y="5148893"/>
            <a:ext cx="670063" cy="746645"/>
            <a:chOff x="0" y="0"/>
            <a:chExt cx="893417" cy="1052710"/>
          </a:xfrm>
        </p:grpSpPr>
        <p:sp>
          <p:nvSpPr>
            <p:cNvPr id="127" name="Freeform 35"/>
            <p:cNvSpPr/>
            <p:nvPr/>
          </p:nvSpPr>
          <p:spPr>
            <a:xfrm>
              <a:off x="0" y="0"/>
              <a:ext cx="893417" cy="1052710"/>
            </a:xfrm>
            <a:custGeom>
              <a:avLst/>
              <a:gdLst/>
              <a:ahLst/>
              <a:cxnLst/>
              <a:rect l="l" t="t" r="r" b="b"/>
              <a:pathLst>
                <a:path w="893417" h="1052710">
                  <a:moveTo>
                    <a:pt x="0" y="0"/>
                  </a:moveTo>
                  <a:lnTo>
                    <a:pt x="893417" y="0"/>
                  </a:lnTo>
                  <a:lnTo>
                    <a:pt x="893417" y="1052710"/>
                  </a:lnTo>
                  <a:lnTo>
                    <a:pt x="0" y="1052710"/>
                  </a:lnTo>
                  <a:lnTo>
                    <a:pt x="0" y="0"/>
                  </a:lnTo>
                  <a:close/>
                </a:path>
              </a:pathLst>
            </a:custGeom>
            <a:blipFill>
              <a:blip r:embed="rId18">
                <a:extLst>
                  <a:ext uri="{96DAC541-7B7A-43D3-8B79-37D633B846F1}">
                    <asvg:svgBlip xmlns:asvg="http://schemas.microsoft.com/office/drawing/2016/SVG/main" xmlns="" r:embed="rId19"/>
                  </a:ext>
                </a:extLst>
              </a:blip>
              <a:stretch>
                <a:fillRect l="-8914" r="-8914"/>
              </a:stretch>
            </a:blipFill>
          </p:spPr>
        </p:sp>
        <p:sp>
          <p:nvSpPr>
            <p:cNvPr id="128" name="TextBox 36"/>
            <p:cNvSpPr txBox="1"/>
            <p:nvPr/>
          </p:nvSpPr>
          <p:spPr>
            <a:xfrm>
              <a:off x="116089" y="195496"/>
              <a:ext cx="661238" cy="623617"/>
            </a:xfrm>
            <a:prstGeom prst="rect">
              <a:avLst/>
            </a:prstGeom>
          </p:spPr>
          <p:txBody>
            <a:bodyPr lIns="0" tIns="0" rIns="0" bIns="0" rtlCol="0" anchor="t">
              <a:spAutoFit/>
            </a:bodyPr>
            <a:lstStyle/>
            <a:p>
              <a:pPr marL="0" lvl="0" indent="0" algn="ctr">
                <a:lnSpc>
                  <a:spcPts val="3827"/>
                </a:lnSpc>
                <a:spcBef>
                  <a:spcPct val="0"/>
                </a:spcBef>
              </a:pPr>
              <a:r>
                <a:rPr lang="en-US" sz="2921" b="1" u="none" dirty="0">
                  <a:solidFill>
                    <a:srgbClr val="FFFFFF"/>
                  </a:solidFill>
                  <a:latin typeface="Aileron Ultra-Bold"/>
                  <a:ea typeface="Aileron Ultra-Bold"/>
                  <a:cs typeface="Aileron Ultra-Bold"/>
                  <a:sym typeface="Aileron Ultra-Bold"/>
                </a:rPr>
                <a:t>04</a:t>
              </a:r>
            </a:p>
          </p:txBody>
        </p:sp>
      </p:grpSp>
      <p:sp>
        <p:nvSpPr>
          <p:cNvPr id="129" name="AutoShape 37"/>
          <p:cNvSpPr/>
          <p:nvPr/>
        </p:nvSpPr>
        <p:spPr>
          <a:xfrm>
            <a:off x="6235999" y="3039644"/>
            <a:ext cx="556894" cy="45719"/>
          </a:xfrm>
          <a:prstGeom prst="rect">
            <a:avLst/>
          </a:prstGeom>
          <a:solidFill>
            <a:srgbClr val="86EAE9"/>
          </a:solidFill>
        </p:spPr>
      </p:sp>
      <p:sp>
        <p:nvSpPr>
          <p:cNvPr id="130" name="AutoShape 38"/>
          <p:cNvSpPr/>
          <p:nvPr/>
        </p:nvSpPr>
        <p:spPr>
          <a:xfrm>
            <a:off x="10741068" y="3001334"/>
            <a:ext cx="556894" cy="45719"/>
          </a:xfrm>
          <a:prstGeom prst="rect">
            <a:avLst/>
          </a:prstGeom>
          <a:solidFill>
            <a:srgbClr val="37C9EF"/>
          </a:solidFill>
        </p:spPr>
      </p:sp>
      <p:sp>
        <p:nvSpPr>
          <p:cNvPr id="131" name="AutoShape 39"/>
          <p:cNvSpPr/>
          <p:nvPr/>
        </p:nvSpPr>
        <p:spPr>
          <a:xfrm>
            <a:off x="8484668" y="5543659"/>
            <a:ext cx="556894" cy="45719"/>
          </a:xfrm>
          <a:prstGeom prst="rect">
            <a:avLst/>
          </a:prstGeom>
          <a:solidFill>
            <a:srgbClr val="13538A"/>
          </a:solidFill>
        </p:spPr>
      </p:sp>
      <p:sp>
        <p:nvSpPr>
          <p:cNvPr id="132" name="AutoShape 40"/>
          <p:cNvSpPr/>
          <p:nvPr/>
        </p:nvSpPr>
        <p:spPr>
          <a:xfrm rot="16200000">
            <a:off x="12741136" y="4647600"/>
            <a:ext cx="1573092" cy="38309"/>
          </a:xfrm>
          <a:prstGeom prst="rect">
            <a:avLst/>
          </a:prstGeom>
          <a:solidFill>
            <a:srgbClr val="37C9EF"/>
          </a:solidFill>
        </p:spPr>
      </p:sp>
      <p:sp>
        <p:nvSpPr>
          <p:cNvPr id="133" name="AutoShape 41"/>
          <p:cNvSpPr/>
          <p:nvPr/>
        </p:nvSpPr>
        <p:spPr>
          <a:xfrm>
            <a:off x="12989941" y="5543659"/>
            <a:ext cx="556894" cy="45719"/>
          </a:xfrm>
          <a:prstGeom prst="rect">
            <a:avLst/>
          </a:prstGeom>
          <a:solidFill>
            <a:srgbClr val="37C9EF"/>
          </a:solidFill>
        </p:spPr>
      </p:sp>
      <p:sp>
        <p:nvSpPr>
          <p:cNvPr id="134" name="Freeform 42"/>
          <p:cNvSpPr/>
          <p:nvPr/>
        </p:nvSpPr>
        <p:spPr>
          <a:xfrm>
            <a:off x="8541075" y="2269424"/>
            <a:ext cx="1121873" cy="871665"/>
          </a:xfrm>
          <a:custGeom>
            <a:avLst/>
            <a:gdLst/>
            <a:ahLst/>
            <a:cxnLst/>
            <a:rect l="l" t="t" r="r" b="b"/>
            <a:pathLst>
              <a:path w="1121873" h="921733">
                <a:moveTo>
                  <a:pt x="0" y="0"/>
                </a:moveTo>
                <a:lnTo>
                  <a:pt x="1121873" y="0"/>
                </a:lnTo>
                <a:lnTo>
                  <a:pt x="1121873" y="921733"/>
                </a:lnTo>
                <a:lnTo>
                  <a:pt x="0" y="921733"/>
                </a:lnTo>
                <a:lnTo>
                  <a:pt x="0" y="0"/>
                </a:lnTo>
                <a:close/>
              </a:path>
            </a:pathLst>
          </a:custGeom>
          <a:blipFill>
            <a:blip r:embed="rId20"/>
            <a:stretch>
              <a:fillRect l="-62790" r="-725427"/>
            </a:stretch>
          </a:blipFill>
        </p:spPr>
      </p:sp>
      <p:sp>
        <p:nvSpPr>
          <p:cNvPr id="135" name="TextBox 43"/>
          <p:cNvSpPr txBox="1"/>
          <p:nvPr/>
        </p:nvSpPr>
        <p:spPr>
          <a:xfrm>
            <a:off x="5553008" y="7277635"/>
            <a:ext cx="2752792" cy="269304"/>
          </a:xfrm>
          <a:prstGeom prst="rect">
            <a:avLst/>
          </a:prstGeom>
        </p:spPr>
        <p:txBody>
          <a:bodyPr lIns="0" tIns="0" rIns="0" bIns="0" rtlCol="0" anchor="t">
            <a:spAutoFit/>
          </a:bodyPr>
          <a:lstStyle/>
          <a:p>
            <a:pPr algn="ctr">
              <a:lnSpc>
                <a:spcPts val="2126"/>
              </a:lnSpc>
            </a:pPr>
            <a:r>
              <a:rPr lang="en-US" sz="2126" b="1" dirty="0">
                <a:solidFill>
                  <a:schemeClr val="bg1"/>
                </a:solidFill>
                <a:latin typeface="DM Sans Bold"/>
                <a:ea typeface="DM Sans Bold"/>
                <a:cs typeface="DM Sans Bold"/>
                <a:sym typeface="DM Sans Bold"/>
              </a:rPr>
              <a:t>OTP Email Access</a:t>
            </a:r>
          </a:p>
        </p:txBody>
      </p:sp>
      <p:sp>
        <p:nvSpPr>
          <p:cNvPr id="136" name="TextBox 44"/>
          <p:cNvSpPr txBox="1"/>
          <p:nvPr/>
        </p:nvSpPr>
        <p:spPr>
          <a:xfrm>
            <a:off x="10591629" y="7293496"/>
            <a:ext cx="2752792" cy="286060"/>
          </a:xfrm>
          <a:prstGeom prst="rect">
            <a:avLst/>
          </a:prstGeom>
        </p:spPr>
        <p:txBody>
          <a:bodyPr lIns="0" tIns="0" rIns="0" bIns="0" rtlCol="0" anchor="t">
            <a:spAutoFit/>
          </a:bodyPr>
          <a:lstStyle/>
          <a:p>
            <a:pPr algn="ctr">
              <a:lnSpc>
                <a:spcPts val="2126"/>
              </a:lnSpc>
            </a:pPr>
            <a:r>
              <a:rPr lang="en-US" sz="2126" b="1" dirty="0">
                <a:solidFill>
                  <a:srgbClr val="FFFFFF"/>
                </a:solidFill>
                <a:latin typeface="DM Sans Bold"/>
                <a:ea typeface="DM Sans Bold"/>
                <a:cs typeface="DM Sans Bold"/>
                <a:sym typeface="DM Sans Bold"/>
              </a:rPr>
              <a:t>WARP Client</a:t>
            </a:r>
          </a:p>
        </p:txBody>
      </p:sp>
      <p:sp>
        <p:nvSpPr>
          <p:cNvPr id="137" name="TextBox 45"/>
          <p:cNvSpPr txBox="1"/>
          <p:nvPr/>
        </p:nvSpPr>
        <p:spPr>
          <a:xfrm>
            <a:off x="4790187" y="8493837"/>
            <a:ext cx="3161934" cy="1574142"/>
          </a:xfrm>
          <a:prstGeom prst="rect">
            <a:avLst/>
          </a:prstGeom>
        </p:spPr>
        <p:txBody>
          <a:bodyPr lIns="0" tIns="0" rIns="0" bIns="0" rtlCol="0" anchor="t">
            <a:spAutoFit/>
          </a:bodyPr>
          <a:lstStyle/>
          <a:p>
            <a:pPr marL="0" lvl="0" indent="0" algn="l">
              <a:lnSpc>
                <a:spcPts val="2551"/>
              </a:lnSpc>
            </a:pPr>
            <a:r>
              <a:rPr lang="en-US" sz="1822">
                <a:solidFill>
                  <a:srgbClr val="545454"/>
                </a:solidFill>
                <a:latin typeface="Canva Sans"/>
                <a:ea typeface="Canva Sans"/>
                <a:cs typeface="Canva Sans"/>
                <a:sym typeface="Canva Sans"/>
              </a:rPr>
              <a:t>Code 6 chiffres valide 10 min envoyé à l'email professionnel avant tout accès au service</a:t>
            </a:r>
          </a:p>
          <a:p>
            <a:pPr algn="l">
              <a:lnSpc>
                <a:spcPts val="2551"/>
              </a:lnSpc>
            </a:pPr>
            <a:endParaRPr lang="en-US" sz="1822">
              <a:solidFill>
                <a:srgbClr val="545454"/>
              </a:solidFill>
              <a:latin typeface="Canva Sans"/>
              <a:ea typeface="Canva Sans"/>
              <a:cs typeface="Canva Sans"/>
              <a:sym typeface="Canva Sans"/>
            </a:endParaRPr>
          </a:p>
        </p:txBody>
      </p:sp>
      <p:sp>
        <p:nvSpPr>
          <p:cNvPr id="138" name="TextBox 46"/>
          <p:cNvSpPr txBox="1"/>
          <p:nvPr/>
        </p:nvSpPr>
        <p:spPr>
          <a:xfrm>
            <a:off x="9892872" y="8493837"/>
            <a:ext cx="3259836" cy="1574142"/>
          </a:xfrm>
          <a:prstGeom prst="rect">
            <a:avLst/>
          </a:prstGeom>
        </p:spPr>
        <p:txBody>
          <a:bodyPr lIns="0" tIns="0" rIns="0" bIns="0" rtlCol="0" anchor="t">
            <a:spAutoFit/>
          </a:bodyPr>
          <a:lstStyle/>
          <a:p>
            <a:pPr algn="l">
              <a:lnSpc>
                <a:spcPts val="2551"/>
              </a:lnSpc>
            </a:pPr>
            <a:r>
              <a:rPr lang="en-US" sz="1822">
                <a:solidFill>
                  <a:srgbClr val="545454"/>
                </a:solidFill>
                <a:latin typeface="Canva Sans"/>
                <a:ea typeface="Canva Sans"/>
                <a:cs typeface="Canva Sans"/>
                <a:sym typeface="Canva Sans"/>
              </a:rPr>
              <a:t>VPN Zero Trust WireGuard sur le poste agent. Chiffrement du trafic + vérification de l'appareil + politiques d'accès</a:t>
            </a:r>
          </a:p>
        </p:txBody>
      </p:sp>
      <p:grpSp>
        <p:nvGrpSpPr>
          <p:cNvPr id="139" name="Group 47"/>
          <p:cNvGrpSpPr/>
          <p:nvPr/>
        </p:nvGrpSpPr>
        <p:grpSpPr>
          <a:xfrm>
            <a:off x="3009029" y="2510878"/>
            <a:ext cx="2856256" cy="1000088"/>
            <a:chOff x="0" y="0"/>
            <a:chExt cx="3808342" cy="1410044"/>
          </a:xfrm>
        </p:grpSpPr>
        <p:sp>
          <p:nvSpPr>
            <p:cNvPr id="140" name="TextBox 48"/>
            <p:cNvSpPr txBox="1"/>
            <p:nvPr/>
          </p:nvSpPr>
          <p:spPr>
            <a:xfrm>
              <a:off x="0" y="-30866"/>
              <a:ext cx="3808342" cy="449982"/>
            </a:xfrm>
            <a:prstGeom prst="rect">
              <a:avLst/>
            </a:prstGeom>
          </p:spPr>
          <p:txBody>
            <a:bodyPr lIns="0" tIns="0" rIns="0" bIns="0" rtlCol="0" anchor="t">
              <a:spAutoFit/>
            </a:bodyPr>
            <a:lstStyle/>
            <a:p>
              <a:pPr marL="0" lvl="0" indent="0" algn="ctr">
                <a:lnSpc>
                  <a:spcPts val="2722"/>
                </a:lnSpc>
                <a:spcBef>
                  <a:spcPct val="0"/>
                </a:spcBef>
              </a:pPr>
              <a:endParaRPr/>
            </a:p>
          </p:txBody>
        </p:sp>
        <p:sp>
          <p:nvSpPr>
            <p:cNvPr id="141" name="TextBox 49"/>
            <p:cNvSpPr txBox="1"/>
            <p:nvPr/>
          </p:nvSpPr>
          <p:spPr>
            <a:xfrm>
              <a:off x="0" y="604174"/>
              <a:ext cx="3808342" cy="753646"/>
            </a:xfrm>
            <a:prstGeom prst="rect">
              <a:avLst/>
            </a:prstGeom>
          </p:spPr>
          <p:txBody>
            <a:bodyPr lIns="0" tIns="0" rIns="0" bIns="0" rtlCol="0" anchor="t">
              <a:spAutoFit/>
            </a:bodyPr>
            <a:lstStyle/>
            <a:p>
              <a:pPr algn="ctr">
                <a:lnSpc>
                  <a:spcPts val="2399"/>
                </a:lnSpc>
              </a:pPr>
              <a:r>
                <a:rPr lang="en-US" sz="1599" spc="79" dirty="0">
                  <a:solidFill>
                    <a:srgbClr val="191919"/>
                  </a:solidFill>
                  <a:latin typeface="Aileron"/>
                  <a:ea typeface="Aileron"/>
                  <a:cs typeface="Aileron"/>
                  <a:sym typeface="Aileron"/>
                </a:rPr>
                <a:t>Agent TMPA</a:t>
              </a:r>
            </a:p>
            <a:p>
              <a:pPr algn="ctr">
                <a:lnSpc>
                  <a:spcPts val="2399"/>
                </a:lnSpc>
              </a:pPr>
              <a:r>
                <a:rPr lang="en-US" sz="1599" spc="79" dirty="0">
                  <a:solidFill>
                    <a:srgbClr val="191919"/>
                  </a:solidFill>
                  <a:latin typeface="Aileron"/>
                  <a:ea typeface="Aileron"/>
                  <a:cs typeface="Aileron"/>
                  <a:sym typeface="Aileron"/>
                </a:rPr>
                <a:t>(</a:t>
              </a:r>
              <a:r>
                <a:rPr lang="en-US" sz="1599" spc="79" dirty="0" err="1">
                  <a:solidFill>
                    <a:srgbClr val="191919"/>
                  </a:solidFill>
                  <a:latin typeface="Aileron"/>
                  <a:ea typeface="Aileron"/>
                  <a:cs typeface="Aileron"/>
                  <a:sym typeface="Aileron"/>
                </a:rPr>
                <a:t>Navigateur</a:t>
              </a:r>
              <a:r>
                <a:rPr lang="en-US" sz="1599" spc="79" dirty="0">
                  <a:solidFill>
                    <a:srgbClr val="191919"/>
                  </a:solidFill>
                  <a:latin typeface="Aileron"/>
                  <a:ea typeface="Aileron"/>
                  <a:cs typeface="Aileron"/>
                  <a:sym typeface="Aileron"/>
                </a:rPr>
                <a:t>)</a:t>
              </a:r>
            </a:p>
          </p:txBody>
        </p:sp>
      </p:grpSp>
      <p:grpSp>
        <p:nvGrpSpPr>
          <p:cNvPr id="142" name="Group 50"/>
          <p:cNvGrpSpPr/>
          <p:nvPr/>
        </p:nvGrpSpPr>
        <p:grpSpPr>
          <a:xfrm>
            <a:off x="7551437" y="2541137"/>
            <a:ext cx="2856256" cy="1229423"/>
            <a:chOff x="0" y="0"/>
            <a:chExt cx="3808342" cy="1733388"/>
          </a:xfrm>
        </p:grpSpPr>
        <p:sp>
          <p:nvSpPr>
            <p:cNvPr id="143" name="TextBox 51"/>
            <p:cNvSpPr txBox="1"/>
            <p:nvPr/>
          </p:nvSpPr>
          <p:spPr>
            <a:xfrm>
              <a:off x="0" y="-30866"/>
              <a:ext cx="3808342" cy="449982"/>
            </a:xfrm>
            <a:prstGeom prst="rect">
              <a:avLst/>
            </a:prstGeom>
          </p:spPr>
          <p:txBody>
            <a:bodyPr lIns="0" tIns="0" rIns="0" bIns="0" rtlCol="0" anchor="t">
              <a:spAutoFit/>
            </a:bodyPr>
            <a:lstStyle/>
            <a:p>
              <a:pPr marL="0" lvl="0" indent="0" algn="ctr">
                <a:lnSpc>
                  <a:spcPts val="2722"/>
                </a:lnSpc>
                <a:spcBef>
                  <a:spcPct val="0"/>
                </a:spcBef>
              </a:pPr>
              <a:endParaRPr/>
            </a:p>
          </p:txBody>
        </p:sp>
        <p:sp>
          <p:nvSpPr>
            <p:cNvPr id="144" name="TextBox 52"/>
            <p:cNvSpPr txBox="1"/>
            <p:nvPr/>
          </p:nvSpPr>
          <p:spPr>
            <a:xfrm>
              <a:off x="0" y="532117"/>
              <a:ext cx="3808342" cy="1211578"/>
            </a:xfrm>
            <a:prstGeom prst="rect">
              <a:avLst/>
            </a:prstGeom>
          </p:spPr>
          <p:txBody>
            <a:bodyPr lIns="0" tIns="0" rIns="0" bIns="0" rtlCol="0" anchor="t">
              <a:spAutoFit/>
            </a:bodyPr>
            <a:lstStyle/>
            <a:p>
              <a:pPr algn="ctr">
                <a:lnSpc>
                  <a:spcPts val="2434"/>
                </a:lnSpc>
              </a:pPr>
              <a:r>
                <a:rPr lang="en-US" sz="1623" spc="81" dirty="0">
                  <a:solidFill>
                    <a:srgbClr val="191919"/>
                  </a:solidFill>
                  <a:latin typeface="Aileron"/>
                  <a:ea typeface="Aileron"/>
                  <a:cs typeface="Aileron"/>
                  <a:sym typeface="Aileron"/>
                </a:rPr>
                <a:t>WARP VPN</a:t>
              </a:r>
            </a:p>
            <a:p>
              <a:pPr algn="ctr">
                <a:lnSpc>
                  <a:spcPts val="2434"/>
                </a:lnSpc>
              </a:pPr>
              <a:r>
                <a:rPr lang="en-US" sz="1623" spc="81" dirty="0" err="1">
                  <a:solidFill>
                    <a:srgbClr val="191919"/>
                  </a:solidFill>
                  <a:latin typeface="Aileron"/>
                  <a:ea typeface="Aileron"/>
                  <a:cs typeface="Aileron"/>
                  <a:sym typeface="Aileron"/>
                </a:rPr>
                <a:t>Cloudflare</a:t>
              </a:r>
              <a:endParaRPr lang="en-US" sz="1623" spc="81" dirty="0">
                <a:solidFill>
                  <a:srgbClr val="191919"/>
                </a:solidFill>
                <a:latin typeface="Aileron"/>
                <a:ea typeface="Aileron"/>
                <a:cs typeface="Aileron"/>
                <a:sym typeface="Aileron"/>
              </a:endParaRPr>
            </a:p>
            <a:p>
              <a:pPr algn="ctr">
                <a:lnSpc>
                  <a:spcPts val="2434"/>
                </a:lnSpc>
              </a:pPr>
              <a:endParaRPr lang="en-US" sz="1623" spc="81" dirty="0">
                <a:solidFill>
                  <a:srgbClr val="191919"/>
                </a:solidFill>
                <a:latin typeface="Aileron"/>
                <a:ea typeface="Aileron"/>
                <a:cs typeface="Aileron"/>
                <a:sym typeface="Aileron"/>
              </a:endParaRPr>
            </a:p>
          </p:txBody>
        </p:sp>
      </p:grpSp>
      <p:grpSp>
        <p:nvGrpSpPr>
          <p:cNvPr id="145" name="Group 53"/>
          <p:cNvGrpSpPr/>
          <p:nvPr/>
        </p:nvGrpSpPr>
        <p:grpSpPr>
          <a:xfrm>
            <a:off x="12015650" y="2644877"/>
            <a:ext cx="3196161" cy="1229423"/>
            <a:chOff x="0" y="0"/>
            <a:chExt cx="4261548" cy="1733388"/>
          </a:xfrm>
        </p:grpSpPr>
        <p:sp>
          <p:nvSpPr>
            <p:cNvPr id="146" name="TextBox 54"/>
            <p:cNvSpPr txBox="1"/>
            <p:nvPr/>
          </p:nvSpPr>
          <p:spPr>
            <a:xfrm>
              <a:off x="0" y="-30866"/>
              <a:ext cx="4261548" cy="449982"/>
            </a:xfrm>
            <a:prstGeom prst="rect">
              <a:avLst/>
            </a:prstGeom>
          </p:spPr>
          <p:txBody>
            <a:bodyPr lIns="0" tIns="0" rIns="0" bIns="0" rtlCol="0" anchor="t">
              <a:spAutoFit/>
            </a:bodyPr>
            <a:lstStyle/>
            <a:p>
              <a:pPr marL="0" lvl="0" indent="0" algn="ctr">
                <a:lnSpc>
                  <a:spcPts val="2722"/>
                </a:lnSpc>
                <a:spcBef>
                  <a:spcPct val="0"/>
                </a:spcBef>
              </a:pPr>
              <a:endParaRPr/>
            </a:p>
          </p:txBody>
        </p:sp>
        <p:sp>
          <p:nvSpPr>
            <p:cNvPr id="147" name="TextBox 55"/>
            <p:cNvSpPr txBox="1"/>
            <p:nvPr/>
          </p:nvSpPr>
          <p:spPr>
            <a:xfrm>
              <a:off x="0" y="532117"/>
              <a:ext cx="4261548" cy="1211578"/>
            </a:xfrm>
            <a:prstGeom prst="rect">
              <a:avLst/>
            </a:prstGeom>
          </p:spPr>
          <p:txBody>
            <a:bodyPr lIns="0" tIns="0" rIns="0" bIns="0" rtlCol="0" anchor="t">
              <a:spAutoFit/>
            </a:bodyPr>
            <a:lstStyle/>
            <a:p>
              <a:pPr algn="ctr">
                <a:lnSpc>
                  <a:spcPts val="2434"/>
                </a:lnSpc>
              </a:pPr>
              <a:r>
                <a:rPr lang="en-US" sz="1623" spc="81">
                  <a:solidFill>
                    <a:srgbClr val="191919"/>
                  </a:solidFill>
                  <a:latin typeface="Aileron"/>
                  <a:ea typeface="Aileron"/>
                  <a:cs typeface="Aileron"/>
                  <a:sym typeface="Aileron"/>
                </a:rPr>
                <a:t>Cloudflare</a:t>
              </a:r>
            </a:p>
            <a:p>
              <a:pPr algn="ctr">
                <a:lnSpc>
                  <a:spcPts val="2434"/>
                </a:lnSpc>
              </a:pPr>
              <a:r>
                <a:rPr lang="en-US" sz="1623" spc="81">
                  <a:solidFill>
                    <a:srgbClr val="191919"/>
                  </a:solidFill>
                  <a:latin typeface="Aileron"/>
                  <a:ea typeface="Aileron"/>
                  <a:cs typeface="Aileron"/>
                  <a:sym typeface="Aileron"/>
                </a:rPr>
                <a:t>Access + OTP</a:t>
              </a:r>
            </a:p>
            <a:p>
              <a:pPr algn="ctr">
                <a:lnSpc>
                  <a:spcPts val="2434"/>
                </a:lnSpc>
              </a:pPr>
              <a:endParaRPr lang="en-US" sz="1623" spc="81">
                <a:solidFill>
                  <a:srgbClr val="191919"/>
                </a:solidFill>
                <a:latin typeface="Aileron"/>
                <a:ea typeface="Aileron"/>
                <a:cs typeface="Aileron"/>
                <a:sym typeface="Aileron"/>
              </a:endParaRPr>
            </a:p>
          </p:txBody>
        </p:sp>
      </p:grpSp>
      <p:grpSp>
        <p:nvGrpSpPr>
          <p:cNvPr id="148" name="Group 56"/>
          <p:cNvGrpSpPr/>
          <p:nvPr/>
        </p:nvGrpSpPr>
        <p:grpSpPr>
          <a:xfrm>
            <a:off x="9869144" y="5048250"/>
            <a:ext cx="2856256" cy="936998"/>
            <a:chOff x="0" y="0"/>
            <a:chExt cx="3808342" cy="1321092"/>
          </a:xfrm>
        </p:grpSpPr>
        <p:sp>
          <p:nvSpPr>
            <p:cNvPr id="149" name="TextBox 57"/>
            <p:cNvSpPr txBox="1"/>
            <p:nvPr/>
          </p:nvSpPr>
          <p:spPr>
            <a:xfrm>
              <a:off x="0" y="-30866"/>
              <a:ext cx="3808342" cy="449982"/>
            </a:xfrm>
            <a:prstGeom prst="rect">
              <a:avLst/>
            </a:prstGeom>
          </p:spPr>
          <p:txBody>
            <a:bodyPr lIns="0" tIns="0" rIns="0" bIns="0" rtlCol="0" anchor="t">
              <a:spAutoFit/>
            </a:bodyPr>
            <a:lstStyle/>
            <a:p>
              <a:pPr marL="0" lvl="0" indent="0" algn="ctr">
                <a:lnSpc>
                  <a:spcPts val="2722"/>
                </a:lnSpc>
                <a:spcBef>
                  <a:spcPct val="0"/>
                </a:spcBef>
              </a:pPr>
              <a:endParaRPr/>
            </a:p>
          </p:txBody>
        </p:sp>
        <p:sp>
          <p:nvSpPr>
            <p:cNvPr id="150" name="TextBox 58"/>
            <p:cNvSpPr txBox="1"/>
            <p:nvPr/>
          </p:nvSpPr>
          <p:spPr>
            <a:xfrm>
              <a:off x="0" y="532117"/>
              <a:ext cx="3808342" cy="799283"/>
            </a:xfrm>
            <a:prstGeom prst="rect">
              <a:avLst/>
            </a:prstGeom>
          </p:spPr>
          <p:txBody>
            <a:bodyPr lIns="0" tIns="0" rIns="0" bIns="0" rtlCol="0" anchor="t">
              <a:spAutoFit/>
            </a:bodyPr>
            <a:lstStyle/>
            <a:p>
              <a:pPr algn="ctr">
                <a:lnSpc>
                  <a:spcPts val="2434"/>
                </a:lnSpc>
              </a:pPr>
              <a:r>
                <a:rPr lang="en-US" sz="1623" spc="81">
                  <a:solidFill>
                    <a:srgbClr val="191919"/>
                  </a:solidFill>
                  <a:latin typeface="Aileron"/>
                  <a:ea typeface="Aileron"/>
                  <a:cs typeface="Aileron"/>
                  <a:sym typeface="Aileron"/>
                </a:rPr>
                <a:t>Tunnel</a:t>
              </a:r>
            </a:p>
            <a:p>
              <a:pPr algn="ctr">
                <a:lnSpc>
                  <a:spcPts val="2434"/>
                </a:lnSpc>
              </a:pPr>
              <a:r>
                <a:rPr lang="en-US" sz="1623" spc="81">
                  <a:solidFill>
                    <a:srgbClr val="191919"/>
                  </a:solidFill>
                  <a:latin typeface="Aileron"/>
                  <a:ea typeface="Aileron"/>
                  <a:cs typeface="Aileron"/>
                  <a:sym typeface="Aileron"/>
                </a:rPr>
                <a:t>Chiffré</a:t>
              </a:r>
            </a:p>
          </p:txBody>
        </p:sp>
      </p:grpSp>
      <p:sp>
        <p:nvSpPr>
          <p:cNvPr id="154" name="TextBox 62"/>
          <p:cNvSpPr txBox="1"/>
          <p:nvPr/>
        </p:nvSpPr>
        <p:spPr>
          <a:xfrm>
            <a:off x="4092413" y="2287242"/>
            <a:ext cx="597566" cy="577999"/>
          </a:xfrm>
          <a:prstGeom prst="rect">
            <a:avLst/>
          </a:prstGeom>
        </p:spPr>
        <p:txBody>
          <a:bodyPr lIns="0" tIns="0" rIns="0" bIns="0" rtlCol="0" anchor="t">
            <a:spAutoFit/>
          </a:bodyPr>
          <a:lstStyle/>
          <a:p>
            <a:pPr algn="ctr">
              <a:lnSpc>
                <a:spcPts val="4798"/>
              </a:lnSpc>
              <a:spcBef>
                <a:spcPct val="0"/>
              </a:spcBef>
            </a:pPr>
            <a:r>
              <a:rPr lang="en-US" sz="3427" b="1">
                <a:solidFill>
                  <a:srgbClr val="000000"/>
                </a:solidFill>
                <a:latin typeface="Canva Sans Bold"/>
                <a:ea typeface="Canva Sans Bold"/>
                <a:cs typeface="Canva Sans Bold"/>
                <a:sym typeface="Canva Sans Bold"/>
              </a:rPr>
              <a:t>👤</a:t>
            </a:r>
          </a:p>
        </p:txBody>
      </p:sp>
      <p:sp>
        <p:nvSpPr>
          <p:cNvPr id="155" name="Freeform 63"/>
          <p:cNvSpPr/>
          <p:nvPr/>
        </p:nvSpPr>
        <p:spPr>
          <a:xfrm>
            <a:off x="13177154" y="2269424"/>
            <a:ext cx="739364" cy="871665"/>
          </a:xfrm>
          <a:custGeom>
            <a:avLst/>
            <a:gdLst/>
            <a:ahLst/>
            <a:cxnLst/>
            <a:rect l="l" t="t" r="r" b="b"/>
            <a:pathLst>
              <a:path w="739364" h="921733">
                <a:moveTo>
                  <a:pt x="0" y="0"/>
                </a:moveTo>
                <a:lnTo>
                  <a:pt x="739363" y="0"/>
                </a:lnTo>
                <a:lnTo>
                  <a:pt x="739363" y="921733"/>
                </a:lnTo>
                <a:lnTo>
                  <a:pt x="0" y="921733"/>
                </a:lnTo>
                <a:lnTo>
                  <a:pt x="0" y="0"/>
                </a:lnTo>
                <a:close/>
              </a:path>
            </a:pathLst>
          </a:custGeom>
          <a:blipFill>
            <a:blip r:embed="rId20"/>
            <a:stretch>
              <a:fillRect l="-454856" r="-792881"/>
            </a:stretch>
          </a:blipFill>
        </p:spPr>
      </p:sp>
      <p:sp>
        <p:nvSpPr>
          <p:cNvPr id="156" name="Freeform 64"/>
          <p:cNvSpPr/>
          <p:nvPr/>
        </p:nvSpPr>
        <p:spPr>
          <a:xfrm>
            <a:off x="10865968" y="4688026"/>
            <a:ext cx="975776" cy="871665"/>
          </a:xfrm>
          <a:custGeom>
            <a:avLst/>
            <a:gdLst/>
            <a:ahLst/>
            <a:cxnLst/>
            <a:rect l="l" t="t" r="r" b="b"/>
            <a:pathLst>
              <a:path w="975776" h="921733">
                <a:moveTo>
                  <a:pt x="0" y="0"/>
                </a:moveTo>
                <a:lnTo>
                  <a:pt x="975776" y="0"/>
                </a:lnTo>
                <a:lnTo>
                  <a:pt x="975776" y="921733"/>
                </a:lnTo>
                <a:lnTo>
                  <a:pt x="0" y="921733"/>
                </a:lnTo>
                <a:lnTo>
                  <a:pt x="0" y="0"/>
                </a:lnTo>
                <a:close/>
              </a:path>
            </a:pathLst>
          </a:custGeom>
          <a:blipFill>
            <a:blip r:embed="rId20"/>
            <a:stretch>
              <a:fillRect l="-596278" r="-324927"/>
            </a:stretch>
          </a:blipFill>
        </p:spPr>
      </p:sp>
      <p:grpSp>
        <p:nvGrpSpPr>
          <p:cNvPr id="158" name="Group 59"/>
          <p:cNvGrpSpPr/>
          <p:nvPr/>
        </p:nvGrpSpPr>
        <p:grpSpPr>
          <a:xfrm>
            <a:off x="5297144" y="5048250"/>
            <a:ext cx="2856256" cy="936998"/>
            <a:chOff x="0" y="0"/>
            <a:chExt cx="3808342" cy="1321092"/>
          </a:xfrm>
        </p:grpSpPr>
        <p:sp>
          <p:nvSpPr>
            <p:cNvPr id="159" name="TextBox 60"/>
            <p:cNvSpPr txBox="1"/>
            <p:nvPr/>
          </p:nvSpPr>
          <p:spPr>
            <a:xfrm>
              <a:off x="0" y="-30866"/>
              <a:ext cx="3808342" cy="449982"/>
            </a:xfrm>
            <a:prstGeom prst="rect">
              <a:avLst/>
            </a:prstGeom>
          </p:spPr>
          <p:txBody>
            <a:bodyPr lIns="0" tIns="0" rIns="0" bIns="0" rtlCol="0" anchor="t">
              <a:spAutoFit/>
            </a:bodyPr>
            <a:lstStyle/>
            <a:p>
              <a:pPr marL="0" lvl="0" indent="0" algn="ctr">
                <a:lnSpc>
                  <a:spcPts val="2722"/>
                </a:lnSpc>
                <a:spcBef>
                  <a:spcPct val="0"/>
                </a:spcBef>
              </a:pPr>
              <a:endParaRPr/>
            </a:p>
          </p:txBody>
        </p:sp>
        <p:sp>
          <p:nvSpPr>
            <p:cNvPr id="160" name="TextBox 61"/>
            <p:cNvSpPr txBox="1"/>
            <p:nvPr/>
          </p:nvSpPr>
          <p:spPr>
            <a:xfrm>
              <a:off x="0" y="532117"/>
              <a:ext cx="3808342" cy="799283"/>
            </a:xfrm>
            <a:prstGeom prst="rect">
              <a:avLst/>
            </a:prstGeom>
          </p:spPr>
          <p:txBody>
            <a:bodyPr lIns="0" tIns="0" rIns="0" bIns="0" rtlCol="0" anchor="t">
              <a:spAutoFit/>
            </a:bodyPr>
            <a:lstStyle/>
            <a:p>
              <a:pPr algn="ctr">
                <a:lnSpc>
                  <a:spcPts val="2434"/>
                </a:lnSpc>
              </a:pPr>
              <a:r>
                <a:rPr lang="en-US" sz="1623" spc="81">
                  <a:solidFill>
                    <a:srgbClr val="191919"/>
                  </a:solidFill>
                  <a:latin typeface="Aileron"/>
                  <a:ea typeface="Aileron"/>
                  <a:cs typeface="Aileron"/>
                  <a:sym typeface="Aileron"/>
                </a:rPr>
                <a:t>Keycloak</a:t>
              </a:r>
            </a:p>
            <a:p>
              <a:pPr algn="ctr">
                <a:lnSpc>
                  <a:spcPts val="2434"/>
                </a:lnSpc>
              </a:pPr>
              <a:r>
                <a:rPr lang="en-US" sz="1623" spc="81">
                  <a:solidFill>
                    <a:srgbClr val="191919"/>
                  </a:solidFill>
                  <a:latin typeface="Aileron"/>
                  <a:ea typeface="Aileron"/>
                  <a:cs typeface="Aileron"/>
                  <a:sym typeface="Aileron"/>
                </a:rPr>
                <a:t>MFA TOTP</a:t>
              </a:r>
            </a:p>
          </p:txBody>
        </p:sp>
      </p:grpSp>
      <p:sp>
        <p:nvSpPr>
          <p:cNvPr id="161" name="Freeform 65"/>
          <p:cNvSpPr/>
          <p:nvPr/>
        </p:nvSpPr>
        <p:spPr>
          <a:xfrm>
            <a:off x="6413275" y="4794845"/>
            <a:ext cx="623993" cy="669632"/>
          </a:xfrm>
          <a:custGeom>
            <a:avLst/>
            <a:gdLst/>
            <a:ahLst/>
            <a:cxnLst/>
            <a:rect l="l" t="t" r="r" b="b"/>
            <a:pathLst>
              <a:path w="623993" h="708096">
                <a:moveTo>
                  <a:pt x="0" y="0"/>
                </a:moveTo>
                <a:lnTo>
                  <a:pt x="623993" y="0"/>
                </a:lnTo>
                <a:lnTo>
                  <a:pt x="623993" y="708096"/>
                </a:lnTo>
                <a:lnTo>
                  <a:pt x="0" y="708096"/>
                </a:lnTo>
                <a:lnTo>
                  <a:pt x="0" y="0"/>
                </a:lnTo>
                <a:close/>
              </a:path>
            </a:pathLst>
          </a:custGeom>
          <a:blipFill>
            <a:blip r:embed="rId20"/>
            <a:stretch>
              <a:fillRect l="-1298513" t="-12049" r="-123913" b="-12049"/>
            </a:stretch>
          </a:blipFill>
        </p:spPr>
      </p:sp>
    </p:spTree>
    <p:extLst>
      <p:ext uri="{BB962C8B-B14F-4D97-AF65-F5344CB8AC3E}">
        <p14:creationId xmlns:p14="http://schemas.microsoft.com/office/powerpoint/2010/main" val="63163166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75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 calcmode="lin" valueType="num">
                                      <p:cBhvr additive="base">
                                        <p:cTn id="7" dur="500" fill="hold"/>
                                        <p:tgtEl>
                                          <p:spTgt spid="104"/>
                                        </p:tgtEl>
                                        <p:attrNameLst>
                                          <p:attrName>ppt_x</p:attrName>
                                        </p:attrNameLst>
                                      </p:cBhvr>
                                      <p:tavLst>
                                        <p:tav tm="0">
                                          <p:val>
                                            <p:strVal val="0-#ppt_w/2"/>
                                          </p:val>
                                        </p:tav>
                                        <p:tav tm="100000">
                                          <p:val>
                                            <p:strVal val="#ppt_x"/>
                                          </p:val>
                                        </p:tav>
                                      </p:tavLst>
                                    </p:anim>
                                    <p:anim calcmode="lin" valueType="num">
                                      <p:cBhvr additive="base">
                                        <p:cTn id="8" dur="500" fill="hold"/>
                                        <p:tgtEl>
                                          <p:spTgt spid="104"/>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anim calcmode="lin" valueType="num">
                                      <p:cBhvr additive="base">
                                        <p:cTn id="11" dur="500" fill="hold"/>
                                        <p:tgtEl>
                                          <p:spTgt spid="106"/>
                                        </p:tgtEl>
                                        <p:attrNameLst>
                                          <p:attrName>ppt_x</p:attrName>
                                        </p:attrNameLst>
                                      </p:cBhvr>
                                      <p:tavLst>
                                        <p:tav tm="0">
                                          <p:val>
                                            <p:strVal val="0-#ppt_w/2"/>
                                          </p:val>
                                        </p:tav>
                                        <p:tav tm="100000">
                                          <p:val>
                                            <p:strVal val="#ppt_x"/>
                                          </p:val>
                                        </p:tav>
                                      </p:tavLst>
                                    </p:anim>
                                    <p:anim calcmode="lin" valueType="num">
                                      <p:cBhvr additive="base">
                                        <p:cTn id="12" dur="500" fill="hold"/>
                                        <p:tgtEl>
                                          <p:spTgt spid="10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154"/>
                                        </p:tgtEl>
                                        <p:attrNameLst>
                                          <p:attrName>style.visibility</p:attrName>
                                        </p:attrNameLst>
                                      </p:cBhvr>
                                      <p:to>
                                        <p:strVal val="visible"/>
                                      </p:to>
                                    </p:set>
                                    <p:anim calcmode="lin" valueType="num">
                                      <p:cBhvr additive="base">
                                        <p:cTn id="15" dur="500" fill="hold"/>
                                        <p:tgtEl>
                                          <p:spTgt spid="154"/>
                                        </p:tgtEl>
                                        <p:attrNameLst>
                                          <p:attrName>ppt_x</p:attrName>
                                        </p:attrNameLst>
                                      </p:cBhvr>
                                      <p:tavLst>
                                        <p:tav tm="0">
                                          <p:val>
                                            <p:strVal val="0-#ppt_w/2"/>
                                          </p:val>
                                        </p:tav>
                                        <p:tav tm="100000">
                                          <p:val>
                                            <p:strVal val="#ppt_x"/>
                                          </p:val>
                                        </p:tav>
                                      </p:tavLst>
                                    </p:anim>
                                    <p:anim calcmode="lin" valueType="num">
                                      <p:cBhvr additive="base">
                                        <p:cTn id="16" dur="500" fill="hold"/>
                                        <p:tgtEl>
                                          <p:spTgt spid="154"/>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139"/>
                                        </p:tgtEl>
                                        <p:attrNameLst>
                                          <p:attrName>style.visibility</p:attrName>
                                        </p:attrNameLst>
                                      </p:cBhvr>
                                      <p:to>
                                        <p:strVal val="visible"/>
                                      </p:to>
                                    </p:set>
                                    <p:anim calcmode="lin" valueType="num">
                                      <p:cBhvr additive="base">
                                        <p:cTn id="19" dur="500" fill="hold"/>
                                        <p:tgtEl>
                                          <p:spTgt spid="139"/>
                                        </p:tgtEl>
                                        <p:attrNameLst>
                                          <p:attrName>ppt_x</p:attrName>
                                        </p:attrNameLst>
                                      </p:cBhvr>
                                      <p:tavLst>
                                        <p:tav tm="0">
                                          <p:val>
                                            <p:strVal val="0-#ppt_w/2"/>
                                          </p:val>
                                        </p:tav>
                                        <p:tav tm="100000">
                                          <p:val>
                                            <p:strVal val="#ppt_x"/>
                                          </p:val>
                                        </p:tav>
                                      </p:tavLst>
                                    </p:anim>
                                    <p:anim calcmode="lin" valueType="num">
                                      <p:cBhvr additive="base">
                                        <p:cTn id="20" dur="500" fill="hold"/>
                                        <p:tgtEl>
                                          <p:spTgt spid="139"/>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nodeType="clickEffect">
                                  <p:stCondLst>
                                    <p:cond delay="0"/>
                                  </p:stCondLst>
                                  <p:childTnLst>
                                    <p:set>
                                      <p:cBhvr>
                                        <p:cTn id="24" dur="1" fill="hold">
                                          <p:stCondLst>
                                            <p:cond delay="0"/>
                                          </p:stCondLst>
                                        </p:cTn>
                                        <p:tgtEl>
                                          <p:spTgt spid="109"/>
                                        </p:tgtEl>
                                        <p:attrNameLst>
                                          <p:attrName>style.visibility</p:attrName>
                                        </p:attrNameLst>
                                      </p:cBhvr>
                                      <p:to>
                                        <p:strVal val="visible"/>
                                      </p:to>
                                    </p:set>
                                    <p:anim calcmode="lin" valueType="num">
                                      <p:cBhvr additive="base">
                                        <p:cTn id="25" dur="500" fill="hold"/>
                                        <p:tgtEl>
                                          <p:spTgt spid="109"/>
                                        </p:tgtEl>
                                        <p:attrNameLst>
                                          <p:attrName>ppt_x</p:attrName>
                                        </p:attrNameLst>
                                      </p:cBhvr>
                                      <p:tavLst>
                                        <p:tav tm="0">
                                          <p:val>
                                            <p:strVal val="1+#ppt_w/2"/>
                                          </p:val>
                                        </p:tav>
                                        <p:tav tm="100000">
                                          <p:val>
                                            <p:strVal val="#ppt_x"/>
                                          </p:val>
                                        </p:tav>
                                      </p:tavLst>
                                    </p:anim>
                                    <p:anim calcmode="lin" valueType="num">
                                      <p:cBhvr additive="base">
                                        <p:cTn id="26" dur="500" fill="hold"/>
                                        <p:tgtEl>
                                          <p:spTgt spid="109"/>
                                        </p:tgtEl>
                                        <p:attrNameLst>
                                          <p:attrName>ppt_y</p:attrName>
                                        </p:attrNameLst>
                                      </p:cBhvr>
                                      <p:tavLst>
                                        <p:tav tm="0">
                                          <p:val>
                                            <p:strVal val="#ppt_y"/>
                                          </p:val>
                                        </p:tav>
                                        <p:tav tm="100000">
                                          <p:val>
                                            <p:strVal val="#ppt_y"/>
                                          </p:val>
                                        </p:tav>
                                      </p:tavLst>
                                    </p:anim>
                                  </p:childTnLst>
                                </p:cTn>
                              </p:par>
                              <p:par>
                                <p:cTn id="27" presetID="2" presetClass="entr" presetSubtype="2" fill="hold" nodeType="withEffect">
                                  <p:stCondLst>
                                    <p:cond delay="0"/>
                                  </p:stCondLst>
                                  <p:childTnLst>
                                    <p:set>
                                      <p:cBhvr>
                                        <p:cTn id="28" dur="1" fill="hold">
                                          <p:stCondLst>
                                            <p:cond delay="0"/>
                                          </p:stCondLst>
                                        </p:cTn>
                                        <p:tgtEl>
                                          <p:spTgt spid="111"/>
                                        </p:tgtEl>
                                        <p:attrNameLst>
                                          <p:attrName>style.visibility</p:attrName>
                                        </p:attrNameLst>
                                      </p:cBhvr>
                                      <p:to>
                                        <p:strVal val="visible"/>
                                      </p:to>
                                    </p:set>
                                    <p:anim calcmode="lin" valueType="num">
                                      <p:cBhvr additive="base">
                                        <p:cTn id="29" dur="500" fill="hold"/>
                                        <p:tgtEl>
                                          <p:spTgt spid="111"/>
                                        </p:tgtEl>
                                        <p:attrNameLst>
                                          <p:attrName>ppt_x</p:attrName>
                                        </p:attrNameLst>
                                      </p:cBhvr>
                                      <p:tavLst>
                                        <p:tav tm="0">
                                          <p:val>
                                            <p:strVal val="1+#ppt_w/2"/>
                                          </p:val>
                                        </p:tav>
                                        <p:tav tm="100000">
                                          <p:val>
                                            <p:strVal val="#ppt_x"/>
                                          </p:val>
                                        </p:tav>
                                      </p:tavLst>
                                    </p:anim>
                                    <p:anim calcmode="lin" valueType="num">
                                      <p:cBhvr additive="base">
                                        <p:cTn id="30" dur="500" fill="hold"/>
                                        <p:tgtEl>
                                          <p:spTgt spid="111"/>
                                        </p:tgtEl>
                                        <p:attrNameLst>
                                          <p:attrName>ppt_y</p:attrName>
                                        </p:attrNameLst>
                                      </p:cBhvr>
                                      <p:tavLst>
                                        <p:tav tm="0">
                                          <p:val>
                                            <p:strVal val="#ppt_y"/>
                                          </p:val>
                                        </p:tav>
                                        <p:tav tm="100000">
                                          <p:val>
                                            <p:strVal val="#ppt_y"/>
                                          </p:val>
                                        </p:tav>
                                      </p:tavLst>
                                    </p:anim>
                                  </p:childTnLst>
                                </p:cTn>
                              </p:par>
                              <p:par>
                                <p:cTn id="31" presetID="2" presetClass="entr" presetSubtype="2" fill="hold" nodeType="withEffect">
                                  <p:stCondLst>
                                    <p:cond delay="0"/>
                                  </p:stCondLst>
                                  <p:childTnLst>
                                    <p:set>
                                      <p:cBhvr>
                                        <p:cTn id="32" dur="1" fill="hold">
                                          <p:stCondLst>
                                            <p:cond delay="0"/>
                                          </p:stCondLst>
                                        </p:cTn>
                                        <p:tgtEl>
                                          <p:spTgt spid="129"/>
                                        </p:tgtEl>
                                        <p:attrNameLst>
                                          <p:attrName>style.visibility</p:attrName>
                                        </p:attrNameLst>
                                      </p:cBhvr>
                                      <p:to>
                                        <p:strVal val="visible"/>
                                      </p:to>
                                    </p:set>
                                    <p:anim calcmode="lin" valueType="num">
                                      <p:cBhvr additive="base">
                                        <p:cTn id="33" dur="500" fill="hold"/>
                                        <p:tgtEl>
                                          <p:spTgt spid="129"/>
                                        </p:tgtEl>
                                        <p:attrNameLst>
                                          <p:attrName>ppt_x</p:attrName>
                                        </p:attrNameLst>
                                      </p:cBhvr>
                                      <p:tavLst>
                                        <p:tav tm="0">
                                          <p:val>
                                            <p:strVal val="1+#ppt_w/2"/>
                                          </p:val>
                                        </p:tav>
                                        <p:tav tm="100000">
                                          <p:val>
                                            <p:strVal val="#ppt_x"/>
                                          </p:val>
                                        </p:tav>
                                      </p:tavLst>
                                    </p:anim>
                                    <p:anim calcmode="lin" valueType="num">
                                      <p:cBhvr additive="base">
                                        <p:cTn id="34" dur="500" fill="hold"/>
                                        <p:tgtEl>
                                          <p:spTgt spid="129"/>
                                        </p:tgtEl>
                                        <p:attrNameLst>
                                          <p:attrName>ppt_y</p:attrName>
                                        </p:attrNameLst>
                                      </p:cBhvr>
                                      <p:tavLst>
                                        <p:tav tm="0">
                                          <p:val>
                                            <p:strVal val="#ppt_y"/>
                                          </p:val>
                                        </p:tav>
                                        <p:tav tm="100000">
                                          <p:val>
                                            <p:strVal val="#ppt_y"/>
                                          </p:val>
                                        </p:tav>
                                      </p:tavLst>
                                    </p:anim>
                                  </p:childTnLst>
                                </p:cTn>
                              </p:par>
                              <p:par>
                                <p:cTn id="35" presetID="2" presetClass="entr" presetSubtype="2" fill="hold" nodeType="withEffect">
                                  <p:stCondLst>
                                    <p:cond delay="0"/>
                                  </p:stCondLst>
                                  <p:childTnLst>
                                    <p:set>
                                      <p:cBhvr>
                                        <p:cTn id="36" dur="1" fill="hold">
                                          <p:stCondLst>
                                            <p:cond delay="0"/>
                                          </p:stCondLst>
                                        </p:cTn>
                                        <p:tgtEl>
                                          <p:spTgt spid="142"/>
                                        </p:tgtEl>
                                        <p:attrNameLst>
                                          <p:attrName>style.visibility</p:attrName>
                                        </p:attrNameLst>
                                      </p:cBhvr>
                                      <p:to>
                                        <p:strVal val="visible"/>
                                      </p:to>
                                    </p:set>
                                    <p:anim calcmode="lin" valueType="num">
                                      <p:cBhvr additive="base">
                                        <p:cTn id="37" dur="500" fill="hold"/>
                                        <p:tgtEl>
                                          <p:spTgt spid="142"/>
                                        </p:tgtEl>
                                        <p:attrNameLst>
                                          <p:attrName>ppt_x</p:attrName>
                                        </p:attrNameLst>
                                      </p:cBhvr>
                                      <p:tavLst>
                                        <p:tav tm="0">
                                          <p:val>
                                            <p:strVal val="1+#ppt_w/2"/>
                                          </p:val>
                                        </p:tav>
                                        <p:tav tm="100000">
                                          <p:val>
                                            <p:strVal val="#ppt_x"/>
                                          </p:val>
                                        </p:tav>
                                      </p:tavLst>
                                    </p:anim>
                                    <p:anim calcmode="lin" valueType="num">
                                      <p:cBhvr additive="base">
                                        <p:cTn id="38" dur="500" fill="hold"/>
                                        <p:tgtEl>
                                          <p:spTgt spid="142"/>
                                        </p:tgtEl>
                                        <p:attrNameLst>
                                          <p:attrName>ppt_y</p:attrName>
                                        </p:attrNameLst>
                                      </p:cBhvr>
                                      <p:tavLst>
                                        <p:tav tm="0">
                                          <p:val>
                                            <p:strVal val="#ppt_y"/>
                                          </p:val>
                                        </p:tav>
                                        <p:tav tm="100000">
                                          <p:val>
                                            <p:strVal val="#ppt_y"/>
                                          </p:val>
                                        </p:tav>
                                      </p:tavLst>
                                    </p:anim>
                                  </p:childTnLst>
                                </p:cTn>
                              </p:par>
                              <p:par>
                                <p:cTn id="39" presetID="2" presetClass="entr" presetSubtype="2"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anim calcmode="lin" valueType="num">
                                      <p:cBhvr additive="base">
                                        <p:cTn id="41" dur="500" fill="hold"/>
                                        <p:tgtEl>
                                          <p:spTgt spid="134"/>
                                        </p:tgtEl>
                                        <p:attrNameLst>
                                          <p:attrName>ppt_x</p:attrName>
                                        </p:attrNameLst>
                                      </p:cBhvr>
                                      <p:tavLst>
                                        <p:tav tm="0">
                                          <p:val>
                                            <p:strVal val="1+#ppt_w/2"/>
                                          </p:val>
                                        </p:tav>
                                        <p:tav tm="100000">
                                          <p:val>
                                            <p:strVal val="#ppt_x"/>
                                          </p:val>
                                        </p:tav>
                                      </p:tavLst>
                                    </p:anim>
                                    <p:anim calcmode="lin" valueType="num">
                                      <p:cBhvr additive="base">
                                        <p:cTn id="42" dur="500" fill="hold"/>
                                        <p:tgtEl>
                                          <p:spTgt spid="134"/>
                                        </p:tgtEl>
                                        <p:attrNameLst>
                                          <p:attrName>ppt_y</p:attrName>
                                        </p:attrNameLst>
                                      </p:cBhvr>
                                      <p:tavLst>
                                        <p:tav tm="0">
                                          <p:val>
                                            <p:strVal val="#ppt_y"/>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2" presetClass="entr" presetSubtype="4" fill="hold" grpId="0" nodeType="clickEffect">
                                  <p:stCondLst>
                                    <p:cond delay="0"/>
                                  </p:stCondLst>
                                  <p:childTnLst>
                                    <p:set>
                                      <p:cBhvr>
                                        <p:cTn id="46" dur="1" fill="hold">
                                          <p:stCondLst>
                                            <p:cond delay="0"/>
                                          </p:stCondLst>
                                        </p:cTn>
                                        <p:tgtEl>
                                          <p:spTgt spid="136"/>
                                        </p:tgtEl>
                                        <p:attrNameLst>
                                          <p:attrName>style.visibility</p:attrName>
                                        </p:attrNameLst>
                                      </p:cBhvr>
                                      <p:to>
                                        <p:strVal val="visible"/>
                                      </p:to>
                                    </p:set>
                                    <p:animEffect transition="in" filter="wipe(down)">
                                      <p:cBhvr>
                                        <p:cTn id="47" dur="500"/>
                                        <p:tgtEl>
                                          <p:spTgt spid="136"/>
                                        </p:tgtEl>
                                      </p:cBhvr>
                                    </p:animEffect>
                                  </p:childTnLst>
                                </p:cTn>
                              </p:par>
                              <p:par>
                                <p:cTn id="48" presetID="22" presetClass="entr" presetSubtype="4" fill="hold" nodeType="withEffect">
                                  <p:stCondLst>
                                    <p:cond delay="0"/>
                                  </p:stCondLst>
                                  <p:childTnLst>
                                    <p:set>
                                      <p:cBhvr>
                                        <p:cTn id="49" dur="1" fill="hold">
                                          <p:stCondLst>
                                            <p:cond delay="0"/>
                                          </p:stCondLst>
                                        </p:cTn>
                                        <p:tgtEl>
                                          <p:spTgt spid="103"/>
                                        </p:tgtEl>
                                        <p:attrNameLst>
                                          <p:attrName>style.visibility</p:attrName>
                                        </p:attrNameLst>
                                      </p:cBhvr>
                                      <p:to>
                                        <p:strVal val="visible"/>
                                      </p:to>
                                    </p:set>
                                    <p:animEffect transition="in" filter="wipe(down)">
                                      <p:cBhvr>
                                        <p:cTn id="50" dur="500"/>
                                        <p:tgtEl>
                                          <p:spTgt spid="103"/>
                                        </p:tgtEl>
                                      </p:cBhvr>
                                    </p:animEffect>
                                  </p:childTnLst>
                                </p:cTn>
                              </p:par>
                              <p:par>
                                <p:cTn id="51" presetID="22" presetClass="entr" presetSubtype="4" fill="hold" nodeType="withEffect">
                                  <p:stCondLst>
                                    <p:cond delay="0"/>
                                  </p:stCondLst>
                                  <p:childTnLst>
                                    <p:set>
                                      <p:cBhvr>
                                        <p:cTn id="52" dur="1" fill="hold">
                                          <p:stCondLst>
                                            <p:cond delay="0"/>
                                          </p:stCondLst>
                                        </p:cTn>
                                        <p:tgtEl>
                                          <p:spTgt spid="101"/>
                                        </p:tgtEl>
                                        <p:attrNameLst>
                                          <p:attrName>style.visibility</p:attrName>
                                        </p:attrNameLst>
                                      </p:cBhvr>
                                      <p:to>
                                        <p:strVal val="visible"/>
                                      </p:to>
                                    </p:set>
                                    <p:animEffect transition="in" filter="wipe(down)">
                                      <p:cBhvr>
                                        <p:cTn id="53" dur="500"/>
                                        <p:tgtEl>
                                          <p:spTgt spid="101"/>
                                        </p:tgtEl>
                                      </p:cBhvr>
                                    </p:animEffect>
                                  </p:childTnLst>
                                </p:cTn>
                              </p:par>
                              <p:par>
                                <p:cTn id="54" presetID="22" presetClass="entr" presetSubtype="4" fill="hold" grpId="0" nodeType="withEffect">
                                  <p:stCondLst>
                                    <p:cond delay="0"/>
                                  </p:stCondLst>
                                  <p:childTnLst>
                                    <p:set>
                                      <p:cBhvr>
                                        <p:cTn id="55" dur="1" fill="hold">
                                          <p:stCondLst>
                                            <p:cond delay="0"/>
                                          </p:stCondLst>
                                        </p:cTn>
                                        <p:tgtEl>
                                          <p:spTgt spid="138"/>
                                        </p:tgtEl>
                                        <p:attrNameLst>
                                          <p:attrName>style.visibility</p:attrName>
                                        </p:attrNameLst>
                                      </p:cBhvr>
                                      <p:to>
                                        <p:strVal val="visible"/>
                                      </p:to>
                                    </p:set>
                                    <p:animEffect transition="in" filter="wipe(down)">
                                      <p:cBhvr>
                                        <p:cTn id="56" dur="500"/>
                                        <p:tgtEl>
                                          <p:spTgt spid="138"/>
                                        </p:tgtEl>
                                      </p:cBhvr>
                                    </p:animEffect>
                                  </p:childTnLst>
                                </p:cTn>
                              </p:par>
                              <p:par>
                                <p:cTn id="57" presetID="22" presetClass="entr" presetSubtype="4" fill="hold" nodeType="withEffect">
                                  <p:stCondLst>
                                    <p:cond delay="0"/>
                                  </p:stCondLst>
                                  <p:childTnLst>
                                    <p:set>
                                      <p:cBhvr>
                                        <p:cTn id="58" dur="1" fill="hold">
                                          <p:stCondLst>
                                            <p:cond delay="0"/>
                                          </p:stCondLst>
                                        </p:cTn>
                                        <p:tgtEl>
                                          <p:spTgt spid="97"/>
                                        </p:tgtEl>
                                        <p:attrNameLst>
                                          <p:attrName>style.visibility</p:attrName>
                                        </p:attrNameLst>
                                      </p:cBhvr>
                                      <p:to>
                                        <p:strVal val="visible"/>
                                      </p:to>
                                    </p:set>
                                    <p:animEffect transition="in" filter="wipe(down)">
                                      <p:cBhvr>
                                        <p:cTn id="59" dur="500"/>
                                        <p:tgtEl>
                                          <p:spTgt spid="97"/>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4" fill="hold" nodeType="clickEffect">
                                  <p:stCondLst>
                                    <p:cond delay="0"/>
                                  </p:stCondLst>
                                  <p:childTnLst>
                                    <p:set>
                                      <p:cBhvr>
                                        <p:cTn id="63" dur="1" fill="hold">
                                          <p:stCondLst>
                                            <p:cond delay="0"/>
                                          </p:stCondLst>
                                        </p:cTn>
                                        <p:tgtEl>
                                          <p:spTgt spid="114"/>
                                        </p:tgtEl>
                                        <p:attrNameLst>
                                          <p:attrName>style.visibility</p:attrName>
                                        </p:attrNameLst>
                                      </p:cBhvr>
                                      <p:to>
                                        <p:strVal val="visible"/>
                                      </p:to>
                                    </p:set>
                                    <p:animEffect transition="in" filter="wipe(down)">
                                      <p:cBhvr>
                                        <p:cTn id="64" dur="500"/>
                                        <p:tgtEl>
                                          <p:spTgt spid="114"/>
                                        </p:tgtEl>
                                      </p:cBhvr>
                                    </p:animEffect>
                                  </p:childTnLst>
                                </p:cTn>
                              </p:par>
                              <p:par>
                                <p:cTn id="65" presetID="22" presetClass="entr" presetSubtype="4" fill="hold" nodeType="withEffect">
                                  <p:stCondLst>
                                    <p:cond delay="0"/>
                                  </p:stCondLst>
                                  <p:childTnLst>
                                    <p:set>
                                      <p:cBhvr>
                                        <p:cTn id="66" dur="1" fill="hold">
                                          <p:stCondLst>
                                            <p:cond delay="0"/>
                                          </p:stCondLst>
                                        </p:cTn>
                                        <p:tgtEl>
                                          <p:spTgt spid="116"/>
                                        </p:tgtEl>
                                        <p:attrNameLst>
                                          <p:attrName>style.visibility</p:attrName>
                                        </p:attrNameLst>
                                      </p:cBhvr>
                                      <p:to>
                                        <p:strVal val="visible"/>
                                      </p:to>
                                    </p:set>
                                    <p:animEffect transition="in" filter="wipe(down)">
                                      <p:cBhvr>
                                        <p:cTn id="67" dur="500"/>
                                        <p:tgtEl>
                                          <p:spTgt spid="116"/>
                                        </p:tgtEl>
                                      </p:cBhvr>
                                    </p:animEffect>
                                  </p:childTnLst>
                                </p:cTn>
                              </p:par>
                              <p:par>
                                <p:cTn id="68" presetID="22" presetClass="entr" presetSubtype="4" fill="hold" nodeType="withEffect">
                                  <p:stCondLst>
                                    <p:cond delay="0"/>
                                  </p:stCondLst>
                                  <p:childTnLst>
                                    <p:set>
                                      <p:cBhvr>
                                        <p:cTn id="69" dur="1" fill="hold">
                                          <p:stCondLst>
                                            <p:cond delay="0"/>
                                          </p:stCondLst>
                                        </p:cTn>
                                        <p:tgtEl>
                                          <p:spTgt spid="130"/>
                                        </p:tgtEl>
                                        <p:attrNameLst>
                                          <p:attrName>style.visibility</p:attrName>
                                        </p:attrNameLst>
                                      </p:cBhvr>
                                      <p:to>
                                        <p:strVal val="visible"/>
                                      </p:to>
                                    </p:set>
                                    <p:animEffect transition="in" filter="wipe(down)">
                                      <p:cBhvr>
                                        <p:cTn id="70" dur="500"/>
                                        <p:tgtEl>
                                          <p:spTgt spid="130"/>
                                        </p:tgtEl>
                                      </p:cBhvr>
                                    </p:animEffect>
                                  </p:childTnLst>
                                </p:cTn>
                              </p:par>
                              <p:par>
                                <p:cTn id="71" presetID="22" presetClass="entr" presetSubtype="4" fill="hold" nodeType="withEffect">
                                  <p:stCondLst>
                                    <p:cond delay="0"/>
                                  </p:stCondLst>
                                  <p:childTnLst>
                                    <p:set>
                                      <p:cBhvr>
                                        <p:cTn id="72" dur="1" fill="hold">
                                          <p:stCondLst>
                                            <p:cond delay="0"/>
                                          </p:stCondLst>
                                        </p:cTn>
                                        <p:tgtEl>
                                          <p:spTgt spid="155"/>
                                        </p:tgtEl>
                                        <p:attrNameLst>
                                          <p:attrName>style.visibility</p:attrName>
                                        </p:attrNameLst>
                                      </p:cBhvr>
                                      <p:to>
                                        <p:strVal val="visible"/>
                                      </p:to>
                                    </p:set>
                                    <p:animEffect transition="in" filter="wipe(down)">
                                      <p:cBhvr>
                                        <p:cTn id="73" dur="500"/>
                                        <p:tgtEl>
                                          <p:spTgt spid="155"/>
                                        </p:tgtEl>
                                      </p:cBhvr>
                                    </p:animEffect>
                                  </p:childTnLst>
                                </p:cTn>
                              </p:par>
                              <p:par>
                                <p:cTn id="74" presetID="22" presetClass="entr" presetSubtype="4" fill="hold" nodeType="withEffect">
                                  <p:stCondLst>
                                    <p:cond delay="0"/>
                                  </p:stCondLst>
                                  <p:childTnLst>
                                    <p:set>
                                      <p:cBhvr>
                                        <p:cTn id="75" dur="1" fill="hold">
                                          <p:stCondLst>
                                            <p:cond delay="0"/>
                                          </p:stCondLst>
                                        </p:cTn>
                                        <p:tgtEl>
                                          <p:spTgt spid="145"/>
                                        </p:tgtEl>
                                        <p:attrNameLst>
                                          <p:attrName>style.visibility</p:attrName>
                                        </p:attrNameLst>
                                      </p:cBhvr>
                                      <p:to>
                                        <p:strVal val="visible"/>
                                      </p:to>
                                    </p:set>
                                    <p:animEffect transition="in" filter="wipe(down)">
                                      <p:cBhvr>
                                        <p:cTn id="76" dur="500"/>
                                        <p:tgtEl>
                                          <p:spTgt spid="145"/>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4" fill="hold" grpId="0" nodeType="clickEffect">
                                  <p:stCondLst>
                                    <p:cond delay="0"/>
                                  </p:stCondLst>
                                  <p:childTnLst>
                                    <p:set>
                                      <p:cBhvr>
                                        <p:cTn id="80" dur="1" fill="hold">
                                          <p:stCondLst>
                                            <p:cond delay="0"/>
                                          </p:stCondLst>
                                        </p:cTn>
                                        <p:tgtEl>
                                          <p:spTgt spid="135"/>
                                        </p:tgtEl>
                                        <p:attrNameLst>
                                          <p:attrName>style.visibility</p:attrName>
                                        </p:attrNameLst>
                                      </p:cBhvr>
                                      <p:to>
                                        <p:strVal val="visible"/>
                                      </p:to>
                                    </p:set>
                                    <p:animEffect transition="in" filter="wipe(down)">
                                      <p:cBhvr>
                                        <p:cTn id="81" dur="500"/>
                                        <p:tgtEl>
                                          <p:spTgt spid="135"/>
                                        </p:tgtEl>
                                      </p:cBhvr>
                                    </p:animEffect>
                                  </p:childTnLst>
                                </p:cTn>
                              </p:par>
                              <p:par>
                                <p:cTn id="82" presetID="22" presetClass="entr" presetSubtype="4" fill="hold" nodeType="withEffect">
                                  <p:stCondLst>
                                    <p:cond delay="0"/>
                                  </p:stCondLst>
                                  <p:childTnLst>
                                    <p:set>
                                      <p:cBhvr>
                                        <p:cTn id="83" dur="1" fill="hold">
                                          <p:stCondLst>
                                            <p:cond delay="0"/>
                                          </p:stCondLst>
                                        </p:cTn>
                                        <p:tgtEl>
                                          <p:spTgt spid="102"/>
                                        </p:tgtEl>
                                        <p:attrNameLst>
                                          <p:attrName>style.visibility</p:attrName>
                                        </p:attrNameLst>
                                      </p:cBhvr>
                                      <p:to>
                                        <p:strVal val="visible"/>
                                      </p:to>
                                    </p:set>
                                    <p:animEffect transition="in" filter="wipe(down)">
                                      <p:cBhvr>
                                        <p:cTn id="84" dur="500"/>
                                        <p:tgtEl>
                                          <p:spTgt spid="102"/>
                                        </p:tgtEl>
                                      </p:cBhvr>
                                    </p:animEffect>
                                  </p:childTnLst>
                                </p:cTn>
                              </p:par>
                              <p:par>
                                <p:cTn id="85" presetID="22" presetClass="entr" presetSubtype="4" fill="hold" nodeType="withEffect">
                                  <p:stCondLst>
                                    <p:cond delay="0"/>
                                  </p:stCondLst>
                                  <p:childTnLst>
                                    <p:set>
                                      <p:cBhvr>
                                        <p:cTn id="86" dur="1" fill="hold">
                                          <p:stCondLst>
                                            <p:cond delay="0"/>
                                          </p:stCondLst>
                                        </p:cTn>
                                        <p:tgtEl>
                                          <p:spTgt spid="96"/>
                                        </p:tgtEl>
                                        <p:attrNameLst>
                                          <p:attrName>style.visibility</p:attrName>
                                        </p:attrNameLst>
                                      </p:cBhvr>
                                      <p:to>
                                        <p:strVal val="visible"/>
                                      </p:to>
                                    </p:set>
                                    <p:animEffect transition="in" filter="wipe(down)">
                                      <p:cBhvr>
                                        <p:cTn id="87" dur="500"/>
                                        <p:tgtEl>
                                          <p:spTgt spid="96"/>
                                        </p:tgtEl>
                                      </p:cBhvr>
                                    </p:animEffect>
                                  </p:childTnLst>
                                </p:cTn>
                              </p:par>
                              <p:par>
                                <p:cTn id="88" presetID="22" presetClass="entr" presetSubtype="4" fill="hold" grpId="0" nodeType="withEffect">
                                  <p:stCondLst>
                                    <p:cond delay="0"/>
                                  </p:stCondLst>
                                  <p:childTnLst>
                                    <p:set>
                                      <p:cBhvr>
                                        <p:cTn id="89" dur="1" fill="hold">
                                          <p:stCondLst>
                                            <p:cond delay="0"/>
                                          </p:stCondLst>
                                        </p:cTn>
                                        <p:tgtEl>
                                          <p:spTgt spid="137"/>
                                        </p:tgtEl>
                                        <p:attrNameLst>
                                          <p:attrName>style.visibility</p:attrName>
                                        </p:attrNameLst>
                                      </p:cBhvr>
                                      <p:to>
                                        <p:strVal val="visible"/>
                                      </p:to>
                                    </p:set>
                                    <p:animEffect transition="in" filter="wipe(down)">
                                      <p:cBhvr>
                                        <p:cTn id="90" dur="500"/>
                                        <p:tgtEl>
                                          <p:spTgt spid="137"/>
                                        </p:tgtEl>
                                      </p:cBhvr>
                                    </p:animEffect>
                                  </p:childTnLst>
                                </p:cTn>
                              </p:par>
                              <p:par>
                                <p:cTn id="91" presetID="22" presetClass="entr" presetSubtype="4" fill="hold" nodeType="withEffect">
                                  <p:stCondLst>
                                    <p:cond delay="0"/>
                                  </p:stCondLst>
                                  <p:childTnLst>
                                    <p:set>
                                      <p:cBhvr>
                                        <p:cTn id="92" dur="1" fill="hold">
                                          <p:stCondLst>
                                            <p:cond delay="0"/>
                                          </p:stCondLst>
                                        </p:cTn>
                                        <p:tgtEl>
                                          <p:spTgt spid="93"/>
                                        </p:tgtEl>
                                        <p:attrNameLst>
                                          <p:attrName>style.visibility</p:attrName>
                                        </p:attrNameLst>
                                      </p:cBhvr>
                                      <p:to>
                                        <p:strVal val="visible"/>
                                      </p:to>
                                    </p:set>
                                    <p:animEffect transition="in" filter="wipe(down)">
                                      <p:cBhvr>
                                        <p:cTn id="93" dur="500"/>
                                        <p:tgtEl>
                                          <p:spTgt spid="9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4" fill="hold" nodeType="clickEffect">
                                  <p:stCondLst>
                                    <p:cond delay="0"/>
                                  </p:stCondLst>
                                  <p:childTnLst>
                                    <p:set>
                                      <p:cBhvr>
                                        <p:cTn id="97" dur="1" fill="hold">
                                          <p:stCondLst>
                                            <p:cond delay="0"/>
                                          </p:stCondLst>
                                        </p:cTn>
                                        <p:tgtEl>
                                          <p:spTgt spid="124"/>
                                        </p:tgtEl>
                                        <p:attrNameLst>
                                          <p:attrName>style.visibility</p:attrName>
                                        </p:attrNameLst>
                                      </p:cBhvr>
                                      <p:to>
                                        <p:strVal val="visible"/>
                                      </p:to>
                                    </p:set>
                                    <p:animEffect transition="in" filter="wipe(down)">
                                      <p:cBhvr>
                                        <p:cTn id="98" dur="500"/>
                                        <p:tgtEl>
                                          <p:spTgt spid="124"/>
                                        </p:tgtEl>
                                      </p:cBhvr>
                                    </p:animEffect>
                                  </p:childTnLst>
                                </p:cTn>
                              </p:par>
                              <p:par>
                                <p:cTn id="99" presetID="22" presetClass="entr" presetSubtype="4" fill="hold" nodeType="withEffect">
                                  <p:stCondLst>
                                    <p:cond delay="0"/>
                                  </p:stCondLst>
                                  <p:childTnLst>
                                    <p:set>
                                      <p:cBhvr>
                                        <p:cTn id="100" dur="1" fill="hold">
                                          <p:stCondLst>
                                            <p:cond delay="0"/>
                                          </p:stCondLst>
                                        </p:cTn>
                                        <p:tgtEl>
                                          <p:spTgt spid="126"/>
                                        </p:tgtEl>
                                        <p:attrNameLst>
                                          <p:attrName>style.visibility</p:attrName>
                                        </p:attrNameLst>
                                      </p:cBhvr>
                                      <p:to>
                                        <p:strVal val="visible"/>
                                      </p:to>
                                    </p:set>
                                    <p:animEffect transition="in" filter="wipe(down)">
                                      <p:cBhvr>
                                        <p:cTn id="101" dur="500"/>
                                        <p:tgtEl>
                                          <p:spTgt spid="126"/>
                                        </p:tgtEl>
                                      </p:cBhvr>
                                    </p:animEffect>
                                  </p:childTnLst>
                                </p:cTn>
                              </p:par>
                              <p:par>
                                <p:cTn id="102" presetID="22" presetClass="entr" presetSubtype="4" fill="hold" nodeType="withEffect">
                                  <p:stCondLst>
                                    <p:cond delay="0"/>
                                  </p:stCondLst>
                                  <p:childTnLst>
                                    <p:set>
                                      <p:cBhvr>
                                        <p:cTn id="103" dur="1" fill="hold">
                                          <p:stCondLst>
                                            <p:cond delay="0"/>
                                          </p:stCondLst>
                                        </p:cTn>
                                        <p:tgtEl>
                                          <p:spTgt spid="156"/>
                                        </p:tgtEl>
                                        <p:attrNameLst>
                                          <p:attrName>style.visibility</p:attrName>
                                        </p:attrNameLst>
                                      </p:cBhvr>
                                      <p:to>
                                        <p:strVal val="visible"/>
                                      </p:to>
                                    </p:set>
                                    <p:animEffect transition="in" filter="wipe(down)">
                                      <p:cBhvr>
                                        <p:cTn id="104" dur="500"/>
                                        <p:tgtEl>
                                          <p:spTgt spid="156"/>
                                        </p:tgtEl>
                                      </p:cBhvr>
                                    </p:animEffect>
                                  </p:childTnLst>
                                </p:cTn>
                              </p:par>
                              <p:par>
                                <p:cTn id="105" presetID="22" presetClass="entr" presetSubtype="4" fill="hold" nodeType="withEffect">
                                  <p:stCondLst>
                                    <p:cond delay="0"/>
                                  </p:stCondLst>
                                  <p:childTnLst>
                                    <p:set>
                                      <p:cBhvr>
                                        <p:cTn id="106" dur="1" fill="hold">
                                          <p:stCondLst>
                                            <p:cond delay="0"/>
                                          </p:stCondLst>
                                        </p:cTn>
                                        <p:tgtEl>
                                          <p:spTgt spid="148"/>
                                        </p:tgtEl>
                                        <p:attrNameLst>
                                          <p:attrName>style.visibility</p:attrName>
                                        </p:attrNameLst>
                                      </p:cBhvr>
                                      <p:to>
                                        <p:strVal val="visible"/>
                                      </p:to>
                                    </p:set>
                                    <p:animEffect transition="in" filter="wipe(down)">
                                      <p:cBhvr>
                                        <p:cTn id="107" dur="500"/>
                                        <p:tgtEl>
                                          <p:spTgt spid="148"/>
                                        </p:tgtEl>
                                      </p:cBhvr>
                                    </p:animEffect>
                                  </p:childTnLst>
                                </p:cTn>
                              </p:par>
                              <p:par>
                                <p:cTn id="108" presetID="22" presetClass="entr" presetSubtype="4" fill="hold" nodeType="withEffect">
                                  <p:stCondLst>
                                    <p:cond delay="0"/>
                                  </p:stCondLst>
                                  <p:childTnLst>
                                    <p:set>
                                      <p:cBhvr>
                                        <p:cTn id="109" dur="1" fill="hold">
                                          <p:stCondLst>
                                            <p:cond delay="0"/>
                                          </p:stCondLst>
                                        </p:cTn>
                                        <p:tgtEl>
                                          <p:spTgt spid="132"/>
                                        </p:tgtEl>
                                        <p:attrNameLst>
                                          <p:attrName>style.visibility</p:attrName>
                                        </p:attrNameLst>
                                      </p:cBhvr>
                                      <p:to>
                                        <p:strVal val="visible"/>
                                      </p:to>
                                    </p:set>
                                    <p:animEffect transition="in" filter="wipe(down)">
                                      <p:cBhvr>
                                        <p:cTn id="110" dur="500"/>
                                        <p:tgtEl>
                                          <p:spTgt spid="132"/>
                                        </p:tgtEl>
                                      </p:cBhvr>
                                    </p:animEffect>
                                  </p:childTnLst>
                                </p:cTn>
                              </p:par>
                              <p:par>
                                <p:cTn id="111" presetID="22" presetClass="entr" presetSubtype="4" fill="hold" nodeType="withEffect">
                                  <p:stCondLst>
                                    <p:cond delay="0"/>
                                  </p:stCondLst>
                                  <p:childTnLst>
                                    <p:set>
                                      <p:cBhvr>
                                        <p:cTn id="112" dur="1" fill="hold">
                                          <p:stCondLst>
                                            <p:cond delay="0"/>
                                          </p:stCondLst>
                                        </p:cTn>
                                        <p:tgtEl>
                                          <p:spTgt spid="133"/>
                                        </p:tgtEl>
                                        <p:attrNameLst>
                                          <p:attrName>style.visibility</p:attrName>
                                        </p:attrNameLst>
                                      </p:cBhvr>
                                      <p:to>
                                        <p:strVal val="visible"/>
                                      </p:to>
                                    </p:set>
                                    <p:animEffect transition="in" filter="wipe(down)">
                                      <p:cBhvr>
                                        <p:cTn id="113" dur="500"/>
                                        <p:tgtEl>
                                          <p:spTgt spid="133"/>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nodeType="clickEffect">
                                  <p:stCondLst>
                                    <p:cond delay="0"/>
                                  </p:stCondLst>
                                  <p:childTnLst>
                                    <p:set>
                                      <p:cBhvr>
                                        <p:cTn id="117" dur="1" fill="hold">
                                          <p:stCondLst>
                                            <p:cond delay="0"/>
                                          </p:stCondLst>
                                        </p:cTn>
                                        <p:tgtEl>
                                          <p:spTgt spid="119"/>
                                        </p:tgtEl>
                                        <p:attrNameLst>
                                          <p:attrName>style.visibility</p:attrName>
                                        </p:attrNameLst>
                                      </p:cBhvr>
                                      <p:to>
                                        <p:strVal val="visible"/>
                                      </p:to>
                                    </p:set>
                                    <p:animEffect transition="in" filter="fade">
                                      <p:cBhvr>
                                        <p:cTn id="118" dur="500"/>
                                        <p:tgtEl>
                                          <p:spTgt spid="119"/>
                                        </p:tgtEl>
                                      </p:cBhvr>
                                    </p:animEffect>
                                  </p:childTnLst>
                                </p:cTn>
                              </p:par>
                              <p:par>
                                <p:cTn id="119" presetID="10" presetClass="entr" presetSubtype="0" fill="hold" nodeType="withEffect">
                                  <p:stCondLst>
                                    <p:cond delay="0"/>
                                  </p:stCondLst>
                                  <p:childTnLst>
                                    <p:set>
                                      <p:cBhvr>
                                        <p:cTn id="120" dur="1" fill="hold">
                                          <p:stCondLst>
                                            <p:cond delay="0"/>
                                          </p:stCondLst>
                                        </p:cTn>
                                        <p:tgtEl>
                                          <p:spTgt spid="131"/>
                                        </p:tgtEl>
                                        <p:attrNameLst>
                                          <p:attrName>style.visibility</p:attrName>
                                        </p:attrNameLst>
                                      </p:cBhvr>
                                      <p:to>
                                        <p:strVal val="visible"/>
                                      </p:to>
                                    </p:set>
                                    <p:animEffect transition="in" filter="fade">
                                      <p:cBhvr>
                                        <p:cTn id="121" dur="500"/>
                                        <p:tgtEl>
                                          <p:spTgt spid="131"/>
                                        </p:tgtEl>
                                      </p:cBhvr>
                                    </p:animEffect>
                                  </p:childTnLst>
                                </p:cTn>
                              </p:par>
                              <p:par>
                                <p:cTn id="122" presetID="10" presetClass="entr" presetSubtype="0" fill="hold" nodeType="withEffect">
                                  <p:stCondLst>
                                    <p:cond delay="0"/>
                                  </p:stCondLst>
                                  <p:childTnLst>
                                    <p:set>
                                      <p:cBhvr>
                                        <p:cTn id="123" dur="1" fill="hold">
                                          <p:stCondLst>
                                            <p:cond delay="0"/>
                                          </p:stCondLst>
                                        </p:cTn>
                                        <p:tgtEl>
                                          <p:spTgt spid="161"/>
                                        </p:tgtEl>
                                        <p:attrNameLst>
                                          <p:attrName>style.visibility</p:attrName>
                                        </p:attrNameLst>
                                      </p:cBhvr>
                                      <p:to>
                                        <p:strVal val="visible"/>
                                      </p:to>
                                    </p:set>
                                    <p:animEffect transition="in" filter="fade">
                                      <p:cBhvr>
                                        <p:cTn id="124" dur="500"/>
                                        <p:tgtEl>
                                          <p:spTgt spid="161"/>
                                        </p:tgtEl>
                                      </p:cBhvr>
                                    </p:animEffect>
                                  </p:childTnLst>
                                </p:cTn>
                              </p:par>
                              <p:par>
                                <p:cTn id="125" presetID="10" presetClass="entr" presetSubtype="0" fill="hold" nodeType="withEffect">
                                  <p:stCondLst>
                                    <p:cond delay="0"/>
                                  </p:stCondLst>
                                  <p:childTnLst>
                                    <p:set>
                                      <p:cBhvr>
                                        <p:cTn id="126" dur="1" fill="hold">
                                          <p:stCondLst>
                                            <p:cond delay="0"/>
                                          </p:stCondLst>
                                        </p:cTn>
                                        <p:tgtEl>
                                          <p:spTgt spid="158"/>
                                        </p:tgtEl>
                                        <p:attrNameLst>
                                          <p:attrName>style.visibility</p:attrName>
                                        </p:attrNameLst>
                                      </p:cBhvr>
                                      <p:to>
                                        <p:strVal val="visible"/>
                                      </p:to>
                                    </p:set>
                                    <p:animEffect transition="in" filter="fade">
                                      <p:cBhvr>
                                        <p:cTn id="127" dur="500"/>
                                        <p:tgtEl>
                                          <p:spTgt spid="158"/>
                                        </p:tgtEl>
                                      </p:cBhvr>
                                    </p:animEffect>
                                  </p:childTnLst>
                                </p:cTn>
                              </p:par>
                              <p:par>
                                <p:cTn id="128" presetID="10" presetClass="entr" presetSubtype="0" fill="hold" nodeType="withEffect">
                                  <p:stCondLst>
                                    <p:cond delay="0"/>
                                  </p:stCondLst>
                                  <p:childTnLst>
                                    <p:set>
                                      <p:cBhvr>
                                        <p:cTn id="129" dur="1" fill="hold">
                                          <p:stCondLst>
                                            <p:cond delay="0"/>
                                          </p:stCondLst>
                                        </p:cTn>
                                        <p:tgtEl>
                                          <p:spTgt spid="121"/>
                                        </p:tgtEl>
                                        <p:attrNameLst>
                                          <p:attrName>style.visibility</p:attrName>
                                        </p:attrNameLst>
                                      </p:cBhvr>
                                      <p:to>
                                        <p:strVal val="visible"/>
                                      </p:to>
                                    </p:set>
                                    <p:animEffect transition="in" filter="fade">
                                      <p:cBhvr>
                                        <p:cTn id="13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5" grpId="0"/>
      <p:bldP spid="136" grpId="0"/>
      <p:bldP spid="137" grpId="0"/>
      <p:bldP spid="138" grpId="0"/>
      <p:bldP spid="15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txBody>
          <a:bodyPr/>
          <a:lstStyle/>
          <a:p>
            <a:endParaRPr lang="fr-FR" dirty="0"/>
          </a:p>
        </p:txBody>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a:xfrm>
            <a:off x="16002000" y="9962183"/>
            <a:ext cx="2133600" cy="365125"/>
          </a:xfrm>
        </p:spPr>
        <p:txBody>
          <a:bodyPr/>
          <a:lstStyle/>
          <a:p>
            <a:fld id="{B6F15528-21DE-4FAA-801E-634DDDAF4B2B}" type="slidenum">
              <a:rPr lang="en-US" sz="2400" b="1" smtClean="0"/>
              <a:pPr/>
              <a:t>17</a:t>
            </a:fld>
            <a:endParaRPr lang="en-US" sz="2400" b="1" dirty="0"/>
          </a:p>
        </p:txBody>
      </p:sp>
      <p:sp>
        <p:nvSpPr>
          <p:cNvPr id="14" name="Freeform 2"/>
          <p:cNvSpPr/>
          <p:nvPr/>
        </p:nvSpPr>
        <p:spPr>
          <a:xfrm>
            <a:off x="2147690" y="3531409"/>
            <a:ext cx="6421627" cy="899567"/>
          </a:xfrm>
          <a:custGeom>
            <a:avLst/>
            <a:gdLst/>
            <a:ahLst/>
            <a:cxnLst/>
            <a:rect l="l" t="t" r="r" b="b"/>
            <a:pathLst>
              <a:path w="6421627" h="899567">
                <a:moveTo>
                  <a:pt x="0" y="0"/>
                </a:moveTo>
                <a:lnTo>
                  <a:pt x="6421627" y="0"/>
                </a:lnTo>
                <a:lnTo>
                  <a:pt x="6421627" y="899567"/>
                </a:lnTo>
                <a:lnTo>
                  <a:pt x="0" y="899567"/>
                </a:lnTo>
                <a:lnTo>
                  <a:pt x="0" y="0"/>
                </a:lnTo>
                <a:close/>
              </a:path>
            </a:pathLst>
          </a:custGeom>
          <a:blipFill>
            <a:blip r:embed="rId4"/>
            <a:stretch>
              <a:fillRect t="-86900"/>
            </a:stretch>
          </a:blipFill>
        </p:spPr>
      </p:sp>
      <p:sp>
        <p:nvSpPr>
          <p:cNvPr id="16" name="Freeform 3"/>
          <p:cNvSpPr/>
          <p:nvPr/>
        </p:nvSpPr>
        <p:spPr>
          <a:xfrm>
            <a:off x="2147690" y="4755228"/>
            <a:ext cx="6421627" cy="899567"/>
          </a:xfrm>
          <a:custGeom>
            <a:avLst/>
            <a:gdLst/>
            <a:ahLst/>
            <a:cxnLst/>
            <a:rect l="l" t="t" r="r" b="b"/>
            <a:pathLst>
              <a:path w="6421627" h="899567">
                <a:moveTo>
                  <a:pt x="0" y="0"/>
                </a:moveTo>
                <a:lnTo>
                  <a:pt x="6421627" y="0"/>
                </a:lnTo>
                <a:lnTo>
                  <a:pt x="6421627" y="899567"/>
                </a:lnTo>
                <a:lnTo>
                  <a:pt x="0" y="899567"/>
                </a:lnTo>
                <a:lnTo>
                  <a:pt x="0" y="0"/>
                </a:lnTo>
                <a:close/>
              </a:path>
            </a:pathLst>
          </a:custGeom>
          <a:blipFill>
            <a:blip r:embed="rId4"/>
            <a:stretch>
              <a:fillRect t="-86900"/>
            </a:stretch>
          </a:blipFill>
        </p:spPr>
      </p:sp>
      <p:sp>
        <p:nvSpPr>
          <p:cNvPr id="17" name="Freeform 4"/>
          <p:cNvSpPr/>
          <p:nvPr/>
        </p:nvSpPr>
        <p:spPr>
          <a:xfrm>
            <a:off x="2147690" y="5979046"/>
            <a:ext cx="6421627" cy="899567"/>
          </a:xfrm>
          <a:custGeom>
            <a:avLst/>
            <a:gdLst/>
            <a:ahLst/>
            <a:cxnLst/>
            <a:rect l="l" t="t" r="r" b="b"/>
            <a:pathLst>
              <a:path w="6421627" h="899567">
                <a:moveTo>
                  <a:pt x="0" y="0"/>
                </a:moveTo>
                <a:lnTo>
                  <a:pt x="6421627" y="0"/>
                </a:lnTo>
                <a:lnTo>
                  <a:pt x="6421627" y="899568"/>
                </a:lnTo>
                <a:lnTo>
                  <a:pt x="0" y="899568"/>
                </a:lnTo>
                <a:lnTo>
                  <a:pt x="0" y="0"/>
                </a:lnTo>
                <a:close/>
              </a:path>
            </a:pathLst>
          </a:custGeom>
          <a:blipFill>
            <a:blip r:embed="rId4"/>
            <a:stretch>
              <a:fillRect t="-86900"/>
            </a:stretch>
          </a:blipFill>
        </p:spPr>
      </p:sp>
      <p:sp>
        <p:nvSpPr>
          <p:cNvPr id="18" name="Freeform 5"/>
          <p:cNvSpPr/>
          <p:nvPr/>
        </p:nvSpPr>
        <p:spPr>
          <a:xfrm>
            <a:off x="2166740" y="7202865"/>
            <a:ext cx="6421627" cy="899567"/>
          </a:xfrm>
          <a:custGeom>
            <a:avLst/>
            <a:gdLst/>
            <a:ahLst/>
            <a:cxnLst/>
            <a:rect l="l" t="t" r="r" b="b"/>
            <a:pathLst>
              <a:path w="6421627" h="899567">
                <a:moveTo>
                  <a:pt x="0" y="0"/>
                </a:moveTo>
                <a:lnTo>
                  <a:pt x="6421627" y="0"/>
                </a:lnTo>
                <a:lnTo>
                  <a:pt x="6421627" y="899567"/>
                </a:lnTo>
                <a:lnTo>
                  <a:pt x="0" y="899567"/>
                </a:lnTo>
                <a:lnTo>
                  <a:pt x="0" y="0"/>
                </a:lnTo>
                <a:close/>
              </a:path>
            </a:pathLst>
          </a:custGeom>
          <a:blipFill>
            <a:blip r:embed="rId4"/>
            <a:stretch>
              <a:fillRect t="-86900"/>
            </a:stretch>
          </a:blipFill>
        </p:spPr>
      </p:sp>
      <p:sp>
        <p:nvSpPr>
          <p:cNvPr id="19" name="Freeform 6"/>
          <p:cNvSpPr/>
          <p:nvPr/>
        </p:nvSpPr>
        <p:spPr>
          <a:xfrm>
            <a:off x="2147690" y="8426684"/>
            <a:ext cx="6421627" cy="899567"/>
          </a:xfrm>
          <a:custGeom>
            <a:avLst/>
            <a:gdLst/>
            <a:ahLst/>
            <a:cxnLst/>
            <a:rect l="l" t="t" r="r" b="b"/>
            <a:pathLst>
              <a:path w="6421627" h="899567">
                <a:moveTo>
                  <a:pt x="0" y="0"/>
                </a:moveTo>
                <a:lnTo>
                  <a:pt x="6421627" y="0"/>
                </a:lnTo>
                <a:lnTo>
                  <a:pt x="6421627" y="899567"/>
                </a:lnTo>
                <a:lnTo>
                  <a:pt x="0" y="899567"/>
                </a:lnTo>
                <a:lnTo>
                  <a:pt x="0" y="0"/>
                </a:lnTo>
                <a:close/>
              </a:path>
            </a:pathLst>
          </a:custGeom>
          <a:blipFill>
            <a:blip r:embed="rId4"/>
            <a:stretch>
              <a:fillRect t="-86900"/>
            </a:stretch>
          </a:blipFill>
        </p:spPr>
      </p:sp>
      <p:grpSp>
        <p:nvGrpSpPr>
          <p:cNvPr id="20" name="Group 7"/>
          <p:cNvGrpSpPr/>
          <p:nvPr/>
        </p:nvGrpSpPr>
        <p:grpSpPr>
          <a:xfrm>
            <a:off x="2147690" y="2912559"/>
            <a:ext cx="6431224" cy="1005714"/>
            <a:chOff x="0" y="0"/>
            <a:chExt cx="2295708" cy="359002"/>
          </a:xfrm>
        </p:grpSpPr>
        <p:sp>
          <p:nvSpPr>
            <p:cNvPr id="21" name="Freeform 8"/>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3EDAD8"/>
            </a:solidFill>
          </p:spPr>
        </p:sp>
        <p:sp>
          <p:nvSpPr>
            <p:cNvPr id="22" name="TextBox 9"/>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23" name="Group 10"/>
          <p:cNvGrpSpPr/>
          <p:nvPr/>
        </p:nvGrpSpPr>
        <p:grpSpPr>
          <a:xfrm>
            <a:off x="952500" y="2912559"/>
            <a:ext cx="1082747" cy="1005714"/>
            <a:chOff x="0" y="0"/>
            <a:chExt cx="386500" cy="359002"/>
          </a:xfrm>
        </p:grpSpPr>
        <p:sp>
          <p:nvSpPr>
            <p:cNvPr id="24" name="Freeform 11"/>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3EDAD8"/>
            </a:solidFill>
          </p:spPr>
        </p:sp>
        <p:sp>
          <p:nvSpPr>
            <p:cNvPr id="25" name="TextBox 12"/>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26" name="Group 13"/>
          <p:cNvGrpSpPr/>
          <p:nvPr/>
        </p:nvGrpSpPr>
        <p:grpSpPr>
          <a:xfrm>
            <a:off x="952500" y="4179824"/>
            <a:ext cx="1082747" cy="1005714"/>
            <a:chOff x="0" y="0"/>
            <a:chExt cx="386500" cy="359002"/>
          </a:xfrm>
        </p:grpSpPr>
        <p:sp>
          <p:nvSpPr>
            <p:cNvPr id="27" name="Freeform 14"/>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13538A"/>
            </a:solidFill>
            <a:ln cap="sq">
              <a:noFill/>
              <a:prstDash val="solid"/>
              <a:miter/>
            </a:ln>
          </p:spPr>
        </p:sp>
        <p:sp>
          <p:nvSpPr>
            <p:cNvPr id="28" name="TextBox 15"/>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29" name="Group 16"/>
          <p:cNvGrpSpPr/>
          <p:nvPr/>
        </p:nvGrpSpPr>
        <p:grpSpPr>
          <a:xfrm>
            <a:off x="2147690" y="4179824"/>
            <a:ext cx="6431224" cy="1005714"/>
            <a:chOff x="0" y="0"/>
            <a:chExt cx="2295708" cy="359002"/>
          </a:xfrm>
        </p:grpSpPr>
        <p:sp>
          <p:nvSpPr>
            <p:cNvPr id="30" name="Freeform 17"/>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13538A"/>
            </a:solidFill>
          </p:spPr>
        </p:sp>
        <p:sp>
          <p:nvSpPr>
            <p:cNvPr id="31" name="TextBox 18"/>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32" name="Group 19"/>
          <p:cNvGrpSpPr/>
          <p:nvPr/>
        </p:nvGrpSpPr>
        <p:grpSpPr>
          <a:xfrm>
            <a:off x="2147690" y="5447090"/>
            <a:ext cx="6431224" cy="1005714"/>
            <a:chOff x="0" y="0"/>
            <a:chExt cx="2295708" cy="359002"/>
          </a:xfrm>
        </p:grpSpPr>
        <p:sp>
          <p:nvSpPr>
            <p:cNvPr id="34" name="Freeform 20"/>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8EC6E6"/>
            </a:solidFill>
          </p:spPr>
        </p:sp>
        <p:sp>
          <p:nvSpPr>
            <p:cNvPr id="35" name="TextBox 21"/>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36" name="Group 22"/>
          <p:cNvGrpSpPr/>
          <p:nvPr/>
        </p:nvGrpSpPr>
        <p:grpSpPr>
          <a:xfrm>
            <a:off x="2147690" y="6714355"/>
            <a:ext cx="6431224" cy="1005714"/>
            <a:chOff x="0" y="0"/>
            <a:chExt cx="2295708" cy="359002"/>
          </a:xfrm>
        </p:grpSpPr>
        <p:sp>
          <p:nvSpPr>
            <p:cNvPr id="37" name="Freeform 23"/>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37C9EF"/>
            </a:solidFill>
          </p:spPr>
        </p:sp>
        <p:sp>
          <p:nvSpPr>
            <p:cNvPr id="38" name="TextBox 24"/>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39" name="Group 25"/>
          <p:cNvGrpSpPr/>
          <p:nvPr/>
        </p:nvGrpSpPr>
        <p:grpSpPr>
          <a:xfrm>
            <a:off x="2147690" y="7981621"/>
            <a:ext cx="6431224" cy="1005714"/>
            <a:chOff x="0" y="0"/>
            <a:chExt cx="2295708" cy="359002"/>
          </a:xfrm>
        </p:grpSpPr>
        <p:sp>
          <p:nvSpPr>
            <p:cNvPr id="40" name="Freeform 26"/>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8EC6E6"/>
            </a:solidFill>
          </p:spPr>
        </p:sp>
        <p:sp>
          <p:nvSpPr>
            <p:cNvPr id="41" name="TextBox 27"/>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42" name="Group 28"/>
          <p:cNvGrpSpPr/>
          <p:nvPr/>
        </p:nvGrpSpPr>
        <p:grpSpPr>
          <a:xfrm>
            <a:off x="2540112" y="3019153"/>
            <a:ext cx="5945368" cy="792525"/>
            <a:chOff x="0" y="0"/>
            <a:chExt cx="2122275" cy="282902"/>
          </a:xfrm>
        </p:grpSpPr>
        <p:sp>
          <p:nvSpPr>
            <p:cNvPr id="43" name="Freeform 29"/>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44" name="TextBox 30"/>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45" name="Group 31"/>
          <p:cNvGrpSpPr/>
          <p:nvPr/>
        </p:nvGrpSpPr>
        <p:grpSpPr>
          <a:xfrm>
            <a:off x="2540112" y="4286419"/>
            <a:ext cx="5945368" cy="792525"/>
            <a:chOff x="0" y="0"/>
            <a:chExt cx="2122275" cy="282902"/>
          </a:xfrm>
        </p:grpSpPr>
        <p:sp>
          <p:nvSpPr>
            <p:cNvPr id="46" name="Freeform 32"/>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47" name="TextBox 33"/>
            <p:cNvSpPr txBox="1"/>
            <p:nvPr/>
          </p:nvSpPr>
          <p:spPr>
            <a:xfrm>
              <a:off x="0" y="-28575"/>
              <a:ext cx="2122275" cy="311477"/>
            </a:xfrm>
            <a:prstGeom prst="rect">
              <a:avLst/>
            </a:prstGeom>
          </p:spPr>
          <p:txBody>
            <a:bodyPr lIns="50800" tIns="50800" rIns="50800" bIns="50800" rtlCol="0" anchor="ctr"/>
            <a:lstStyle/>
            <a:p>
              <a:pPr marL="0" lvl="0" indent="0" algn="l">
                <a:lnSpc>
                  <a:spcPts val="1932"/>
                </a:lnSpc>
                <a:spcBef>
                  <a:spcPct val="0"/>
                </a:spcBef>
              </a:pPr>
              <a:endParaRPr/>
            </a:p>
          </p:txBody>
        </p:sp>
      </p:grpSp>
      <p:grpSp>
        <p:nvGrpSpPr>
          <p:cNvPr id="48" name="Group 34"/>
          <p:cNvGrpSpPr/>
          <p:nvPr/>
        </p:nvGrpSpPr>
        <p:grpSpPr>
          <a:xfrm>
            <a:off x="2540112" y="5553684"/>
            <a:ext cx="5945368" cy="792525"/>
            <a:chOff x="0" y="0"/>
            <a:chExt cx="2122275" cy="282902"/>
          </a:xfrm>
        </p:grpSpPr>
        <p:sp>
          <p:nvSpPr>
            <p:cNvPr id="49" name="Freeform 35"/>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50" name="TextBox 36"/>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51" name="Group 37"/>
          <p:cNvGrpSpPr/>
          <p:nvPr/>
        </p:nvGrpSpPr>
        <p:grpSpPr>
          <a:xfrm>
            <a:off x="2540112" y="6820950"/>
            <a:ext cx="5945368" cy="792525"/>
            <a:chOff x="0" y="0"/>
            <a:chExt cx="2122275" cy="282902"/>
          </a:xfrm>
        </p:grpSpPr>
        <p:sp>
          <p:nvSpPr>
            <p:cNvPr id="52" name="Freeform 38"/>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53" name="TextBox 39"/>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54" name="Group 40"/>
          <p:cNvGrpSpPr/>
          <p:nvPr/>
        </p:nvGrpSpPr>
        <p:grpSpPr>
          <a:xfrm>
            <a:off x="2540112" y="8088215"/>
            <a:ext cx="5945368" cy="792525"/>
            <a:chOff x="0" y="0"/>
            <a:chExt cx="2122275" cy="282902"/>
          </a:xfrm>
        </p:grpSpPr>
        <p:sp>
          <p:nvSpPr>
            <p:cNvPr id="55" name="Freeform 41"/>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56" name="TextBox 42"/>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57" name="AutoShape 43"/>
          <p:cNvSpPr/>
          <p:nvPr/>
        </p:nvSpPr>
        <p:spPr>
          <a:xfrm>
            <a:off x="2540112" y="3157339"/>
            <a:ext cx="0" cy="1525342"/>
          </a:xfrm>
          <a:prstGeom prst="line">
            <a:avLst/>
          </a:prstGeom>
          <a:ln w="104775" cap="rnd">
            <a:solidFill>
              <a:srgbClr val="43667E"/>
            </a:solidFill>
            <a:prstDash val="solid"/>
            <a:headEnd type="none" w="sm" len="sm"/>
            <a:tailEnd type="none" w="sm" len="sm"/>
          </a:ln>
        </p:spPr>
      </p:sp>
      <p:sp>
        <p:nvSpPr>
          <p:cNvPr id="58" name="AutoShape 44"/>
          <p:cNvSpPr/>
          <p:nvPr/>
        </p:nvSpPr>
        <p:spPr>
          <a:xfrm>
            <a:off x="3707348" y="3120264"/>
            <a:ext cx="0" cy="590303"/>
          </a:xfrm>
          <a:prstGeom prst="line">
            <a:avLst/>
          </a:prstGeom>
          <a:ln w="9525" cap="flat">
            <a:solidFill>
              <a:srgbClr val="3EDAD8"/>
            </a:solidFill>
            <a:prstDash val="solid"/>
            <a:headEnd type="none" w="sm" len="sm"/>
            <a:tailEnd type="none" w="sm" len="sm"/>
          </a:ln>
        </p:spPr>
      </p:sp>
      <p:sp>
        <p:nvSpPr>
          <p:cNvPr id="59" name="AutoShape 45"/>
          <p:cNvSpPr/>
          <p:nvPr/>
        </p:nvSpPr>
        <p:spPr>
          <a:xfrm>
            <a:off x="3707348" y="4387530"/>
            <a:ext cx="0" cy="590303"/>
          </a:xfrm>
          <a:prstGeom prst="line">
            <a:avLst/>
          </a:prstGeom>
          <a:ln w="9525" cap="flat">
            <a:solidFill>
              <a:srgbClr val="3EDAD8"/>
            </a:solidFill>
            <a:prstDash val="solid"/>
            <a:headEnd type="none" w="sm" len="sm"/>
            <a:tailEnd type="none" w="sm" len="sm"/>
          </a:ln>
        </p:spPr>
      </p:sp>
      <p:sp>
        <p:nvSpPr>
          <p:cNvPr id="60" name="AutoShape 46"/>
          <p:cNvSpPr/>
          <p:nvPr/>
        </p:nvSpPr>
        <p:spPr>
          <a:xfrm>
            <a:off x="3707348" y="5654795"/>
            <a:ext cx="0" cy="590303"/>
          </a:xfrm>
          <a:prstGeom prst="line">
            <a:avLst/>
          </a:prstGeom>
          <a:ln w="9525" cap="flat">
            <a:solidFill>
              <a:srgbClr val="3EDAD8"/>
            </a:solidFill>
            <a:prstDash val="solid"/>
            <a:headEnd type="none" w="sm" len="sm"/>
            <a:tailEnd type="none" w="sm" len="sm"/>
          </a:ln>
        </p:spPr>
      </p:sp>
      <p:sp>
        <p:nvSpPr>
          <p:cNvPr id="61" name="AutoShape 47"/>
          <p:cNvSpPr/>
          <p:nvPr/>
        </p:nvSpPr>
        <p:spPr>
          <a:xfrm>
            <a:off x="3707348" y="6922060"/>
            <a:ext cx="0" cy="590303"/>
          </a:xfrm>
          <a:prstGeom prst="line">
            <a:avLst/>
          </a:prstGeom>
          <a:ln w="9525" cap="flat">
            <a:solidFill>
              <a:srgbClr val="3EDAD8"/>
            </a:solidFill>
            <a:prstDash val="solid"/>
            <a:headEnd type="none" w="sm" len="sm"/>
            <a:tailEnd type="none" w="sm" len="sm"/>
          </a:ln>
        </p:spPr>
      </p:sp>
      <p:sp>
        <p:nvSpPr>
          <p:cNvPr id="62" name="AutoShape 48"/>
          <p:cNvSpPr/>
          <p:nvPr/>
        </p:nvSpPr>
        <p:spPr>
          <a:xfrm>
            <a:off x="3707348" y="8189326"/>
            <a:ext cx="0" cy="590303"/>
          </a:xfrm>
          <a:prstGeom prst="line">
            <a:avLst/>
          </a:prstGeom>
          <a:ln w="9525" cap="flat">
            <a:solidFill>
              <a:srgbClr val="3EDAD8"/>
            </a:solidFill>
            <a:prstDash val="solid"/>
            <a:headEnd type="none" w="sm" len="sm"/>
            <a:tailEnd type="none" w="sm" len="sm"/>
          </a:ln>
        </p:spPr>
      </p:sp>
      <p:grpSp>
        <p:nvGrpSpPr>
          <p:cNvPr id="63" name="Group 49"/>
          <p:cNvGrpSpPr/>
          <p:nvPr/>
        </p:nvGrpSpPr>
        <p:grpSpPr>
          <a:xfrm>
            <a:off x="2438650" y="3095475"/>
            <a:ext cx="254496" cy="639882"/>
            <a:chOff x="0" y="0"/>
            <a:chExt cx="90846" cy="228414"/>
          </a:xfrm>
        </p:grpSpPr>
        <p:sp>
          <p:nvSpPr>
            <p:cNvPr id="64" name="Freeform 50"/>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8EC6E6"/>
            </a:solidFill>
          </p:spPr>
        </p:sp>
        <p:sp>
          <p:nvSpPr>
            <p:cNvPr id="65" name="TextBox 51"/>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sp>
        <p:nvSpPr>
          <p:cNvPr id="66" name="AutoShape 52"/>
          <p:cNvSpPr/>
          <p:nvPr/>
        </p:nvSpPr>
        <p:spPr>
          <a:xfrm>
            <a:off x="2540112" y="4895625"/>
            <a:ext cx="0" cy="1054322"/>
          </a:xfrm>
          <a:prstGeom prst="line">
            <a:avLst/>
          </a:prstGeom>
          <a:ln w="104775" cap="rnd">
            <a:solidFill>
              <a:srgbClr val="43667E"/>
            </a:solidFill>
            <a:prstDash val="solid"/>
            <a:headEnd type="none" w="sm" len="sm"/>
            <a:tailEnd type="none" w="sm" len="sm"/>
          </a:ln>
        </p:spPr>
      </p:sp>
      <p:grpSp>
        <p:nvGrpSpPr>
          <p:cNvPr id="67" name="Group 53"/>
          <p:cNvGrpSpPr/>
          <p:nvPr/>
        </p:nvGrpSpPr>
        <p:grpSpPr>
          <a:xfrm>
            <a:off x="2438650" y="4362740"/>
            <a:ext cx="254496" cy="639882"/>
            <a:chOff x="0" y="0"/>
            <a:chExt cx="90846" cy="228414"/>
          </a:xfrm>
        </p:grpSpPr>
        <p:sp>
          <p:nvSpPr>
            <p:cNvPr id="68" name="Freeform 54"/>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8EC6E6"/>
            </a:solidFill>
          </p:spPr>
        </p:sp>
        <p:sp>
          <p:nvSpPr>
            <p:cNvPr id="69" name="TextBox 55"/>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sp>
        <p:nvSpPr>
          <p:cNvPr id="70" name="AutoShape 56"/>
          <p:cNvSpPr/>
          <p:nvPr/>
        </p:nvSpPr>
        <p:spPr>
          <a:xfrm>
            <a:off x="2540112" y="6107750"/>
            <a:ext cx="0" cy="948414"/>
          </a:xfrm>
          <a:prstGeom prst="line">
            <a:avLst/>
          </a:prstGeom>
          <a:ln w="104775" cap="rnd">
            <a:solidFill>
              <a:srgbClr val="43667E"/>
            </a:solidFill>
            <a:prstDash val="solid"/>
            <a:headEnd type="none" w="sm" len="sm"/>
            <a:tailEnd type="none" w="sm" len="sm"/>
          </a:ln>
        </p:spPr>
      </p:sp>
      <p:grpSp>
        <p:nvGrpSpPr>
          <p:cNvPr id="71" name="Group 57"/>
          <p:cNvGrpSpPr/>
          <p:nvPr/>
        </p:nvGrpSpPr>
        <p:grpSpPr>
          <a:xfrm>
            <a:off x="2438650" y="5630005"/>
            <a:ext cx="254496" cy="639882"/>
            <a:chOff x="0" y="0"/>
            <a:chExt cx="90846" cy="228414"/>
          </a:xfrm>
        </p:grpSpPr>
        <p:sp>
          <p:nvSpPr>
            <p:cNvPr id="72" name="Freeform 58"/>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3EDAD8"/>
            </a:solidFill>
          </p:spPr>
        </p:sp>
        <p:sp>
          <p:nvSpPr>
            <p:cNvPr id="73" name="TextBox 59"/>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sp>
        <p:nvSpPr>
          <p:cNvPr id="74" name="AutoShape 60"/>
          <p:cNvSpPr/>
          <p:nvPr/>
        </p:nvSpPr>
        <p:spPr>
          <a:xfrm flipV="1">
            <a:off x="2540112" y="7202865"/>
            <a:ext cx="0" cy="1065288"/>
          </a:xfrm>
          <a:prstGeom prst="line">
            <a:avLst/>
          </a:prstGeom>
          <a:ln w="104775" cap="rnd">
            <a:solidFill>
              <a:srgbClr val="43667E"/>
            </a:solidFill>
            <a:prstDash val="solid"/>
            <a:headEnd type="none" w="sm" len="sm"/>
            <a:tailEnd type="none" w="sm" len="sm"/>
          </a:ln>
        </p:spPr>
      </p:sp>
      <p:grpSp>
        <p:nvGrpSpPr>
          <p:cNvPr id="75" name="Group 61"/>
          <p:cNvGrpSpPr/>
          <p:nvPr/>
        </p:nvGrpSpPr>
        <p:grpSpPr>
          <a:xfrm>
            <a:off x="2438650" y="6897271"/>
            <a:ext cx="254496" cy="639882"/>
            <a:chOff x="0" y="0"/>
            <a:chExt cx="90846" cy="228414"/>
          </a:xfrm>
        </p:grpSpPr>
        <p:sp>
          <p:nvSpPr>
            <p:cNvPr id="76" name="Freeform 62"/>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3EDAD8"/>
            </a:solidFill>
          </p:spPr>
        </p:sp>
        <p:sp>
          <p:nvSpPr>
            <p:cNvPr id="77" name="TextBox 63"/>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sp>
        <p:nvSpPr>
          <p:cNvPr id="80" name="AutoShape 64"/>
          <p:cNvSpPr/>
          <p:nvPr/>
        </p:nvSpPr>
        <p:spPr>
          <a:xfrm flipV="1">
            <a:off x="2540112" y="8484477"/>
            <a:ext cx="0" cy="1179911"/>
          </a:xfrm>
          <a:prstGeom prst="line">
            <a:avLst/>
          </a:prstGeom>
          <a:ln w="104775" cap="rnd">
            <a:solidFill>
              <a:srgbClr val="43667E"/>
            </a:solidFill>
            <a:prstDash val="solid"/>
            <a:headEnd type="none" w="sm" len="sm"/>
            <a:tailEnd type="none" w="sm" len="sm"/>
          </a:ln>
        </p:spPr>
      </p:sp>
      <p:grpSp>
        <p:nvGrpSpPr>
          <p:cNvPr id="83" name="Group 65"/>
          <p:cNvGrpSpPr/>
          <p:nvPr/>
        </p:nvGrpSpPr>
        <p:grpSpPr>
          <a:xfrm>
            <a:off x="2438650" y="8164536"/>
            <a:ext cx="254496" cy="639882"/>
            <a:chOff x="0" y="0"/>
            <a:chExt cx="90846" cy="228414"/>
          </a:xfrm>
        </p:grpSpPr>
        <p:sp>
          <p:nvSpPr>
            <p:cNvPr id="86" name="Freeform 66"/>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3EDAD8"/>
            </a:solidFill>
          </p:spPr>
        </p:sp>
        <p:sp>
          <p:nvSpPr>
            <p:cNvPr id="87" name="TextBox 67"/>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grpSp>
        <p:nvGrpSpPr>
          <p:cNvPr id="88" name="Group 68"/>
          <p:cNvGrpSpPr/>
          <p:nvPr/>
        </p:nvGrpSpPr>
        <p:grpSpPr>
          <a:xfrm>
            <a:off x="952500" y="5447090"/>
            <a:ext cx="1082747" cy="1005714"/>
            <a:chOff x="0" y="0"/>
            <a:chExt cx="386500" cy="359002"/>
          </a:xfrm>
        </p:grpSpPr>
        <p:sp>
          <p:nvSpPr>
            <p:cNvPr id="89" name="Freeform 69"/>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8EC6E6"/>
            </a:solidFill>
            <a:ln cap="sq">
              <a:noFill/>
              <a:prstDash val="solid"/>
              <a:miter/>
            </a:ln>
          </p:spPr>
        </p:sp>
        <p:sp>
          <p:nvSpPr>
            <p:cNvPr id="90" name="TextBox 70"/>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91" name="Group 71"/>
          <p:cNvGrpSpPr/>
          <p:nvPr/>
        </p:nvGrpSpPr>
        <p:grpSpPr>
          <a:xfrm>
            <a:off x="952500" y="6714355"/>
            <a:ext cx="1082747" cy="1005714"/>
            <a:chOff x="0" y="0"/>
            <a:chExt cx="386500" cy="359002"/>
          </a:xfrm>
        </p:grpSpPr>
        <p:sp>
          <p:nvSpPr>
            <p:cNvPr id="92" name="Freeform 72"/>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37C9EF"/>
            </a:solidFill>
            <a:ln cap="sq">
              <a:noFill/>
              <a:prstDash val="solid"/>
              <a:miter/>
            </a:ln>
          </p:spPr>
        </p:sp>
        <p:sp>
          <p:nvSpPr>
            <p:cNvPr id="93" name="TextBox 73"/>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94" name="Group 74"/>
          <p:cNvGrpSpPr/>
          <p:nvPr/>
        </p:nvGrpSpPr>
        <p:grpSpPr>
          <a:xfrm>
            <a:off x="952500" y="7981621"/>
            <a:ext cx="1082747" cy="1005714"/>
            <a:chOff x="0" y="0"/>
            <a:chExt cx="386500" cy="359002"/>
          </a:xfrm>
        </p:grpSpPr>
        <p:sp>
          <p:nvSpPr>
            <p:cNvPr id="95" name="Freeform 75"/>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8EC6E6"/>
            </a:solidFill>
            <a:ln cap="sq">
              <a:noFill/>
              <a:prstDash val="solid"/>
              <a:miter/>
            </a:ln>
          </p:spPr>
        </p:sp>
        <p:sp>
          <p:nvSpPr>
            <p:cNvPr id="96" name="TextBox 76"/>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97" name="Freeform 77"/>
          <p:cNvSpPr/>
          <p:nvPr/>
        </p:nvSpPr>
        <p:spPr>
          <a:xfrm>
            <a:off x="1236035" y="3189807"/>
            <a:ext cx="515677" cy="451217"/>
          </a:xfrm>
          <a:custGeom>
            <a:avLst/>
            <a:gdLst/>
            <a:ahLst/>
            <a:cxnLst/>
            <a:rect l="l" t="t" r="r" b="b"/>
            <a:pathLst>
              <a:path w="515677" h="451217">
                <a:moveTo>
                  <a:pt x="0" y="0"/>
                </a:moveTo>
                <a:lnTo>
                  <a:pt x="515677" y="0"/>
                </a:lnTo>
                <a:lnTo>
                  <a:pt x="515677" y="451217"/>
                </a:lnTo>
                <a:lnTo>
                  <a:pt x="0" y="451217"/>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98" name="Freeform 78"/>
          <p:cNvSpPr/>
          <p:nvPr/>
        </p:nvSpPr>
        <p:spPr>
          <a:xfrm>
            <a:off x="10243940" y="3449201"/>
            <a:ext cx="6421627" cy="899567"/>
          </a:xfrm>
          <a:custGeom>
            <a:avLst/>
            <a:gdLst/>
            <a:ahLst/>
            <a:cxnLst/>
            <a:rect l="l" t="t" r="r" b="b"/>
            <a:pathLst>
              <a:path w="6421627" h="899567">
                <a:moveTo>
                  <a:pt x="0" y="0"/>
                </a:moveTo>
                <a:lnTo>
                  <a:pt x="6421627" y="0"/>
                </a:lnTo>
                <a:lnTo>
                  <a:pt x="6421627" y="899567"/>
                </a:lnTo>
                <a:lnTo>
                  <a:pt x="0" y="899567"/>
                </a:lnTo>
                <a:lnTo>
                  <a:pt x="0" y="0"/>
                </a:lnTo>
                <a:close/>
              </a:path>
            </a:pathLst>
          </a:custGeom>
          <a:blipFill>
            <a:blip r:embed="rId4"/>
            <a:stretch>
              <a:fillRect t="-86900"/>
            </a:stretch>
          </a:blipFill>
        </p:spPr>
      </p:sp>
      <p:sp>
        <p:nvSpPr>
          <p:cNvPr id="100" name="Freeform 79"/>
          <p:cNvSpPr/>
          <p:nvPr/>
        </p:nvSpPr>
        <p:spPr>
          <a:xfrm>
            <a:off x="10243940" y="4673019"/>
            <a:ext cx="6421627" cy="899567"/>
          </a:xfrm>
          <a:custGeom>
            <a:avLst/>
            <a:gdLst/>
            <a:ahLst/>
            <a:cxnLst/>
            <a:rect l="l" t="t" r="r" b="b"/>
            <a:pathLst>
              <a:path w="6421627" h="899567">
                <a:moveTo>
                  <a:pt x="0" y="0"/>
                </a:moveTo>
                <a:lnTo>
                  <a:pt x="6421627" y="0"/>
                </a:lnTo>
                <a:lnTo>
                  <a:pt x="6421627" y="899568"/>
                </a:lnTo>
                <a:lnTo>
                  <a:pt x="0" y="899568"/>
                </a:lnTo>
                <a:lnTo>
                  <a:pt x="0" y="0"/>
                </a:lnTo>
                <a:close/>
              </a:path>
            </a:pathLst>
          </a:custGeom>
          <a:blipFill>
            <a:blip r:embed="rId4"/>
            <a:stretch>
              <a:fillRect t="-86900"/>
            </a:stretch>
          </a:blipFill>
        </p:spPr>
      </p:sp>
      <p:sp>
        <p:nvSpPr>
          <p:cNvPr id="101" name="Freeform 80"/>
          <p:cNvSpPr/>
          <p:nvPr/>
        </p:nvSpPr>
        <p:spPr>
          <a:xfrm>
            <a:off x="10243940" y="5896838"/>
            <a:ext cx="6421627" cy="899567"/>
          </a:xfrm>
          <a:custGeom>
            <a:avLst/>
            <a:gdLst/>
            <a:ahLst/>
            <a:cxnLst/>
            <a:rect l="l" t="t" r="r" b="b"/>
            <a:pathLst>
              <a:path w="6421627" h="899567">
                <a:moveTo>
                  <a:pt x="0" y="0"/>
                </a:moveTo>
                <a:lnTo>
                  <a:pt x="6421627" y="0"/>
                </a:lnTo>
                <a:lnTo>
                  <a:pt x="6421627" y="899567"/>
                </a:lnTo>
                <a:lnTo>
                  <a:pt x="0" y="899567"/>
                </a:lnTo>
                <a:lnTo>
                  <a:pt x="0" y="0"/>
                </a:lnTo>
                <a:close/>
              </a:path>
            </a:pathLst>
          </a:custGeom>
          <a:blipFill>
            <a:blip r:embed="rId4"/>
            <a:stretch>
              <a:fillRect t="-86900"/>
            </a:stretch>
          </a:blipFill>
        </p:spPr>
      </p:sp>
      <p:sp>
        <p:nvSpPr>
          <p:cNvPr id="102" name="Freeform 81"/>
          <p:cNvSpPr/>
          <p:nvPr/>
        </p:nvSpPr>
        <p:spPr>
          <a:xfrm>
            <a:off x="10243940" y="7120657"/>
            <a:ext cx="6421627" cy="899567"/>
          </a:xfrm>
          <a:custGeom>
            <a:avLst/>
            <a:gdLst/>
            <a:ahLst/>
            <a:cxnLst/>
            <a:rect l="l" t="t" r="r" b="b"/>
            <a:pathLst>
              <a:path w="6421627" h="899567">
                <a:moveTo>
                  <a:pt x="0" y="0"/>
                </a:moveTo>
                <a:lnTo>
                  <a:pt x="6421627" y="0"/>
                </a:lnTo>
                <a:lnTo>
                  <a:pt x="6421627" y="899567"/>
                </a:lnTo>
                <a:lnTo>
                  <a:pt x="0" y="899567"/>
                </a:lnTo>
                <a:lnTo>
                  <a:pt x="0" y="0"/>
                </a:lnTo>
                <a:close/>
              </a:path>
            </a:pathLst>
          </a:custGeom>
          <a:blipFill>
            <a:blip r:embed="rId4"/>
            <a:stretch>
              <a:fillRect t="-86900"/>
            </a:stretch>
          </a:blipFill>
        </p:spPr>
      </p:sp>
      <p:grpSp>
        <p:nvGrpSpPr>
          <p:cNvPr id="103" name="Group 82"/>
          <p:cNvGrpSpPr/>
          <p:nvPr/>
        </p:nvGrpSpPr>
        <p:grpSpPr>
          <a:xfrm>
            <a:off x="10243940" y="2830351"/>
            <a:ext cx="6431224" cy="1005714"/>
            <a:chOff x="0" y="0"/>
            <a:chExt cx="2295708" cy="359002"/>
          </a:xfrm>
        </p:grpSpPr>
        <p:sp>
          <p:nvSpPr>
            <p:cNvPr id="104" name="Freeform 83"/>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3EDAD8"/>
            </a:solidFill>
          </p:spPr>
        </p:sp>
        <p:sp>
          <p:nvSpPr>
            <p:cNvPr id="105" name="TextBox 84"/>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06" name="Group 85"/>
          <p:cNvGrpSpPr/>
          <p:nvPr/>
        </p:nvGrpSpPr>
        <p:grpSpPr>
          <a:xfrm>
            <a:off x="9048750" y="2830351"/>
            <a:ext cx="1082747" cy="1005714"/>
            <a:chOff x="0" y="0"/>
            <a:chExt cx="386500" cy="359002"/>
          </a:xfrm>
        </p:grpSpPr>
        <p:sp>
          <p:nvSpPr>
            <p:cNvPr id="107" name="Freeform 86"/>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3EDAD8"/>
            </a:solidFill>
          </p:spPr>
        </p:sp>
        <p:sp>
          <p:nvSpPr>
            <p:cNvPr id="108" name="TextBox 87"/>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09" name="Group 88"/>
          <p:cNvGrpSpPr/>
          <p:nvPr/>
        </p:nvGrpSpPr>
        <p:grpSpPr>
          <a:xfrm>
            <a:off x="9048750" y="4097616"/>
            <a:ext cx="1082747" cy="1005714"/>
            <a:chOff x="0" y="0"/>
            <a:chExt cx="386500" cy="359002"/>
          </a:xfrm>
        </p:grpSpPr>
        <p:sp>
          <p:nvSpPr>
            <p:cNvPr id="110" name="Freeform 89"/>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13538A"/>
            </a:solidFill>
            <a:ln cap="sq">
              <a:noFill/>
              <a:prstDash val="solid"/>
              <a:miter/>
            </a:ln>
          </p:spPr>
        </p:sp>
        <p:sp>
          <p:nvSpPr>
            <p:cNvPr id="111" name="TextBox 90"/>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12" name="Group 91"/>
          <p:cNvGrpSpPr/>
          <p:nvPr/>
        </p:nvGrpSpPr>
        <p:grpSpPr>
          <a:xfrm>
            <a:off x="10243940" y="4097616"/>
            <a:ext cx="6431224" cy="1005714"/>
            <a:chOff x="0" y="0"/>
            <a:chExt cx="2295708" cy="359002"/>
          </a:xfrm>
        </p:grpSpPr>
        <p:sp>
          <p:nvSpPr>
            <p:cNvPr id="113" name="Freeform 92"/>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13538A"/>
            </a:solidFill>
          </p:spPr>
        </p:sp>
        <p:sp>
          <p:nvSpPr>
            <p:cNvPr id="114" name="TextBox 93"/>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15" name="Group 94"/>
          <p:cNvGrpSpPr/>
          <p:nvPr/>
        </p:nvGrpSpPr>
        <p:grpSpPr>
          <a:xfrm>
            <a:off x="10243940" y="5364881"/>
            <a:ext cx="6431224" cy="1005714"/>
            <a:chOff x="0" y="0"/>
            <a:chExt cx="2295708" cy="359002"/>
          </a:xfrm>
        </p:grpSpPr>
        <p:sp>
          <p:nvSpPr>
            <p:cNvPr id="116" name="Freeform 95"/>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5CE1E6"/>
            </a:solidFill>
          </p:spPr>
        </p:sp>
        <p:sp>
          <p:nvSpPr>
            <p:cNvPr id="117" name="TextBox 96"/>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18" name="Group 97"/>
          <p:cNvGrpSpPr/>
          <p:nvPr/>
        </p:nvGrpSpPr>
        <p:grpSpPr>
          <a:xfrm>
            <a:off x="10243940" y="6632147"/>
            <a:ext cx="6431224" cy="1005714"/>
            <a:chOff x="0" y="0"/>
            <a:chExt cx="2295708" cy="359002"/>
          </a:xfrm>
        </p:grpSpPr>
        <p:sp>
          <p:nvSpPr>
            <p:cNvPr id="119" name="Freeform 98"/>
            <p:cNvSpPr/>
            <p:nvPr/>
          </p:nvSpPr>
          <p:spPr>
            <a:xfrm>
              <a:off x="0" y="0"/>
              <a:ext cx="2295708" cy="359002"/>
            </a:xfrm>
            <a:custGeom>
              <a:avLst/>
              <a:gdLst/>
              <a:ahLst/>
              <a:cxnLst/>
              <a:rect l="l" t="t" r="r" b="b"/>
              <a:pathLst>
                <a:path w="2295708" h="359002">
                  <a:moveTo>
                    <a:pt x="21668" y="0"/>
                  </a:moveTo>
                  <a:lnTo>
                    <a:pt x="2274039" y="0"/>
                  </a:lnTo>
                  <a:cubicBezTo>
                    <a:pt x="2279786" y="0"/>
                    <a:pt x="2285298" y="2283"/>
                    <a:pt x="2289361" y="6347"/>
                  </a:cubicBezTo>
                  <a:cubicBezTo>
                    <a:pt x="2293425" y="10410"/>
                    <a:pt x="2295708" y="15922"/>
                    <a:pt x="2295708" y="21668"/>
                  </a:cubicBezTo>
                  <a:lnTo>
                    <a:pt x="2295708" y="337334"/>
                  </a:lnTo>
                  <a:cubicBezTo>
                    <a:pt x="2295708" y="349301"/>
                    <a:pt x="2286007" y="359002"/>
                    <a:pt x="2274039" y="359002"/>
                  </a:cubicBezTo>
                  <a:lnTo>
                    <a:pt x="21668" y="359002"/>
                  </a:lnTo>
                  <a:cubicBezTo>
                    <a:pt x="9701" y="359002"/>
                    <a:pt x="0" y="349301"/>
                    <a:pt x="0" y="337334"/>
                  </a:cubicBezTo>
                  <a:lnTo>
                    <a:pt x="0" y="21668"/>
                  </a:lnTo>
                  <a:cubicBezTo>
                    <a:pt x="0" y="9701"/>
                    <a:pt x="9701" y="0"/>
                    <a:pt x="21668" y="0"/>
                  </a:cubicBezTo>
                  <a:close/>
                </a:path>
              </a:pathLst>
            </a:custGeom>
            <a:solidFill>
              <a:srgbClr val="8EC6E6"/>
            </a:solidFill>
          </p:spPr>
        </p:sp>
        <p:sp>
          <p:nvSpPr>
            <p:cNvPr id="120" name="TextBox 99"/>
            <p:cNvSpPr txBox="1"/>
            <p:nvPr/>
          </p:nvSpPr>
          <p:spPr>
            <a:xfrm>
              <a:off x="0" y="-38100"/>
              <a:ext cx="2295708"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21" name="Group 100"/>
          <p:cNvGrpSpPr/>
          <p:nvPr/>
        </p:nvGrpSpPr>
        <p:grpSpPr>
          <a:xfrm>
            <a:off x="10617312" y="2936945"/>
            <a:ext cx="5945368" cy="792525"/>
            <a:chOff x="0" y="0"/>
            <a:chExt cx="2122275" cy="282902"/>
          </a:xfrm>
        </p:grpSpPr>
        <p:sp>
          <p:nvSpPr>
            <p:cNvPr id="122" name="Freeform 101"/>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123" name="TextBox 102"/>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24" name="Group 103"/>
          <p:cNvGrpSpPr/>
          <p:nvPr/>
        </p:nvGrpSpPr>
        <p:grpSpPr>
          <a:xfrm>
            <a:off x="10617312" y="4204211"/>
            <a:ext cx="5945368" cy="792525"/>
            <a:chOff x="0" y="0"/>
            <a:chExt cx="2122275" cy="282902"/>
          </a:xfrm>
        </p:grpSpPr>
        <p:sp>
          <p:nvSpPr>
            <p:cNvPr id="125" name="Freeform 104"/>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126" name="TextBox 105"/>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27" name="Group 106"/>
          <p:cNvGrpSpPr/>
          <p:nvPr/>
        </p:nvGrpSpPr>
        <p:grpSpPr>
          <a:xfrm>
            <a:off x="10617312" y="5471476"/>
            <a:ext cx="5945368" cy="792525"/>
            <a:chOff x="0" y="0"/>
            <a:chExt cx="2122275" cy="282902"/>
          </a:xfrm>
        </p:grpSpPr>
        <p:sp>
          <p:nvSpPr>
            <p:cNvPr id="128" name="Freeform 107"/>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129" name="TextBox 108"/>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30" name="Group 109"/>
          <p:cNvGrpSpPr/>
          <p:nvPr/>
        </p:nvGrpSpPr>
        <p:grpSpPr>
          <a:xfrm>
            <a:off x="10617312" y="6738742"/>
            <a:ext cx="5945368" cy="792525"/>
            <a:chOff x="0" y="0"/>
            <a:chExt cx="2122275" cy="282902"/>
          </a:xfrm>
        </p:grpSpPr>
        <p:sp>
          <p:nvSpPr>
            <p:cNvPr id="131" name="Freeform 110"/>
            <p:cNvSpPr/>
            <p:nvPr/>
          </p:nvSpPr>
          <p:spPr>
            <a:xfrm>
              <a:off x="0" y="0"/>
              <a:ext cx="2122275" cy="282902"/>
            </a:xfrm>
            <a:custGeom>
              <a:avLst/>
              <a:gdLst/>
              <a:ahLst/>
              <a:cxnLst/>
              <a:rect l="l" t="t" r="r" b="b"/>
              <a:pathLst>
                <a:path w="2122275" h="282902">
                  <a:moveTo>
                    <a:pt x="14324" y="0"/>
                  </a:moveTo>
                  <a:lnTo>
                    <a:pt x="2107951" y="0"/>
                  </a:lnTo>
                  <a:cubicBezTo>
                    <a:pt x="2111750" y="0"/>
                    <a:pt x="2115394" y="1509"/>
                    <a:pt x="2118080" y="4195"/>
                  </a:cubicBezTo>
                  <a:cubicBezTo>
                    <a:pt x="2120766" y="6882"/>
                    <a:pt x="2122275" y="10525"/>
                    <a:pt x="2122275" y="14324"/>
                  </a:cubicBezTo>
                  <a:lnTo>
                    <a:pt x="2122275" y="268578"/>
                  </a:lnTo>
                  <a:cubicBezTo>
                    <a:pt x="2122275" y="272377"/>
                    <a:pt x="2120766" y="276020"/>
                    <a:pt x="2118080" y="278706"/>
                  </a:cubicBezTo>
                  <a:cubicBezTo>
                    <a:pt x="2115394" y="281393"/>
                    <a:pt x="2111750" y="282902"/>
                    <a:pt x="2107951" y="282902"/>
                  </a:cubicBezTo>
                  <a:lnTo>
                    <a:pt x="14324" y="282902"/>
                  </a:lnTo>
                  <a:cubicBezTo>
                    <a:pt x="10525" y="282902"/>
                    <a:pt x="6882" y="281393"/>
                    <a:pt x="4195" y="278706"/>
                  </a:cubicBezTo>
                  <a:cubicBezTo>
                    <a:pt x="1509" y="276020"/>
                    <a:pt x="0" y="272377"/>
                    <a:pt x="0" y="268578"/>
                  </a:cubicBezTo>
                  <a:lnTo>
                    <a:pt x="0" y="14324"/>
                  </a:lnTo>
                  <a:cubicBezTo>
                    <a:pt x="0" y="10525"/>
                    <a:pt x="1509" y="6882"/>
                    <a:pt x="4195" y="4195"/>
                  </a:cubicBezTo>
                  <a:cubicBezTo>
                    <a:pt x="6882" y="1509"/>
                    <a:pt x="10525" y="0"/>
                    <a:pt x="14324" y="0"/>
                  </a:cubicBezTo>
                  <a:close/>
                </a:path>
              </a:pathLst>
            </a:custGeom>
            <a:solidFill>
              <a:srgbClr val="F8FAFA"/>
            </a:solidFill>
          </p:spPr>
        </p:sp>
        <p:sp>
          <p:nvSpPr>
            <p:cNvPr id="132" name="TextBox 111"/>
            <p:cNvSpPr txBox="1"/>
            <p:nvPr/>
          </p:nvSpPr>
          <p:spPr>
            <a:xfrm>
              <a:off x="0" y="-38100"/>
              <a:ext cx="2122275" cy="321002"/>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33" name="AutoShape 112"/>
          <p:cNvSpPr/>
          <p:nvPr/>
        </p:nvSpPr>
        <p:spPr>
          <a:xfrm>
            <a:off x="11803598" y="3038056"/>
            <a:ext cx="0" cy="590303"/>
          </a:xfrm>
          <a:prstGeom prst="line">
            <a:avLst/>
          </a:prstGeom>
          <a:ln w="9525" cap="flat">
            <a:solidFill>
              <a:srgbClr val="3EDAD8"/>
            </a:solidFill>
            <a:prstDash val="solid"/>
            <a:headEnd type="none" w="sm" len="sm"/>
            <a:tailEnd type="none" w="sm" len="sm"/>
          </a:ln>
        </p:spPr>
      </p:sp>
      <p:sp>
        <p:nvSpPr>
          <p:cNvPr id="134" name="AutoShape 113"/>
          <p:cNvSpPr/>
          <p:nvPr/>
        </p:nvSpPr>
        <p:spPr>
          <a:xfrm>
            <a:off x="11803598" y="4305321"/>
            <a:ext cx="0" cy="590303"/>
          </a:xfrm>
          <a:prstGeom prst="line">
            <a:avLst/>
          </a:prstGeom>
          <a:ln w="9525" cap="flat">
            <a:solidFill>
              <a:srgbClr val="3EDAD8"/>
            </a:solidFill>
            <a:prstDash val="solid"/>
            <a:headEnd type="none" w="sm" len="sm"/>
            <a:tailEnd type="none" w="sm" len="sm"/>
          </a:ln>
        </p:spPr>
      </p:sp>
      <p:sp>
        <p:nvSpPr>
          <p:cNvPr id="135" name="AutoShape 114"/>
          <p:cNvSpPr/>
          <p:nvPr/>
        </p:nvSpPr>
        <p:spPr>
          <a:xfrm>
            <a:off x="11803598" y="5572587"/>
            <a:ext cx="0" cy="590303"/>
          </a:xfrm>
          <a:prstGeom prst="line">
            <a:avLst/>
          </a:prstGeom>
          <a:ln w="9525" cap="flat">
            <a:solidFill>
              <a:srgbClr val="3EDAD8"/>
            </a:solidFill>
            <a:prstDash val="solid"/>
            <a:headEnd type="none" w="sm" len="sm"/>
            <a:tailEnd type="none" w="sm" len="sm"/>
          </a:ln>
        </p:spPr>
      </p:sp>
      <p:sp>
        <p:nvSpPr>
          <p:cNvPr id="136" name="AutoShape 115"/>
          <p:cNvSpPr/>
          <p:nvPr/>
        </p:nvSpPr>
        <p:spPr>
          <a:xfrm>
            <a:off x="11803598" y="6839852"/>
            <a:ext cx="0" cy="590303"/>
          </a:xfrm>
          <a:prstGeom prst="line">
            <a:avLst/>
          </a:prstGeom>
          <a:ln w="9525" cap="flat">
            <a:solidFill>
              <a:srgbClr val="3EDAD8"/>
            </a:solidFill>
            <a:prstDash val="solid"/>
            <a:headEnd type="none" w="sm" len="sm"/>
            <a:tailEnd type="none" w="sm" len="sm"/>
          </a:ln>
        </p:spPr>
      </p:sp>
      <p:sp>
        <p:nvSpPr>
          <p:cNvPr id="137" name="AutoShape 116"/>
          <p:cNvSpPr/>
          <p:nvPr/>
        </p:nvSpPr>
        <p:spPr>
          <a:xfrm flipV="1">
            <a:off x="10662148" y="3449201"/>
            <a:ext cx="0" cy="1026050"/>
          </a:xfrm>
          <a:prstGeom prst="line">
            <a:avLst/>
          </a:prstGeom>
          <a:ln w="104775" cap="rnd">
            <a:solidFill>
              <a:srgbClr val="43667E"/>
            </a:solidFill>
            <a:prstDash val="solid"/>
            <a:headEnd type="none" w="sm" len="sm"/>
            <a:tailEnd type="none" w="sm" len="sm"/>
          </a:ln>
        </p:spPr>
      </p:sp>
      <p:sp>
        <p:nvSpPr>
          <p:cNvPr id="138" name="AutoShape 117"/>
          <p:cNvSpPr/>
          <p:nvPr/>
        </p:nvSpPr>
        <p:spPr>
          <a:xfrm>
            <a:off x="10662148" y="2463638"/>
            <a:ext cx="0" cy="1189511"/>
          </a:xfrm>
          <a:prstGeom prst="line">
            <a:avLst/>
          </a:prstGeom>
          <a:ln w="104775" cap="rnd">
            <a:solidFill>
              <a:srgbClr val="43667E"/>
            </a:solidFill>
            <a:prstDash val="solid"/>
            <a:headEnd type="none" w="sm" len="sm"/>
            <a:tailEnd type="none" w="sm" len="sm"/>
          </a:ln>
        </p:spPr>
      </p:sp>
      <p:grpSp>
        <p:nvGrpSpPr>
          <p:cNvPr id="139" name="Group 118"/>
          <p:cNvGrpSpPr/>
          <p:nvPr/>
        </p:nvGrpSpPr>
        <p:grpSpPr>
          <a:xfrm>
            <a:off x="10534900" y="3013266"/>
            <a:ext cx="254496" cy="639882"/>
            <a:chOff x="0" y="0"/>
            <a:chExt cx="90846" cy="228414"/>
          </a:xfrm>
        </p:grpSpPr>
        <p:sp>
          <p:nvSpPr>
            <p:cNvPr id="140" name="Freeform 119"/>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8EC6E6"/>
            </a:solidFill>
          </p:spPr>
        </p:sp>
        <p:sp>
          <p:nvSpPr>
            <p:cNvPr id="141" name="TextBox 120"/>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sp>
        <p:nvSpPr>
          <p:cNvPr id="142" name="AutoShape 121"/>
          <p:cNvSpPr/>
          <p:nvPr/>
        </p:nvSpPr>
        <p:spPr>
          <a:xfrm flipV="1">
            <a:off x="10662148" y="4754765"/>
            <a:ext cx="0" cy="1026050"/>
          </a:xfrm>
          <a:prstGeom prst="line">
            <a:avLst/>
          </a:prstGeom>
          <a:ln w="104775" cap="rnd">
            <a:solidFill>
              <a:srgbClr val="43667E"/>
            </a:solidFill>
            <a:prstDash val="solid"/>
            <a:headEnd type="none" w="sm" len="sm"/>
            <a:tailEnd type="none" w="sm" len="sm"/>
          </a:ln>
        </p:spPr>
      </p:sp>
      <p:grpSp>
        <p:nvGrpSpPr>
          <p:cNvPr id="143" name="Group 122"/>
          <p:cNvGrpSpPr/>
          <p:nvPr/>
        </p:nvGrpSpPr>
        <p:grpSpPr>
          <a:xfrm>
            <a:off x="10534900" y="4280532"/>
            <a:ext cx="254496" cy="639882"/>
            <a:chOff x="0" y="0"/>
            <a:chExt cx="90846" cy="228414"/>
          </a:xfrm>
        </p:grpSpPr>
        <p:sp>
          <p:nvSpPr>
            <p:cNvPr id="144" name="Freeform 123"/>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8EC6E6"/>
            </a:solidFill>
          </p:spPr>
        </p:sp>
        <p:sp>
          <p:nvSpPr>
            <p:cNvPr id="145" name="TextBox 124"/>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sp>
        <p:nvSpPr>
          <p:cNvPr id="146" name="AutoShape 125"/>
          <p:cNvSpPr/>
          <p:nvPr/>
        </p:nvSpPr>
        <p:spPr>
          <a:xfrm flipV="1">
            <a:off x="10662148" y="6060328"/>
            <a:ext cx="0" cy="1026050"/>
          </a:xfrm>
          <a:prstGeom prst="line">
            <a:avLst/>
          </a:prstGeom>
          <a:ln w="104775" cap="rnd">
            <a:solidFill>
              <a:srgbClr val="43667E"/>
            </a:solidFill>
            <a:prstDash val="solid"/>
            <a:headEnd type="none" w="sm" len="sm"/>
            <a:tailEnd type="none" w="sm" len="sm"/>
          </a:ln>
        </p:spPr>
      </p:sp>
      <p:grpSp>
        <p:nvGrpSpPr>
          <p:cNvPr id="147" name="Group 126"/>
          <p:cNvGrpSpPr/>
          <p:nvPr/>
        </p:nvGrpSpPr>
        <p:grpSpPr>
          <a:xfrm>
            <a:off x="10534900" y="5547797"/>
            <a:ext cx="254496" cy="639882"/>
            <a:chOff x="0" y="0"/>
            <a:chExt cx="90846" cy="228414"/>
          </a:xfrm>
        </p:grpSpPr>
        <p:sp>
          <p:nvSpPr>
            <p:cNvPr id="148" name="Freeform 127"/>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3EDAD8"/>
            </a:solidFill>
          </p:spPr>
        </p:sp>
        <p:sp>
          <p:nvSpPr>
            <p:cNvPr id="149" name="TextBox 128"/>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grpSp>
        <p:nvGrpSpPr>
          <p:cNvPr id="150" name="Group 129"/>
          <p:cNvGrpSpPr/>
          <p:nvPr/>
        </p:nvGrpSpPr>
        <p:grpSpPr>
          <a:xfrm>
            <a:off x="10534900" y="6815063"/>
            <a:ext cx="254496" cy="639882"/>
            <a:chOff x="0" y="0"/>
            <a:chExt cx="90846" cy="228414"/>
          </a:xfrm>
        </p:grpSpPr>
        <p:sp>
          <p:nvSpPr>
            <p:cNvPr id="151" name="Freeform 130"/>
            <p:cNvSpPr/>
            <p:nvPr/>
          </p:nvSpPr>
          <p:spPr>
            <a:xfrm>
              <a:off x="0" y="0"/>
              <a:ext cx="90846" cy="228414"/>
            </a:xfrm>
            <a:custGeom>
              <a:avLst/>
              <a:gdLst/>
              <a:ahLst/>
              <a:cxnLst/>
              <a:rect l="l" t="t" r="r" b="b"/>
              <a:pathLst>
                <a:path w="90846" h="228414">
                  <a:moveTo>
                    <a:pt x="45423" y="0"/>
                  </a:moveTo>
                  <a:lnTo>
                    <a:pt x="45423" y="0"/>
                  </a:lnTo>
                  <a:cubicBezTo>
                    <a:pt x="57470" y="0"/>
                    <a:pt x="69023" y="4786"/>
                    <a:pt x="77542" y="13304"/>
                  </a:cubicBezTo>
                  <a:cubicBezTo>
                    <a:pt x="86060" y="21822"/>
                    <a:pt x="90846" y="33376"/>
                    <a:pt x="90846" y="45423"/>
                  </a:cubicBezTo>
                  <a:lnTo>
                    <a:pt x="90846" y="182991"/>
                  </a:lnTo>
                  <a:cubicBezTo>
                    <a:pt x="90846" y="195038"/>
                    <a:pt x="86060" y="206592"/>
                    <a:pt x="77542" y="215110"/>
                  </a:cubicBezTo>
                  <a:cubicBezTo>
                    <a:pt x="69023" y="223629"/>
                    <a:pt x="57470" y="228414"/>
                    <a:pt x="45423" y="228414"/>
                  </a:cubicBezTo>
                  <a:lnTo>
                    <a:pt x="45423" y="228414"/>
                  </a:lnTo>
                  <a:cubicBezTo>
                    <a:pt x="33376" y="228414"/>
                    <a:pt x="21822" y="223629"/>
                    <a:pt x="13304" y="215110"/>
                  </a:cubicBezTo>
                  <a:cubicBezTo>
                    <a:pt x="4786" y="206592"/>
                    <a:pt x="0" y="195038"/>
                    <a:pt x="0" y="182991"/>
                  </a:cubicBezTo>
                  <a:lnTo>
                    <a:pt x="0" y="45423"/>
                  </a:lnTo>
                  <a:cubicBezTo>
                    <a:pt x="0" y="33376"/>
                    <a:pt x="4786" y="21822"/>
                    <a:pt x="13304" y="13304"/>
                  </a:cubicBezTo>
                  <a:cubicBezTo>
                    <a:pt x="21822" y="4786"/>
                    <a:pt x="33376" y="0"/>
                    <a:pt x="45423" y="0"/>
                  </a:cubicBezTo>
                  <a:close/>
                </a:path>
              </a:pathLst>
            </a:custGeom>
            <a:solidFill>
              <a:srgbClr val="3EDAD8"/>
            </a:solidFill>
          </p:spPr>
        </p:sp>
        <p:sp>
          <p:nvSpPr>
            <p:cNvPr id="152" name="TextBox 131"/>
            <p:cNvSpPr txBox="1"/>
            <p:nvPr/>
          </p:nvSpPr>
          <p:spPr>
            <a:xfrm>
              <a:off x="0" y="-38100"/>
              <a:ext cx="90846" cy="266514"/>
            </a:xfrm>
            <a:prstGeom prst="rect">
              <a:avLst/>
            </a:prstGeom>
          </p:spPr>
          <p:txBody>
            <a:bodyPr lIns="50800" tIns="50800" rIns="50800" bIns="50800" rtlCol="0" anchor="ctr"/>
            <a:lstStyle/>
            <a:p>
              <a:pPr algn="ctr">
                <a:lnSpc>
                  <a:spcPts val="2520"/>
                </a:lnSpc>
              </a:pPr>
              <a:endParaRPr/>
            </a:p>
          </p:txBody>
        </p:sp>
      </p:grpSp>
      <p:grpSp>
        <p:nvGrpSpPr>
          <p:cNvPr id="153" name="Group 132"/>
          <p:cNvGrpSpPr/>
          <p:nvPr/>
        </p:nvGrpSpPr>
        <p:grpSpPr>
          <a:xfrm>
            <a:off x="9048750" y="5364881"/>
            <a:ext cx="1082747" cy="1005714"/>
            <a:chOff x="0" y="0"/>
            <a:chExt cx="386500" cy="359002"/>
          </a:xfrm>
        </p:grpSpPr>
        <p:sp>
          <p:nvSpPr>
            <p:cNvPr id="154" name="Freeform 133"/>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5CE1E6"/>
            </a:solidFill>
            <a:ln cap="sq">
              <a:noFill/>
              <a:prstDash val="solid"/>
              <a:miter/>
            </a:ln>
          </p:spPr>
        </p:sp>
        <p:sp>
          <p:nvSpPr>
            <p:cNvPr id="155" name="TextBox 134"/>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156" name="Group 135"/>
          <p:cNvGrpSpPr/>
          <p:nvPr/>
        </p:nvGrpSpPr>
        <p:grpSpPr>
          <a:xfrm>
            <a:off x="9048750" y="6632147"/>
            <a:ext cx="1082747" cy="1005714"/>
            <a:chOff x="0" y="0"/>
            <a:chExt cx="386500" cy="359002"/>
          </a:xfrm>
        </p:grpSpPr>
        <p:sp>
          <p:nvSpPr>
            <p:cNvPr id="157" name="Freeform 136"/>
            <p:cNvSpPr/>
            <p:nvPr/>
          </p:nvSpPr>
          <p:spPr>
            <a:xfrm>
              <a:off x="0" y="0"/>
              <a:ext cx="386500" cy="359002"/>
            </a:xfrm>
            <a:custGeom>
              <a:avLst/>
              <a:gdLst/>
              <a:ahLst/>
              <a:cxnLst/>
              <a:rect l="l" t="t" r="r" b="b"/>
              <a:pathLst>
                <a:path w="386500" h="359002">
                  <a:moveTo>
                    <a:pt x="128705" y="0"/>
                  </a:moveTo>
                  <a:lnTo>
                    <a:pt x="257796" y="0"/>
                  </a:lnTo>
                  <a:cubicBezTo>
                    <a:pt x="328877" y="0"/>
                    <a:pt x="386500" y="57623"/>
                    <a:pt x="386500" y="128705"/>
                  </a:cubicBezTo>
                  <a:lnTo>
                    <a:pt x="386500" y="230298"/>
                  </a:lnTo>
                  <a:cubicBezTo>
                    <a:pt x="386500" y="301379"/>
                    <a:pt x="328877" y="359002"/>
                    <a:pt x="257796" y="359002"/>
                  </a:cubicBezTo>
                  <a:lnTo>
                    <a:pt x="128705" y="359002"/>
                  </a:lnTo>
                  <a:cubicBezTo>
                    <a:pt x="57623" y="359002"/>
                    <a:pt x="0" y="301379"/>
                    <a:pt x="0" y="230298"/>
                  </a:cubicBezTo>
                  <a:lnTo>
                    <a:pt x="0" y="128705"/>
                  </a:lnTo>
                  <a:cubicBezTo>
                    <a:pt x="0" y="57623"/>
                    <a:pt x="57623" y="0"/>
                    <a:pt x="128705" y="0"/>
                  </a:cubicBezTo>
                  <a:close/>
                </a:path>
              </a:pathLst>
            </a:custGeom>
            <a:solidFill>
              <a:srgbClr val="8EC6E6"/>
            </a:solidFill>
            <a:ln cap="sq">
              <a:noFill/>
              <a:prstDash val="solid"/>
              <a:miter/>
            </a:ln>
          </p:spPr>
        </p:sp>
        <p:sp>
          <p:nvSpPr>
            <p:cNvPr id="158" name="TextBox 137"/>
            <p:cNvSpPr txBox="1"/>
            <p:nvPr/>
          </p:nvSpPr>
          <p:spPr>
            <a:xfrm>
              <a:off x="0" y="-38100"/>
              <a:ext cx="386500" cy="397102"/>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59" name="Freeform 138"/>
          <p:cNvSpPr/>
          <p:nvPr/>
        </p:nvSpPr>
        <p:spPr>
          <a:xfrm>
            <a:off x="9332285" y="4342635"/>
            <a:ext cx="515677" cy="515677"/>
          </a:xfrm>
          <a:custGeom>
            <a:avLst/>
            <a:gdLst/>
            <a:ahLst/>
            <a:cxnLst/>
            <a:rect l="l" t="t" r="r" b="b"/>
            <a:pathLst>
              <a:path w="515677" h="515677">
                <a:moveTo>
                  <a:pt x="0" y="0"/>
                </a:moveTo>
                <a:lnTo>
                  <a:pt x="515677" y="0"/>
                </a:lnTo>
                <a:lnTo>
                  <a:pt x="515677" y="515676"/>
                </a:lnTo>
                <a:lnTo>
                  <a:pt x="0" y="515676"/>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sp>
        <p:nvSpPr>
          <p:cNvPr id="160" name="Freeform 139"/>
          <p:cNvSpPr/>
          <p:nvPr/>
        </p:nvSpPr>
        <p:spPr>
          <a:xfrm>
            <a:off x="9337751" y="5615366"/>
            <a:ext cx="504744" cy="504744"/>
          </a:xfrm>
          <a:custGeom>
            <a:avLst/>
            <a:gdLst/>
            <a:ahLst/>
            <a:cxnLst/>
            <a:rect l="l" t="t" r="r" b="b"/>
            <a:pathLst>
              <a:path w="504744" h="504744">
                <a:moveTo>
                  <a:pt x="0" y="0"/>
                </a:moveTo>
                <a:lnTo>
                  <a:pt x="504744" y="0"/>
                </a:lnTo>
                <a:lnTo>
                  <a:pt x="504744" y="504745"/>
                </a:lnTo>
                <a:lnTo>
                  <a:pt x="0" y="504745"/>
                </a:lnTo>
                <a:lnTo>
                  <a:pt x="0" y="0"/>
                </a:lnTo>
                <a:close/>
              </a:path>
            </a:pathLst>
          </a:custGeom>
          <a:blipFill>
            <a:blip r:embed="rId9">
              <a:extLst>
                <a:ext uri="{96DAC541-7B7A-43D3-8B79-37D633B846F1}">
                  <asvg:svgBlip xmlns:asvg="http://schemas.microsoft.com/office/drawing/2016/SVG/main" xmlns="" r:embed="rId10"/>
                </a:ext>
              </a:extLst>
            </a:blip>
            <a:stretch>
              <a:fillRect/>
            </a:stretch>
          </a:blipFill>
        </p:spPr>
      </p:sp>
      <p:sp>
        <p:nvSpPr>
          <p:cNvPr id="161" name="AutoShape 140"/>
          <p:cNvSpPr/>
          <p:nvPr/>
        </p:nvSpPr>
        <p:spPr>
          <a:xfrm flipH="1">
            <a:off x="2521062" y="9664388"/>
            <a:ext cx="6333215" cy="0"/>
          </a:xfrm>
          <a:prstGeom prst="line">
            <a:avLst/>
          </a:prstGeom>
          <a:ln w="104775" cap="rnd">
            <a:solidFill>
              <a:srgbClr val="43667E"/>
            </a:solidFill>
            <a:prstDash val="solid"/>
            <a:headEnd type="none" w="sm" len="sm"/>
            <a:tailEnd type="none" w="sm" len="sm"/>
          </a:ln>
        </p:spPr>
      </p:sp>
      <p:sp>
        <p:nvSpPr>
          <p:cNvPr id="162" name="AutoShape 141"/>
          <p:cNvSpPr/>
          <p:nvPr/>
        </p:nvSpPr>
        <p:spPr>
          <a:xfrm>
            <a:off x="8801890" y="2463638"/>
            <a:ext cx="0" cy="7200750"/>
          </a:xfrm>
          <a:prstGeom prst="line">
            <a:avLst/>
          </a:prstGeom>
          <a:ln w="104775" cap="rnd">
            <a:solidFill>
              <a:srgbClr val="43667E"/>
            </a:solidFill>
            <a:prstDash val="solid"/>
            <a:headEnd type="none" w="sm" len="sm"/>
            <a:tailEnd type="none" w="sm" len="sm"/>
          </a:ln>
        </p:spPr>
      </p:sp>
      <p:sp>
        <p:nvSpPr>
          <p:cNvPr id="163" name="AutoShape 142"/>
          <p:cNvSpPr/>
          <p:nvPr/>
        </p:nvSpPr>
        <p:spPr>
          <a:xfrm>
            <a:off x="8801890" y="2463638"/>
            <a:ext cx="1860258" cy="0"/>
          </a:xfrm>
          <a:prstGeom prst="line">
            <a:avLst/>
          </a:prstGeom>
          <a:ln w="104775" cap="rnd">
            <a:solidFill>
              <a:srgbClr val="43667E"/>
            </a:solidFill>
            <a:prstDash val="solid"/>
            <a:headEnd type="none" w="sm" len="sm"/>
            <a:tailEnd type="none" w="sm" len="sm"/>
          </a:ln>
        </p:spPr>
      </p:sp>
      <p:sp>
        <p:nvSpPr>
          <p:cNvPr id="164" name="Freeform 143"/>
          <p:cNvSpPr/>
          <p:nvPr/>
        </p:nvSpPr>
        <p:spPr>
          <a:xfrm>
            <a:off x="1081959" y="4475251"/>
            <a:ext cx="823829" cy="372970"/>
          </a:xfrm>
          <a:custGeom>
            <a:avLst/>
            <a:gdLst/>
            <a:ahLst/>
            <a:cxnLst/>
            <a:rect l="l" t="t" r="r" b="b"/>
            <a:pathLst>
              <a:path w="823829" h="372970">
                <a:moveTo>
                  <a:pt x="0" y="0"/>
                </a:moveTo>
                <a:lnTo>
                  <a:pt x="823829" y="0"/>
                </a:lnTo>
                <a:lnTo>
                  <a:pt x="823829" y="372970"/>
                </a:lnTo>
                <a:lnTo>
                  <a:pt x="0" y="372970"/>
                </a:lnTo>
                <a:lnTo>
                  <a:pt x="0" y="0"/>
                </a:lnTo>
                <a:close/>
              </a:path>
            </a:pathLst>
          </a:custGeom>
          <a:blipFill>
            <a:blip r:embed="rId11">
              <a:extLst>
                <a:ext uri="{96DAC541-7B7A-43D3-8B79-37D633B846F1}">
                  <asvg:svgBlip xmlns:asvg="http://schemas.microsoft.com/office/drawing/2016/SVG/main" xmlns="" r:embed="rId12"/>
                </a:ext>
              </a:extLst>
            </a:blip>
            <a:stretch>
              <a:fillRect/>
            </a:stretch>
          </a:blipFill>
        </p:spPr>
      </p:sp>
      <p:sp>
        <p:nvSpPr>
          <p:cNvPr id="165" name="Freeform 144"/>
          <p:cNvSpPr/>
          <p:nvPr/>
        </p:nvSpPr>
        <p:spPr>
          <a:xfrm>
            <a:off x="1104704" y="5547797"/>
            <a:ext cx="778339" cy="778339"/>
          </a:xfrm>
          <a:custGeom>
            <a:avLst/>
            <a:gdLst/>
            <a:ahLst/>
            <a:cxnLst/>
            <a:rect l="l" t="t" r="r" b="b"/>
            <a:pathLst>
              <a:path w="778339" h="778339">
                <a:moveTo>
                  <a:pt x="0" y="0"/>
                </a:moveTo>
                <a:lnTo>
                  <a:pt x="778339" y="0"/>
                </a:lnTo>
                <a:lnTo>
                  <a:pt x="778339" y="778339"/>
                </a:lnTo>
                <a:lnTo>
                  <a:pt x="0" y="778339"/>
                </a:lnTo>
                <a:lnTo>
                  <a:pt x="0" y="0"/>
                </a:lnTo>
                <a:close/>
              </a:path>
            </a:pathLst>
          </a:custGeom>
          <a:blipFill>
            <a:blip r:embed="rId13">
              <a:extLst>
                <a:ext uri="{96DAC541-7B7A-43D3-8B79-37D633B846F1}">
                  <asvg:svgBlip xmlns:asvg="http://schemas.microsoft.com/office/drawing/2016/SVG/main" xmlns="" r:embed="rId14"/>
                </a:ext>
              </a:extLst>
            </a:blip>
            <a:stretch>
              <a:fillRect/>
            </a:stretch>
          </a:blipFill>
        </p:spPr>
      </p:sp>
      <p:sp>
        <p:nvSpPr>
          <p:cNvPr id="166" name="Freeform 145"/>
          <p:cNvSpPr/>
          <p:nvPr/>
        </p:nvSpPr>
        <p:spPr>
          <a:xfrm>
            <a:off x="1128360" y="6858792"/>
            <a:ext cx="754682" cy="754682"/>
          </a:xfrm>
          <a:custGeom>
            <a:avLst/>
            <a:gdLst/>
            <a:ahLst/>
            <a:cxnLst/>
            <a:rect l="l" t="t" r="r" b="b"/>
            <a:pathLst>
              <a:path w="754682" h="754682">
                <a:moveTo>
                  <a:pt x="0" y="0"/>
                </a:moveTo>
                <a:lnTo>
                  <a:pt x="754683" y="0"/>
                </a:lnTo>
                <a:lnTo>
                  <a:pt x="754683" y="754682"/>
                </a:lnTo>
                <a:lnTo>
                  <a:pt x="0" y="754682"/>
                </a:lnTo>
                <a:lnTo>
                  <a:pt x="0" y="0"/>
                </a:lnTo>
                <a:close/>
              </a:path>
            </a:pathLst>
          </a:custGeom>
          <a:blipFill>
            <a:blip r:embed="rId15">
              <a:extLst>
                <a:ext uri="{96DAC541-7B7A-43D3-8B79-37D633B846F1}">
                  <asvg:svgBlip xmlns:asvg="http://schemas.microsoft.com/office/drawing/2016/SVG/main" xmlns="" r:embed="rId16"/>
                </a:ext>
              </a:extLst>
            </a:blip>
            <a:stretch>
              <a:fillRect/>
            </a:stretch>
          </a:blipFill>
        </p:spPr>
      </p:sp>
      <p:sp>
        <p:nvSpPr>
          <p:cNvPr id="167" name="Freeform 146"/>
          <p:cNvSpPr/>
          <p:nvPr/>
        </p:nvSpPr>
        <p:spPr>
          <a:xfrm>
            <a:off x="1081959" y="8201378"/>
            <a:ext cx="810304" cy="566200"/>
          </a:xfrm>
          <a:custGeom>
            <a:avLst/>
            <a:gdLst/>
            <a:ahLst/>
            <a:cxnLst/>
            <a:rect l="l" t="t" r="r" b="b"/>
            <a:pathLst>
              <a:path w="810304" h="566200">
                <a:moveTo>
                  <a:pt x="0" y="0"/>
                </a:moveTo>
                <a:lnTo>
                  <a:pt x="810303" y="0"/>
                </a:lnTo>
                <a:lnTo>
                  <a:pt x="810303" y="566199"/>
                </a:lnTo>
                <a:lnTo>
                  <a:pt x="0" y="566199"/>
                </a:lnTo>
                <a:lnTo>
                  <a:pt x="0" y="0"/>
                </a:lnTo>
                <a:close/>
              </a:path>
            </a:pathLst>
          </a:custGeom>
          <a:blipFill>
            <a:blip r:embed="rId17">
              <a:extLst>
                <a:ext uri="{96DAC541-7B7A-43D3-8B79-37D633B846F1}">
                  <asvg:svgBlip xmlns:asvg="http://schemas.microsoft.com/office/drawing/2016/SVG/main" xmlns="" r:embed="rId18"/>
                </a:ext>
              </a:extLst>
            </a:blip>
            <a:stretch>
              <a:fillRect/>
            </a:stretch>
          </a:blipFill>
        </p:spPr>
      </p:sp>
      <p:sp>
        <p:nvSpPr>
          <p:cNvPr id="168" name="Freeform 147"/>
          <p:cNvSpPr/>
          <p:nvPr/>
        </p:nvSpPr>
        <p:spPr>
          <a:xfrm>
            <a:off x="9332285" y="3050651"/>
            <a:ext cx="629395" cy="659916"/>
          </a:xfrm>
          <a:custGeom>
            <a:avLst/>
            <a:gdLst/>
            <a:ahLst/>
            <a:cxnLst/>
            <a:rect l="l" t="t" r="r" b="b"/>
            <a:pathLst>
              <a:path w="629395" h="659916">
                <a:moveTo>
                  <a:pt x="0" y="0"/>
                </a:moveTo>
                <a:lnTo>
                  <a:pt x="629395" y="0"/>
                </a:lnTo>
                <a:lnTo>
                  <a:pt x="629395" y="659916"/>
                </a:lnTo>
                <a:lnTo>
                  <a:pt x="0" y="659916"/>
                </a:lnTo>
                <a:lnTo>
                  <a:pt x="0" y="0"/>
                </a:lnTo>
                <a:close/>
              </a:path>
            </a:pathLst>
          </a:custGeom>
          <a:blipFill>
            <a:blip r:embed="rId19">
              <a:extLst>
                <a:ext uri="{96DAC541-7B7A-43D3-8B79-37D633B846F1}">
                  <asvg:svgBlip xmlns:asvg="http://schemas.microsoft.com/office/drawing/2016/SVG/main" xmlns="" r:embed="rId20"/>
                </a:ext>
              </a:extLst>
            </a:blip>
            <a:stretch>
              <a:fillRect/>
            </a:stretch>
          </a:blipFill>
        </p:spPr>
      </p:sp>
      <p:sp>
        <p:nvSpPr>
          <p:cNvPr id="169" name="Freeform 148"/>
          <p:cNvSpPr/>
          <p:nvPr/>
        </p:nvSpPr>
        <p:spPr>
          <a:xfrm>
            <a:off x="9228107" y="6808041"/>
            <a:ext cx="845814" cy="657620"/>
          </a:xfrm>
          <a:custGeom>
            <a:avLst/>
            <a:gdLst/>
            <a:ahLst/>
            <a:cxnLst/>
            <a:rect l="l" t="t" r="r" b="b"/>
            <a:pathLst>
              <a:path w="845814" h="657620">
                <a:moveTo>
                  <a:pt x="0" y="0"/>
                </a:moveTo>
                <a:lnTo>
                  <a:pt x="845814" y="0"/>
                </a:lnTo>
                <a:lnTo>
                  <a:pt x="845814" y="657620"/>
                </a:lnTo>
                <a:lnTo>
                  <a:pt x="0" y="657620"/>
                </a:lnTo>
                <a:lnTo>
                  <a:pt x="0" y="0"/>
                </a:lnTo>
                <a:close/>
              </a:path>
            </a:pathLst>
          </a:custGeom>
          <a:blipFill>
            <a:blip r:embed="rId21">
              <a:extLst>
                <a:ext uri="{96DAC541-7B7A-43D3-8B79-37D633B846F1}">
                  <asvg:svgBlip xmlns:asvg="http://schemas.microsoft.com/office/drawing/2016/SVG/main" xmlns="" r:embed="rId22"/>
                </a:ext>
              </a:extLst>
            </a:blip>
            <a:stretch>
              <a:fillRect/>
            </a:stretch>
          </a:blipFill>
        </p:spPr>
      </p:sp>
      <p:sp>
        <p:nvSpPr>
          <p:cNvPr id="170" name="TextBox 149"/>
          <p:cNvSpPr txBox="1"/>
          <p:nvPr/>
        </p:nvSpPr>
        <p:spPr>
          <a:xfrm>
            <a:off x="2803383" y="3209309"/>
            <a:ext cx="742931" cy="526590"/>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01</a:t>
            </a:r>
          </a:p>
        </p:txBody>
      </p:sp>
      <p:sp>
        <p:nvSpPr>
          <p:cNvPr id="171" name="TextBox 150"/>
          <p:cNvSpPr txBox="1"/>
          <p:nvPr/>
        </p:nvSpPr>
        <p:spPr>
          <a:xfrm>
            <a:off x="2803383" y="3124049"/>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72" name="TextBox 151"/>
          <p:cNvSpPr txBox="1"/>
          <p:nvPr/>
        </p:nvSpPr>
        <p:spPr>
          <a:xfrm>
            <a:off x="2803383" y="4479943"/>
            <a:ext cx="742931" cy="526590"/>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02</a:t>
            </a:r>
          </a:p>
        </p:txBody>
      </p:sp>
      <p:sp>
        <p:nvSpPr>
          <p:cNvPr id="173" name="TextBox 152"/>
          <p:cNvSpPr txBox="1"/>
          <p:nvPr/>
        </p:nvSpPr>
        <p:spPr>
          <a:xfrm>
            <a:off x="2803383" y="4394683"/>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74" name="TextBox 153"/>
          <p:cNvSpPr txBox="1"/>
          <p:nvPr/>
        </p:nvSpPr>
        <p:spPr>
          <a:xfrm>
            <a:off x="2803383" y="5750577"/>
            <a:ext cx="742931" cy="526590"/>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03</a:t>
            </a:r>
          </a:p>
        </p:txBody>
      </p:sp>
      <p:sp>
        <p:nvSpPr>
          <p:cNvPr id="175" name="TextBox 154"/>
          <p:cNvSpPr txBox="1"/>
          <p:nvPr/>
        </p:nvSpPr>
        <p:spPr>
          <a:xfrm>
            <a:off x="2803383" y="5665316"/>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76" name="TextBox 155"/>
          <p:cNvSpPr txBox="1"/>
          <p:nvPr/>
        </p:nvSpPr>
        <p:spPr>
          <a:xfrm>
            <a:off x="2803383" y="7021211"/>
            <a:ext cx="742931" cy="526590"/>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04</a:t>
            </a:r>
          </a:p>
        </p:txBody>
      </p:sp>
      <p:sp>
        <p:nvSpPr>
          <p:cNvPr id="177" name="TextBox 156"/>
          <p:cNvSpPr txBox="1"/>
          <p:nvPr/>
        </p:nvSpPr>
        <p:spPr>
          <a:xfrm>
            <a:off x="2803383" y="6935950"/>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78" name="TextBox 157"/>
          <p:cNvSpPr txBox="1"/>
          <p:nvPr/>
        </p:nvSpPr>
        <p:spPr>
          <a:xfrm>
            <a:off x="2803383" y="8291845"/>
            <a:ext cx="742931" cy="526590"/>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05</a:t>
            </a:r>
          </a:p>
        </p:txBody>
      </p:sp>
      <p:sp>
        <p:nvSpPr>
          <p:cNvPr id="179" name="TextBox 158"/>
          <p:cNvSpPr txBox="1"/>
          <p:nvPr/>
        </p:nvSpPr>
        <p:spPr>
          <a:xfrm>
            <a:off x="2803383" y="8206584"/>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80" name="TextBox 159"/>
          <p:cNvSpPr txBox="1"/>
          <p:nvPr/>
        </p:nvSpPr>
        <p:spPr>
          <a:xfrm>
            <a:off x="3989065" y="3423610"/>
            <a:ext cx="4285766" cy="231635"/>
          </a:xfrm>
          <a:prstGeom prst="rect">
            <a:avLst/>
          </a:prstGeom>
        </p:spPr>
        <p:txBody>
          <a:bodyPr lIns="0" tIns="0" rIns="0" bIns="0" rtlCol="0" anchor="t">
            <a:spAutoFit/>
          </a:bodyPr>
          <a:lstStyle/>
          <a:p>
            <a:pPr algn="l">
              <a:lnSpc>
                <a:spcPts val="1932"/>
              </a:lnSpc>
            </a:pPr>
            <a:r>
              <a:rPr lang="en-US" sz="1380">
                <a:solidFill>
                  <a:srgbClr val="1F1F4F"/>
                </a:solidFill>
                <a:latin typeface="Proxima Nova"/>
                <a:ea typeface="Proxima Nova"/>
                <a:cs typeface="Proxima Nova"/>
                <a:sym typeface="Proxima Nova"/>
              </a:rPr>
              <a:t>Connexion VPN Zero Trust établie — trafic chiffré</a:t>
            </a:r>
          </a:p>
        </p:txBody>
      </p:sp>
      <p:sp>
        <p:nvSpPr>
          <p:cNvPr id="181" name="TextBox 160"/>
          <p:cNvSpPr txBox="1"/>
          <p:nvPr/>
        </p:nvSpPr>
        <p:spPr>
          <a:xfrm>
            <a:off x="3989065" y="4682693"/>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Cloudflare intercepte -redirect vers Access</a:t>
            </a:r>
          </a:p>
        </p:txBody>
      </p:sp>
      <p:sp>
        <p:nvSpPr>
          <p:cNvPr id="182" name="TextBox 161"/>
          <p:cNvSpPr txBox="1"/>
          <p:nvPr/>
        </p:nvSpPr>
        <p:spPr>
          <a:xfrm>
            <a:off x="3989065" y="3124049"/>
            <a:ext cx="3438696" cy="281128"/>
          </a:xfrm>
          <a:prstGeom prst="rect">
            <a:avLst/>
          </a:prstGeom>
        </p:spPr>
        <p:txBody>
          <a:bodyPr lIns="0" tIns="0" rIns="0" bIns="0" rtlCol="0" anchor="t">
            <a:spAutoFit/>
          </a:bodyPr>
          <a:lstStyle/>
          <a:p>
            <a:pPr algn="l">
              <a:lnSpc>
                <a:spcPts val="2352"/>
              </a:lnSpc>
            </a:pPr>
            <a:r>
              <a:rPr lang="en-US" sz="1680" b="1">
                <a:solidFill>
                  <a:srgbClr val="1F1F4F"/>
                </a:solidFill>
                <a:latin typeface="Proxima Nova Bold"/>
                <a:ea typeface="Proxima Nova Bold"/>
                <a:cs typeface="Proxima Nova Bold"/>
                <a:sym typeface="Proxima Nova Bold"/>
              </a:rPr>
              <a:t>Lance WARP</a:t>
            </a:r>
          </a:p>
        </p:txBody>
      </p:sp>
      <p:sp>
        <p:nvSpPr>
          <p:cNvPr id="183" name="TextBox 162"/>
          <p:cNvSpPr txBox="1"/>
          <p:nvPr/>
        </p:nvSpPr>
        <p:spPr>
          <a:xfrm>
            <a:off x="3989065" y="4380736"/>
            <a:ext cx="4177007"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Navigue vers proxmox.ayoub-tmpa.org</a:t>
            </a:r>
          </a:p>
        </p:txBody>
      </p:sp>
      <p:sp>
        <p:nvSpPr>
          <p:cNvPr id="184" name="TextBox 163"/>
          <p:cNvSpPr txBox="1"/>
          <p:nvPr/>
        </p:nvSpPr>
        <p:spPr>
          <a:xfrm>
            <a:off x="3989065" y="5930908"/>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OTP à 6 chiffres envoyé (valide 10 min)</a:t>
            </a:r>
          </a:p>
        </p:txBody>
      </p:sp>
      <p:sp>
        <p:nvSpPr>
          <p:cNvPr id="185" name="TextBox 164"/>
          <p:cNvSpPr txBox="1"/>
          <p:nvPr/>
        </p:nvSpPr>
        <p:spPr>
          <a:xfrm>
            <a:off x="3989065" y="5701422"/>
            <a:ext cx="3438696"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Saisit email professionnel</a:t>
            </a:r>
          </a:p>
        </p:txBody>
      </p:sp>
      <p:sp>
        <p:nvSpPr>
          <p:cNvPr id="186" name="TextBox 165"/>
          <p:cNvSpPr txBox="1"/>
          <p:nvPr/>
        </p:nvSpPr>
        <p:spPr>
          <a:xfrm>
            <a:off x="3989065" y="7174290"/>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Cloudflare Access validé — tunnel activé</a:t>
            </a:r>
          </a:p>
        </p:txBody>
      </p:sp>
      <p:sp>
        <p:nvSpPr>
          <p:cNvPr id="187" name="TextBox 166"/>
          <p:cNvSpPr txBox="1"/>
          <p:nvPr/>
        </p:nvSpPr>
        <p:spPr>
          <a:xfrm>
            <a:off x="3989065" y="6892394"/>
            <a:ext cx="3438696"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Saisit code OTP</a:t>
            </a:r>
          </a:p>
        </p:txBody>
      </p:sp>
      <p:sp>
        <p:nvSpPr>
          <p:cNvPr id="188" name="TextBox 167"/>
          <p:cNvSpPr txBox="1"/>
          <p:nvPr/>
        </p:nvSpPr>
        <p:spPr>
          <a:xfrm>
            <a:off x="3965723" y="8547089"/>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Authentification OIDC — interface de login realm</a:t>
            </a:r>
          </a:p>
        </p:txBody>
      </p:sp>
      <p:sp>
        <p:nvSpPr>
          <p:cNvPr id="189" name="TextBox 168"/>
          <p:cNvSpPr txBox="1"/>
          <p:nvPr/>
        </p:nvSpPr>
        <p:spPr>
          <a:xfrm>
            <a:off x="3989065" y="8163719"/>
            <a:ext cx="3438696"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Redirect vers Keycloak SSO</a:t>
            </a:r>
          </a:p>
        </p:txBody>
      </p:sp>
      <p:sp>
        <p:nvSpPr>
          <p:cNvPr id="190" name="TextBox 169"/>
          <p:cNvSpPr txBox="1"/>
          <p:nvPr/>
        </p:nvSpPr>
        <p:spPr>
          <a:xfrm>
            <a:off x="10899633" y="3127101"/>
            <a:ext cx="742931" cy="526658"/>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06</a:t>
            </a:r>
          </a:p>
        </p:txBody>
      </p:sp>
      <p:sp>
        <p:nvSpPr>
          <p:cNvPr id="191" name="TextBox 170"/>
          <p:cNvSpPr txBox="1"/>
          <p:nvPr/>
        </p:nvSpPr>
        <p:spPr>
          <a:xfrm>
            <a:off x="10899633" y="3041840"/>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92" name="TextBox 171"/>
          <p:cNvSpPr txBox="1"/>
          <p:nvPr/>
        </p:nvSpPr>
        <p:spPr>
          <a:xfrm>
            <a:off x="10899633" y="4397735"/>
            <a:ext cx="742931" cy="526658"/>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07</a:t>
            </a:r>
          </a:p>
        </p:txBody>
      </p:sp>
      <p:sp>
        <p:nvSpPr>
          <p:cNvPr id="193" name="TextBox 172"/>
          <p:cNvSpPr txBox="1"/>
          <p:nvPr/>
        </p:nvSpPr>
        <p:spPr>
          <a:xfrm>
            <a:off x="10899633" y="4312474"/>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94" name="TextBox 173"/>
          <p:cNvSpPr txBox="1"/>
          <p:nvPr/>
        </p:nvSpPr>
        <p:spPr>
          <a:xfrm>
            <a:off x="10899633" y="5668369"/>
            <a:ext cx="742931" cy="526658"/>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08</a:t>
            </a:r>
          </a:p>
        </p:txBody>
      </p:sp>
      <p:sp>
        <p:nvSpPr>
          <p:cNvPr id="195" name="TextBox 174"/>
          <p:cNvSpPr txBox="1"/>
          <p:nvPr/>
        </p:nvSpPr>
        <p:spPr>
          <a:xfrm>
            <a:off x="10899633" y="5583108"/>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96" name="TextBox 175"/>
          <p:cNvSpPr txBox="1"/>
          <p:nvPr/>
        </p:nvSpPr>
        <p:spPr>
          <a:xfrm>
            <a:off x="10899633" y="6939003"/>
            <a:ext cx="742931" cy="526658"/>
          </a:xfrm>
          <a:prstGeom prst="rect">
            <a:avLst/>
          </a:prstGeom>
        </p:spPr>
        <p:txBody>
          <a:bodyPr lIns="0" tIns="0" rIns="0" bIns="0" rtlCol="0" anchor="t">
            <a:spAutoFit/>
          </a:bodyPr>
          <a:lstStyle/>
          <a:p>
            <a:pPr algn="ctr">
              <a:lnSpc>
                <a:spcPts val="4338"/>
              </a:lnSpc>
            </a:pPr>
            <a:r>
              <a:rPr lang="en-US" sz="3098" b="1">
                <a:solidFill>
                  <a:srgbClr val="1F1F4F"/>
                </a:solidFill>
                <a:latin typeface="Proxima Nova Bold"/>
                <a:ea typeface="Proxima Nova Bold"/>
                <a:cs typeface="Proxima Nova Bold"/>
                <a:sym typeface="Proxima Nova Bold"/>
              </a:rPr>
              <a:t>09</a:t>
            </a:r>
          </a:p>
        </p:txBody>
      </p:sp>
      <p:sp>
        <p:nvSpPr>
          <p:cNvPr id="197" name="TextBox 176"/>
          <p:cNvSpPr txBox="1"/>
          <p:nvPr/>
        </p:nvSpPr>
        <p:spPr>
          <a:xfrm>
            <a:off x="10899633" y="6853742"/>
            <a:ext cx="742931" cy="202422"/>
          </a:xfrm>
          <a:prstGeom prst="rect">
            <a:avLst/>
          </a:prstGeom>
        </p:spPr>
        <p:txBody>
          <a:bodyPr lIns="0" tIns="0" rIns="0" bIns="0" rtlCol="0" anchor="t">
            <a:spAutoFit/>
          </a:bodyPr>
          <a:lstStyle/>
          <a:p>
            <a:pPr algn="ctr">
              <a:lnSpc>
                <a:spcPts val="1652"/>
              </a:lnSpc>
            </a:pPr>
            <a:r>
              <a:rPr lang="en-US" sz="1180" b="1">
                <a:solidFill>
                  <a:srgbClr val="1F1F4F"/>
                </a:solidFill>
                <a:latin typeface="Proxima Nova Bold"/>
                <a:ea typeface="Proxima Nova Bold"/>
                <a:cs typeface="Proxima Nova Bold"/>
                <a:sym typeface="Proxima Nova Bold"/>
              </a:rPr>
              <a:t>STEP</a:t>
            </a:r>
          </a:p>
        </p:txBody>
      </p:sp>
      <p:sp>
        <p:nvSpPr>
          <p:cNvPr id="198" name="TextBox 177"/>
          <p:cNvSpPr txBox="1"/>
          <p:nvPr/>
        </p:nvSpPr>
        <p:spPr>
          <a:xfrm>
            <a:off x="12085315" y="3336686"/>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MFA validé — token JWT émis avec claims groupe</a:t>
            </a:r>
          </a:p>
        </p:txBody>
      </p:sp>
      <p:sp>
        <p:nvSpPr>
          <p:cNvPr id="199" name="TextBox 178"/>
          <p:cNvSpPr txBox="1"/>
          <p:nvPr/>
        </p:nvSpPr>
        <p:spPr>
          <a:xfrm>
            <a:off x="12085315" y="4567183"/>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Keycloak retourne rôles autorisés (Admin / Tenant)</a:t>
            </a:r>
          </a:p>
        </p:txBody>
      </p:sp>
      <p:sp>
        <p:nvSpPr>
          <p:cNvPr id="200" name="TextBox 179"/>
          <p:cNvSpPr txBox="1"/>
          <p:nvPr/>
        </p:nvSpPr>
        <p:spPr>
          <a:xfrm>
            <a:off x="12085315" y="3041840"/>
            <a:ext cx="3438696"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Saisit identifiants + code TOTP</a:t>
            </a:r>
          </a:p>
        </p:txBody>
      </p:sp>
      <p:sp>
        <p:nvSpPr>
          <p:cNvPr id="201" name="TextBox 180"/>
          <p:cNvSpPr txBox="1"/>
          <p:nvPr/>
        </p:nvSpPr>
        <p:spPr>
          <a:xfrm>
            <a:off x="12085315" y="4298528"/>
            <a:ext cx="3438696"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Vérification rôle RBAC</a:t>
            </a:r>
          </a:p>
        </p:txBody>
      </p:sp>
      <p:sp>
        <p:nvSpPr>
          <p:cNvPr id="202" name="TextBox 181"/>
          <p:cNvSpPr txBox="1"/>
          <p:nvPr/>
        </p:nvSpPr>
        <p:spPr>
          <a:xfrm>
            <a:off x="12085315" y="5875269"/>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Règles VLAN appliquées — accès autorisé</a:t>
            </a:r>
          </a:p>
        </p:txBody>
      </p:sp>
      <p:sp>
        <p:nvSpPr>
          <p:cNvPr id="203" name="TextBox 182"/>
          <p:cNvSpPr txBox="1"/>
          <p:nvPr/>
        </p:nvSpPr>
        <p:spPr>
          <a:xfrm>
            <a:off x="12085315" y="5558067"/>
            <a:ext cx="3438696"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pfSense contrôle les flux</a:t>
            </a:r>
          </a:p>
        </p:txBody>
      </p:sp>
      <p:sp>
        <p:nvSpPr>
          <p:cNvPr id="204" name="TextBox 183"/>
          <p:cNvSpPr txBox="1"/>
          <p:nvPr/>
        </p:nvSpPr>
        <p:spPr>
          <a:xfrm>
            <a:off x="12084585" y="7128103"/>
            <a:ext cx="4285766" cy="232481"/>
          </a:xfrm>
          <a:prstGeom prst="rect">
            <a:avLst/>
          </a:prstGeom>
        </p:spPr>
        <p:txBody>
          <a:bodyPr lIns="0" tIns="0" rIns="0" bIns="0" rtlCol="0" anchor="t">
            <a:spAutoFit/>
          </a:bodyPr>
          <a:lstStyle/>
          <a:p>
            <a:pPr marL="0" lvl="0" indent="0" algn="l">
              <a:lnSpc>
                <a:spcPts val="1932"/>
              </a:lnSpc>
              <a:spcBef>
                <a:spcPct val="0"/>
              </a:spcBef>
            </a:pPr>
            <a:r>
              <a:rPr lang="en-US" sz="1380" u="none" strike="noStrike">
                <a:solidFill>
                  <a:srgbClr val="1F1F4F"/>
                </a:solidFill>
                <a:latin typeface="Proxima Nova"/>
                <a:ea typeface="Proxima Nova"/>
                <a:cs typeface="Proxima Nova"/>
                <a:sym typeface="Proxima Nova"/>
              </a:rPr>
              <a:t>Session ouverte — session loggée dans ELK</a:t>
            </a:r>
          </a:p>
        </p:txBody>
      </p:sp>
      <p:sp>
        <p:nvSpPr>
          <p:cNvPr id="205" name="TextBox 184"/>
          <p:cNvSpPr txBox="1"/>
          <p:nvPr/>
        </p:nvSpPr>
        <p:spPr>
          <a:xfrm>
            <a:off x="12085315" y="6810186"/>
            <a:ext cx="3438696" cy="281000"/>
          </a:xfrm>
          <a:prstGeom prst="rect">
            <a:avLst/>
          </a:prstGeom>
        </p:spPr>
        <p:txBody>
          <a:bodyPr lIns="0" tIns="0" rIns="0" bIns="0" rtlCol="0" anchor="t">
            <a:spAutoFit/>
          </a:bodyPr>
          <a:lstStyle/>
          <a:p>
            <a:pPr marL="0" lvl="0" indent="0" algn="l">
              <a:lnSpc>
                <a:spcPts val="2352"/>
              </a:lnSpc>
              <a:spcBef>
                <a:spcPct val="0"/>
              </a:spcBef>
            </a:pPr>
            <a:r>
              <a:rPr lang="en-US" sz="1680" b="1" u="none" strike="noStrike">
                <a:solidFill>
                  <a:srgbClr val="1F1F4F"/>
                </a:solidFill>
                <a:latin typeface="Proxima Nova Bold"/>
                <a:ea typeface="Proxima Nova Bold"/>
                <a:cs typeface="Proxima Nova Bold"/>
                <a:sym typeface="Proxima Nova Bold"/>
              </a:rPr>
              <a:t>Accès à Proxmox VE</a:t>
            </a:r>
          </a:p>
        </p:txBody>
      </p:sp>
      <p:sp>
        <p:nvSpPr>
          <p:cNvPr id="2" name="Rectangle 1"/>
          <p:cNvSpPr/>
          <p:nvPr/>
        </p:nvSpPr>
        <p:spPr>
          <a:xfrm>
            <a:off x="4420608" y="1412397"/>
            <a:ext cx="10644934" cy="646331"/>
          </a:xfrm>
          <a:prstGeom prst="rect">
            <a:avLst/>
          </a:prstGeom>
        </p:spPr>
        <p:txBody>
          <a:bodyPr wrap="square">
            <a:spAutoFit/>
          </a:bodyPr>
          <a:lstStyle/>
          <a:p>
            <a:r>
              <a:rPr lang="en-US" sz="3600" dirty="0" err="1"/>
              <a:t>Scénario</a:t>
            </a:r>
            <a:r>
              <a:rPr lang="en-US" b="1" dirty="0">
                <a:solidFill>
                  <a:srgbClr val="132A56"/>
                </a:solidFill>
                <a:latin typeface="Calibri" pitchFamily="34" charset="0"/>
                <a:ea typeface="Calibri" pitchFamily="34" charset="-122"/>
                <a:cs typeface="Calibri" pitchFamily="34" charset="-120"/>
              </a:rPr>
              <a:t> </a:t>
            </a:r>
            <a:r>
              <a:rPr lang="en-US" sz="3600" dirty="0" err="1"/>
              <a:t>Complet</a:t>
            </a:r>
            <a:r>
              <a:rPr lang="en-US" sz="3600" dirty="0"/>
              <a:t> - </a:t>
            </a:r>
            <a:r>
              <a:rPr lang="en-US" sz="3600" dirty="0" err="1"/>
              <a:t>Accès</a:t>
            </a:r>
            <a:r>
              <a:rPr lang="en-US" sz="3600" dirty="0"/>
              <a:t> </a:t>
            </a:r>
            <a:r>
              <a:rPr lang="en-US" sz="3600" dirty="0" err="1"/>
              <a:t>Administrateur</a:t>
            </a:r>
            <a:r>
              <a:rPr lang="en-US" sz="3600" dirty="0"/>
              <a:t> à </a:t>
            </a:r>
            <a:r>
              <a:rPr lang="en-US" sz="3600" dirty="0" err="1"/>
              <a:t>Proxmox</a:t>
            </a:r>
            <a:endParaRPr lang="en-US" sz="3600" dirty="0"/>
          </a:p>
        </p:txBody>
      </p:sp>
      <p:sp>
        <p:nvSpPr>
          <p:cNvPr id="38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solidFill>
                <a:sym typeface="TT Fors Bold"/>
              </a:rPr>
              <a:t>Sécurité</a:t>
            </a:r>
            <a:r>
              <a:rPr lang="en-US" sz="2400" b="1" dirty="0">
                <a:solidFill>
                  <a:schemeClr val="bg1">
                    <a:lumMod val="50000"/>
                  </a:schemeClr>
                </a:solidFill>
                <a:sym typeface="TT Fors Bold"/>
              </a:rPr>
              <a:t> </a:t>
            </a:r>
            <a:r>
              <a:rPr lang="en-US" sz="2400" b="1" dirty="0">
                <a:solidFill>
                  <a:schemeClr val="bg1"/>
                </a:solidFill>
                <a:sym typeface="TT Fors Bold"/>
              </a:rPr>
              <a:t>Zero-Trust</a:t>
            </a:r>
            <a:endParaRPr lang="fr-FR" sz="2400" b="1" dirty="0">
              <a:solidFill>
                <a:schemeClr val="bg1"/>
              </a:solidFill>
            </a:endParaRPr>
          </a:p>
        </p:txBody>
      </p:sp>
      <p:sp>
        <p:nvSpPr>
          <p:cNvPr id="390"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39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39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393"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394"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395" name="Isosceles Triangle 9">
            <a:extLst>
              <a:ext uri="{FF2B5EF4-FFF2-40B4-BE49-F238E27FC236}">
                <a16:creationId xmlns:a16="http://schemas.microsoft.com/office/drawing/2014/main" id="{709D209E-827B-4D05-AF40-9CDA368833AE}"/>
              </a:ext>
            </a:extLst>
          </p:cNvPr>
          <p:cNvSpPr/>
          <p:nvPr/>
        </p:nvSpPr>
        <p:spPr>
          <a:xfrm>
            <a:off x="65486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Tree>
    <p:extLst>
      <p:ext uri="{BB962C8B-B14F-4D97-AF65-F5344CB8AC3E}">
        <p14:creationId xmlns:p14="http://schemas.microsoft.com/office/powerpoint/2010/main" val="11865556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fill="hold"/>
                                        <p:tgtEl>
                                          <p:spTgt spid="20"/>
                                        </p:tgtEl>
                                        <p:attrNameLst>
                                          <p:attrName>ppt_x</p:attrName>
                                        </p:attrNameLst>
                                      </p:cBhvr>
                                      <p:tavLst>
                                        <p:tav tm="0">
                                          <p:val>
                                            <p:strVal val="#ppt_x"/>
                                          </p:val>
                                        </p:tav>
                                        <p:tav tm="100000">
                                          <p:val>
                                            <p:strVal val="#ppt_x"/>
                                          </p:val>
                                        </p:tav>
                                      </p:tavLst>
                                    </p:anim>
                                    <p:anim calcmode="lin" valueType="num">
                                      <p:cBhvr additive="base">
                                        <p:cTn id="8" dur="500" fill="hold"/>
                                        <p:tgtEl>
                                          <p:spTgt spid="20"/>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anim calcmode="lin" valueType="num">
                                      <p:cBhvr additive="base">
                                        <p:cTn id="11" dur="500" fill="hold"/>
                                        <p:tgtEl>
                                          <p:spTgt spid="23"/>
                                        </p:tgtEl>
                                        <p:attrNameLst>
                                          <p:attrName>ppt_x</p:attrName>
                                        </p:attrNameLst>
                                      </p:cBhvr>
                                      <p:tavLst>
                                        <p:tav tm="0">
                                          <p:val>
                                            <p:strVal val="#ppt_x"/>
                                          </p:val>
                                        </p:tav>
                                        <p:tav tm="100000">
                                          <p:val>
                                            <p:strVal val="#ppt_x"/>
                                          </p:val>
                                        </p:tav>
                                      </p:tavLst>
                                    </p:anim>
                                    <p:anim calcmode="lin" valueType="num">
                                      <p:cBhvr additive="base">
                                        <p:cTn id="12" dur="500" fill="hold"/>
                                        <p:tgtEl>
                                          <p:spTgt spid="2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2"/>
                                        </p:tgtEl>
                                        <p:attrNameLst>
                                          <p:attrName>style.visibility</p:attrName>
                                        </p:attrNameLst>
                                      </p:cBhvr>
                                      <p:to>
                                        <p:strVal val="visible"/>
                                      </p:to>
                                    </p:set>
                                    <p:anim calcmode="lin" valueType="num">
                                      <p:cBhvr additive="base">
                                        <p:cTn id="15" dur="500" fill="hold"/>
                                        <p:tgtEl>
                                          <p:spTgt spid="42"/>
                                        </p:tgtEl>
                                        <p:attrNameLst>
                                          <p:attrName>ppt_x</p:attrName>
                                        </p:attrNameLst>
                                      </p:cBhvr>
                                      <p:tavLst>
                                        <p:tav tm="0">
                                          <p:val>
                                            <p:strVal val="#ppt_x"/>
                                          </p:val>
                                        </p:tav>
                                        <p:tav tm="100000">
                                          <p:val>
                                            <p:strVal val="#ppt_x"/>
                                          </p:val>
                                        </p:tav>
                                      </p:tavLst>
                                    </p:anim>
                                    <p:anim calcmode="lin" valueType="num">
                                      <p:cBhvr additive="base">
                                        <p:cTn id="16" dur="500" fill="hold"/>
                                        <p:tgtEl>
                                          <p:spTgt spid="42"/>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58"/>
                                        </p:tgtEl>
                                        <p:attrNameLst>
                                          <p:attrName>style.visibility</p:attrName>
                                        </p:attrNameLst>
                                      </p:cBhvr>
                                      <p:to>
                                        <p:strVal val="visible"/>
                                      </p:to>
                                    </p:set>
                                    <p:anim calcmode="lin" valueType="num">
                                      <p:cBhvr additive="base">
                                        <p:cTn id="19" dur="500" fill="hold"/>
                                        <p:tgtEl>
                                          <p:spTgt spid="58"/>
                                        </p:tgtEl>
                                        <p:attrNameLst>
                                          <p:attrName>ppt_x</p:attrName>
                                        </p:attrNameLst>
                                      </p:cBhvr>
                                      <p:tavLst>
                                        <p:tav tm="0">
                                          <p:val>
                                            <p:strVal val="#ppt_x"/>
                                          </p:val>
                                        </p:tav>
                                        <p:tav tm="100000">
                                          <p:val>
                                            <p:strVal val="#ppt_x"/>
                                          </p:val>
                                        </p:tav>
                                      </p:tavLst>
                                    </p:anim>
                                    <p:anim calcmode="lin" valueType="num">
                                      <p:cBhvr additive="base">
                                        <p:cTn id="20" dur="500" fill="hold"/>
                                        <p:tgtEl>
                                          <p:spTgt spid="58"/>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anim calcmode="lin" valueType="num">
                                      <p:cBhvr additive="base">
                                        <p:cTn id="23" dur="500" fill="hold"/>
                                        <p:tgtEl>
                                          <p:spTgt spid="63"/>
                                        </p:tgtEl>
                                        <p:attrNameLst>
                                          <p:attrName>ppt_x</p:attrName>
                                        </p:attrNameLst>
                                      </p:cBhvr>
                                      <p:tavLst>
                                        <p:tav tm="0">
                                          <p:val>
                                            <p:strVal val="#ppt_x"/>
                                          </p:val>
                                        </p:tav>
                                        <p:tav tm="100000">
                                          <p:val>
                                            <p:strVal val="#ppt_x"/>
                                          </p:val>
                                        </p:tav>
                                      </p:tavLst>
                                    </p:anim>
                                    <p:anim calcmode="lin" valueType="num">
                                      <p:cBhvr additive="base">
                                        <p:cTn id="24" dur="500" fill="hold"/>
                                        <p:tgtEl>
                                          <p:spTgt spid="63"/>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97"/>
                                        </p:tgtEl>
                                        <p:attrNameLst>
                                          <p:attrName>style.visibility</p:attrName>
                                        </p:attrNameLst>
                                      </p:cBhvr>
                                      <p:to>
                                        <p:strVal val="visible"/>
                                      </p:to>
                                    </p:set>
                                    <p:anim calcmode="lin" valueType="num">
                                      <p:cBhvr additive="base">
                                        <p:cTn id="27" dur="500" fill="hold"/>
                                        <p:tgtEl>
                                          <p:spTgt spid="97"/>
                                        </p:tgtEl>
                                        <p:attrNameLst>
                                          <p:attrName>ppt_x</p:attrName>
                                        </p:attrNameLst>
                                      </p:cBhvr>
                                      <p:tavLst>
                                        <p:tav tm="0">
                                          <p:val>
                                            <p:strVal val="#ppt_x"/>
                                          </p:val>
                                        </p:tav>
                                        <p:tav tm="100000">
                                          <p:val>
                                            <p:strVal val="#ppt_x"/>
                                          </p:val>
                                        </p:tav>
                                      </p:tavLst>
                                    </p:anim>
                                    <p:anim calcmode="lin" valueType="num">
                                      <p:cBhvr additive="base">
                                        <p:cTn id="28" dur="500" fill="hold"/>
                                        <p:tgtEl>
                                          <p:spTgt spid="97"/>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70"/>
                                        </p:tgtEl>
                                        <p:attrNameLst>
                                          <p:attrName>style.visibility</p:attrName>
                                        </p:attrNameLst>
                                      </p:cBhvr>
                                      <p:to>
                                        <p:strVal val="visible"/>
                                      </p:to>
                                    </p:set>
                                    <p:anim calcmode="lin" valueType="num">
                                      <p:cBhvr additive="base">
                                        <p:cTn id="31" dur="500" fill="hold"/>
                                        <p:tgtEl>
                                          <p:spTgt spid="170"/>
                                        </p:tgtEl>
                                        <p:attrNameLst>
                                          <p:attrName>ppt_x</p:attrName>
                                        </p:attrNameLst>
                                      </p:cBhvr>
                                      <p:tavLst>
                                        <p:tav tm="0">
                                          <p:val>
                                            <p:strVal val="#ppt_x"/>
                                          </p:val>
                                        </p:tav>
                                        <p:tav tm="100000">
                                          <p:val>
                                            <p:strVal val="#ppt_x"/>
                                          </p:val>
                                        </p:tav>
                                      </p:tavLst>
                                    </p:anim>
                                    <p:anim calcmode="lin" valueType="num">
                                      <p:cBhvr additive="base">
                                        <p:cTn id="32" dur="500" fill="hold"/>
                                        <p:tgtEl>
                                          <p:spTgt spid="170"/>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71"/>
                                        </p:tgtEl>
                                        <p:attrNameLst>
                                          <p:attrName>style.visibility</p:attrName>
                                        </p:attrNameLst>
                                      </p:cBhvr>
                                      <p:to>
                                        <p:strVal val="visible"/>
                                      </p:to>
                                    </p:set>
                                    <p:anim calcmode="lin" valueType="num">
                                      <p:cBhvr additive="base">
                                        <p:cTn id="35" dur="500" fill="hold"/>
                                        <p:tgtEl>
                                          <p:spTgt spid="171"/>
                                        </p:tgtEl>
                                        <p:attrNameLst>
                                          <p:attrName>ppt_x</p:attrName>
                                        </p:attrNameLst>
                                      </p:cBhvr>
                                      <p:tavLst>
                                        <p:tav tm="0">
                                          <p:val>
                                            <p:strVal val="#ppt_x"/>
                                          </p:val>
                                        </p:tav>
                                        <p:tav tm="100000">
                                          <p:val>
                                            <p:strVal val="#ppt_x"/>
                                          </p:val>
                                        </p:tav>
                                      </p:tavLst>
                                    </p:anim>
                                    <p:anim calcmode="lin" valueType="num">
                                      <p:cBhvr additive="base">
                                        <p:cTn id="36" dur="500" fill="hold"/>
                                        <p:tgtEl>
                                          <p:spTgt spid="171"/>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0"/>
                                        </p:tgtEl>
                                        <p:attrNameLst>
                                          <p:attrName>style.visibility</p:attrName>
                                        </p:attrNameLst>
                                      </p:cBhvr>
                                      <p:to>
                                        <p:strVal val="visible"/>
                                      </p:to>
                                    </p:set>
                                    <p:anim calcmode="lin" valueType="num">
                                      <p:cBhvr additive="base">
                                        <p:cTn id="39" dur="500" fill="hold"/>
                                        <p:tgtEl>
                                          <p:spTgt spid="180"/>
                                        </p:tgtEl>
                                        <p:attrNameLst>
                                          <p:attrName>ppt_x</p:attrName>
                                        </p:attrNameLst>
                                      </p:cBhvr>
                                      <p:tavLst>
                                        <p:tav tm="0">
                                          <p:val>
                                            <p:strVal val="#ppt_x"/>
                                          </p:val>
                                        </p:tav>
                                        <p:tav tm="100000">
                                          <p:val>
                                            <p:strVal val="#ppt_x"/>
                                          </p:val>
                                        </p:tav>
                                      </p:tavLst>
                                    </p:anim>
                                    <p:anim calcmode="lin" valueType="num">
                                      <p:cBhvr additive="base">
                                        <p:cTn id="40" dur="500" fill="hold"/>
                                        <p:tgtEl>
                                          <p:spTgt spid="180"/>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2"/>
                                        </p:tgtEl>
                                        <p:attrNameLst>
                                          <p:attrName>style.visibility</p:attrName>
                                        </p:attrNameLst>
                                      </p:cBhvr>
                                      <p:to>
                                        <p:strVal val="visible"/>
                                      </p:to>
                                    </p:set>
                                    <p:anim calcmode="lin" valueType="num">
                                      <p:cBhvr additive="base">
                                        <p:cTn id="43" dur="500" fill="hold"/>
                                        <p:tgtEl>
                                          <p:spTgt spid="182"/>
                                        </p:tgtEl>
                                        <p:attrNameLst>
                                          <p:attrName>ppt_x</p:attrName>
                                        </p:attrNameLst>
                                      </p:cBhvr>
                                      <p:tavLst>
                                        <p:tav tm="0">
                                          <p:val>
                                            <p:strVal val="#ppt_x"/>
                                          </p:val>
                                        </p:tav>
                                        <p:tav tm="100000">
                                          <p:val>
                                            <p:strVal val="#ppt_x"/>
                                          </p:val>
                                        </p:tav>
                                      </p:tavLst>
                                    </p:anim>
                                    <p:anim calcmode="lin" valueType="num">
                                      <p:cBhvr additive="base">
                                        <p:cTn id="44" dur="500" fill="hold"/>
                                        <p:tgtEl>
                                          <p:spTgt spid="182"/>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16" presetClass="entr" presetSubtype="21" fill="hold" nodeType="clickEffect">
                                  <p:stCondLst>
                                    <p:cond delay="0"/>
                                  </p:stCondLst>
                                  <p:childTnLst>
                                    <p:set>
                                      <p:cBhvr>
                                        <p:cTn id="52" dur="1" fill="hold">
                                          <p:stCondLst>
                                            <p:cond delay="0"/>
                                          </p:stCondLst>
                                        </p:cTn>
                                        <p:tgtEl>
                                          <p:spTgt spid="57"/>
                                        </p:tgtEl>
                                        <p:attrNameLst>
                                          <p:attrName>style.visibility</p:attrName>
                                        </p:attrNameLst>
                                      </p:cBhvr>
                                      <p:to>
                                        <p:strVal val="visible"/>
                                      </p:to>
                                    </p:set>
                                    <p:animEffect transition="in" filter="barn(inVertical)">
                                      <p:cBhvr>
                                        <p:cTn id="53" dur="500"/>
                                        <p:tgtEl>
                                          <p:spTgt spid="57"/>
                                        </p:tgtEl>
                                      </p:cBhvr>
                                    </p:animEffect>
                                  </p:childTnLst>
                                </p:cTn>
                              </p:par>
                            </p:childTnLst>
                          </p:cTn>
                        </p:par>
                      </p:childTnLst>
                    </p:cTn>
                  </p:par>
                  <p:par>
                    <p:cTn id="54" fill="hold">
                      <p:stCondLst>
                        <p:cond delay="indefinite"/>
                      </p:stCondLst>
                      <p:childTnLst>
                        <p:par>
                          <p:cTn id="55" fill="hold">
                            <p:stCondLst>
                              <p:cond delay="0"/>
                            </p:stCondLst>
                            <p:childTnLst>
                              <p:par>
                                <p:cTn id="56" presetID="16" presetClass="entr" presetSubtype="21" fill="hold"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barn(inVertical)">
                                      <p:cBhvr>
                                        <p:cTn id="58" dur="500"/>
                                        <p:tgtEl>
                                          <p:spTgt spid="26"/>
                                        </p:tgtEl>
                                      </p:cBhvr>
                                    </p:animEffect>
                                  </p:childTnLst>
                                </p:cTn>
                              </p:par>
                              <p:par>
                                <p:cTn id="59" presetID="16" presetClass="entr" presetSubtype="21" fill="hold" nodeType="with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barn(inVertical)">
                                      <p:cBhvr>
                                        <p:cTn id="61" dur="500"/>
                                        <p:tgtEl>
                                          <p:spTgt spid="29"/>
                                        </p:tgtEl>
                                      </p:cBhvr>
                                    </p:animEffect>
                                  </p:childTnLst>
                                </p:cTn>
                              </p:par>
                              <p:par>
                                <p:cTn id="62" presetID="16" presetClass="entr" presetSubtype="21" fill="hold"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barn(inVertical)">
                                      <p:cBhvr>
                                        <p:cTn id="64" dur="500"/>
                                        <p:tgtEl>
                                          <p:spTgt spid="45"/>
                                        </p:tgtEl>
                                      </p:cBhvr>
                                    </p:animEffect>
                                  </p:childTnLst>
                                </p:cTn>
                              </p:par>
                              <p:par>
                                <p:cTn id="65" presetID="16" presetClass="entr" presetSubtype="21" fill="hold" nodeType="withEffect">
                                  <p:stCondLst>
                                    <p:cond delay="0"/>
                                  </p:stCondLst>
                                  <p:childTnLst>
                                    <p:set>
                                      <p:cBhvr>
                                        <p:cTn id="66" dur="1" fill="hold">
                                          <p:stCondLst>
                                            <p:cond delay="0"/>
                                          </p:stCondLst>
                                        </p:cTn>
                                        <p:tgtEl>
                                          <p:spTgt spid="59"/>
                                        </p:tgtEl>
                                        <p:attrNameLst>
                                          <p:attrName>style.visibility</p:attrName>
                                        </p:attrNameLst>
                                      </p:cBhvr>
                                      <p:to>
                                        <p:strVal val="visible"/>
                                      </p:to>
                                    </p:set>
                                    <p:animEffect transition="in" filter="barn(inVertical)">
                                      <p:cBhvr>
                                        <p:cTn id="67" dur="500"/>
                                        <p:tgtEl>
                                          <p:spTgt spid="59"/>
                                        </p:tgtEl>
                                      </p:cBhvr>
                                    </p:animEffect>
                                  </p:childTnLst>
                                </p:cTn>
                              </p:par>
                              <p:par>
                                <p:cTn id="68" presetID="16" presetClass="entr" presetSubtype="21" fill="hold" nodeType="withEffect">
                                  <p:stCondLst>
                                    <p:cond delay="0"/>
                                  </p:stCondLst>
                                  <p:childTnLst>
                                    <p:set>
                                      <p:cBhvr>
                                        <p:cTn id="69" dur="1" fill="hold">
                                          <p:stCondLst>
                                            <p:cond delay="0"/>
                                          </p:stCondLst>
                                        </p:cTn>
                                        <p:tgtEl>
                                          <p:spTgt spid="67"/>
                                        </p:tgtEl>
                                        <p:attrNameLst>
                                          <p:attrName>style.visibility</p:attrName>
                                        </p:attrNameLst>
                                      </p:cBhvr>
                                      <p:to>
                                        <p:strVal val="visible"/>
                                      </p:to>
                                    </p:set>
                                    <p:animEffect transition="in" filter="barn(inVertical)">
                                      <p:cBhvr>
                                        <p:cTn id="70" dur="500"/>
                                        <p:tgtEl>
                                          <p:spTgt spid="67"/>
                                        </p:tgtEl>
                                      </p:cBhvr>
                                    </p:animEffect>
                                  </p:childTnLst>
                                </p:cTn>
                              </p:par>
                              <p:par>
                                <p:cTn id="71" presetID="16" presetClass="entr" presetSubtype="21" fill="hold" nodeType="withEffect">
                                  <p:stCondLst>
                                    <p:cond delay="0"/>
                                  </p:stCondLst>
                                  <p:childTnLst>
                                    <p:set>
                                      <p:cBhvr>
                                        <p:cTn id="72" dur="1" fill="hold">
                                          <p:stCondLst>
                                            <p:cond delay="0"/>
                                          </p:stCondLst>
                                        </p:cTn>
                                        <p:tgtEl>
                                          <p:spTgt spid="164"/>
                                        </p:tgtEl>
                                        <p:attrNameLst>
                                          <p:attrName>style.visibility</p:attrName>
                                        </p:attrNameLst>
                                      </p:cBhvr>
                                      <p:to>
                                        <p:strVal val="visible"/>
                                      </p:to>
                                    </p:set>
                                    <p:animEffect transition="in" filter="barn(inVertical)">
                                      <p:cBhvr>
                                        <p:cTn id="73" dur="500"/>
                                        <p:tgtEl>
                                          <p:spTgt spid="164"/>
                                        </p:tgtEl>
                                      </p:cBhvr>
                                    </p:animEffect>
                                  </p:childTnLst>
                                </p:cTn>
                              </p:par>
                              <p:par>
                                <p:cTn id="74" presetID="16" presetClass="entr" presetSubtype="21" fill="hold" grpId="0" nodeType="withEffect">
                                  <p:stCondLst>
                                    <p:cond delay="0"/>
                                  </p:stCondLst>
                                  <p:childTnLst>
                                    <p:set>
                                      <p:cBhvr>
                                        <p:cTn id="75" dur="1" fill="hold">
                                          <p:stCondLst>
                                            <p:cond delay="0"/>
                                          </p:stCondLst>
                                        </p:cTn>
                                        <p:tgtEl>
                                          <p:spTgt spid="172"/>
                                        </p:tgtEl>
                                        <p:attrNameLst>
                                          <p:attrName>style.visibility</p:attrName>
                                        </p:attrNameLst>
                                      </p:cBhvr>
                                      <p:to>
                                        <p:strVal val="visible"/>
                                      </p:to>
                                    </p:set>
                                    <p:animEffect transition="in" filter="barn(inVertical)">
                                      <p:cBhvr>
                                        <p:cTn id="76" dur="500"/>
                                        <p:tgtEl>
                                          <p:spTgt spid="172"/>
                                        </p:tgtEl>
                                      </p:cBhvr>
                                    </p:animEffect>
                                  </p:childTnLst>
                                </p:cTn>
                              </p:par>
                              <p:par>
                                <p:cTn id="77" presetID="16" presetClass="entr" presetSubtype="21" fill="hold" grpId="0" nodeType="withEffect">
                                  <p:stCondLst>
                                    <p:cond delay="0"/>
                                  </p:stCondLst>
                                  <p:childTnLst>
                                    <p:set>
                                      <p:cBhvr>
                                        <p:cTn id="78" dur="1" fill="hold">
                                          <p:stCondLst>
                                            <p:cond delay="0"/>
                                          </p:stCondLst>
                                        </p:cTn>
                                        <p:tgtEl>
                                          <p:spTgt spid="173"/>
                                        </p:tgtEl>
                                        <p:attrNameLst>
                                          <p:attrName>style.visibility</p:attrName>
                                        </p:attrNameLst>
                                      </p:cBhvr>
                                      <p:to>
                                        <p:strVal val="visible"/>
                                      </p:to>
                                    </p:set>
                                    <p:animEffect transition="in" filter="barn(inVertical)">
                                      <p:cBhvr>
                                        <p:cTn id="79" dur="500"/>
                                        <p:tgtEl>
                                          <p:spTgt spid="173"/>
                                        </p:tgtEl>
                                      </p:cBhvr>
                                    </p:animEffect>
                                  </p:childTnLst>
                                </p:cTn>
                              </p:par>
                              <p:par>
                                <p:cTn id="80" presetID="16" presetClass="entr" presetSubtype="21" fill="hold" grpId="0" nodeType="withEffect">
                                  <p:stCondLst>
                                    <p:cond delay="0"/>
                                  </p:stCondLst>
                                  <p:childTnLst>
                                    <p:set>
                                      <p:cBhvr>
                                        <p:cTn id="81" dur="1" fill="hold">
                                          <p:stCondLst>
                                            <p:cond delay="0"/>
                                          </p:stCondLst>
                                        </p:cTn>
                                        <p:tgtEl>
                                          <p:spTgt spid="181"/>
                                        </p:tgtEl>
                                        <p:attrNameLst>
                                          <p:attrName>style.visibility</p:attrName>
                                        </p:attrNameLst>
                                      </p:cBhvr>
                                      <p:to>
                                        <p:strVal val="visible"/>
                                      </p:to>
                                    </p:set>
                                    <p:animEffect transition="in" filter="barn(inVertical)">
                                      <p:cBhvr>
                                        <p:cTn id="82" dur="500"/>
                                        <p:tgtEl>
                                          <p:spTgt spid="181"/>
                                        </p:tgtEl>
                                      </p:cBhvr>
                                    </p:animEffect>
                                  </p:childTnLst>
                                </p:cTn>
                              </p:par>
                              <p:par>
                                <p:cTn id="83" presetID="16" presetClass="entr" presetSubtype="21" fill="hold" grpId="0" nodeType="withEffect">
                                  <p:stCondLst>
                                    <p:cond delay="0"/>
                                  </p:stCondLst>
                                  <p:childTnLst>
                                    <p:set>
                                      <p:cBhvr>
                                        <p:cTn id="84" dur="1" fill="hold">
                                          <p:stCondLst>
                                            <p:cond delay="0"/>
                                          </p:stCondLst>
                                        </p:cTn>
                                        <p:tgtEl>
                                          <p:spTgt spid="183"/>
                                        </p:tgtEl>
                                        <p:attrNameLst>
                                          <p:attrName>style.visibility</p:attrName>
                                        </p:attrNameLst>
                                      </p:cBhvr>
                                      <p:to>
                                        <p:strVal val="visible"/>
                                      </p:to>
                                    </p:set>
                                    <p:animEffect transition="in" filter="barn(inVertical)">
                                      <p:cBhvr>
                                        <p:cTn id="85" dur="500"/>
                                        <p:tgtEl>
                                          <p:spTgt spid="183"/>
                                        </p:tgtEl>
                                      </p:cBhvr>
                                    </p:animEffect>
                                  </p:childTnLst>
                                </p:cTn>
                              </p:par>
                              <p:par>
                                <p:cTn id="86" presetID="16" presetClass="entr" presetSubtype="21" fill="hold" nodeType="withEffect">
                                  <p:stCondLst>
                                    <p:cond delay="0"/>
                                  </p:stCondLst>
                                  <p:childTnLst>
                                    <p:set>
                                      <p:cBhvr>
                                        <p:cTn id="87" dur="1" fill="hold">
                                          <p:stCondLst>
                                            <p:cond delay="0"/>
                                          </p:stCondLst>
                                        </p:cTn>
                                        <p:tgtEl>
                                          <p:spTgt spid="16"/>
                                        </p:tgtEl>
                                        <p:attrNameLst>
                                          <p:attrName>style.visibility</p:attrName>
                                        </p:attrNameLst>
                                      </p:cBhvr>
                                      <p:to>
                                        <p:strVal val="visible"/>
                                      </p:to>
                                    </p:set>
                                    <p:animEffect transition="in" filter="barn(inVertical)">
                                      <p:cBhvr>
                                        <p:cTn id="88" dur="500"/>
                                        <p:tgtEl>
                                          <p:spTgt spid="16"/>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4" fill="hold" nodeType="click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down)">
                                      <p:cBhvr>
                                        <p:cTn id="93" dur="500"/>
                                        <p:tgtEl>
                                          <p:spTgt spid="32"/>
                                        </p:tgtEl>
                                      </p:cBhvr>
                                    </p:animEffect>
                                  </p:childTnLst>
                                </p:cTn>
                              </p:par>
                              <p:par>
                                <p:cTn id="94" presetID="22" presetClass="entr" presetSubtype="4"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down)">
                                      <p:cBhvr>
                                        <p:cTn id="96" dur="500"/>
                                        <p:tgtEl>
                                          <p:spTgt spid="48"/>
                                        </p:tgtEl>
                                      </p:cBhvr>
                                    </p:animEffect>
                                  </p:childTnLst>
                                </p:cTn>
                              </p:par>
                              <p:par>
                                <p:cTn id="97" presetID="22" presetClass="entr" presetSubtype="4" fill="hold" nodeType="withEffect">
                                  <p:stCondLst>
                                    <p:cond delay="0"/>
                                  </p:stCondLst>
                                  <p:childTnLst>
                                    <p:set>
                                      <p:cBhvr>
                                        <p:cTn id="98" dur="1" fill="hold">
                                          <p:stCondLst>
                                            <p:cond delay="0"/>
                                          </p:stCondLst>
                                        </p:cTn>
                                        <p:tgtEl>
                                          <p:spTgt spid="60"/>
                                        </p:tgtEl>
                                        <p:attrNameLst>
                                          <p:attrName>style.visibility</p:attrName>
                                        </p:attrNameLst>
                                      </p:cBhvr>
                                      <p:to>
                                        <p:strVal val="visible"/>
                                      </p:to>
                                    </p:set>
                                    <p:animEffect transition="in" filter="wipe(down)">
                                      <p:cBhvr>
                                        <p:cTn id="99" dur="500"/>
                                        <p:tgtEl>
                                          <p:spTgt spid="60"/>
                                        </p:tgtEl>
                                      </p:cBhvr>
                                    </p:animEffect>
                                  </p:childTnLst>
                                </p:cTn>
                              </p:par>
                              <p:par>
                                <p:cTn id="100" presetID="22" presetClass="entr" presetSubtype="4"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animEffect transition="in" filter="wipe(down)">
                                      <p:cBhvr>
                                        <p:cTn id="102" dur="500"/>
                                        <p:tgtEl>
                                          <p:spTgt spid="71"/>
                                        </p:tgtEl>
                                      </p:cBhvr>
                                    </p:animEffect>
                                  </p:childTnLst>
                                </p:cTn>
                              </p:par>
                              <p:par>
                                <p:cTn id="103" presetID="22" presetClass="entr" presetSubtype="4" fill="hold" nodeType="withEffect">
                                  <p:stCondLst>
                                    <p:cond delay="0"/>
                                  </p:stCondLst>
                                  <p:childTnLst>
                                    <p:set>
                                      <p:cBhvr>
                                        <p:cTn id="104" dur="1" fill="hold">
                                          <p:stCondLst>
                                            <p:cond delay="0"/>
                                          </p:stCondLst>
                                        </p:cTn>
                                        <p:tgtEl>
                                          <p:spTgt spid="88"/>
                                        </p:tgtEl>
                                        <p:attrNameLst>
                                          <p:attrName>style.visibility</p:attrName>
                                        </p:attrNameLst>
                                      </p:cBhvr>
                                      <p:to>
                                        <p:strVal val="visible"/>
                                      </p:to>
                                    </p:set>
                                    <p:animEffect transition="in" filter="wipe(down)">
                                      <p:cBhvr>
                                        <p:cTn id="105" dur="500"/>
                                        <p:tgtEl>
                                          <p:spTgt spid="88"/>
                                        </p:tgtEl>
                                      </p:cBhvr>
                                    </p:animEffect>
                                  </p:childTnLst>
                                </p:cTn>
                              </p:par>
                              <p:par>
                                <p:cTn id="106" presetID="22" presetClass="entr" presetSubtype="4" fill="hold" nodeType="withEffect">
                                  <p:stCondLst>
                                    <p:cond delay="0"/>
                                  </p:stCondLst>
                                  <p:childTnLst>
                                    <p:set>
                                      <p:cBhvr>
                                        <p:cTn id="107" dur="1" fill="hold">
                                          <p:stCondLst>
                                            <p:cond delay="0"/>
                                          </p:stCondLst>
                                        </p:cTn>
                                        <p:tgtEl>
                                          <p:spTgt spid="165"/>
                                        </p:tgtEl>
                                        <p:attrNameLst>
                                          <p:attrName>style.visibility</p:attrName>
                                        </p:attrNameLst>
                                      </p:cBhvr>
                                      <p:to>
                                        <p:strVal val="visible"/>
                                      </p:to>
                                    </p:set>
                                    <p:animEffect transition="in" filter="wipe(down)">
                                      <p:cBhvr>
                                        <p:cTn id="108" dur="500"/>
                                        <p:tgtEl>
                                          <p:spTgt spid="165"/>
                                        </p:tgtEl>
                                      </p:cBhvr>
                                    </p:animEffect>
                                  </p:childTnLst>
                                </p:cTn>
                              </p:par>
                              <p:par>
                                <p:cTn id="109" presetID="22" presetClass="entr" presetSubtype="4" fill="hold" grpId="0" nodeType="withEffect">
                                  <p:stCondLst>
                                    <p:cond delay="0"/>
                                  </p:stCondLst>
                                  <p:childTnLst>
                                    <p:set>
                                      <p:cBhvr>
                                        <p:cTn id="110" dur="1" fill="hold">
                                          <p:stCondLst>
                                            <p:cond delay="0"/>
                                          </p:stCondLst>
                                        </p:cTn>
                                        <p:tgtEl>
                                          <p:spTgt spid="174"/>
                                        </p:tgtEl>
                                        <p:attrNameLst>
                                          <p:attrName>style.visibility</p:attrName>
                                        </p:attrNameLst>
                                      </p:cBhvr>
                                      <p:to>
                                        <p:strVal val="visible"/>
                                      </p:to>
                                    </p:set>
                                    <p:animEffect transition="in" filter="wipe(down)">
                                      <p:cBhvr>
                                        <p:cTn id="111" dur="500"/>
                                        <p:tgtEl>
                                          <p:spTgt spid="174"/>
                                        </p:tgtEl>
                                      </p:cBhvr>
                                    </p:animEffect>
                                  </p:childTnLst>
                                </p:cTn>
                              </p:par>
                              <p:par>
                                <p:cTn id="112" presetID="22" presetClass="entr" presetSubtype="4" fill="hold" grpId="0" nodeType="withEffect">
                                  <p:stCondLst>
                                    <p:cond delay="0"/>
                                  </p:stCondLst>
                                  <p:childTnLst>
                                    <p:set>
                                      <p:cBhvr>
                                        <p:cTn id="113" dur="1" fill="hold">
                                          <p:stCondLst>
                                            <p:cond delay="0"/>
                                          </p:stCondLst>
                                        </p:cTn>
                                        <p:tgtEl>
                                          <p:spTgt spid="175"/>
                                        </p:tgtEl>
                                        <p:attrNameLst>
                                          <p:attrName>style.visibility</p:attrName>
                                        </p:attrNameLst>
                                      </p:cBhvr>
                                      <p:to>
                                        <p:strVal val="visible"/>
                                      </p:to>
                                    </p:set>
                                    <p:animEffect transition="in" filter="wipe(down)">
                                      <p:cBhvr>
                                        <p:cTn id="114" dur="500"/>
                                        <p:tgtEl>
                                          <p:spTgt spid="175"/>
                                        </p:tgtEl>
                                      </p:cBhvr>
                                    </p:animEffect>
                                  </p:childTnLst>
                                </p:cTn>
                              </p:par>
                              <p:par>
                                <p:cTn id="115" presetID="22" presetClass="entr" presetSubtype="4" fill="hold" grpId="0" nodeType="withEffect">
                                  <p:stCondLst>
                                    <p:cond delay="0"/>
                                  </p:stCondLst>
                                  <p:childTnLst>
                                    <p:set>
                                      <p:cBhvr>
                                        <p:cTn id="116" dur="1" fill="hold">
                                          <p:stCondLst>
                                            <p:cond delay="0"/>
                                          </p:stCondLst>
                                        </p:cTn>
                                        <p:tgtEl>
                                          <p:spTgt spid="184"/>
                                        </p:tgtEl>
                                        <p:attrNameLst>
                                          <p:attrName>style.visibility</p:attrName>
                                        </p:attrNameLst>
                                      </p:cBhvr>
                                      <p:to>
                                        <p:strVal val="visible"/>
                                      </p:to>
                                    </p:set>
                                    <p:animEffect transition="in" filter="wipe(down)">
                                      <p:cBhvr>
                                        <p:cTn id="117" dur="500"/>
                                        <p:tgtEl>
                                          <p:spTgt spid="184"/>
                                        </p:tgtEl>
                                      </p:cBhvr>
                                    </p:animEffect>
                                  </p:childTnLst>
                                </p:cTn>
                              </p:par>
                              <p:par>
                                <p:cTn id="118" presetID="22" presetClass="entr" presetSubtype="4" fill="hold" grpId="0" nodeType="withEffect">
                                  <p:stCondLst>
                                    <p:cond delay="0"/>
                                  </p:stCondLst>
                                  <p:childTnLst>
                                    <p:set>
                                      <p:cBhvr>
                                        <p:cTn id="119" dur="1" fill="hold">
                                          <p:stCondLst>
                                            <p:cond delay="0"/>
                                          </p:stCondLst>
                                        </p:cTn>
                                        <p:tgtEl>
                                          <p:spTgt spid="185"/>
                                        </p:tgtEl>
                                        <p:attrNameLst>
                                          <p:attrName>style.visibility</p:attrName>
                                        </p:attrNameLst>
                                      </p:cBhvr>
                                      <p:to>
                                        <p:strVal val="visible"/>
                                      </p:to>
                                    </p:set>
                                    <p:animEffect transition="in" filter="wipe(down)">
                                      <p:cBhvr>
                                        <p:cTn id="120" dur="500"/>
                                        <p:tgtEl>
                                          <p:spTgt spid="185"/>
                                        </p:tgtEl>
                                      </p:cBhvr>
                                    </p:animEffect>
                                  </p:childTnLst>
                                </p:cTn>
                              </p:par>
                              <p:par>
                                <p:cTn id="121" presetID="22" presetClass="entr" presetSubtype="4" fill="hold" nodeType="withEffect">
                                  <p:stCondLst>
                                    <p:cond delay="0"/>
                                  </p:stCondLst>
                                  <p:childTnLst>
                                    <p:set>
                                      <p:cBhvr>
                                        <p:cTn id="122" dur="1" fill="hold">
                                          <p:stCondLst>
                                            <p:cond delay="0"/>
                                          </p:stCondLst>
                                        </p:cTn>
                                        <p:tgtEl>
                                          <p:spTgt spid="66"/>
                                        </p:tgtEl>
                                        <p:attrNameLst>
                                          <p:attrName>style.visibility</p:attrName>
                                        </p:attrNameLst>
                                      </p:cBhvr>
                                      <p:to>
                                        <p:strVal val="visible"/>
                                      </p:to>
                                    </p:set>
                                    <p:animEffect transition="in" filter="wipe(down)">
                                      <p:cBhvr>
                                        <p:cTn id="123" dur="500"/>
                                        <p:tgtEl>
                                          <p:spTgt spid="66"/>
                                        </p:tgtEl>
                                      </p:cBhvr>
                                    </p:animEffect>
                                  </p:childTnLst>
                                </p:cTn>
                              </p:par>
                              <p:par>
                                <p:cTn id="124" presetID="22" presetClass="entr" presetSubtype="4" fill="hold" nodeType="withEffect">
                                  <p:stCondLst>
                                    <p:cond delay="0"/>
                                  </p:stCondLst>
                                  <p:childTnLst>
                                    <p:set>
                                      <p:cBhvr>
                                        <p:cTn id="125" dur="1" fill="hold">
                                          <p:stCondLst>
                                            <p:cond delay="0"/>
                                          </p:stCondLst>
                                        </p:cTn>
                                        <p:tgtEl>
                                          <p:spTgt spid="17"/>
                                        </p:tgtEl>
                                        <p:attrNameLst>
                                          <p:attrName>style.visibility</p:attrName>
                                        </p:attrNameLst>
                                      </p:cBhvr>
                                      <p:to>
                                        <p:strVal val="visible"/>
                                      </p:to>
                                    </p:set>
                                    <p:animEffect transition="in" filter="wipe(down)">
                                      <p:cBhvr>
                                        <p:cTn id="126" dur="500"/>
                                        <p:tgtEl>
                                          <p:spTgt spid="17"/>
                                        </p:tgtEl>
                                      </p:cBhvr>
                                    </p:animEffect>
                                  </p:childTnLst>
                                </p:cTn>
                              </p:par>
                            </p:childTnLst>
                          </p:cTn>
                        </p:par>
                      </p:childTnLst>
                    </p:cTn>
                  </p:par>
                  <p:par>
                    <p:cTn id="127" fill="hold">
                      <p:stCondLst>
                        <p:cond delay="indefinite"/>
                      </p:stCondLst>
                      <p:childTnLst>
                        <p:par>
                          <p:cTn id="128" fill="hold">
                            <p:stCondLst>
                              <p:cond delay="0"/>
                            </p:stCondLst>
                            <p:childTnLst>
                              <p:par>
                                <p:cTn id="129" presetID="53" presetClass="entr" presetSubtype="16" fill="hold" nodeType="clickEffect">
                                  <p:stCondLst>
                                    <p:cond delay="0"/>
                                  </p:stCondLst>
                                  <p:childTnLst>
                                    <p:set>
                                      <p:cBhvr>
                                        <p:cTn id="130" dur="1" fill="hold">
                                          <p:stCondLst>
                                            <p:cond delay="0"/>
                                          </p:stCondLst>
                                        </p:cTn>
                                        <p:tgtEl>
                                          <p:spTgt spid="36"/>
                                        </p:tgtEl>
                                        <p:attrNameLst>
                                          <p:attrName>style.visibility</p:attrName>
                                        </p:attrNameLst>
                                      </p:cBhvr>
                                      <p:to>
                                        <p:strVal val="visible"/>
                                      </p:to>
                                    </p:set>
                                    <p:anim calcmode="lin" valueType="num">
                                      <p:cBhvr>
                                        <p:cTn id="131" dur="500" fill="hold"/>
                                        <p:tgtEl>
                                          <p:spTgt spid="36"/>
                                        </p:tgtEl>
                                        <p:attrNameLst>
                                          <p:attrName>ppt_w</p:attrName>
                                        </p:attrNameLst>
                                      </p:cBhvr>
                                      <p:tavLst>
                                        <p:tav tm="0">
                                          <p:val>
                                            <p:fltVal val="0"/>
                                          </p:val>
                                        </p:tav>
                                        <p:tav tm="100000">
                                          <p:val>
                                            <p:strVal val="#ppt_w"/>
                                          </p:val>
                                        </p:tav>
                                      </p:tavLst>
                                    </p:anim>
                                    <p:anim calcmode="lin" valueType="num">
                                      <p:cBhvr>
                                        <p:cTn id="132" dur="500" fill="hold"/>
                                        <p:tgtEl>
                                          <p:spTgt spid="36"/>
                                        </p:tgtEl>
                                        <p:attrNameLst>
                                          <p:attrName>ppt_h</p:attrName>
                                        </p:attrNameLst>
                                      </p:cBhvr>
                                      <p:tavLst>
                                        <p:tav tm="0">
                                          <p:val>
                                            <p:fltVal val="0"/>
                                          </p:val>
                                        </p:tav>
                                        <p:tav tm="100000">
                                          <p:val>
                                            <p:strVal val="#ppt_h"/>
                                          </p:val>
                                        </p:tav>
                                      </p:tavLst>
                                    </p:anim>
                                    <p:animEffect transition="in" filter="fade">
                                      <p:cBhvr>
                                        <p:cTn id="133" dur="500"/>
                                        <p:tgtEl>
                                          <p:spTgt spid="36"/>
                                        </p:tgtEl>
                                      </p:cBhvr>
                                    </p:animEffect>
                                  </p:childTnLst>
                                </p:cTn>
                              </p:par>
                              <p:par>
                                <p:cTn id="134" presetID="53" presetClass="entr" presetSubtype="16" fill="hold" nodeType="withEffect">
                                  <p:stCondLst>
                                    <p:cond delay="0"/>
                                  </p:stCondLst>
                                  <p:childTnLst>
                                    <p:set>
                                      <p:cBhvr>
                                        <p:cTn id="135" dur="1" fill="hold">
                                          <p:stCondLst>
                                            <p:cond delay="0"/>
                                          </p:stCondLst>
                                        </p:cTn>
                                        <p:tgtEl>
                                          <p:spTgt spid="51"/>
                                        </p:tgtEl>
                                        <p:attrNameLst>
                                          <p:attrName>style.visibility</p:attrName>
                                        </p:attrNameLst>
                                      </p:cBhvr>
                                      <p:to>
                                        <p:strVal val="visible"/>
                                      </p:to>
                                    </p:set>
                                    <p:anim calcmode="lin" valueType="num">
                                      <p:cBhvr>
                                        <p:cTn id="136" dur="500" fill="hold"/>
                                        <p:tgtEl>
                                          <p:spTgt spid="51"/>
                                        </p:tgtEl>
                                        <p:attrNameLst>
                                          <p:attrName>ppt_w</p:attrName>
                                        </p:attrNameLst>
                                      </p:cBhvr>
                                      <p:tavLst>
                                        <p:tav tm="0">
                                          <p:val>
                                            <p:fltVal val="0"/>
                                          </p:val>
                                        </p:tav>
                                        <p:tav tm="100000">
                                          <p:val>
                                            <p:strVal val="#ppt_w"/>
                                          </p:val>
                                        </p:tav>
                                      </p:tavLst>
                                    </p:anim>
                                    <p:anim calcmode="lin" valueType="num">
                                      <p:cBhvr>
                                        <p:cTn id="137" dur="500" fill="hold"/>
                                        <p:tgtEl>
                                          <p:spTgt spid="51"/>
                                        </p:tgtEl>
                                        <p:attrNameLst>
                                          <p:attrName>ppt_h</p:attrName>
                                        </p:attrNameLst>
                                      </p:cBhvr>
                                      <p:tavLst>
                                        <p:tav tm="0">
                                          <p:val>
                                            <p:fltVal val="0"/>
                                          </p:val>
                                        </p:tav>
                                        <p:tav tm="100000">
                                          <p:val>
                                            <p:strVal val="#ppt_h"/>
                                          </p:val>
                                        </p:tav>
                                      </p:tavLst>
                                    </p:anim>
                                    <p:animEffect transition="in" filter="fade">
                                      <p:cBhvr>
                                        <p:cTn id="138" dur="500"/>
                                        <p:tgtEl>
                                          <p:spTgt spid="51"/>
                                        </p:tgtEl>
                                      </p:cBhvr>
                                    </p:animEffect>
                                  </p:childTnLst>
                                </p:cTn>
                              </p:par>
                              <p:par>
                                <p:cTn id="139" presetID="53" presetClass="entr" presetSubtype="16" fill="hold" nodeType="withEffect">
                                  <p:stCondLst>
                                    <p:cond delay="0"/>
                                  </p:stCondLst>
                                  <p:childTnLst>
                                    <p:set>
                                      <p:cBhvr>
                                        <p:cTn id="140" dur="1" fill="hold">
                                          <p:stCondLst>
                                            <p:cond delay="0"/>
                                          </p:stCondLst>
                                        </p:cTn>
                                        <p:tgtEl>
                                          <p:spTgt spid="61"/>
                                        </p:tgtEl>
                                        <p:attrNameLst>
                                          <p:attrName>style.visibility</p:attrName>
                                        </p:attrNameLst>
                                      </p:cBhvr>
                                      <p:to>
                                        <p:strVal val="visible"/>
                                      </p:to>
                                    </p:set>
                                    <p:anim calcmode="lin" valueType="num">
                                      <p:cBhvr>
                                        <p:cTn id="141" dur="500" fill="hold"/>
                                        <p:tgtEl>
                                          <p:spTgt spid="61"/>
                                        </p:tgtEl>
                                        <p:attrNameLst>
                                          <p:attrName>ppt_w</p:attrName>
                                        </p:attrNameLst>
                                      </p:cBhvr>
                                      <p:tavLst>
                                        <p:tav tm="0">
                                          <p:val>
                                            <p:fltVal val="0"/>
                                          </p:val>
                                        </p:tav>
                                        <p:tav tm="100000">
                                          <p:val>
                                            <p:strVal val="#ppt_w"/>
                                          </p:val>
                                        </p:tav>
                                      </p:tavLst>
                                    </p:anim>
                                    <p:anim calcmode="lin" valueType="num">
                                      <p:cBhvr>
                                        <p:cTn id="142" dur="500" fill="hold"/>
                                        <p:tgtEl>
                                          <p:spTgt spid="61"/>
                                        </p:tgtEl>
                                        <p:attrNameLst>
                                          <p:attrName>ppt_h</p:attrName>
                                        </p:attrNameLst>
                                      </p:cBhvr>
                                      <p:tavLst>
                                        <p:tav tm="0">
                                          <p:val>
                                            <p:fltVal val="0"/>
                                          </p:val>
                                        </p:tav>
                                        <p:tav tm="100000">
                                          <p:val>
                                            <p:strVal val="#ppt_h"/>
                                          </p:val>
                                        </p:tav>
                                      </p:tavLst>
                                    </p:anim>
                                    <p:animEffect transition="in" filter="fade">
                                      <p:cBhvr>
                                        <p:cTn id="143" dur="500"/>
                                        <p:tgtEl>
                                          <p:spTgt spid="61"/>
                                        </p:tgtEl>
                                      </p:cBhvr>
                                    </p:animEffect>
                                  </p:childTnLst>
                                </p:cTn>
                              </p:par>
                              <p:par>
                                <p:cTn id="144" presetID="53" presetClass="entr" presetSubtype="16" fill="hold" nodeType="withEffect">
                                  <p:stCondLst>
                                    <p:cond delay="0"/>
                                  </p:stCondLst>
                                  <p:childTnLst>
                                    <p:set>
                                      <p:cBhvr>
                                        <p:cTn id="145" dur="1" fill="hold">
                                          <p:stCondLst>
                                            <p:cond delay="0"/>
                                          </p:stCondLst>
                                        </p:cTn>
                                        <p:tgtEl>
                                          <p:spTgt spid="75"/>
                                        </p:tgtEl>
                                        <p:attrNameLst>
                                          <p:attrName>style.visibility</p:attrName>
                                        </p:attrNameLst>
                                      </p:cBhvr>
                                      <p:to>
                                        <p:strVal val="visible"/>
                                      </p:to>
                                    </p:set>
                                    <p:anim calcmode="lin" valueType="num">
                                      <p:cBhvr>
                                        <p:cTn id="146" dur="500" fill="hold"/>
                                        <p:tgtEl>
                                          <p:spTgt spid="75"/>
                                        </p:tgtEl>
                                        <p:attrNameLst>
                                          <p:attrName>ppt_w</p:attrName>
                                        </p:attrNameLst>
                                      </p:cBhvr>
                                      <p:tavLst>
                                        <p:tav tm="0">
                                          <p:val>
                                            <p:fltVal val="0"/>
                                          </p:val>
                                        </p:tav>
                                        <p:tav tm="100000">
                                          <p:val>
                                            <p:strVal val="#ppt_w"/>
                                          </p:val>
                                        </p:tav>
                                      </p:tavLst>
                                    </p:anim>
                                    <p:anim calcmode="lin" valueType="num">
                                      <p:cBhvr>
                                        <p:cTn id="147" dur="500" fill="hold"/>
                                        <p:tgtEl>
                                          <p:spTgt spid="75"/>
                                        </p:tgtEl>
                                        <p:attrNameLst>
                                          <p:attrName>ppt_h</p:attrName>
                                        </p:attrNameLst>
                                      </p:cBhvr>
                                      <p:tavLst>
                                        <p:tav tm="0">
                                          <p:val>
                                            <p:fltVal val="0"/>
                                          </p:val>
                                        </p:tav>
                                        <p:tav tm="100000">
                                          <p:val>
                                            <p:strVal val="#ppt_h"/>
                                          </p:val>
                                        </p:tav>
                                      </p:tavLst>
                                    </p:anim>
                                    <p:animEffect transition="in" filter="fade">
                                      <p:cBhvr>
                                        <p:cTn id="148" dur="500"/>
                                        <p:tgtEl>
                                          <p:spTgt spid="75"/>
                                        </p:tgtEl>
                                      </p:cBhvr>
                                    </p:animEffect>
                                  </p:childTnLst>
                                </p:cTn>
                              </p:par>
                              <p:par>
                                <p:cTn id="149" presetID="53" presetClass="entr" presetSubtype="16" fill="hold" nodeType="withEffect">
                                  <p:stCondLst>
                                    <p:cond delay="0"/>
                                  </p:stCondLst>
                                  <p:childTnLst>
                                    <p:set>
                                      <p:cBhvr>
                                        <p:cTn id="150" dur="1" fill="hold">
                                          <p:stCondLst>
                                            <p:cond delay="0"/>
                                          </p:stCondLst>
                                        </p:cTn>
                                        <p:tgtEl>
                                          <p:spTgt spid="91"/>
                                        </p:tgtEl>
                                        <p:attrNameLst>
                                          <p:attrName>style.visibility</p:attrName>
                                        </p:attrNameLst>
                                      </p:cBhvr>
                                      <p:to>
                                        <p:strVal val="visible"/>
                                      </p:to>
                                    </p:set>
                                    <p:anim calcmode="lin" valueType="num">
                                      <p:cBhvr>
                                        <p:cTn id="151" dur="500" fill="hold"/>
                                        <p:tgtEl>
                                          <p:spTgt spid="91"/>
                                        </p:tgtEl>
                                        <p:attrNameLst>
                                          <p:attrName>ppt_w</p:attrName>
                                        </p:attrNameLst>
                                      </p:cBhvr>
                                      <p:tavLst>
                                        <p:tav tm="0">
                                          <p:val>
                                            <p:fltVal val="0"/>
                                          </p:val>
                                        </p:tav>
                                        <p:tav tm="100000">
                                          <p:val>
                                            <p:strVal val="#ppt_w"/>
                                          </p:val>
                                        </p:tav>
                                      </p:tavLst>
                                    </p:anim>
                                    <p:anim calcmode="lin" valueType="num">
                                      <p:cBhvr>
                                        <p:cTn id="152" dur="500" fill="hold"/>
                                        <p:tgtEl>
                                          <p:spTgt spid="91"/>
                                        </p:tgtEl>
                                        <p:attrNameLst>
                                          <p:attrName>ppt_h</p:attrName>
                                        </p:attrNameLst>
                                      </p:cBhvr>
                                      <p:tavLst>
                                        <p:tav tm="0">
                                          <p:val>
                                            <p:fltVal val="0"/>
                                          </p:val>
                                        </p:tav>
                                        <p:tav tm="100000">
                                          <p:val>
                                            <p:strVal val="#ppt_h"/>
                                          </p:val>
                                        </p:tav>
                                      </p:tavLst>
                                    </p:anim>
                                    <p:animEffect transition="in" filter="fade">
                                      <p:cBhvr>
                                        <p:cTn id="153" dur="500"/>
                                        <p:tgtEl>
                                          <p:spTgt spid="91"/>
                                        </p:tgtEl>
                                      </p:cBhvr>
                                    </p:animEffect>
                                  </p:childTnLst>
                                </p:cTn>
                              </p:par>
                              <p:par>
                                <p:cTn id="154" presetID="53" presetClass="entr" presetSubtype="16" fill="hold" nodeType="withEffect">
                                  <p:stCondLst>
                                    <p:cond delay="0"/>
                                  </p:stCondLst>
                                  <p:childTnLst>
                                    <p:set>
                                      <p:cBhvr>
                                        <p:cTn id="155" dur="1" fill="hold">
                                          <p:stCondLst>
                                            <p:cond delay="0"/>
                                          </p:stCondLst>
                                        </p:cTn>
                                        <p:tgtEl>
                                          <p:spTgt spid="166"/>
                                        </p:tgtEl>
                                        <p:attrNameLst>
                                          <p:attrName>style.visibility</p:attrName>
                                        </p:attrNameLst>
                                      </p:cBhvr>
                                      <p:to>
                                        <p:strVal val="visible"/>
                                      </p:to>
                                    </p:set>
                                    <p:anim calcmode="lin" valueType="num">
                                      <p:cBhvr>
                                        <p:cTn id="156" dur="500" fill="hold"/>
                                        <p:tgtEl>
                                          <p:spTgt spid="166"/>
                                        </p:tgtEl>
                                        <p:attrNameLst>
                                          <p:attrName>ppt_w</p:attrName>
                                        </p:attrNameLst>
                                      </p:cBhvr>
                                      <p:tavLst>
                                        <p:tav tm="0">
                                          <p:val>
                                            <p:fltVal val="0"/>
                                          </p:val>
                                        </p:tav>
                                        <p:tav tm="100000">
                                          <p:val>
                                            <p:strVal val="#ppt_w"/>
                                          </p:val>
                                        </p:tav>
                                      </p:tavLst>
                                    </p:anim>
                                    <p:anim calcmode="lin" valueType="num">
                                      <p:cBhvr>
                                        <p:cTn id="157" dur="500" fill="hold"/>
                                        <p:tgtEl>
                                          <p:spTgt spid="166"/>
                                        </p:tgtEl>
                                        <p:attrNameLst>
                                          <p:attrName>ppt_h</p:attrName>
                                        </p:attrNameLst>
                                      </p:cBhvr>
                                      <p:tavLst>
                                        <p:tav tm="0">
                                          <p:val>
                                            <p:fltVal val="0"/>
                                          </p:val>
                                        </p:tav>
                                        <p:tav tm="100000">
                                          <p:val>
                                            <p:strVal val="#ppt_h"/>
                                          </p:val>
                                        </p:tav>
                                      </p:tavLst>
                                    </p:anim>
                                    <p:animEffect transition="in" filter="fade">
                                      <p:cBhvr>
                                        <p:cTn id="158" dur="500"/>
                                        <p:tgtEl>
                                          <p:spTgt spid="166"/>
                                        </p:tgtEl>
                                      </p:cBhvr>
                                    </p:animEffect>
                                  </p:childTnLst>
                                </p:cTn>
                              </p:par>
                              <p:par>
                                <p:cTn id="159" presetID="53" presetClass="entr" presetSubtype="16" fill="hold" grpId="0" nodeType="withEffect">
                                  <p:stCondLst>
                                    <p:cond delay="0"/>
                                  </p:stCondLst>
                                  <p:childTnLst>
                                    <p:set>
                                      <p:cBhvr>
                                        <p:cTn id="160" dur="1" fill="hold">
                                          <p:stCondLst>
                                            <p:cond delay="0"/>
                                          </p:stCondLst>
                                        </p:cTn>
                                        <p:tgtEl>
                                          <p:spTgt spid="176"/>
                                        </p:tgtEl>
                                        <p:attrNameLst>
                                          <p:attrName>style.visibility</p:attrName>
                                        </p:attrNameLst>
                                      </p:cBhvr>
                                      <p:to>
                                        <p:strVal val="visible"/>
                                      </p:to>
                                    </p:set>
                                    <p:anim calcmode="lin" valueType="num">
                                      <p:cBhvr>
                                        <p:cTn id="161" dur="500" fill="hold"/>
                                        <p:tgtEl>
                                          <p:spTgt spid="176"/>
                                        </p:tgtEl>
                                        <p:attrNameLst>
                                          <p:attrName>ppt_w</p:attrName>
                                        </p:attrNameLst>
                                      </p:cBhvr>
                                      <p:tavLst>
                                        <p:tav tm="0">
                                          <p:val>
                                            <p:fltVal val="0"/>
                                          </p:val>
                                        </p:tav>
                                        <p:tav tm="100000">
                                          <p:val>
                                            <p:strVal val="#ppt_w"/>
                                          </p:val>
                                        </p:tav>
                                      </p:tavLst>
                                    </p:anim>
                                    <p:anim calcmode="lin" valueType="num">
                                      <p:cBhvr>
                                        <p:cTn id="162" dur="500" fill="hold"/>
                                        <p:tgtEl>
                                          <p:spTgt spid="176"/>
                                        </p:tgtEl>
                                        <p:attrNameLst>
                                          <p:attrName>ppt_h</p:attrName>
                                        </p:attrNameLst>
                                      </p:cBhvr>
                                      <p:tavLst>
                                        <p:tav tm="0">
                                          <p:val>
                                            <p:fltVal val="0"/>
                                          </p:val>
                                        </p:tav>
                                        <p:tav tm="100000">
                                          <p:val>
                                            <p:strVal val="#ppt_h"/>
                                          </p:val>
                                        </p:tav>
                                      </p:tavLst>
                                    </p:anim>
                                    <p:animEffect transition="in" filter="fade">
                                      <p:cBhvr>
                                        <p:cTn id="163" dur="500"/>
                                        <p:tgtEl>
                                          <p:spTgt spid="176"/>
                                        </p:tgtEl>
                                      </p:cBhvr>
                                    </p:animEffect>
                                  </p:childTnLst>
                                </p:cTn>
                              </p:par>
                              <p:par>
                                <p:cTn id="164" presetID="53" presetClass="entr" presetSubtype="16" fill="hold" grpId="0" nodeType="withEffect">
                                  <p:stCondLst>
                                    <p:cond delay="0"/>
                                  </p:stCondLst>
                                  <p:childTnLst>
                                    <p:set>
                                      <p:cBhvr>
                                        <p:cTn id="165" dur="1" fill="hold">
                                          <p:stCondLst>
                                            <p:cond delay="0"/>
                                          </p:stCondLst>
                                        </p:cTn>
                                        <p:tgtEl>
                                          <p:spTgt spid="177"/>
                                        </p:tgtEl>
                                        <p:attrNameLst>
                                          <p:attrName>style.visibility</p:attrName>
                                        </p:attrNameLst>
                                      </p:cBhvr>
                                      <p:to>
                                        <p:strVal val="visible"/>
                                      </p:to>
                                    </p:set>
                                    <p:anim calcmode="lin" valueType="num">
                                      <p:cBhvr>
                                        <p:cTn id="166" dur="500" fill="hold"/>
                                        <p:tgtEl>
                                          <p:spTgt spid="177"/>
                                        </p:tgtEl>
                                        <p:attrNameLst>
                                          <p:attrName>ppt_w</p:attrName>
                                        </p:attrNameLst>
                                      </p:cBhvr>
                                      <p:tavLst>
                                        <p:tav tm="0">
                                          <p:val>
                                            <p:fltVal val="0"/>
                                          </p:val>
                                        </p:tav>
                                        <p:tav tm="100000">
                                          <p:val>
                                            <p:strVal val="#ppt_w"/>
                                          </p:val>
                                        </p:tav>
                                      </p:tavLst>
                                    </p:anim>
                                    <p:anim calcmode="lin" valueType="num">
                                      <p:cBhvr>
                                        <p:cTn id="167" dur="500" fill="hold"/>
                                        <p:tgtEl>
                                          <p:spTgt spid="177"/>
                                        </p:tgtEl>
                                        <p:attrNameLst>
                                          <p:attrName>ppt_h</p:attrName>
                                        </p:attrNameLst>
                                      </p:cBhvr>
                                      <p:tavLst>
                                        <p:tav tm="0">
                                          <p:val>
                                            <p:fltVal val="0"/>
                                          </p:val>
                                        </p:tav>
                                        <p:tav tm="100000">
                                          <p:val>
                                            <p:strVal val="#ppt_h"/>
                                          </p:val>
                                        </p:tav>
                                      </p:tavLst>
                                    </p:anim>
                                    <p:animEffect transition="in" filter="fade">
                                      <p:cBhvr>
                                        <p:cTn id="168" dur="500"/>
                                        <p:tgtEl>
                                          <p:spTgt spid="177"/>
                                        </p:tgtEl>
                                      </p:cBhvr>
                                    </p:animEffect>
                                  </p:childTnLst>
                                </p:cTn>
                              </p:par>
                              <p:par>
                                <p:cTn id="169" presetID="53" presetClass="entr" presetSubtype="16" fill="hold" grpId="0" nodeType="withEffect">
                                  <p:stCondLst>
                                    <p:cond delay="0"/>
                                  </p:stCondLst>
                                  <p:childTnLst>
                                    <p:set>
                                      <p:cBhvr>
                                        <p:cTn id="170" dur="1" fill="hold">
                                          <p:stCondLst>
                                            <p:cond delay="0"/>
                                          </p:stCondLst>
                                        </p:cTn>
                                        <p:tgtEl>
                                          <p:spTgt spid="186"/>
                                        </p:tgtEl>
                                        <p:attrNameLst>
                                          <p:attrName>style.visibility</p:attrName>
                                        </p:attrNameLst>
                                      </p:cBhvr>
                                      <p:to>
                                        <p:strVal val="visible"/>
                                      </p:to>
                                    </p:set>
                                    <p:anim calcmode="lin" valueType="num">
                                      <p:cBhvr>
                                        <p:cTn id="171" dur="500" fill="hold"/>
                                        <p:tgtEl>
                                          <p:spTgt spid="186"/>
                                        </p:tgtEl>
                                        <p:attrNameLst>
                                          <p:attrName>ppt_w</p:attrName>
                                        </p:attrNameLst>
                                      </p:cBhvr>
                                      <p:tavLst>
                                        <p:tav tm="0">
                                          <p:val>
                                            <p:fltVal val="0"/>
                                          </p:val>
                                        </p:tav>
                                        <p:tav tm="100000">
                                          <p:val>
                                            <p:strVal val="#ppt_w"/>
                                          </p:val>
                                        </p:tav>
                                      </p:tavLst>
                                    </p:anim>
                                    <p:anim calcmode="lin" valueType="num">
                                      <p:cBhvr>
                                        <p:cTn id="172" dur="500" fill="hold"/>
                                        <p:tgtEl>
                                          <p:spTgt spid="186"/>
                                        </p:tgtEl>
                                        <p:attrNameLst>
                                          <p:attrName>ppt_h</p:attrName>
                                        </p:attrNameLst>
                                      </p:cBhvr>
                                      <p:tavLst>
                                        <p:tav tm="0">
                                          <p:val>
                                            <p:fltVal val="0"/>
                                          </p:val>
                                        </p:tav>
                                        <p:tav tm="100000">
                                          <p:val>
                                            <p:strVal val="#ppt_h"/>
                                          </p:val>
                                        </p:tav>
                                      </p:tavLst>
                                    </p:anim>
                                    <p:animEffect transition="in" filter="fade">
                                      <p:cBhvr>
                                        <p:cTn id="173" dur="500"/>
                                        <p:tgtEl>
                                          <p:spTgt spid="186"/>
                                        </p:tgtEl>
                                      </p:cBhvr>
                                    </p:animEffect>
                                  </p:childTnLst>
                                </p:cTn>
                              </p:par>
                              <p:par>
                                <p:cTn id="174" presetID="53" presetClass="entr" presetSubtype="16" fill="hold" grpId="0" nodeType="withEffect">
                                  <p:stCondLst>
                                    <p:cond delay="0"/>
                                  </p:stCondLst>
                                  <p:childTnLst>
                                    <p:set>
                                      <p:cBhvr>
                                        <p:cTn id="175" dur="1" fill="hold">
                                          <p:stCondLst>
                                            <p:cond delay="0"/>
                                          </p:stCondLst>
                                        </p:cTn>
                                        <p:tgtEl>
                                          <p:spTgt spid="187"/>
                                        </p:tgtEl>
                                        <p:attrNameLst>
                                          <p:attrName>style.visibility</p:attrName>
                                        </p:attrNameLst>
                                      </p:cBhvr>
                                      <p:to>
                                        <p:strVal val="visible"/>
                                      </p:to>
                                    </p:set>
                                    <p:anim calcmode="lin" valueType="num">
                                      <p:cBhvr>
                                        <p:cTn id="176" dur="500" fill="hold"/>
                                        <p:tgtEl>
                                          <p:spTgt spid="187"/>
                                        </p:tgtEl>
                                        <p:attrNameLst>
                                          <p:attrName>ppt_w</p:attrName>
                                        </p:attrNameLst>
                                      </p:cBhvr>
                                      <p:tavLst>
                                        <p:tav tm="0">
                                          <p:val>
                                            <p:fltVal val="0"/>
                                          </p:val>
                                        </p:tav>
                                        <p:tav tm="100000">
                                          <p:val>
                                            <p:strVal val="#ppt_w"/>
                                          </p:val>
                                        </p:tav>
                                      </p:tavLst>
                                    </p:anim>
                                    <p:anim calcmode="lin" valueType="num">
                                      <p:cBhvr>
                                        <p:cTn id="177" dur="500" fill="hold"/>
                                        <p:tgtEl>
                                          <p:spTgt spid="187"/>
                                        </p:tgtEl>
                                        <p:attrNameLst>
                                          <p:attrName>ppt_h</p:attrName>
                                        </p:attrNameLst>
                                      </p:cBhvr>
                                      <p:tavLst>
                                        <p:tav tm="0">
                                          <p:val>
                                            <p:fltVal val="0"/>
                                          </p:val>
                                        </p:tav>
                                        <p:tav tm="100000">
                                          <p:val>
                                            <p:strVal val="#ppt_h"/>
                                          </p:val>
                                        </p:tav>
                                      </p:tavLst>
                                    </p:anim>
                                    <p:animEffect transition="in" filter="fade">
                                      <p:cBhvr>
                                        <p:cTn id="178" dur="500"/>
                                        <p:tgtEl>
                                          <p:spTgt spid="187"/>
                                        </p:tgtEl>
                                      </p:cBhvr>
                                    </p:animEffect>
                                  </p:childTnLst>
                                </p:cTn>
                              </p:par>
                              <p:par>
                                <p:cTn id="179" presetID="53" presetClass="entr" presetSubtype="16" fill="hold" nodeType="withEffect">
                                  <p:stCondLst>
                                    <p:cond delay="0"/>
                                  </p:stCondLst>
                                  <p:childTnLst>
                                    <p:set>
                                      <p:cBhvr>
                                        <p:cTn id="180" dur="1" fill="hold">
                                          <p:stCondLst>
                                            <p:cond delay="0"/>
                                          </p:stCondLst>
                                        </p:cTn>
                                        <p:tgtEl>
                                          <p:spTgt spid="70"/>
                                        </p:tgtEl>
                                        <p:attrNameLst>
                                          <p:attrName>style.visibility</p:attrName>
                                        </p:attrNameLst>
                                      </p:cBhvr>
                                      <p:to>
                                        <p:strVal val="visible"/>
                                      </p:to>
                                    </p:set>
                                    <p:anim calcmode="lin" valueType="num">
                                      <p:cBhvr>
                                        <p:cTn id="181" dur="500" fill="hold"/>
                                        <p:tgtEl>
                                          <p:spTgt spid="70"/>
                                        </p:tgtEl>
                                        <p:attrNameLst>
                                          <p:attrName>ppt_w</p:attrName>
                                        </p:attrNameLst>
                                      </p:cBhvr>
                                      <p:tavLst>
                                        <p:tav tm="0">
                                          <p:val>
                                            <p:fltVal val="0"/>
                                          </p:val>
                                        </p:tav>
                                        <p:tav tm="100000">
                                          <p:val>
                                            <p:strVal val="#ppt_w"/>
                                          </p:val>
                                        </p:tav>
                                      </p:tavLst>
                                    </p:anim>
                                    <p:anim calcmode="lin" valueType="num">
                                      <p:cBhvr>
                                        <p:cTn id="182" dur="500" fill="hold"/>
                                        <p:tgtEl>
                                          <p:spTgt spid="70"/>
                                        </p:tgtEl>
                                        <p:attrNameLst>
                                          <p:attrName>ppt_h</p:attrName>
                                        </p:attrNameLst>
                                      </p:cBhvr>
                                      <p:tavLst>
                                        <p:tav tm="0">
                                          <p:val>
                                            <p:fltVal val="0"/>
                                          </p:val>
                                        </p:tav>
                                        <p:tav tm="100000">
                                          <p:val>
                                            <p:strVal val="#ppt_h"/>
                                          </p:val>
                                        </p:tav>
                                      </p:tavLst>
                                    </p:anim>
                                    <p:animEffect transition="in" filter="fade">
                                      <p:cBhvr>
                                        <p:cTn id="183" dur="500"/>
                                        <p:tgtEl>
                                          <p:spTgt spid="70"/>
                                        </p:tgtEl>
                                      </p:cBhvr>
                                    </p:animEffect>
                                  </p:childTnLst>
                                </p:cTn>
                              </p:par>
                              <p:par>
                                <p:cTn id="184" presetID="53" presetClass="entr" presetSubtype="16" fill="hold" nodeType="withEffect">
                                  <p:stCondLst>
                                    <p:cond delay="0"/>
                                  </p:stCondLst>
                                  <p:childTnLst>
                                    <p:set>
                                      <p:cBhvr>
                                        <p:cTn id="185" dur="1" fill="hold">
                                          <p:stCondLst>
                                            <p:cond delay="0"/>
                                          </p:stCondLst>
                                        </p:cTn>
                                        <p:tgtEl>
                                          <p:spTgt spid="18"/>
                                        </p:tgtEl>
                                        <p:attrNameLst>
                                          <p:attrName>style.visibility</p:attrName>
                                        </p:attrNameLst>
                                      </p:cBhvr>
                                      <p:to>
                                        <p:strVal val="visible"/>
                                      </p:to>
                                    </p:set>
                                    <p:anim calcmode="lin" valueType="num">
                                      <p:cBhvr>
                                        <p:cTn id="186" dur="500" fill="hold"/>
                                        <p:tgtEl>
                                          <p:spTgt spid="18"/>
                                        </p:tgtEl>
                                        <p:attrNameLst>
                                          <p:attrName>ppt_w</p:attrName>
                                        </p:attrNameLst>
                                      </p:cBhvr>
                                      <p:tavLst>
                                        <p:tav tm="0">
                                          <p:val>
                                            <p:fltVal val="0"/>
                                          </p:val>
                                        </p:tav>
                                        <p:tav tm="100000">
                                          <p:val>
                                            <p:strVal val="#ppt_w"/>
                                          </p:val>
                                        </p:tav>
                                      </p:tavLst>
                                    </p:anim>
                                    <p:anim calcmode="lin" valueType="num">
                                      <p:cBhvr>
                                        <p:cTn id="187" dur="500" fill="hold"/>
                                        <p:tgtEl>
                                          <p:spTgt spid="18"/>
                                        </p:tgtEl>
                                        <p:attrNameLst>
                                          <p:attrName>ppt_h</p:attrName>
                                        </p:attrNameLst>
                                      </p:cBhvr>
                                      <p:tavLst>
                                        <p:tav tm="0">
                                          <p:val>
                                            <p:fltVal val="0"/>
                                          </p:val>
                                        </p:tav>
                                        <p:tav tm="100000">
                                          <p:val>
                                            <p:strVal val="#ppt_h"/>
                                          </p:val>
                                        </p:tav>
                                      </p:tavLst>
                                    </p:anim>
                                    <p:animEffect transition="in" filter="fade">
                                      <p:cBhvr>
                                        <p:cTn id="188" dur="500"/>
                                        <p:tgtEl>
                                          <p:spTgt spid="18"/>
                                        </p:tgtEl>
                                      </p:cBhvr>
                                    </p:animEffect>
                                  </p:childTnLst>
                                </p:cTn>
                              </p:par>
                            </p:childTnLst>
                          </p:cTn>
                        </p:par>
                      </p:childTnLst>
                    </p:cTn>
                  </p:par>
                  <p:par>
                    <p:cTn id="189" fill="hold">
                      <p:stCondLst>
                        <p:cond delay="indefinite"/>
                      </p:stCondLst>
                      <p:childTnLst>
                        <p:par>
                          <p:cTn id="190" fill="hold">
                            <p:stCondLst>
                              <p:cond delay="0"/>
                            </p:stCondLst>
                            <p:childTnLst>
                              <p:par>
                                <p:cTn id="191" presetID="16" presetClass="entr" presetSubtype="21" fill="hold" nodeType="clickEffect">
                                  <p:stCondLst>
                                    <p:cond delay="0"/>
                                  </p:stCondLst>
                                  <p:childTnLst>
                                    <p:set>
                                      <p:cBhvr>
                                        <p:cTn id="192" dur="1" fill="hold">
                                          <p:stCondLst>
                                            <p:cond delay="0"/>
                                          </p:stCondLst>
                                        </p:cTn>
                                        <p:tgtEl>
                                          <p:spTgt spid="39"/>
                                        </p:tgtEl>
                                        <p:attrNameLst>
                                          <p:attrName>style.visibility</p:attrName>
                                        </p:attrNameLst>
                                      </p:cBhvr>
                                      <p:to>
                                        <p:strVal val="visible"/>
                                      </p:to>
                                    </p:set>
                                    <p:animEffect transition="in" filter="barn(inVertical)">
                                      <p:cBhvr>
                                        <p:cTn id="193" dur="500"/>
                                        <p:tgtEl>
                                          <p:spTgt spid="39"/>
                                        </p:tgtEl>
                                      </p:cBhvr>
                                    </p:animEffect>
                                  </p:childTnLst>
                                </p:cTn>
                              </p:par>
                              <p:par>
                                <p:cTn id="194" presetID="16" presetClass="entr" presetSubtype="21" fill="hold" nodeType="withEffect">
                                  <p:stCondLst>
                                    <p:cond delay="0"/>
                                  </p:stCondLst>
                                  <p:childTnLst>
                                    <p:set>
                                      <p:cBhvr>
                                        <p:cTn id="195" dur="1" fill="hold">
                                          <p:stCondLst>
                                            <p:cond delay="0"/>
                                          </p:stCondLst>
                                        </p:cTn>
                                        <p:tgtEl>
                                          <p:spTgt spid="54"/>
                                        </p:tgtEl>
                                        <p:attrNameLst>
                                          <p:attrName>style.visibility</p:attrName>
                                        </p:attrNameLst>
                                      </p:cBhvr>
                                      <p:to>
                                        <p:strVal val="visible"/>
                                      </p:to>
                                    </p:set>
                                    <p:animEffect transition="in" filter="barn(inVertical)">
                                      <p:cBhvr>
                                        <p:cTn id="196" dur="500"/>
                                        <p:tgtEl>
                                          <p:spTgt spid="54"/>
                                        </p:tgtEl>
                                      </p:cBhvr>
                                    </p:animEffect>
                                  </p:childTnLst>
                                </p:cTn>
                              </p:par>
                              <p:par>
                                <p:cTn id="197" presetID="16" presetClass="entr" presetSubtype="21" fill="hold" nodeType="withEffect">
                                  <p:stCondLst>
                                    <p:cond delay="0"/>
                                  </p:stCondLst>
                                  <p:childTnLst>
                                    <p:set>
                                      <p:cBhvr>
                                        <p:cTn id="198" dur="1" fill="hold">
                                          <p:stCondLst>
                                            <p:cond delay="0"/>
                                          </p:stCondLst>
                                        </p:cTn>
                                        <p:tgtEl>
                                          <p:spTgt spid="62"/>
                                        </p:tgtEl>
                                        <p:attrNameLst>
                                          <p:attrName>style.visibility</p:attrName>
                                        </p:attrNameLst>
                                      </p:cBhvr>
                                      <p:to>
                                        <p:strVal val="visible"/>
                                      </p:to>
                                    </p:set>
                                    <p:animEffect transition="in" filter="barn(inVertical)">
                                      <p:cBhvr>
                                        <p:cTn id="199" dur="500"/>
                                        <p:tgtEl>
                                          <p:spTgt spid="62"/>
                                        </p:tgtEl>
                                      </p:cBhvr>
                                    </p:animEffect>
                                  </p:childTnLst>
                                </p:cTn>
                              </p:par>
                              <p:par>
                                <p:cTn id="200" presetID="16" presetClass="entr" presetSubtype="21" fill="hold" nodeType="withEffect">
                                  <p:stCondLst>
                                    <p:cond delay="0"/>
                                  </p:stCondLst>
                                  <p:childTnLst>
                                    <p:set>
                                      <p:cBhvr>
                                        <p:cTn id="201" dur="1" fill="hold">
                                          <p:stCondLst>
                                            <p:cond delay="0"/>
                                          </p:stCondLst>
                                        </p:cTn>
                                        <p:tgtEl>
                                          <p:spTgt spid="83"/>
                                        </p:tgtEl>
                                        <p:attrNameLst>
                                          <p:attrName>style.visibility</p:attrName>
                                        </p:attrNameLst>
                                      </p:cBhvr>
                                      <p:to>
                                        <p:strVal val="visible"/>
                                      </p:to>
                                    </p:set>
                                    <p:animEffect transition="in" filter="barn(inVertical)">
                                      <p:cBhvr>
                                        <p:cTn id="202" dur="500"/>
                                        <p:tgtEl>
                                          <p:spTgt spid="83"/>
                                        </p:tgtEl>
                                      </p:cBhvr>
                                    </p:animEffect>
                                  </p:childTnLst>
                                </p:cTn>
                              </p:par>
                              <p:par>
                                <p:cTn id="203" presetID="16" presetClass="entr" presetSubtype="21" fill="hold" nodeType="withEffect">
                                  <p:stCondLst>
                                    <p:cond delay="0"/>
                                  </p:stCondLst>
                                  <p:childTnLst>
                                    <p:set>
                                      <p:cBhvr>
                                        <p:cTn id="204" dur="1" fill="hold">
                                          <p:stCondLst>
                                            <p:cond delay="0"/>
                                          </p:stCondLst>
                                        </p:cTn>
                                        <p:tgtEl>
                                          <p:spTgt spid="94"/>
                                        </p:tgtEl>
                                        <p:attrNameLst>
                                          <p:attrName>style.visibility</p:attrName>
                                        </p:attrNameLst>
                                      </p:cBhvr>
                                      <p:to>
                                        <p:strVal val="visible"/>
                                      </p:to>
                                    </p:set>
                                    <p:animEffect transition="in" filter="barn(inVertical)">
                                      <p:cBhvr>
                                        <p:cTn id="205" dur="500"/>
                                        <p:tgtEl>
                                          <p:spTgt spid="94"/>
                                        </p:tgtEl>
                                      </p:cBhvr>
                                    </p:animEffect>
                                  </p:childTnLst>
                                </p:cTn>
                              </p:par>
                              <p:par>
                                <p:cTn id="206" presetID="16" presetClass="entr" presetSubtype="21" fill="hold" nodeType="withEffect">
                                  <p:stCondLst>
                                    <p:cond delay="0"/>
                                  </p:stCondLst>
                                  <p:childTnLst>
                                    <p:set>
                                      <p:cBhvr>
                                        <p:cTn id="207" dur="1" fill="hold">
                                          <p:stCondLst>
                                            <p:cond delay="0"/>
                                          </p:stCondLst>
                                        </p:cTn>
                                        <p:tgtEl>
                                          <p:spTgt spid="167"/>
                                        </p:tgtEl>
                                        <p:attrNameLst>
                                          <p:attrName>style.visibility</p:attrName>
                                        </p:attrNameLst>
                                      </p:cBhvr>
                                      <p:to>
                                        <p:strVal val="visible"/>
                                      </p:to>
                                    </p:set>
                                    <p:animEffect transition="in" filter="barn(inVertical)">
                                      <p:cBhvr>
                                        <p:cTn id="208" dur="500"/>
                                        <p:tgtEl>
                                          <p:spTgt spid="167"/>
                                        </p:tgtEl>
                                      </p:cBhvr>
                                    </p:animEffect>
                                  </p:childTnLst>
                                </p:cTn>
                              </p:par>
                              <p:par>
                                <p:cTn id="209" presetID="16" presetClass="entr" presetSubtype="21" fill="hold" grpId="0" nodeType="withEffect">
                                  <p:stCondLst>
                                    <p:cond delay="0"/>
                                  </p:stCondLst>
                                  <p:childTnLst>
                                    <p:set>
                                      <p:cBhvr>
                                        <p:cTn id="210" dur="1" fill="hold">
                                          <p:stCondLst>
                                            <p:cond delay="0"/>
                                          </p:stCondLst>
                                        </p:cTn>
                                        <p:tgtEl>
                                          <p:spTgt spid="178"/>
                                        </p:tgtEl>
                                        <p:attrNameLst>
                                          <p:attrName>style.visibility</p:attrName>
                                        </p:attrNameLst>
                                      </p:cBhvr>
                                      <p:to>
                                        <p:strVal val="visible"/>
                                      </p:to>
                                    </p:set>
                                    <p:animEffect transition="in" filter="barn(inVertical)">
                                      <p:cBhvr>
                                        <p:cTn id="211" dur="500"/>
                                        <p:tgtEl>
                                          <p:spTgt spid="178"/>
                                        </p:tgtEl>
                                      </p:cBhvr>
                                    </p:animEffect>
                                  </p:childTnLst>
                                </p:cTn>
                              </p:par>
                              <p:par>
                                <p:cTn id="212" presetID="16" presetClass="entr" presetSubtype="21" fill="hold" grpId="0" nodeType="withEffect">
                                  <p:stCondLst>
                                    <p:cond delay="0"/>
                                  </p:stCondLst>
                                  <p:childTnLst>
                                    <p:set>
                                      <p:cBhvr>
                                        <p:cTn id="213" dur="1" fill="hold">
                                          <p:stCondLst>
                                            <p:cond delay="0"/>
                                          </p:stCondLst>
                                        </p:cTn>
                                        <p:tgtEl>
                                          <p:spTgt spid="179"/>
                                        </p:tgtEl>
                                        <p:attrNameLst>
                                          <p:attrName>style.visibility</p:attrName>
                                        </p:attrNameLst>
                                      </p:cBhvr>
                                      <p:to>
                                        <p:strVal val="visible"/>
                                      </p:to>
                                    </p:set>
                                    <p:animEffect transition="in" filter="barn(inVertical)">
                                      <p:cBhvr>
                                        <p:cTn id="214" dur="500"/>
                                        <p:tgtEl>
                                          <p:spTgt spid="179"/>
                                        </p:tgtEl>
                                      </p:cBhvr>
                                    </p:animEffect>
                                  </p:childTnLst>
                                </p:cTn>
                              </p:par>
                              <p:par>
                                <p:cTn id="215" presetID="16" presetClass="entr" presetSubtype="21" fill="hold" grpId="0" nodeType="withEffect">
                                  <p:stCondLst>
                                    <p:cond delay="0"/>
                                  </p:stCondLst>
                                  <p:childTnLst>
                                    <p:set>
                                      <p:cBhvr>
                                        <p:cTn id="216" dur="1" fill="hold">
                                          <p:stCondLst>
                                            <p:cond delay="0"/>
                                          </p:stCondLst>
                                        </p:cTn>
                                        <p:tgtEl>
                                          <p:spTgt spid="188"/>
                                        </p:tgtEl>
                                        <p:attrNameLst>
                                          <p:attrName>style.visibility</p:attrName>
                                        </p:attrNameLst>
                                      </p:cBhvr>
                                      <p:to>
                                        <p:strVal val="visible"/>
                                      </p:to>
                                    </p:set>
                                    <p:animEffect transition="in" filter="barn(inVertical)">
                                      <p:cBhvr>
                                        <p:cTn id="217" dur="500"/>
                                        <p:tgtEl>
                                          <p:spTgt spid="188"/>
                                        </p:tgtEl>
                                      </p:cBhvr>
                                    </p:animEffect>
                                  </p:childTnLst>
                                </p:cTn>
                              </p:par>
                              <p:par>
                                <p:cTn id="218" presetID="16" presetClass="entr" presetSubtype="21" fill="hold" grpId="0" nodeType="withEffect">
                                  <p:stCondLst>
                                    <p:cond delay="0"/>
                                  </p:stCondLst>
                                  <p:childTnLst>
                                    <p:set>
                                      <p:cBhvr>
                                        <p:cTn id="219" dur="1" fill="hold">
                                          <p:stCondLst>
                                            <p:cond delay="0"/>
                                          </p:stCondLst>
                                        </p:cTn>
                                        <p:tgtEl>
                                          <p:spTgt spid="189"/>
                                        </p:tgtEl>
                                        <p:attrNameLst>
                                          <p:attrName>style.visibility</p:attrName>
                                        </p:attrNameLst>
                                      </p:cBhvr>
                                      <p:to>
                                        <p:strVal val="visible"/>
                                      </p:to>
                                    </p:set>
                                    <p:animEffect transition="in" filter="barn(inVertical)">
                                      <p:cBhvr>
                                        <p:cTn id="220" dur="500"/>
                                        <p:tgtEl>
                                          <p:spTgt spid="189"/>
                                        </p:tgtEl>
                                      </p:cBhvr>
                                    </p:animEffect>
                                  </p:childTnLst>
                                </p:cTn>
                              </p:par>
                              <p:par>
                                <p:cTn id="221" presetID="16" presetClass="entr" presetSubtype="21" fill="hold" nodeType="withEffect">
                                  <p:stCondLst>
                                    <p:cond delay="0"/>
                                  </p:stCondLst>
                                  <p:childTnLst>
                                    <p:set>
                                      <p:cBhvr>
                                        <p:cTn id="222" dur="1" fill="hold">
                                          <p:stCondLst>
                                            <p:cond delay="0"/>
                                          </p:stCondLst>
                                        </p:cTn>
                                        <p:tgtEl>
                                          <p:spTgt spid="74"/>
                                        </p:tgtEl>
                                        <p:attrNameLst>
                                          <p:attrName>style.visibility</p:attrName>
                                        </p:attrNameLst>
                                      </p:cBhvr>
                                      <p:to>
                                        <p:strVal val="visible"/>
                                      </p:to>
                                    </p:set>
                                    <p:animEffect transition="in" filter="barn(inVertical)">
                                      <p:cBhvr>
                                        <p:cTn id="223" dur="500"/>
                                        <p:tgtEl>
                                          <p:spTgt spid="74"/>
                                        </p:tgtEl>
                                      </p:cBhvr>
                                    </p:animEffect>
                                  </p:childTnLst>
                                </p:cTn>
                              </p:par>
                              <p:par>
                                <p:cTn id="224" presetID="16" presetClass="entr" presetSubtype="21" fill="hold" nodeType="withEffect">
                                  <p:stCondLst>
                                    <p:cond delay="0"/>
                                  </p:stCondLst>
                                  <p:childTnLst>
                                    <p:set>
                                      <p:cBhvr>
                                        <p:cTn id="225" dur="1" fill="hold">
                                          <p:stCondLst>
                                            <p:cond delay="0"/>
                                          </p:stCondLst>
                                        </p:cTn>
                                        <p:tgtEl>
                                          <p:spTgt spid="19"/>
                                        </p:tgtEl>
                                        <p:attrNameLst>
                                          <p:attrName>style.visibility</p:attrName>
                                        </p:attrNameLst>
                                      </p:cBhvr>
                                      <p:to>
                                        <p:strVal val="visible"/>
                                      </p:to>
                                    </p:set>
                                    <p:animEffect transition="in" filter="barn(inVertical)">
                                      <p:cBhvr>
                                        <p:cTn id="226" dur="500"/>
                                        <p:tgtEl>
                                          <p:spTgt spid="19"/>
                                        </p:tgtEl>
                                      </p:cBhvr>
                                    </p:animEffect>
                                  </p:childTnLst>
                                </p:cTn>
                              </p:par>
                            </p:childTnLst>
                          </p:cTn>
                        </p:par>
                      </p:childTnLst>
                    </p:cTn>
                  </p:par>
                  <p:par>
                    <p:cTn id="227" fill="hold">
                      <p:stCondLst>
                        <p:cond delay="indefinite"/>
                      </p:stCondLst>
                      <p:childTnLst>
                        <p:par>
                          <p:cTn id="228" fill="hold">
                            <p:stCondLst>
                              <p:cond delay="0"/>
                            </p:stCondLst>
                            <p:childTnLst>
                              <p:par>
                                <p:cTn id="229" presetID="16" presetClass="entr" presetSubtype="21" fill="hold" nodeType="clickEffect">
                                  <p:stCondLst>
                                    <p:cond delay="0"/>
                                  </p:stCondLst>
                                  <p:childTnLst>
                                    <p:set>
                                      <p:cBhvr>
                                        <p:cTn id="230" dur="1" fill="hold">
                                          <p:stCondLst>
                                            <p:cond delay="0"/>
                                          </p:stCondLst>
                                        </p:cTn>
                                        <p:tgtEl>
                                          <p:spTgt spid="103"/>
                                        </p:tgtEl>
                                        <p:attrNameLst>
                                          <p:attrName>style.visibility</p:attrName>
                                        </p:attrNameLst>
                                      </p:cBhvr>
                                      <p:to>
                                        <p:strVal val="visible"/>
                                      </p:to>
                                    </p:set>
                                    <p:animEffect transition="in" filter="barn(inVertical)">
                                      <p:cBhvr>
                                        <p:cTn id="231" dur="500"/>
                                        <p:tgtEl>
                                          <p:spTgt spid="103"/>
                                        </p:tgtEl>
                                      </p:cBhvr>
                                    </p:animEffect>
                                  </p:childTnLst>
                                </p:cTn>
                              </p:par>
                              <p:par>
                                <p:cTn id="232" presetID="16" presetClass="entr" presetSubtype="21" fill="hold" nodeType="withEffect">
                                  <p:stCondLst>
                                    <p:cond delay="0"/>
                                  </p:stCondLst>
                                  <p:childTnLst>
                                    <p:set>
                                      <p:cBhvr>
                                        <p:cTn id="233" dur="1" fill="hold">
                                          <p:stCondLst>
                                            <p:cond delay="0"/>
                                          </p:stCondLst>
                                        </p:cTn>
                                        <p:tgtEl>
                                          <p:spTgt spid="106"/>
                                        </p:tgtEl>
                                        <p:attrNameLst>
                                          <p:attrName>style.visibility</p:attrName>
                                        </p:attrNameLst>
                                      </p:cBhvr>
                                      <p:to>
                                        <p:strVal val="visible"/>
                                      </p:to>
                                    </p:set>
                                    <p:animEffect transition="in" filter="barn(inVertical)">
                                      <p:cBhvr>
                                        <p:cTn id="234" dur="500"/>
                                        <p:tgtEl>
                                          <p:spTgt spid="106"/>
                                        </p:tgtEl>
                                      </p:cBhvr>
                                    </p:animEffect>
                                  </p:childTnLst>
                                </p:cTn>
                              </p:par>
                              <p:par>
                                <p:cTn id="235" presetID="16" presetClass="entr" presetSubtype="21" fill="hold" nodeType="withEffect">
                                  <p:stCondLst>
                                    <p:cond delay="0"/>
                                  </p:stCondLst>
                                  <p:childTnLst>
                                    <p:set>
                                      <p:cBhvr>
                                        <p:cTn id="236" dur="1" fill="hold">
                                          <p:stCondLst>
                                            <p:cond delay="0"/>
                                          </p:stCondLst>
                                        </p:cTn>
                                        <p:tgtEl>
                                          <p:spTgt spid="121"/>
                                        </p:tgtEl>
                                        <p:attrNameLst>
                                          <p:attrName>style.visibility</p:attrName>
                                        </p:attrNameLst>
                                      </p:cBhvr>
                                      <p:to>
                                        <p:strVal val="visible"/>
                                      </p:to>
                                    </p:set>
                                    <p:animEffect transition="in" filter="barn(inVertical)">
                                      <p:cBhvr>
                                        <p:cTn id="237" dur="500"/>
                                        <p:tgtEl>
                                          <p:spTgt spid="121"/>
                                        </p:tgtEl>
                                      </p:cBhvr>
                                    </p:animEffect>
                                  </p:childTnLst>
                                </p:cTn>
                              </p:par>
                              <p:par>
                                <p:cTn id="238" presetID="16" presetClass="entr" presetSubtype="21" fill="hold" nodeType="withEffect">
                                  <p:stCondLst>
                                    <p:cond delay="0"/>
                                  </p:stCondLst>
                                  <p:childTnLst>
                                    <p:set>
                                      <p:cBhvr>
                                        <p:cTn id="239" dur="1" fill="hold">
                                          <p:stCondLst>
                                            <p:cond delay="0"/>
                                          </p:stCondLst>
                                        </p:cTn>
                                        <p:tgtEl>
                                          <p:spTgt spid="133"/>
                                        </p:tgtEl>
                                        <p:attrNameLst>
                                          <p:attrName>style.visibility</p:attrName>
                                        </p:attrNameLst>
                                      </p:cBhvr>
                                      <p:to>
                                        <p:strVal val="visible"/>
                                      </p:to>
                                    </p:set>
                                    <p:animEffect transition="in" filter="barn(inVertical)">
                                      <p:cBhvr>
                                        <p:cTn id="240" dur="500"/>
                                        <p:tgtEl>
                                          <p:spTgt spid="133"/>
                                        </p:tgtEl>
                                      </p:cBhvr>
                                    </p:animEffect>
                                  </p:childTnLst>
                                </p:cTn>
                              </p:par>
                              <p:par>
                                <p:cTn id="241" presetID="16" presetClass="entr" presetSubtype="21" fill="hold" nodeType="withEffect">
                                  <p:stCondLst>
                                    <p:cond delay="0"/>
                                  </p:stCondLst>
                                  <p:childTnLst>
                                    <p:set>
                                      <p:cBhvr>
                                        <p:cTn id="242" dur="1" fill="hold">
                                          <p:stCondLst>
                                            <p:cond delay="0"/>
                                          </p:stCondLst>
                                        </p:cTn>
                                        <p:tgtEl>
                                          <p:spTgt spid="139"/>
                                        </p:tgtEl>
                                        <p:attrNameLst>
                                          <p:attrName>style.visibility</p:attrName>
                                        </p:attrNameLst>
                                      </p:cBhvr>
                                      <p:to>
                                        <p:strVal val="visible"/>
                                      </p:to>
                                    </p:set>
                                    <p:animEffect transition="in" filter="barn(inVertical)">
                                      <p:cBhvr>
                                        <p:cTn id="243" dur="500"/>
                                        <p:tgtEl>
                                          <p:spTgt spid="139"/>
                                        </p:tgtEl>
                                      </p:cBhvr>
                                    </p:animEffect>
                                  </p:childTnLst>
                                </p:cTn>
                              </p:par>
                              <p:par>
                                <p:cTn id="244" presetID="16" presetClass="entr" presetSubtype="21" fill="hold" nodeType="withEffect">
                                  <p:stCondLst>
                                    <p:cond delay="0"/>
                                  </p:stCondLst>
                                  <p:childTnLst>
                                    <p:set>
                                      <p:cBhvr>
                                        <p:cTn id="245" dur="1" fill="hold">
                                          <p:stCondLst>
                                            <p:cond delay="0"/>
                                          </p:stCondLst>
                                        </p:cTn>
                                        <p:tgtEl>
                                          <p:spTgt spid="168"/>
                                        </p:tgtEl>
                                        <p:attrNameLst>
                                          <p:attrName>style.visibility</p:attrName>
                                        </p:attrNameLst>
                                      </p:cBhvr>
                                      <p:to>
                                        <p:strVal val="visible"/>
                                      </p:to>
                                    </p:set>
                                    <p:animEffect transition="in" filter="barn(inVertical)">
                                      <p:cBhvr>
                                        <p:cTn id="246" dur="500"/>
                                        <p:tgtEl>
                                          <p:spTgt spid="168"/>
                                        </p:tgtEl>
                                      </p:cBhvr>
                                    </p:animEffect>
                                  </p:childTnLst>
                                </p:cTn>
                              </p:par>
                              <p:par>
                                <p:cTn id="247" presetID="16" presetClass="entr" presetSubtype="21" fill="hold" grpId="0" nodeType="withEffect">
                                  <p:stCondLst>
                                    <p:cond delay="0"/>
                                  </p:stCondLst>
                                  <p:childTnLst>
                                    <p:set>
                                      <p:cBhvr>
                                        <p:cTn id="248" dur="1" fill="hold">
                                          <p:stCondLst>
                                            <p:cond delay="0"/>
                                          </p:stCondLst>
                                        </p:cTn>
                                        <p:tgtEl>
                                          <p:spTgt spid="190"/>
                                        </p:tgtEl>
                                        <p:attrNameLst>
                                          <p:attrName>style.visibility</p:attrName>
                                        </p:attrNameLst>
                                      </p:cBhvr>
                                      <p:to>
                                        <p:strVal val="visible"/>
                                      </p:to>
                                    </p:set>
                                    <p:animEffect transition="in" filter="barn(inVertical)">
                                      <p:cBhvr>
                                        <p:cTn id="249" dur="500"/>
                                        <p:tgtEl>
                                          <p:spTgt spid="190"/>
                                        </p:tgtEl>
                                      </p:cBhvr>
                                    </p:animEffect>
                                  </p:childTnLst>
                                </p:cTn>
                              </p:par>
                              <p:par>
                                <p:cTn id="250" presetID="16" presetClass="entr" presetSubtype="21" fill="hold" grpId="0" nodeType="withEffect">
                                  <p:stCondLst>
                                    <p:cond delay="0"/>
                                  </p:stCondLst>
                                  <p:childTnLst>
                                    <p:set>
                                      <p:cBhvr>
                                        <p:cTn id="251" dur="1" fill="hold">
                                          <p:stCondLst>
                                            <p:cond delay="0"/>
                                          </p:stCondLst>
                                        </p:cTn>
                                        <p:tgtEl>
                                          <p:spTgt spid="191"/>
                                        </p:tgtEl>
                                        <p:attrNameLst>
                                          <p:attrName>style.visibility</p:attrName>
                                        </p:attrNameLst>
                                      </p:cBhvr>
                                      <p:to>
                                        <p:strVal val="visible"/>
                                      </p:to>
                                    </p:set>
                                    <p:animEffect transition="in" filter="barn(inVertical)">
                                      <p:cBhvr>
                                        <p:cTn id="252" dur="500"/>
                                        <p:tgtEl>
                                          <p:spTgt spid="191"/>
                                        </p:tgtEl>
                                      </p:cBhvr>
                                    </p:animEffect>
                                  </p:childTnLst>
                                </p:cTn>
                              </p:par>
                              <p:par>
                                <p:cTn id="253" presetID="16" presetClass="entr" presetSubtype="21" fill="hold" grpId="0" nodeType="withEffect">
                                  <p:stCondLst>
                                    <p:cond delay="0"/>
                                  </p:stCondLst>
                                  <p:childTnLst>
                                    <p:set>
                                      <p:cBhvr>
                                        <p:cTn id="254" dur="1" fill="hold">
                                          <p:stCondLst>
                                            <p:cond delay="0"/>
                                          </p:stCondLst>
                                        </p:cTn>
                                        <p:tgtEl>
                                          <p:spTgt spid="198"/>
                                        </p:tgtEl>
                                        <p:attrNameLst>
                                          <p:attrName>style.visibility</p:attrName>
                                        </p:attrNameLst>
                                      </p:cBhvr>
                                      <p:to>
                                        <p:strVal val="visible"/>
                                      </p:to>
                                    </p:set>
                                    <p:animEffect transition="in" filter="barn(inVertical)">
                                      <p:cBhvr>
                                        <p:cTn id="255" dur="500"/>
                                        <p:tgtEl>
                                          <p:spTgt spid="198"/>
                                        </p:tgtEl>
                                      </p:cBhvr>
                                    </p:animEffect>
                                  </p:childTnLst>
                                </p:cTn>
                              </p:par>
                              <p:par>
                                <p:cTn id="256" presetID="16" presetClass="entr" presetSubtype="21" fill="hold" grpId="0" nodeType="withEffect">
                                  <p:stCondLst>
                                    <p:cond delay="0"/>
                                  </p:stCondLst>
                                  <p:childTnLst>
                                    <p:set>
                                      <p:cBhvr>
                                        <p:cTn id="257" dur="1" fill="hold">
                                          <p:stCondLst>
                                            <p:cond delay="0"/>
                                          </p:stCondLst>
                                        </p:cTn>
                                        <p:tgtEl>
                                          <p:spTgt spid="200"/>
                                        </p:tgtEl>
                                        <p:attrNameLst>
                                          <p:attrName>style.visibility</p:attrName>
                                        </p:attrNameLst>
                                      </p:cBhvr>
                                      <p:to>
                                        <p:strVal val="visible"/>
                                      </p:to>
                                    </p:set>
                                    <p:animEffect transition="in" filter="barn(inVertical)">
                                      <p:cBhvr>
                                        <p:cTn id="258" dur="500"/>
                                        <p:tgtEl>
                                          <p:spTgt spid="200"/>
                                        </p:tgtEl>
                                      </p:cBhvr>
                                    </p:animEffect>
                                  </p:childTnLst>
                                </p:cTn>
                              </p:par>
                              <p:par>
                                <p:cTn id="259" presetID="16" presetClass="entr" presetSubtype="21" fill="hold" nodeType="withEffect">
                                  <p:stCondLst>
                                    <p:cond delay="0"/>
                                  </p:stCondLst>
                                  <p:childTnLst>
                                    <p:set>
                                      <p:cBhvr>
                                        <p:cTn id="260" dur="1" fill="hold">
                                          <p:stCondLst>
                                            <p:cond delay="0"/>
                                          </p:stCondLst>
                                        </p:cTn>
                                        <p:tgtEl>
                                          <p:spTgt spid="98"/>
                                        </p:tgtEl>
                                        <p:attrNameLst>
                                          <p:attrName>style.visibility</p:attrName>
                                        </p:attrNameLst>
                                      </p:cBhvr>
                                      <p:to>
                                        <p:strVal val="visible"/>
                                      </p:to>
                                    </p:set>
                                    <p:animEffect transition="in" filter="barn(inVertical)">
                                      <p:cBhvr>
                                        <p:cTn id="261" dur="500"/>
                                        <p:tgtEl>
                                          <p:spTgt spid="98"/>
                                        </p:tgtEl>
                                      </p:cBhvr>
                                    </p:animEffect>
                                  </p:childTnLst>
                                </p:cTn>
                              </p:par>
                              <p:par>
                                <p:cTn id="262" presetID="16" presetClass="entr" presetSubtype="21" fill="hold" nodeType="withEffect">
                                  <p:stCondLst>
                                    <p:cond delay="0"/>
                                  </p:stCondLst>
                                  <p:childTnLst>
                                    <p:set>
                                      <p:cBhvr>
                                        <p:cTn id="263" dur="1" fill="hold">
                                          <p:stCondLst>
                                            <p:cond delay="0"/>
                                          </p:stCondLst>
                                        </p:cTn>
                                        <p:tgtEl>
                                          <p:spTgt spid="138"/>
                                        </p:tgtEl>
                                        <p:attrNameLst>
                                          <p:attrName>style.visibility</p:attrName>
                                        </p:attrNameLst>
                                      </p:cBhvr>
                                      <p:to>
                                        <p:strVal val="visible"/>
                                      </p:to>
                                    </p:set>
                                    <p:animEffect transition="in" filter="barn(inVertical)">
                                      <p:cBhvr>
                                        <p:cTn id="264" dur="500"/>
                                        <p:tgtEl>
                                          <p:spTgt spid="138"/>
                                        </p:tgtEl>
                                      </p:cBhvr>
                                    </p:animEffect>
                                  </p:childTnLst>
                                </p:cTn>
                              </p:par>
                              <p:par>
                                <p:cTn id="265" presetID="16" presetClass="entr" presetSubtype="21" fill="hold" nodeType="withEffect">
                                  <p:stCondLst>
                                    <p:cond delay="0"/>
                                  </p:stCondLst>
                                  <p:childTnLst>
                                    <p:set>
                                      <p:cBhvr>
                                        <p:cTn id="266" dur="1" fill="hold">
                                          <p:stCondLst>
                                            <p:cond delay="0"/>
                                          </p:stCondLst>
                                        </p:cTn>
                                        <p:tgtEl>
                                          <p:spTgt spid="163"/>
                                        </p:tgtEl>
                                        <p:attrNameLst>
                                          <p:attrName>style.visibility</p:attrName>
                                        </p:attrNameLst>
                                      </p:cBhvr>
                                      <p:to>
                                        <p:strVal val="visible"/>
                                      </p:to>
                                    </p:set>
                                    <p:animEffect transition="in" filter="barn(inVertical)">
                                      <p:cBhvr>
                                        <p:cTn id="267" dur="500"/>
                                        <p:tgtEl>
                                          <p:spTgt spid="163"/>
                                        </p:tgtEl>
                                      </p:cBhvr>
                                    </p:animEffect>
                                  </p:childTnLst>
                                </p:cTn>
                              </p:par>
                              <p:par>
                                <p:cTn id="268" presetID="42" presetClass="entr" presetSubtype="0" fill="hold" nodeType="withEffect">
                                  <p:stCondLst>
                                    <p:cond delay="0"/>
                                  </p:stCondLst>
                                  <p:childTnLst>
                                    <p:set>
                                      <p:cBhvr>
                                        <p:cTn id="269" dur="1" fill="hold">
                                          <p:stCondLst>
                                            <p:cond delay="0"/>
                                          </p:stCondLst>
                                        </p:cTn>
                                        <p:tgtEl>
                                          <p:spTgt spid="162"/>
                                        </p:tgtEl>
                                        <p:attrNameLst>
                                          <p:attrName>style.visibility</p:attrName>
                                        </p:attrNameLst>
                                      </p:cBhvr>
                                      <p:to>
                                        <p:strVal val="visible"/>
                                      </p:to>
                                    </p:set>
                                    <p:animEffect transition="in" filter="fade">
                                      <p:cBhvr>
                                        <p:cTn id="270" dur="1000"/>
                                        <p:tgtEl>
                                          <p:spTgt spid="162"/>
                                        </p:tgtEl>
                                      </p:cBhvr>
                                    </p:animEffect>
                                    <p:anim calcmode="lin" valueType="num">
                                      <p:cBhvr>
                                        <p:cTn id="271" dur="1000" fill="hold"/>
                                        <p:tgtEl>
                                          <p:spTgt spid="162"/>
                                        </p:tgtEl>
                                        <p:attrNameLst>
                                          <p:attrName>ppt_x</p:attrName>
                                        </p:attrNameLst>
                                      </p:cBhvr>
                                      <p:tavLst>
                                        <p:tav tm="0">
                                          <p:val>
                                            <p:strVal val="#ppt_x"/>
                                          </p:val>
                                        </p:tav>
                                        <p:tav tm="100000">
                                          <p:val>
                                            <p:strVal val="#ppt_x"/>
                                          </p:val>
                                        </p:tav>
                                      </p:tavLst>
                                    </p:anim>
                                    <p:anim calcmode="lin" valueType="num">
                                      <p:cBhvr>
                                        <p:cTn id="272" dur="1000" fill="hold"/>
                                        <p:tgtEl>
                                          <p:spTgt spid="162"/>
                                        </p:tgtEl>
                                        <p:attrNameLst>
                                          <p:attrName>ppt_y</p:attrName>
                                        </p:attrNameLst>
                                      </p:cBhvr>
                                      <p:tavLst>
                                        <p:tav tm="0">
                                          <p:val>
                                            <p:strVal val="#ppt_y+.1"/>
                                          </p:val>
                                        </p:tav>
                                        <p:tav tm="100000">
                                          <p:val>
                                            <p:strVal val="#ppt_y"/>
                                          </p:val>
                                        </p:tav>
                                      </p:tavLst>
                                    </p:anim>
                                  </p:childTnLst>
                                </p:cTn>
                              </p:par>
                              <p:par>
                                <p:cTn id="273" presetID="16" presetClass="entr" presetSubtype="21" fill="hold" nodeType="withEffect">
                                  <p:stCondLst>
                                    <p:cond delay="0"/>
                                  </p:stCondLst>
                                  <p:childTnLst>
                                    <p:set>
                                      <p:cBhvr>
                                        <p:cTn id="274" dur="1" fill="hold">
                                          <p:stCondLst>
                                            <p:cond delay="0"/>
                                          </p:stCondLst>
                                        </p:cTn>
                                        <p:tgtEl>
                                          <p:spTgt spid="161"/>
                                        </p:tgtEl>
                                        <p:attrNameLst>
                                          <p:attrName>style.visibility</p:attrName>
                                        </p:attrNameLst>
                                      </p:cBhvr>
                                      <p:to>
                                        <p:strVal val="visible"/>
                                      </p:to>
                                    </p:set>
                                    <p:animEffect transition="in" filter="barn(inVertical)">
                                      <p:cBhvr>
                                        <p:cTn id="275" dur="500"/>
                                        <p:tgtEl>
                                          <p:spTgt spid="161"/>
                                        </p:tgtEl>
                                      </p:cBhvr>
                                    </p:animEffect>
                                  </p:childTnLst>
                                </p:cTn>
                              </p:par>
                              <p:par>
                                <p:cTn id="276" presetID="16" presetClass="entr" presetSubtype="21" fill="hold" nodeType="withEffect">
                                  <p:stCondLst>
                                    <p:cond delay="0"/>
                                  </p:stCondLst>
                                  <p:childTnLst>
                                    <p:set>
                                      <p:cBhvr>
                                        <p:cTn id="277" dur="1" fill="hold">
                                          <p:stCondLst>
                                            <p:cond delay="0"/>
                                          </p:stCondLst>
                                        </p:cTn>
                                        <p:tgtEl>
                                          <p:spTgt spid="80"/>
                                        </p:tgtEl>
                                        <p:attrNameLst>
                                          <p:attrName>style.visibility</p:attrName>
                                        </p:attrNameLst>
                                      </p:cBhvr>
                                      <p:to>
                                        <p:strVal val="visible"/>
                                      </p:to>
                                    </p:set>
                                    <p:animEffect transition="in" filter="barn(inVertical)">
                                      <p:cBhvr>
                                        <p:cTn id="278" dur="500"/>
                                        <p:tgtEl>
                                          <p:spTgt spid="80"/>
                                        </p:tgtEl>
                                      </p:cBhvr>
                                    </p:animEffect>
                                  </p:childTnLst>
                                </p:cTn>
                              </p:par>
                            </p:childTnLst>
                          </p:cTn>
                        </p:par>
                      </p:childTnLst>
                    </p:cTn>
                  </p:par>
                  <p:par>
                    <p:cTn id="279" fill="hold">
                      <p:stCondLst>
                        <p:cond delay="indefinite"/>
                      </p:stCondLst>
                      <p:childTnLst>
                        <p:par>
                          <p:cTn id="280" fill="hold">
                            <p:stCondLst>
                              <p:cond delay="0"/>
                            </p:stCondLst>
                            <p:childTnLst>
                              <p:par>
                                <p:cTn id="281" presetID="22" presetClass="entr" presetSubtype="4" fill="hold" nodeType="clickEffect">
                                  <p:stCondLst>
                                    <p:cond delay="0"/>
                                  </p:stCondLst>
                                  <p:childTnLst>
                                    <p:set>
                                      <p:cBhvr>
                                        <p:cTn id="282" dur="1" fill="hold">
                                          <p:stCondLst>
                                            <p:cond delay="0"/>
                                          </p:stCondLst>
                                        </p:cTn>
                                        <p:tgtEl>
                                          <p:spTgt spid="109"/>
                                        </p:tgtEl>
                                        <p:attrNameLst>
                                          <p:attrName>style.visibility</p:attrName>
                                        </p:attrNameLst>
                                      </p:cBhvr>
                                      <p:to>
                                        <p:strVal val="visible"/>
                                      </p:to>
                                    </p:set>
                                    <p:animEffect transition="in" filter="wipe(down)">
                                      <p:cBhvr>
                                        <p:cTn id="283" dur="500"/>
                                        <p:tgtEl>
                                          <p:spTgt spid="109"/>
                                        </p:tgtEl>
                                      </p:cBhvr>
                                    </p:animEffect>
                                  </p:childTnLst>
                                </p:cTn>
                              </p:par>
                              <p:par>
                                <p:cTn id="284" presetID="22" presetClass="entr" presetSubtype="4" fill="hold" nodeType="withEffect">
                                  <p:stCondLst>
                                    <p:cond delay="0"/>
                                  </p:stCondLst>
                                  <p:childTnLst>
                                    <p:set>
                                      <p:cBhvr>
                                        <p:cTn id="285" dur="1" fill="hold">
                                          <p:stCondLst>
                                            <p:cond delay="0"/>
                                          </p:stCondLst>
                                        </p:cTn>
                                        <p:tgtEl>
                                          <p:spTgt spid="112"/>
                                        </p:tgtEl>
                                        <p:attrNameLst>
                                          <p:attrName>style.visibility</p:attrName>
                                        </p:attrNameLst>
                                      </p:cBhvr>
                                      <p:to>
                                        <p:strVal val="visible"/>
                                      </p:to>
                                    </p:set>
                                    <p:animEffect transition="in" filter="wipe(down)">
                                      <p:cBhvr>
                                        <p:cTn id="286" dur="500"/>
                                        <p:tgtEl>
                                          <p:spTgt spid="112"/>
                                        </p:tgtEl>
                                      </p:cBhvr>
                                    </p:animEffect>
                                  </p:childTnLst>
                                </p:cTn>
                              </p:par>
                              <p:par>
                                <p:cTn id="287" presetID="22" presetClass="entr" presetSubtype="4" fill="hold" nodeType="withEffect">
                                  <p:stCondLst>
                                    <p:cond delay="0"/>
                                  </p:stCondLst>
                                  <p:childTnLst>
                                    <p:set>
                                      <p:cBhvr>
                                        <p:cTn id="288" dur="1" fill="hold">
                                          <p:stCondLst>
                                            <p:cond delay="0"/>
                                          </p:stCondLst>
                                        </p:cTn>
                                        <p:tgtEl>
                                          <p:spTgt spid="124"/>
                                        </p:tgtEl>
                                        <p:attrNameLst>
                                          <p:attrName>style.visibility</p:attrName>
                                        </p:attrNameLst>
                                      </p:cBhvr>
                                      <p:to>
                                        <p:strVal val="visible"/>
                                      </p:to>
                                    </p:set>
                                    <p:animEffect transition="in" filter="wipe(down)">
                                      <p:cBhvr>
                                        <p:cTn id="289" dur="500"/>
                                        <p:tgtEl>
                                          <p:spTgt spid="124"/>
                                        </p:tgtEl>
                                      </p:cBhvr>
                                    </p:animEffect>
                                  </p:childTnLst>
                                </p:cTn>
                              </p:par>
                              <p:par>
                                <p:cTn id="290" presetID="22" presetClass="entr" presetSubtype="4" fill="hold" nodeType="withEffect">
                                  <p:stCondLst>
                                    <p:cond delay="0"/>
                                  </p:stCondLst>
                                  <p:childTnLst>
                                    <p:set>
                                      <p:cBhvr>
                                        <p:cTn id="291" dur="1" fill="hold">
                                          <p:stCondLst>
                                            <p:cond delay="0"/>
                                          </p:stCondLst>
                                        </p:cTn>
                                        <p:tgtEl>
                                          <p:spTgt spid="134"/>
                                        </p:tgtEl>
                                        <p:attrNameLst>
                                          <p:attrName>style.visibility</p:attrName>
                                        </p:attrNameLst>
                                      </p:cBhvr>
                                      <p:to>
                                        <p:strVal val="visible"/>
                                      </p:to>
                                    </p:set>
                                    <p:animEffect transition="in" filter="wipe(down)">
                                      <p:cBhvr>
                                        <p:cTn id="292" dur="500"/>
                                        <p:tgtEl>
                                          <p:spTgt spid="134"/>
                                        </p:tgtEl>
                                      </p:cBhvr>
                                    </p:animEffect>
                                  </p:childTnLst>
                                </p:cTn>
                              </p:par>
                              <p:par>
                                <p:cTn id="293" presetID="22" presetClass="entr" presetSubtype="4" fill="hold" nodeType="withEffect">
                                  <p:stCondLst>
                                    <p:cond delay="0"/>
                                  </p:stCondLst>
                                  <p:childTnLst>
                                    <p:set>
                                      <p:cBhvr>
                                        <p:cTn id="294" dur="1" fill="hold">
                                          <p:stCondLst>
                                            <p:cond delay="0"/>
                                          </p:stCondLst>
                                        </p:cTn>
                                        <p:tgtEl>
                                          <p:spTgt spid="143"/>
                                        </p:tgtEl>
                                        <p:attrNameLst>
                                          <p:attrName>style.visibility</p:attrName>
                                        </p:attrNameLst>
                                      </p:cBhvr>
                                      <p:to>
                                        <p:strVal val="visible"/>
                                      </p:to>
                                    </p:set>
                                    <p:animEffect transition="in" filter="wipe(down)">
                                      <p:cBhvr>
                                        <p:cTn id="295" dur="500"/>
                                        <p:tgtEl>
                                          <p:spTgt spid="143"/>
                                        </p:tgtEl>
                                      </p:cBhvr>
                                    </p:animEffect>
                                  </p:childTnLst>
                                </p:cTn>
                              </p:par>
                              <p:par>
                                <p:cTn id="296" presetID="22" presetClass="entr" presetSubtype="4" fill="hold" nodeType="withEffect">
                                  <p:stCondLst>
                                    <p:cond delay="0"/>
                                  </p:stCondLst>
                                  <p:childTnLst>
                                    <p:set>
                                      <p:cBhvr>
                                        <p:cTn id="297" dur="1" fill="hold">
                                          <p:stCondLst>
                                            <p:cond delay="0"/>
                                          </p:stCondLst>
                                        </p:cTn>
                                        <p:tgtEl>
                                          <p:spTgt spid="159"/>
                                        </p:tgtEl>
                                        <p:attrNameLst>
                                          <p:attrName>style.visibility</p:attrName>
                                        </p:attrNameLst>
                                      </p:cBhvr>
                                      <p:to>
                                        <p:strVal val="visible"/>
                                      </p:to>
                                    </p:set>
                                    <p:animEffect transition="in" filter="wipe(down)">
                                      <p:cBhvr>
                                        <p:cTn id="298" dur="500"/>
                                        <p:tgtEl>
                                          <p:spTgt spid="159"/>
                                        </p:tgtEl>
                                      </p:cBhvr>
                                    </p:animEffect>
                                  </p:childTnLst>
                                </p:cTn>
                              </p:par>
                              <p:par>
                                <p:cTn id="299" presetID="22" presetClass="entr" presetSubtype="4" fill="hold" grpId="0" nodeType="withEffect">
                                  <p:stCondLst>
                                    <p:cond delay="0"/>
                                  </p:stCondLst>
                                  <p:childTnLst>
                                    <p:set>
                                      <p:cBhvr>
                                        <p:cTn id="300" dur="1" fill="hold">
                                          <p:stCondLst>
                                            <p:cond delay="0"/>
                                          </p:stCondLst>
                                        </p:cTn>
                                        <p:tgtEl>
                                          <p:spTgt spid="192"/>
                                        </p:tgtEl>
                                        <p:attrNameLst>
                                          <p:attrName>style.visibility</p:attrName>
                                        </p:attrNameLst>
                                      </p:cBhvr>
                                      <p:to>
                                        <p:strVal val="visible"/>
                                      </p:to>
                                    </p:set>
                                    <p:animEffect transition="in" filter="wipe(down)">
                                      <p:cBhvr>
                                        <p:cTn id="301" dur="500"/>
                                        <p:tgtEl>
                                          <p:spTgt spid="192"/>
                                        </p:tgtEl>
                                      </p:cBhvr>
                                    </p:animEffect>
                                  </p:childTnLst>
                                </p:cTn>
                              </p:par>
                              <p:par>
                                <p:cTn id="302" presetID="22" presetClass="entr" presetSubtype="4" fill="hold" grpId="0" nodeType="withEffect">
                                  <p:stCondLst>
                                    <p:cond delay="0"/>
                                  </p:stCondLst>
                                  <p:childTnLst>
                                    <p:set>
                                      <p:cBhvr>
                                        <p:cTn id="303" dur="1" fill="hold">
                                          <p:stCondLst>
                                            <p:cond delay="0"/>
                                          </p:stCondLst>
                                        </p:cTn>
                                        <p:tgtEl>
                                          <p:spTgt spid="193"/>
                                        </p:tgtEl>
                                        <p:attrNameLst>
                                          <p:attrName>style.visibility</p:attrName>
                                        </p:attrNameLst>
                                      </p:cBhvr>
                                      <p:to>
                                        <p:strVal val="visible"/>
                                      </p:to>
                                    </p:set>
                                    <p:animEffect transition="in" filter="wipe(down)">
                                      <p:cBhvr>
                                        <p:cTn id="304" dur="500"/>
                                        <p:tgtEl>
                                          <p:spTgt spid="193"/>
                                        </p:tgtEl>
                                      </p:cBhvr>
                                    </p:animEffect>
                                  </p:childTnLst>
                                </p:cTn>
                              </p:par>
                              <p:par>
                                <p:cTn id="305" presetID="22" presetClass="entr" presetSubtype="4" fill="hold" grpId="0" nodeType="withEffect">
                                  <p:stCondLst>
                                    <p:cond delay="0"/>
                                  </p:stCondLst>
                                  <p:childTnLst>
                                    <p:set>
                                      <p:cBhvr>
                                        <p:cTn id="306" dur="1" fill="hold">
                                          <p:stCondLst>
                                            <p:cond delay="0"/>
                                          </p:stCondLst>
                                        </p:cTn>
                                        <p:tgtEl>
                                          <p:spTgt spid="199"/>
                                        </p:tgtEl>
                                        <p:attrNameLst>
                                          <p:attrName>style.visibility</p:attrName>
                                        </p:attrNameLst>
                                      </p:cBhvr>
                                      <p:to>
                                        <p:strVal val="visible"/>
                                      </p:to>
                                    </p:set>
                                    <p:animEffect transition="in" filter="wipe(down)">
                                      <p:cBhvr>
                                        <p:cTn id="307" dur="500"/>
                                        <p:tgtEl>
                                          <p:spTgt spid="199"/>
                                        </p:tgtEl>
                                      </p:cBhvr>
                                    </p:animEffect>
                                  </p:childTnLst>
                                </p:cTn>
                              </p:par>
                              <p:par>
                                <p:cTn id="308" presetID="22" presetClass="entr" presetSubtype="4" fill="hold" grpId="0" nodeType="withEffect">
                                  <p:stCondLst>
                                    <p:cond delay="0"/>
                                  </p:stCondLst>
                                  <p:childTnLst>
                                    <p:set>
                                      <p:cBhvr>
                                        <p:cTn id="309" dur="1" fill="hold">
                                          <p:stCondLst>
                                            <p:cond delay="0"/>
                                          </p:stCondLst>
                                        </p:cTn>
                                        <p:tgtEl>
                                          <p:spTgt spid="201"/>
                                        </p:tgtEl>
                                        <p:attrNameLst>
                                          <p:attrName>style.visibility</p:attrName>
                                        </p:attrNameLst>
                                      </p:cBhvr>
                                      <p:to>
                                        <p:strVal val="visible"/>
                                      </p:to>
                                    </p:set>
                                    <p:animEffect transition="in" filter="wipe(down)">
                                      <p:cBhvr>
                                        <p:cTn id="310" dur="500"/>
                                        <p:tgtEl>
                                          <p:spTgt spid="201"/>
                                        </p:tgtEl>
                                      </p:cBhvr>
                                    </p:animEffect>
                                  </p:childTnLst>
                                </p:cTn>
                              </p:par>
                              <p:par>
                                <p:cTn id="311" presetID="22" presetClass="entr" presetSubtype="4" fill="hold" nodeType="withEffect">
                                  <p:stCondLst>
                                    <p:cond delay="0"/>
                                  </p:stCondLst>
                                  <p:childTnLst>
                                    <p:set>
                                      <p:cBhvr>
                                        <p:cTn id="312" dur="1" fill="hold">
                                          <p:stCondLst>
                                            <p:cond delay="0"/>
                                          </p:stCondLst>
                                        </p:cTn>
                                        <p:tgtEl>
                                          <p:spTgt spid="100"/>
                                        </p:tgtEl>
                                        <p:attrNameLst>
                                          <p:attrName>style.visibility</p:attrName>
                                        </p:attrNameLst>
                                      </p:cBhvr>
                                      <p:to>
                                        <p:strVal val="visible"/>
                                      </p:to>
                                    </p:set>
                                    <p:animEffect transition="in" filter="wipe(down)">
                                      <p:cBhvr>
                                        <p:cTn id="313" dur="500"/>
                                        <p:tgtEl>
                                          <p:spTgt spid="100"/>
                                        </p:tgtEl>
                                      </p:cBhvr>
                                    </p:animEffect>
                                  </p:childTnLst>
                                </p:cTn>
                              </p:par>
                              <p:par>
                                <p:cTn id="314" presetID="22" presetClass="entr" presetSubtype="4" fill="hold" nodeType="withEffect">
                                  <p:stCondLst>
                                    <p:cond delay="0"/>
                                  </p:stCondLst>
                                  <p:childTnLst>
                                    <p:set>
                                      <p:cBhvr>
                                        <p:cTn id="315" dur="1" fill="hold">
                                          <p:stCondLst>
                                            <p:cond delay="0"/>
                                          </p:stCondLst>
                                        </p:cTn>
                                        <p:tgtEl>
                                          <p:spTgt spid="137"/>
                                        </p:tgtEl>
                                        <p:attrNameLst>
                                          <p:attrName>style.visibility</p:attrName>
                                        </p:attrNameLst>
                                      </p:cBhvr>
                                      <p:to>
                                        <p:strVal val="visible"/>
                                      </p:to>
                                    </p:set>
                                    <p:animEffect transition="in" filter="wipe(down)">
                                      <p:cBhvr>
                                        <p:cTn id="316" dur="500"/>
                                        <p:tgtEl>
                                          <p:spTgt spid="137"/>
                                        </p:tgtEl>
                                      </p:cBhvr>
                                    </p:animEffect>
                                  </p:childTnLst>
                                </p:cTn>
                              </p:par>
                            </p:childTnLst>
                          </p:cTn>
                        </p:par>
                      </p:childTnLst>
                    </p:cTn>
                  </p:par>
                  <p:par>
                    <p:cTn id="317" fill="hold">
                      <p:stCondLst>
                        <p:cond delay="indefinite"/>
                      </p:stCondLst>
                      <p:childTnLst>
                        <p:par>
                          <p:cTn id="318" fill="hold">
                            <p:stCondLst>
                              <p:cond delay="0"/>
                            </p:stCondLst>
                            <p:childTnLst>
                              <p:par>
                                <p:cTn id="319" presetID="22" presetClass="entr" presetSubtype="4" fill="hold" nodeType="clickEffect">
                                  <p:stCondLst>
                                    <p:cond delay="0"/>
                                  </p:stCondLst>
                                  <p:childTnLst>
                                    <p:set>
                                      <p:cBhvr>
                                        <p:cTn id="320" dur="1" fill="hold">
                                          <p:stCondLst>
                                            <p:cond delay="0"/>
                                          </p:stCondLst>
                                        </p:cTn>
                                        <p:tgtEl>
                                          <p:spTgt spid="115"/>
                                        </p:tgtEl>
                                        <p:attrNameLst>
                                          <p:attrName>style.visibility</p:attrName>
                                        </p:attrNameLst>
                                      </p:cBhvr>
                                      <p:to>
                                        <p:strVal val="visible"/>
                                      </p:to>
                                    </p:set>
                                    <p:animEffect transition="in" filter="wipe(down)">
                                      <p:cBhvr>
                                        <p:cTn id="321" dur="500"/>
                                        <p:tgtEl>
                                          <p:spTgt spid="115"/>
                                        </p:tgtEl>
                                      </p:cBhvr>
                                    </p:animEffect>
                                  </p:childTnLst>
                                </p:cTn>
                              </p:par>
                              <p:par>
                                <p:cTn id="322" presetID="22" presetClass="entr" presetSubtype="4" fill="hold" nodeType="withEffect">
                                  <p:stCondLst>
                                    <p:cond delay="0"/>
                                  </p:stCondLst>
                                  <p:childTnLst>
                                    <p:set>
                                      <p:cBhvr>
                                        <p:cTn id="323" dur="1" fill="hold">
                                          <p:stCondLst>
                                            <p:cond delay="0"/>
                                          </p:stCondLst>
                                        </p:cTn>
                                        <p:tgtEl>
                                          <p:spTgt spid="127"/>
                                        </p:tgtEl>
                                        <p:attrNameLst>
                                          <p:attrName>style.visibility</p:attrName>
                                        </p:attrNameLst>
                                      </p:cBhvr>
                                      <p:to>
                                        <p:strVal val="visible"/>
                                      </p:to>
                                    </p:set>
                                    <p:animEffect transition="in" filter="wipe(down)">
                                      <p:cBhvr>
                                        <p:cTn id="324" dur="500"/>
                                        <p:tgtEl>
                                          <p:spTgt spid="127"/>
                                        </p:tgtEl>
                                      </p:cBhvr>
                                    </p:animEffect>
                                  </p:childTnLst>
                                </p:cTn>
                              </p:par>
                              <p:par>
                                <p:cTn id="325" presetID="22" presetClass="entr" presetSubtype="4" fill="hold" nodeType="withEffect">
                                  <p:stCondLst>
                                    <p:cond delay="0"/>
                                  </p:stCondLst>
                                  <p:childTnLst>
                                    <p:set>
                                      <p:cBhvr>
                                        <p:cTn id="326" dur="1" fill="hold">
                                          <p:stCondLst>
                                            <p:cond delay="0"/>
                                          </p:stCondLst>
                                        </p:cTn>
                                        <p:tgtEl>
                                          <p:spTgt spid="135"/>
                                        </p:tgtEl>
                                        <p:attrNameLst>
                                          <p:attrName>style.visibility</p:attrName>
                                        </p:attrNameLst>
                                      </p:cBhvr>
                                      <p:to>
                                        <p:strVal val="visible"/>
                                      </p:to>
                                    </p:set>
                                    <p:animEffect transition="in" filter="wipe(down)">
                                      <p:cBhvr>
                                        <p:cTn id="327" dur="500"/>
                                        <p:tgtEl>
                                          <p:spTgt spid="135"/>
                                        </p:tgtEl>
                                      </p:cBhvr>
                                    </p:animEffect>
                                  </p:childTnLst>
                                </p:cTn>
                              </p:par>
                              <p:par>
                                <p:cTn id="328" presetID="22" presetClass="entr" presetSubtype="4" fill="hold" nodeType="withEffect">
                                  <p:stCondLst>
                                    <p:cond delay="0"/>
                                  </p:stCondLst>
                                  <p:childTnLst>
                                    <p:set>
                                      <p:cBhvr>
                                        <p:cTn id="329" dur="1" fill="hold">
                                          <p:stCondLst>
                                            <p:cond delay="0"/>
                                          </p:stCondLst>
                                        </p:cTn>
                                        <p:tgtEl>
                                          <p:spTgt spid="147"/>
                                        </p:tgtEl>
                                        <p:attrNameLst>
                                          <p:attrName>style.visibility</p:attrName>
                                        </p:attrNameLst>
                                      </p:cBhvr>
                                      <p:to>
                                        <p:strVal val="visible"/>
                                      </p:to>
                                    </p:set>
                                    <p:animEffect transition="in" filter="wipe(down)">
                                      <p:cBhvr>
                                        <p:cTn id="330" dur="500"/>
                                        <p:tgtEl>
                                          <p:spTgt spid="147"/>
                                        </p:tgtEl>
                                      </p:cBhvr>
                                    </p:animEffect>
                                  </p:childTnLst>
                                </p:cTn>
                              </p:par>
                              <p:par>
                                <p:cTn id="331" presetID="22" presetClass="entr" presetSubtype="4" fill="hold" nodeType="withEffect">
                                  <p:stCondLst>
                                    <p:cond delay="0"/>
                                  </p:stCondLst>
                                  <p:childTnLst>
                                    <p:set>
                                      <p:cBhvr>
                                        <p:cTn id="332" dur="1" fill="hold">
                                          <p:stCondLst>
                                            <p:cond delay="0"/>
                                          </p:stCondLst>
                                        </p:cTn>
                                        <p:tgtEl>
                                          <p:spTgt spid="153"/>
                                        </p:tgtEl>
                                        <p:attrNameLst>
                                          <p:attrName>style.visibility</p:attrName>
                                        </p:attrNameLst>
                                      </p:cBhvr>
                                      <p:to>
                                        <p:strVal val="visible"/>
                                      </p:to>
                                    </p:set>
                                    <p:animEffect transition="in" filter="wipe(down)">
                                      <p:cBhvr>
                                        <p:cTn id="333" dur="500"/>
                                        <p:tgtEl>
                                          <p:spTgt spid="153"/>
                                        </p:tgtEl>
                                      </p:cBhvr>
                                    </p:animEffect>
                                  </p:childTnLst>
                                </p:cTn>
                              </p:par>
                              <p:par>
                                <p:cTn id="334" presetID="22" presetClass="entr" presetSubtype="4" fill="hold" nodeType="withEffect">
                                  <p:stCondLst>
                                    <p:cond delay="0"/>
                                  </p:stCondLst>
                                  <p:childTnLst>
                                    <p:set>
                                      <p:cBhvr>
                                        <p:cTn id="335" dur="1" fill="hold">
                                          <p:stCondLst>
                                            <p:cond delay="0"/>
                                          </p:stCondLst>
                                        </p:cTn>
                                        <p:tgtEl>
                                          <p:spTgt spid="160"/>
                                        </p:tgtEl>
                                        <p:attrNameLst>
                                          <p:attrName>style.visibility</p:attrName>
                                        </p:attrNameLst>
                                      </p:cBhvr>
                                      <p:to>
                                        <p:strVal val="visible"/>
                                      </p:to>
                                    </p:set>
                                    <p:animEffect transition="in" filter="wipe(down)">
                                      <p:cBhvr>
                                        <p:cTn id="336" dur="500"/>
                                        <p:tgtEl>
                                          <p:spTgt spid="160"/>
                                        </p:tgtEl>
                                      </p:cBhvr>
                                    </p:animEffect>
                                  </p:childTnLst>
                                </p:cTn>
                              </p:par>
                              <p:par>
                                <p:cTn id="337" presetID="22" presetClass="entr" presetSubtype="4" fill="hold" grpId="0" nodeType="withEffect">
                                  <p:stCondLst>
                                    <p:cond delay="0"/>
                                  </p:stCondLst>
                                  <p:childTnLst>
                                    <p:set>
                                      <p:cBhvr>
                                        <p:cTn id="338" dur="1" fill="hold">
                                          <p:stCondLst>
                                            <p:cond delay="0"/>
                                          </p:stCondLst>
                                        </p:cTn>
                                        <p:tgtEl>
                                          <p:spTgt spid="194"/>
                                        </p:tgtEl>
                                        <p:attrNameLst>
                                          <p:attrName>style.visibility</p:attrName>
                                        </p:attrNameLst>
                                      </p:cBhvr>
                                      <p:to>
                                        <p:strVal val="visible"/>
                                      </p:to>
                                    </p:set>
                                    <p:animEffect transition="in" filter="wipe(down)">
                                      <p:cBhvr>
                                        <p:cTn id="339" dur="500"/>
                                        <p:tgtEl>
                                          <p:spTgt spid="194"/>
                                        </p:tgtEl>
                                      </p:cBhvr>
                                    </p:animEffect>
                                  </p:childTnLst>
                                </p:cTn>
                              </p:par>
                              <p:par>
                                <p:cTn id="340" presetID="22" presetClass="entr" presetSubtype="4" fill="hold" grpId="0" nodeType="withEffect">
                                  <p:stCondLst>
                                    <p:cond delay="0"/>
                                  </p:stCondLst>
                                  <p:childTnLst>
                                    <p:set>
                                      <p:cBhvr>
                                        <p:cTn id="341" dur="1" fill="hold">
                                          <p:stCondLst>
                                            <p:cond delay="0"/>
                                          </p:stCondLst>
                                        </p:cTn>
                                        <p:tgtEl>
                                          <p:spTgt spid="195"/>
                                        </p:tgtEl>
                                        <p:attrNameLst>
                                          <p:attrName>style.visibility</p:attrName>
                                        </p:attrNameLst>
                                      </p:cBhvr>
                                      <p:to>
                                        <p:strVal val="visible"/>
                                      </p:to>
                                    </p:set>
                                    <p:animEffect transition="in" filter="wipe(down)">
                                      <p:cBhvr>
                                        <p:cTn id="342" dur="500"/>
                                        <p:tgtEl>
                                          <p:spTgt spid="195"/>
                                        </p:tgtEl>
                                      </p:cBhvr>
                                    </p:animEffect>
                                  </p:childTnLst>
                                </p:cTn>
                              </p:par>
                              <p:par>
                                <p:cTn id="343" presetID="22" presetClass="entr" presetSubtype="4" fill="hold" grpId="0" nodeType="withEffect">
                                  <p:stCondLst>
                                    <p:cond delay="0"/>
                                  </p:stCondLst>
                                  <p:childTnLst>
                                    <p:set>
                                      <p:cBhvr>
                                        <p:cTn id="344" dur="1" fill="hold">
                                          <p:stCondLst>
                                            <p:cond delay="0"/>
                                          </p:stCondLst>
                                        </p:cTn>
                                        <p:tgtEl>
                                          <p:spTgt spid="202"/>
                                        </p:tgtEl>
                                        <p:attrNameLst>
                                          <p:attrName>style.visibility</p:attrName>
                                        </p:attrNameLst>
                                      </p:cBhvr>
                                      <p:to>
                                        <p:strVal val="visible"/>
                                      </p:to>
                                    </p:set>
                                    <p:animEffect transition="in" filter="wipe(down)">
                                      <p:cBhvr>
                                        <p:cTn id="345" dur="500"/>
                                        <p:tgtEl>
                                          <p:spTgt spid="202"/>
                                        </p:tgtEl>
                                      </p:cBhvr>
                                    </p:animEffect>
                                  </p:childTnLst>
                                </p:cTn>
                              </p:par>
                              <p:par>
                                <p:cTn id="346" presetID="22" presetClass="entr" presetSubtype="4" fill="hold" grpId="0" nodeType="withEffect">
                                  <p:stCondLst>
                                    <p:cond delay="0"/>
                                  </p:stCondLst>
                                  <p:childTnLst>
                                    <p:set>
                                      <p:cBhvr>
                                        <p:cTn id="347" dur="1" fill="hold">
                                          <p:stCondLst>
                                            <p:cond delay="0"/>
                                          </p:stCondLst>
                                        </p:cTn>
                                        <p:tgtEl>
                                          <p:spTgt spid="203"/>
                                        </p:tgtEl>
                                        <p:attrNameLst>
                                          <p:attrName>style.visibility</p:attrName>
                                        </p:attrNameLst>
                                      </p:cBhvr>
                                      <p:to>
                                        <p:strVal val="visible"/>
                                      </p:to>
                                    </p:set>
                                    <p:animEffect transition="in" filter="wipe(down)">
                                      <p:cBhvr>
                                        <p:cTn id="348" dur="500"/>
                                        <p:tgtEl>
                                          <p:spTgt spid="203"/>
                                        </p:tgtEl>
                                      </p:cBhvr>
                                    </p:animEffect>
                                  </p:childTnLst>
                                </p:cTn>
                              </p:par>
                              <p:par>
                                <p:cTn id="349" presetID="22" presetClass="entr" presetSubtype="4" fill="hold" nodeType="withEffect">
                                  <p:stCondLst>
                                    <p:cond delay="0"/>
                                  </p:stCondLst>
                                  <p:childTnLst>
                                    <p:set>
                                      <p:cBhvr>
                                        <p:cTn id="350" dur="1" fill="hold">
                                          <p:stCondLst>
                                            <p:cond delay="0"/>
                                          </p:stCondLst>
                                        </p:cTn>
                                        <p:tgtEl>
                                          <p:spTgt spid="142"/>
                                        </p:tgtEl>
                                        <p:attrNameLst>
                                          <p:attrName>style.visibility</p:attrName>
                                        </p:attrNameLst>
                                      </p:cBhvr>
                                      <p:to>
                                        <p:strVal val="visible"/>
                                      </p:to>
                                    </p:set>
                                    <p:animEffect transition="in" filter="wipe(down)">
                                      <p:cBhvr>
                                        <p:cTn id="351" dur="500"/>
                                        <p:tgtEl>
                                          <p:spTgt spid="142"/>
                                        </p:tgtEl>
                                      </p:cBhvr>
                                    </p:animEffect>
                                  </p:childTnLst>
                                </p:cTn>
                              </p:par>
                              <p:par>
                                <p:cTn id="352" presetID="22" presetClass="entr" presetSubtype="4" fill="hold" nodeType="withEffect">
                                  <p:stCondLst>
                                    <p:cond delay="0"/>
                                  </p:stCondLst>
                                  <p:childTnLst>
                                    <p:set>
                                      <p:cBhvr>
                                        <p:cTn id="353" dur="1" fill="hold">
                                          <p:stCondLst>
                                            <p:cond delay="0"/>
                                          </p:stCondLst>
                                        </p:cTn>
                                        <p:tgtEl>
                                          <p:spTgt spid="101"/>
                                        </p:tgtEl>
                                        <p:attrNameLst>
                                          <p:attrName>style.visibility</p:attrName>
                                        </p:attrNameLst>
                                      </p:cBhvr>
                                      <p:to>
                                        <p:strVal val="visible"/>
                                      </p:to>
                                    </p:set>
                                    <p:animEffect transition="in" filter="wipe(down)">
                                      <p:cBhvr>
                                        <p:cTn id="354" dur="500"/>
                                        <p:tgtEl>
                                          <p:spTgt spid="101"/>
                                        </p:tgtEl>
                                      </p:cBhvr>
                                    </p:animEffect>
                                  </p:childTnLst>
                                </p:cTn>
                              </p:par>
                            </p:childTnLst>
                          </p:cTn>
                        </p:par>
                      </p:childTnLst>
                    </p:cTn>
                  </p:par>
                  <p:par>
                    <p:cTn id="355" fill="hold">
                      <p:stCondLst>
                        <p:cond delay="indefinite"/>
                      </p:stCondLst>
                      <p:childTnLst>
                        <p:par>
                          <p:cTn id="356" fill="hold">
                            <p:stCondLst>
                              <p:cond delay="0"/>
                            </p:stCondLst>
                            <p:childTnLst>
                              <p:par>
                                <p:cTn id="357" presetID="16" presetClass="entr" presetSubtype="21" fill="hold" nodeType="clickEffect">
                                  <p:stCondLst>
                                    <p:cond delay="0"/>
                                  </p:stCondLst>
                                  <p:childTnLst>
                                    <p:set>
                                      <p:cBhvr>
                                        <p:cTn id="358" dur="1" fill="hold">
                                          <p:stCondLst>
                                            <p:cond delay="0"/>
                                          </p:stCondLst>
                                        </p:cTn>
                                        <p:tgtEl>
                                          <p:spTgt spid="102"/>
                                        </p:tgtEl>
                                        <p:attrNameLst>
                                          <p:attrName>style.visibility</p:attrName>
                                        </p:attrNameLst>
                                      </p:cBhvr>
                                      <p:to>
                                        <p:strVal val="visible"/>
                                      </p:to>
                                    </p:set>
                                    <p:animEffect transition="in" filter="barn(inVertical)">
                                      <p:cBhvr>
                                        <p:cTn id="359" dur="500"/>
                                        <p:tgtEl>
                                          <p:spTgt spid="102"/>
                                        </p:tgtEl>
                                      </p:cBhvr>
                                    </p:animEffect>
                                  </p:childTnLst>
                                </p:cTn>
                              </p:par>
                              <p:par>
                                <p:cTn id="360" presetID="16" presetClass="entr" presetSubtype="21" fill="hold" nodeType="withEffect">
                                  <p:stCondLst>
                                    <p:cond delay="0"/>
                                  </p:stCondLst>
                                  <p:childTnLst>
                                    <p:set>
                                      <p:cBhvr>
                                        <p:cTn id="361" dur="1" fill="hold">
                                          <p:stCondLst>
                                            <p:cond delay="0"/>
                                          </p:stCondLst>
                                        </p:cTn>
                                        <p:tgtEl>
                                          <p:spTgt spid="118"/>
                                        </p:tgtEl>
                                        <p:attrNameLst>
                                          <p:attrName>style.visibility</p:attrName>
                                        </p:attrNameLst>
                                      </p:cBhvr>
                                      <p:to>
                                        <p:strVal val="visible"/>
                                      </p:to>
                                    </p:set>
                                    <p:animEffect transition="in" filter="barn(inVertical)">
                                      <p:cBhvr>
                                        <p:cTn id="362" dur="500"/>
                                        <p:tgtEl>
                                          <p:spTgt spid="118"/>
                                        </p:tgtEl>
                                      </p:cBhvr>
                                    </p:animEffect>
                                  </p:childTnLst>
                                </p:cTn>
                              </p:par>
                              <p:par>
                                <p:cTn id="363" presetID="16" presetClass="entr" presetSubtype="21" fill="hold" nodeType="withEffect">
                                  <p:stCondLst>
                                    <p:cond delay="0"/>
                                  </p:stCondLst>
                                  <p:childTnLst>
                                    <p:set>
                                      <p:cBhvr>
                                        <p:cTn id="364" dur="1" fill="hold">
                                          <p:stCondLst>
                                            <p:cond delay="0"/>
                                          </p:stCondLst>
                                        </p:cTn>
                                        <p:tgtEl>
                                          <p:spTgt spid="130"/>
                                        </p:tgtEl>
                                        <p:attrNameLst>
                                          <p:attrName>style.visibility</p:attrName>
                                        </p:attrNameLst>
                                      </p:cBhvr>
                                      <p:to>
                                        <p:strVal val="visible"/>
                                      </p:to>
                                    </p:set>
                                    <p:animEffect transition="in" filter="barn(inVertical)">
                                      <p:cBhvr>
                                        <p:cTn id="365" dur="500"/>
                                        <p:tgtEl>
                                          <p:spTgt spid="130"/>
                                        </p:tgtEl>
                                      </p:cBhvr>
                                    </p:animEffect>
                                  </p:childTnLst>
                                </p:cTn>
                              </p:par>
                              <p:par>
                                <p:cTn id="366" presetID="16" presetClass="entr" presetSubtype="21" fill="hold" nodeType="withEffect">
                                  <p:stCondLst>
                                    <p:cond delay="0"/>
                                  </p:stCondLst>
                                  <p:childTnLst>
                                    <p:set>
                                      <p:cBhvr>
                                        <p:cTn id="367" dur="1" fill="hold">
                                          <p:stCondLst>
                                            <p:cond delay="0"/>
                                          </p:stCondLst>
                                        </p:cTn>
                                        <p:tgtEl>
                                          <p:spTgt spid="136"/>
                                        </p:tgtEl>
                                        <p:attrNameLst>
                                          <p:attrName>style.visibility</p:attrName>
                                        </p:attrNameLst>
                                      </p:cBhvr>
                                      <p:to>
                                        <p:strVal val="visible"/>
                                      </p:to>
                                    </p:set>
                                    <p:animEffect transition="in" filter="barn(inVertical)">
                                      <p:cBhvr>
                                        <p:cTn id="368" dur="500"/>
                                        <p:tgtEl>
                                          <p:spTgt spid="136"/>
                                        </p:tgtEl>
                                      </p:cBhvr>
                                    </p:animEffect>
                                  </p:childTnLst>
                                </p:cTn>
                              </p:par>
                              <p:par>
                                <p:cTn id="369" presetID="16" presetClass="entr" presetSubtype="21" fill="hold" nodeType="withEffect">
                                  <p:stCondLst>
                                    <p:cond delay="0"/>
                                  </p:stCondLst>
                                  <p:childTnLst>
                                    <p:set>
                                      <p:cBhvr>
                                        <p:cTn id="370" dur="1" fill="hold">
                                          <p:stCondLst>
                                            <p:cond delay="0"/>
                                          </p:stCondLst>
                                        </p:cTn>
                                        <p:tgtEl>
                                          <p:spTgt spid="150"/>
                                        </p:tgtEl>
                                        <p:attrNameLst>
                                          <p:attrName>style.visibility</p:attrName>
                                        </p:attrNameLst>
                                      </p:cBhvr>
                                      <p:to>
                                        <p:strVal val="visible"/>
                                      </p:to>
                                    </p:set>
                                    <p:animEffect transition="in" filter="barn(inVertical)">
                                      <p:cBhvr>
                                        <p:cTn id="371" dur="500"/>
                                        <p:tgtEl>
                                          <p:spTgt spid="150"/>
                                        </p:tgtEl>
                                      </p:cBhvr>
                                    </p:animEffect>
                                  </p:childTnLst>
                                </p:cTn>
                              </p:par>
                              <p:par>
                                <p:cTn id="372" presetID="16" presetClass="entr" presetSubtype="21" fill="hold" nodeType="withEffect">
                                  <p:stCondLst>
                                    <p:cond delay="0"/>
                                  </p:stCondLst>
                                  <p:childTnLst>
                                    <p:set>
                                      <p:cBhvr>
                                        <p:cTn id="373" dur="1" fill="hold">
                                          <p:stCondLst>
                                            <p:cond delay="0"/>
                                          </p:stCondLst>
                                        </p:cTn>
                                        <p:tgtEl>
                                          <p:spTgt spid="156"/>
                                        </p:tgtEl>
                                        <p:attrNameLst>
                                          <p:attrName>style.visibility</p:attrName>
                                        </p:attrNameLst>
                                      </p:cBhvr>
                                      <p:to>
                                        <p:strVal val="visible"/>
                                      </p:to>
                                    </p:set>
                                    <p:animEffect transition="in" filter="barn(inVertical)">
                                      <p:cBhvr>
                                        <p:cTn id="374" dur="500"/>
                                        <p:tgtEl>
                                          <p:spTgt spid="156"/>
                                        </p:tgtEl>
                                      </p:cBhvr>
                                    </p:animEffect>
                                  </p:childTnLst>
                                </p:cTn>
                              </p:par>
                              <p:par>
                                <p:cTn id="375" presetID="16" presetClass="entr" presetSubtype="21" fill="hold" nodeType="withEffect">
                                  <p:stCondLst>
                                    <p:cond delay="0"/>
                                  </p:stCondLst>
                                  <p:childTnLst>
                                    <p:set>
                                      <p:cBhvr>
                                        <p:cTn id="376" dur="1" fill="hold">
                                          <p:stCondLst>
                                            <p:cond delay="0"/>
                                          </p:stCondLst>
                                        </p:cTn>
                                        <p:tgtEl>
                                          <p:spTgt spid="169"/>
                                        </p:tgtEl>
                                        <p:attrNameLst>
                                          <p:attrName>style.visibility</p:attrName>
                                        </p:attrNameLst>
                                      </p:cBhvr>
                                      <p:to>
                                        <p:strVal val="visible"/>
                                      </p:to>
                                    </p:set>
                                    <p:animEffect transition="in" filter="barn(inVertical)">
                                      <p:cBhvr>
                                        <p:cTn id="377" dur="500"/>
                                        <p:tgtEl>
                                          <p:spTgt spid="169"/>
                                        </p:tgtEl>
                                      </p:cBhvr>
                                    </p:animEffect>
                                  </p:childTnLst>
                                </p:cTn>
                              </p:par>
                              <p:par>
                                <p:cTn id="378" presetID="16" presetClass="entr" presetSubtype="21" fill="hold" grpId="0" nodeType="withEffect">
                                  <p:stCondLst>
                                    <p:cond delay="0"/>
                                  </p:stCondLst>
                                  <p:childTnLst>
                                    <p:set>
                                      <p:cBhvr>
                                        <p:cTn id="379" dur="1" fill="hold">
                                          <p:stCondLst>
                                            <p:cond delay="0"/>
                                          </p:stCondLst>
                                        </p:cTn>
                                        <p:tgtEl>
                                          <p:spTgt spid="196"/>
                                        </p:tgtEl>
                                        <p:attrNameLst>
                                          <p:attrName>style.visibility</p:attrName>
                                        </p:attrNameLst>
                                      </p:cBhvr>
                                      <p:to>
                                        <p:strVal val="visible"/>
                                      </p:to>
                                    </p:set>
                                    <p:animEffect transition="in" filter="barn(inVertical)">
                                      <p:cBhvr>
                                        <p:cTn id="380" dur="500"/>
                                        <p:tgtEl>
                                          <p:spTgt spid="196"/>
                                        </p:tgtEl>
                                      </p:cBhvr>
                                    </p:animEffect>
                                  </p:childTnLst>
                                </p:cTn>
                              </p:par>
                              <p:par>
                                <p:cTn id="381" presetID="16" presetClass="entr" presetSubtype="21" fill="hold" grpId="0" nodeType="withEffect">
                                  <p:stCondLst>
                                    <p:cond delay="0"/>
                                  </p:stCondLst>
                                  <p:childTnLst>
                                    <p:set>
                                      <p:cBhvr>
                                        <p:cTn id="382" dur="1" fill="hold">
                                          <p:stCondLst>
                                            <p:cond delay="0"/>
                                          </p:stCondLst>
                                        </p:cTn>
                                        <p:tgtEl>
                                          <p:spTgt spid="197"/>
                                        </p:tgtEl>
                                        <p:attrNameLst>
                                          <p:attrName>style.visibility</p:attrName>
                                        </p:attrNameLst>
                                      </p:cBhvr>
                                      <p:to>
                                        <p:strVal val="visible"/>
                                      </p:to>
                                    </p:set>
                                    <p:animEffect transition="in" filter="barn(inVertical)">
                                      <p:cBhvr>
                                        <p:cTn id="383" dur="500"/>
                                        <p:tgtEl>
                                          <p:spTgt spid="197"/>
                                        </p:tgtEl>
                                      </p:cBhvr>
                                    </p:animEffect>
                                  </p:childTnLst>
                                </p:cTn>
                              </p:par>
                              <p:par>
                                <p:cTn id="384" presetID="16" presetClass="entr" presetSubtype="21" fill="hold" grpId="0" nodeType="withEffect">
                                  <p:stCondLst>
                                    <p:cond delay="0"/>
                                  </p:stCondLst>
                                  <p:childTnLst>
                                    <p:set>
                                      <p:cBhvr>
                                        <p:cTn id="385" dur="1" fill="hold">
                                          <p:stCondLst>
                                            <p:cond delay="0"/>
                                          </p:stCondLst>
                                        </p:cTn>
                                        <p:tgtEl>
                                          <p:spTgt spid="204"/>
                                        </p:tgtEl>
                                        <p:attrNameLst>
                                          <p:attrName>style.visibility</p:attrName>
                                        </p:attrNameLst>
                                      </p:cBhvr>
                                      <p:to>
                                        <p:strVal val="visible"/>
                                      </p:to>
                                    </p:set>
                                    <p:animEffect transition="in" filter="barn(inVertical)">
                                      <p:cBhvr>
                                        <p:cTn id="386" dur="500"/>
                                        <p:tgtEl>
                                          <p:spTgt spid="204"/>
                                        </p:tgtEl>
                                      </p:cBhvr>
                                    </p:animEffect>
                                  </p:childTnLst>
                                </p:cTn>
                              </p:par>
                              <p:par>
                                <p:cTn id="387" presetID="16" presetClass="entr" presetSubtype="21" fill="hold" grpId="0" nodeType="withEffect">
                                  <p:stCondLst>
                                    <p:cond delay="0"/>
                                  </p:stCondLst>
                                  <p:childTnLst>
                                    <p:set>
                                      <p:cBhvr>
                                        <p:cTn id="388" dur="1" fill="hold">
                                          <p:stCondLst>
                                            <p:cond delay="0"/>
                                          </p:stCondLst>
                                        </p:cTn>
                                        <p:tgtEl>
                                          <p:spTgt spid="205"/>
                                        </p:tgtEl>
                                        <p:attrNameLst>
                                          <p:attrName>style.visibility</p:attrName>
                                        </p:attrNameLst>
                                      </p:cBhvr>
                                      <p:to>
                                        <p:strVal val="visible"/>
                                      </p:to>
                                    </p:set>
                                    <p:animEffect transition="in" filter="barn(inVertical)">
                                      <p:cBhvr>
                                        <p:cTn id="389" dur="500"/>
                                        <p:tgtEl>
                                          <p:spTgt spid="205"/>
                                        </p:tgtEl>
                                      </p:cBhvr>
                                    </p:animEffect>
                                  </p:childTnLst>
                                </p:cTn>
                              </p:par>
                              <p:par>
                                <p:cTn id="390" presetID="16" presetClass="entr" presetSubtype="21" fill="hold" nodeType="withEffect">
                                  <p:stCondLst>
                                    <p:cond delay="0"/>
                                  </p:stCondLst>
                                  <p:childTnLst>
                                    <p:set>
                                      <p:cBhvr>
                                        <p:cTn id="391" dur="1" fill="hold">
                                          <p:stCondLst>
                                            <p:cond delay="0"/>
                                          </p:stCondLst>
                                        </p:cTn>
                                        <p:tgtEl>
                                          <p:spTgt spid="146"/>
                                        </p:tgtEl>
                                        <p:attrNameLst>
                                          <p:attrName>style.visibility</p:attrName>
                                        </p:attrNameLst>
                                      </p:cBhvr>
                                      <p:to>
                                        <p:strVal val="visible"/>
                                      </p:to>
                                    </p:set>
                                    <p:animEffect transition="in" filter="barn(inVertical)">
                                      <p:cBhvr>
                                        <p:cTn id="392" dur="500"/>
                                        <p:tgtEl>
                                          <p:spTgt spid="1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0" grpId="0"/>
      <p:bldP spid="171" grpId="0"/>
      <p:bldP spid="172" grpId="0"/>
      <p:bldP spid="173" grpId="0"/>
      <p:bldP spid="174" grpId="0"/>
      <p:bldP spid="175" grpId="0"/>
      <p:bldP spid="176" grpId="0"/>
      <p:bldP spid="177" grpId="0"/>
      <p:bldP spid="178" grpId="0"/>
      <p:bldP spid="179" grpId="0"/>
      <p:bldP spid="180" grpId="0"/>
      <p:bldP spid="181" grpId="0"/>
      <p:bldP spid="182" grpId="0"/>
      <p:bldP spid="183" grpId="0"/>
      <p:bldP spid="184" grpId="0"/>
      <p:bldP spid="185" grpId="0"/>
      <p:bldP spid="186" grpId="0"/>
      <p:bldP spid="187" grpId="0"/>
      <p:bldP spid="188" grpId="0"/>
      <p:bldP spid="189" grpId="0"/>
      <p:bldP spid="190" grpId="0"/>
      <p:bldP spid="191" grpId="0"/>
      <p:bldP spid="192" grpId="0"/>
      <p:bldP spid="193" grpId="0"/>
      <p:bldP spid="194" grpId="0"/>
      <p:bldP spid="195" grpId="0"/>
      <p:bldP spid="196" grpId="0"/>
      <p:bldP spid="197" grpId="0"/>
      <p:bldP spid="198" grpId="0"/>
      <p:bldP spid="199" grpId="0"/>
      <p:bldP spid="200" grpId="0"/>
      <p:bldP spid="201" grpId="0"/>
      <p:bldP spid="202" grpId="0"/>
      <p:bldP spid="203" grpId="0"/>
      <p:bldP spid="204" grpId="0"/>
      <p:bldP spid="20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Freeform 17"/>
          <p:cNvSpPr/>
          <p:nvPr/>
        </p:nvSpPr>
        <p:spPr>
          <a:xfrm>
            <a:off x="1603619" y="6070321"/>
            <a:ext cx="6226247" cy="1538913"/>
          </a:xfrm>
          <a:custGeom>
            <a:avLst/>
            <a:gdLst/>
            <a:ahLst/>
            <a:cxnLst/>
            <a:rect l="l" t="t" r="r" b="b"/>
            <a:pathLst>
              <a:path w="6226247" h="3735748">
                <a:moveTo>
                  <a:pt x="0" y="0"/>
                </a:moveTo>
                <a:lnTo>
                  <a:pt x="6226247" y="0"/>
                </a:lnTo>
                <a:lnTo>
                  <a:pt x="6226247" y="3735748"/>
                </a:lnTo>
                <a:lnTo>
                  <a:pt x="0" y="3735748"/>
                </a:lnTo>
                <a:lnTo>
                  <a:pt x="0" y="0"/>
                </a:lnTo>
                <a:close/>
              </a:path>
            </a:pathLst>
          </a:custGeom>
          <a:blipFill>
            <a:blip r:embed="rId3">
              <a:alphaModFix amt="53000"/>
              <a:extLst>
                <a:ext uri="{96DAC541-7B7A-43D3-8B79-37D633B846F1}">
                  <asvg:svgBlip xmlns:asvg="http://schemas.microsoft.com/office/drawing/2016/SVG/main" xmlns="" r:embed="rId4"/>
                </a:ext>
              </a:extLst>
            </a:blip>
            <a:stretch>
              <a:fillRect/>
            </a:stretch>
          </a:blipFill>
          <a:ln cap="sq">
            <a:noFill/>
            <a:prstDash val="solid"/>
            <a:miter/>
          </a:ln>
        </p:spPr>
        <p:txBody>
          <a:bodyPr/>
          <a:lstStyle/>
          <a:p>
            <a:r>
              <a:rPr lang="en-US" dirty="0" smtClean="0"/>
              <a:t>v</a:t>
            </a:r>
            <a:endParaRPr lang="fr-FR" dirty="0"/>
          </a:p>
        </p:txBody>
      </p:sp>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5"/>
            <a:stretch>
              <a:fillRect l="-13320" r="-13320"/>
            </a:stretch>
          </a:blipFill>
        </p:spPr>
        <p:txBody>
          <a:bodyPr/>
          <a:lstStyle/>
          <a:p>
            <a:endParaRPr lang="fr-FR" dirty="0"/>
          </a:p>
        </p:txBody>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solidFill>
                <a:sym typeface="TT Fors Bold"/>
              </a:rPr>
              <a:t>Automatisation</a:t>
            </a:r>
            <a:r>
              <a:rPr lang="en-US" sz="2400" b="1" dirty="0">
                <a:solidFill>
                  <a:schemeClr val="bg1">
                    <a:lumMod val="50000"/>
                  </a:schemeClr>
                </a:solidFill>
                <a:sym typeface="TT Fors Bold"/>
              </a:rPr>
              <a:t> </a:t>
            </a:r>
            <a:r>
              <a:rPr lang="en-US" sz="2400" b="1" dirty="0" err="1">
                <a:solidFill>
                  <a:schemeClr val="bg1"/>
                </a:solidFill>
                <a:sym typeface="TT Fors Bold"/>
              </a:rPr>
              <a:t>IaC</a:t>
            </a:r>
            <a:endParaRPr lang="fr-FR" sz="2400" b="1" dirty="0">
              <a:solidFill>
                <a:schemeClr val="bg1"/>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96728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2400" b="1" smtClean="0"/>
              <a:pPr/>
              <a:t>18</a:t>
            </a:fld>
            <a:endParaRPr lang="en-US" sz="2400" b="1" dirty="0"/>
          </a:p>
        </p:txBody>
      </p:sp>
      <p:sp>
        <p:nvSpPr>
          <p:cNvPr id="13" name="AutoShape 2"/>
          <p:cNvSpPr/>
          <p:nvPr/>
        </p:nvSpPr>
        <p:spPr>
          <a:xfrm flipV="1">
            <a:off x="7255316" y="3281733"/>
            <a:ext cx="902171" cy="9525"/>
          </a:xfrm>
          <a:prstGeom prst="line">
            <a:avLst/>
          </a:prstGeom>
          <a:ln w="19050" cap="flat">
            <a:solidFill>
              <a:srgbClr val="0A0A40"/>
            </a:solidFill>
            <a:prstDash val="solid"/>
            <a:headEnd type="none" w="sm" len="sm"/>
            <a:tailEnd type="none" w="sm" len="sm"/>
          </a:ln>
        </p:spPr>
      </p:sp>
      <p:sp>
        <p:nvSpPr>
          <p:cNvPr id="14" name="AutoShape 3"/>
          <p:cNvSpPr/>
          <p:nvPr/>
        </p:nvSpPr>
        <p:spPr>
          <a:xfrm>
            <a:off x="9812752" y="3281733"/>
            <a:ext cx="643380" cy="9525"/>
          </a:xfrm>
          <a:prstGeom prst="line">
            <a:avLst/>
          </a:prstGeom>
          <a:ln w="19050" cap="flat">
            <a:solidFill>
              <a:srgbClr val="0A0A40"/>
            </a:solidFill>
            <a:prstDash val="solid"/>
            <a:headEnd type="none" w="sm" len="sm"/>
            <a:tailEnd type="none" w="sm" len="sm"/>
          </a:ln>
        </p:spPr>
      </p:sp>
      <p:sp>
        <p:nvSpPr>
          <p:cNvPr id="15" name="AutoShape 4"/>
          <p:cNvSpPr/>
          <p:nvPr/>
        </p:nvSpPr>
        <p:spPr>
          <a:xfrm flipH="1" flipV="1">
            <a:off x="9822276" y="3291258"/>
            <a:ext cx="7311" cy="3985842"/>
          </a:xfrm>
          <a:prstGeom prst="line">
            <a:avLst/>
          </a:prstGeom>
          <a:ln w="19050" cap="flat">
            <a:solidFill>
              <a:srgbClr val="0A0A40"/>
            </a:solidFill>
            <a:prstDash val="solid"/>
            <a:headEnd type="none" w="sm" len="sm"/>
            <a:tailEnd type="none" w="sm" len="sm"/>
          </a:ln>
        </p:spPr>
      </p:sp>
      <p:sp>
        <p:nvSpPr>
          <p:cNvPr id="16" name="AutoShape 5"/>
          <p:cNvSpPr/>
          <p:nvPr/>
        </p:nvSpPr>
        <p:spPr>
          <a:xfrm flipH="1" flipV="1">
            <a:off x="8167012" y="3291258"/>
            <a:ext cx="5184" cy="3985842"/>
          </a:xfrm>
          <a:prstGeom prst="line">
            <a:avLst/>
          </a:prstGeom>
          <a:ln w="19050" cap="flat">
            <a:solidFill>
              <a:srgbClr val="0A0A40"/>
            </a:solidFill>
            <a:prstDash val="solid"/>
            <a:headEnd type="none" w="sm" len="sm"/>
            <a:tailEnd type="none" w="sm" len="sm"/>
          </a:ln>
        </p:spPr>
      </p:sp>
      <p:sp>
        <p:nvSpPr>
          <p:cNvPr id="17" name="AutoShape 6"/>
          <p:cNvSpPr/>
          <p:nvPr/>
        </p:nvSpPr>
        <p:spPr>
          <a:xfrm flipV="1">
            <a:off x="15970189" y="3281733"/>
            <a:ext cx="419107" cy="9525"/>
          </a:xfrm>
          <a:prstGeom prst="line">
            <a:avLst/>
          </a:prstGeom>
          <a:ln w="19050" cap="flat">
            <a:solidFill>
              <a:srgbClr val="0A0A40"/>
            </a:solidFill>
            <a:prstDash val="solid"/>
            <a:headEnd type="none" w="sm" len="sm"/>
            <a:tailEnd type="none" w="sm" len="sm"/>
          </a:ln>
        </p:spPr>
      </p:sp>
      <p:sp>
        <p:nvSpPr>
          <p:cNvPr id="18" name="AutoShape 7"/>
          <p:cNvSpPr/>
          <p:nvPr/>
        </p:nvSpPr>
        <p:spPr>
          <a:xfrm>
            <a:off x="1580942" y="3281733"/>
            <a:ext cx="1099999" cy="0"/>
          </a:xfrm>
          <a:prstGeom prst="line">
            <a:avLst/>
          </a:prstGeom>
          <a:ln w="19050" cap="flat">
            <a:solidFill>
              <a:srgbClr val="0A0A40"/>
            </a:solidFill>
            <a:prstDash val="solid"/>
            <a:headEnd type="none" w="sm" len="sm"/>
            <a:tailEnd type="none" w="sm" len="sm"/>
          </a:ln>
        </p:spPr>
      </p:sp>
      <p:grpSp>
        <p:nvGrpSpPr>
          <p:cNvPr id="19" name="Group 8"/>
          <p:cNvGrpSpPr/>
          <p:nvPr/>
        </p:nvGrpSpPr>
        <p:grpSpPr>
          <a:xfrm>
            <a:off x="2680941" y="2806514"/>
            <a:ext cx="4574375" cy="969488"/>
            <a:chOff x="0" y="0"/>
            <a:chExt cx="1660640" cy="351954"/>
          </a:xfrm>
        </p:grpSpPr>
        <p:sp>
          <p:nvSpPr>
            <p:cNvPr id="20" name="Freeform 9"/>
            <p:cNvSpPr/>
            <p:nvPr/>
          </p:nvSpPr>
          <p:spPr>
            <a:xfrm>
              <a:off x="0" y="0"/>
              <a:ext cx="1660640" cy="351954"/>
            </a:xfrm>
            <a:custGeom>
              <a:avLst/>
              <a:gdLst/>
              <a:ahLst/>
              <a:cxnLst/>
              <a:rect l="l" t="t" r="r" b="b"/>
              <a:pathLst>
                <a:path w="1660640" h="351954">
                  <a:moveTo>
                    <a:pt x="169245" y="0"/>
                  </a:moveTo>
                  <a:lnTo>
                    <a:pt x="1491395" y="0"/>
                  </a:lnTo>
                  <a:cubicBezTo>
                    <a:pt x="1584867" y="0"/>
                    <a:pt x="1660640" y="75774"/>
                    <a:pt x="1660640" y="169245"/>
                  </a:cubicBezTo>
                  <a:lnTo>
                    <a:pt x="1660640" y="182709"/>
                  </a:lnTo>
                  <a:cubicBezTo>
                    <a:pt x="1660640" y="276181"/>
                    <a:pt x="1584867" y="351954"/>
                    <a:pt x="1491395" y="351954"/>
                  </a:cubicBezTo>
                  <a:lnTo>
                    <a:pt x="169245" y="351954"/>
                  </a:lnTo>
                  <a:cubicBezTo>
                    <a:pt x="75774" y="351954"/>
                    <a:pt x="0" y="276181"/>
                    <a:pt x="0" y="182709"/>
                  </a:cubicBezTo>
                  <a:lnTo>
                    <a:pt x="0" y="169245"/>
                  </a:lnTo>
                  <a:cubicBezTo>
                    <a:pt x="0" y="75774"/>
                    <a:pt x="75774" y="0"/>
                    <a:pt x="169245" y="0"/>
                  </a:cubicBezTo>
                  <a:close/>
                </a:path>
              </a:pathLst>
            </a:custGeom>
            <a:solidFill>
              <a:srgbClr val="13538A"/>
            </a:solidFill>
            <a:ln w="28575" cap="rnd">
              <a:solidFill>
                <a:srgbClr val="FFFFFF"/>
              </a:solidFill>
              <a:prstDash val="solid"/>
              <a:round/>
            </a:ln>
          </p:spPr>
        </p:sp>
        <p:sp>
          <p:nvSpPr>
            <p:cNvPr id="21" name="TextBox 10"/>
            <p:cNvSpPr txBox="1"/>
            <p:nvPr/>
          </p:nvSpPr>
          <p:spPr>
            <a:xfrm>
              <a:off x="0" y="0"/>
              <a:ext cx="1660640" cy="351954"/>
            </a:xfrm>
            <a:prstGeom prst="rect">
              <a:avLst/>
            </a:prstGeom>
          </p:spPr>
          <p:txBody>
            <a:bodyPr lIns="50800" tIns="50800" rIns="50800" bIns="50800" rtlCol="0" anchor="ctr"/>
            <a:lstStyle/>
            <a:p>
              <a:pPr algn="ctr">
                <a:lnSpc>
                  <a:spcPts val="2160"/>
                </a:lnSpc>
              </a:pPr>
              <a:endParaRPr/>
            </a:p>
          </p:txBody>
        </p:sp>
      </p:grpSp>
      <p:grpSp>
        <p:nvGrpSpPr>
          <p:cNvPr id="22" name="Group 11"/>
          <p:cNvGrpSpPr/>
          <p:nvPr/>
        </p:nvGrpSpPr>
        <p:grpSpPr>
          <a:xfrm>
            <a:off x="10456132" y="2806514"/>
            <a:ext cx="5514057" cy="969488"/>
            <a:chOff x="0" y="0"/>
            <a:chExt cx="2001774" cy="351954"/>
          </a:xfrm>
        </p:grpSpPr>
        <p:sp>
          <p:nvSpPr>
            <p:cNvPr id="23" name="Freeform 12"/>
            <p:cNvSpPr/>
            <p:nvPr/>
          </p:nvSpPr>
          <p:spPr>
            <a:xfrm>
              <a:off x="0" y="0"/>
              <a:ext cx="2001774" cy="351954"/>
            </a:xfrm>
            <a:custGeom>
              <a:avLst/>
              <a:gdLst/>
              <a:ahLst/>
              <a:cxnLst/>
              <a:rect l="l" t="t" r="r" b="b"/>
              <a:pathLst>
                <a:path w="2001774" h="351954">
                  <a:moveTo>
                    <a:pt x="140403" y="0"/>
                  </a:moveTo>
                  <a:lnTo>
                    <a:pt x="1861371" y="0"/>
                  </a:lnTo>
                  <a:cubicBezTo>
                    <a:pt x="1938914" y="0"/>
                    <a:pt x="2001774" y="62861"/>
                    <a:pt x="2001774" y="140403"/>
                  </a:cubicBezTo>
                  <a:lnTo>
                    <a:pt x="2001774" y="211551"/>
                  </a:lnTo>
                  <a:cubicBezTo>
                    <a:pt x="2001774" y="248788"/>
                    <a:pt x="1986982" y="284500"/>
                    <a:pt x="1960651" y="310831"/>
                  </a:cubicBezTo>
                  <a:cubicBezTo>
                    <a:pt x="1934320" y="337162"/>
                    <a:pt x="1898608" y="351954"/>
                    <a:pt x="1861371" y="351954"/>
                  </a:cubicBezTo>
                  <a:lnTo>
                    <a:pt x="140403" y="351954"/>
                  </a:lnTo>
                  <a:cubicBezTo>
                    <a:pt x="103166" y="351954"/>
                    <a:pt x="67454" y="337162"/>
                    <a:pt x="41123" y="310831"/>
                  </a:cubicBezTo>
                  <a:cubicBezTo>
                    <a:pt x="14792" y="284500"/>
                    <a:pt x="0" y="248788"/>
                    <a:pt x="0" y="211551"/>
                  </a:cubicBezTo>
                  <a:lnTo>
                    <a:pt x="0" y="140403"/>
                  </a:lnTo>
                  <a:cubicBezTo>
                    <a:pt x="0" y="103166"/>
                    <a:pt x="14792" y="67454"/>
                    <a:pt x="41123" y="41123"/>
                  </a:cubicBezTo>
                  <a:cubicBezTo>
                    <a:pt x="67454" y="14792"/>
                    <a:pt x="103166" y="0"/>
                    <a:pt x="140403" y="0"/>
                  </a:cubicBezTo>
                  <a:close/>
                </a:path>
              </a:pathLst>
            </a:custGeom>
            <a:solidFill>
              <a:srgbClr val="5DB0E8"/>
            </a:solidFill>
            <a:ln w="28575" cap="rnd">
              <a:solidFill>
                <a:srgbClr val="FFFFFF"/>
              </a:solidFill>
              <a:prstDash val="solid"/>
              <a:round/>
            </a:ln>
          </p:spPr>
        </p:sp>
        <p:sp>
          <p:nvSpPr>
            <p:cNvPr id="24" name="TextBox 13"/>
            <p:cNvSpPr txBox="1"/>
            <p:nvPr/>
          </p:nvSpPr>
          <p:spPr>
            <a:xfrm>
              <a:off x="0" y="0"/>
              <a:ext cx="2001774" cy="351954"/>
            </a:xfrm>
            <a:prstGeom prst="rect">
              <a:avLst/>
            </a:prstGeom>
          </p:spPr>
          <p:txBody>
            <a:bodyPr lIns="50800" tIns="50800" rIns="50800" bIns="50800" rtlCol="0" anchor="ctr"/>
            <a:lstStyle/>
            <a:p>
              <a:pPr algn="ctr">
                <a:lnSpc>
                  <a:spcPts val="2160"/>
                </a:lnSpc>
              </a:pPr>
              <a:endParaRPr/>
            </a:p>
          </p:txBody>
        </p:sp>
      </p:grpSp>
      <p:grpSp>
        <p:nvGrpSpPr>
          <p:cNvPr id="25" name="Group 14"/>
          <p:cNvGrpSpPr/>
          <p:nvPr/>
        </p:nvGrpSpPr>
        <p:grpSpPr>
          <a:xfrm>
            <a:off x="1580942" y="3993790"/>
            <a:ext cx="6240956" cy="3283310"/>
            <a:chOff x="0" y="0"/>
            <a:chExt cx="1643709" cy="1386538"/>
          </a:xfrm>
        </p:grpSpPr>
        <p:sp>
          <p:nvSpPr>
            <p:cNvPr id="26" name="Freeform 15"/>
            <p:cNvSpPr/>
            <p:nvPr/>
          </p:nvSpPr>
          <p:spPr>
            <a:xfrm>
              <a:off x="0" y="0"/>
              <a:ext cx="1643709" cy="1386538"/>
            </a:xfrm>
            <a:custGeom>
              <a:avLst/>
              <a:gdLst/>
              <a:ahLst/>
              <a:cxnLst/>
              <a:rect l="l" t="t" r="r" b="b"/>
              <a:pathLst>
                <a:path w="1643709" h="1386538">
                  <a:moveTo>
                    <a:pt x="3722" y="0"/>
                  </a:moveTo>
                  <a:lnTo>
                    <a:pt x="1639987" y="0"/>
                  </a:lnTo>
                  <a:cubicBezTo>
                    <a:pt x="1642043" y="0"/>
                    <a:pt x="1643709" y="1666"/>
                    <a:pt x="1643709" y="3722"/>
                  </a:cubicBezTo>
                  <a:lnTo>
                    <a:pt x="1643709" y="1382816"/>
                  </a:lnTo>
                  <a:cubicBezTo>
                    <a:pt x="1643709" y="1383803"/>
                    <a:pt x="1643317" y="1384750"/>
                    <a:pt x="1642619" y="1385448"/>
                  </a:cubicBezTo>
                  <a:cubicBezTo>
                    <a:pt x="1641921" y="1386146"/>
                    <a:pt x="1640974" y="1386538"/>
                    <a:pt x="1639987" y="1386538"/>
                  </a:cubicBezTo>
                  <a:lnTo>
                    <a:pt x="3722" y="1386538"/>
                  </a:lnTo>
                  <a:cubicBezTo>
                    <a:pt x="1666" y="1386538"/>
                    <a:pt x="0" y="1384872"/>
                    <a:pt x="0" y="1382816"/>
                  </a:cubicBezTo>
                  <a:lnTo>
                    <a:pt x="0" y="3722"/>
                  </a:lnTo>
                  <a:cubicBezTo>
                    <a:pt x="0" y="1666"/>
                    <a:pt x="1666" y="0"/>
                    <a:pt x="3722" y="0"/>
                  </a:cubicBezTo>
                  <a:close/>
                </a:path>
              </a:pathLst>
            </a:custGeom>
            <a:solidFill>
              <a:srgbClr val="13538A"/>
            </a:solidFill>
            <a:ln cap="sq">
              <a:noFill/>
              <a:prstDash val="solid"/>
              <a:miter/>
            </a:ln>
          </p:spPr>
        </p:sp>
        <p:sp>
          <p:nvSpPr>
            <p:cNvPr id="27" name="TextBox 16"/>
            <p:cNvSpPr txBox="1"/>
            <p:nvPr/>
          </p:nvSpPr>
          <p:spPr>
            <a:xfrm>
              <a:off x="0" y="0"/>
              <a:ext cx="1643709" cy="1386538"/>
            </a:xfrm>
            <a:prstGeom prst="rect">
              <a:avLst/>
            </a:prstGeom>
          </p:spPr>
          <p:txBody>
            <a:bodyPr lIns="50800" tIns="50800" rIns="50800" bIns="50800" rtlCol="0" anchor="ctr"/>
            <a:lstStyle/>
            <a:p>
              <a:pPr algn="ctr">
                <a:lnSpc>
                  <a:spcPts val="2160"/>
                </a:lnSpc>
              </a:pPr>
              <a:endParaRPr/>
            </a:p>
          </p:txBody>
        </p:sp>
      </p:grpSp>
      <p:grpSp>
        <p:nvGrpSpPr>
          <p:cNvPr id="29" name="Group 18"/>
          <p:cNvGrpSpPr/>
          <p:nvPr/>
        </p:nvGrpSpPr>
        <p:grpSpPr>
          <a:xfrm>
            <a:off x="10165177" y="3993790"/>
            <a:ext cx="6240956" cy="3283310"/>
            <a:chOff x="0" y="0"/>
            <a:chExt cx="1643709" cy="1386538"/>
          </a:xfrm>
        </p:grpSpPr>
        <p:sp>
          <p:nvSpPr>
            <p:cNvPr id="30" name="Freeform 19"/>
            <p:cNvSpPr/>
            <p:nvPr/>
          </p:nvSpPr>
          <p:spPr>
            <a:xfrm>
              <a:off x="0" y="0"/>
              <a:ext cx="1643709" cy="1386538"/>
            </a:xfrm>
            <a:custGeom>
              <a:avLst/>
              <a:gdLst/>
              <a:ahLst/>
              <a:cxnLst/>
              <a:rect l="l" t="t" r="r" b="b"/>
              <a:pathLst>
                <a:path w="1643709" h="1386538">
                  <a:moveTo>
                    <a:pt x="3722" y="0"/>
                  </a:moveTo>
                  <a:lnTo>
                    <a:pt x="1639987" y="0"/>
                  </a:lnTo>
                  <a:cubicBezTo>
                    <a:pt x="1642043" y="0"/>
                    <a:pt x="1643709" y="1666"/>
                    <a:pt x="1643709" y="3722"/>
                  </a:cubicBezTo>
                  <a:lnTo>
                    <a:pt x="1643709" y="1382816"/>
                  </a:lnTo>
                  <a:cubicBezTo>
                    <a:pt x="1643709" y="1383803"/>
                    <a:pt x="1643317" y="1384750"/>
                    <a:pt x="1642619" y="1385448"/>
                  </a:cubicBezTo>
                  <a:cubicBezTo>
                    <a:pt x="1641921" y="1386146"/>
                    <a:pt x="1640974" y="1386538"/>
                    <a:pt x="1639987" y="1386538"/>
                  </a:cubicBezTo>
                  <a:lnTo>
                    <a:pt x="3722" y="1386538"/>
                  </a:lnTo>
                  <a:cubicBezTo>
                    <a:pt x="1666" y="1386538"/>
                    <a:pt x="0" y="1384872"/>
                    <a:pt x="0" y="1382816"/>
                  </a:cubicBezTo>
                  <a:lnTo>
                    <a:pt x="0" y="3722"/>
                  </a:lnTo>
                  <a:cubicBezTo>
                    <a:pt x="0" y="1666"/>
                    <a:pt x="1666" y="0"/>
                    <a:pt x="3722" y="0"/>
                  </a:cubicBezTo>
                  <a:close/>
                </a:path>
              </a:pathLst>
            </a:custGeom>
            <a:solidFill>
              <a:srgbClr val="5DB0E8"/>
            </a:solidFill>
            <a:ln cap="sq">
              <a:noFill/>
              <a:prstDash val="solid"/>
              <a:miter/>
            </a:ln>
          </p:spPr>
        </p:sp>
        <p:sp>
          <p:nvSpPr>
            <p:cNvPr id="31" name="TextBox 20"/>
            <p:cNvSpPr txBox="1"/>
            <p:nvPr/>
          </p:nvSpPr>
          <p:spPr>
            <a:xfrm>
              <a:off x="0" y="0"/>
              <a:ext cx="1643709" cy="1386538"/>
            </a:xfrm>
            <a:prstGeom prst="rect">
              <a:avLst/>
            </a:prstGeom>
          </p:spPr>
          <p:txBody>
            <a:bodyPr lIns="50800" tIns="50800" rIns="50800" bIns="50800" rtlCol="0" anchor="ctr"/>
            <a:lstStyle/>
            <a:p>
              <a:pPr algn="ctr">
                <a:lnSpc>
                  <a:spcPts val="2160"/>
                </a:lnSpc>
              </a:pPr>
              <a:endParaRPr/>
            </a:p>
          </p:txBody>
        </p:sp>
      </p:grpSp>
      <p:grpSp>
        <p:nvGrpSpPr>
          <p:cNvPr id="32" name="Group 21"/>
          <p:cNvGrpSpPr/>
          <p:nvPr/>
        </p:nvGrpSpPr>
        <p:grpSpPr>
          <a:xfrm>
            <a:off x="8076702" y="3200948"/>
            <a:ext cx="180620" cy="180620"/>
            <a:chOff x="0" y="0"/>
            <a:chExt cx="812800" cy="812800"/>
          </a:xfrm>
        </p:grpSpPr>
        <p:sp>
          <p:nvSpPr>
            <p:cNvPr id="34"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35" name="TextBox 23"/>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36" name="Group 24"/>
          <p:cNvGrpSpPr/>
          <p:nvPr/>
        </p:nvGrpSpPr>
        <p:grpSpPr>
          <a:xfrm>
            <a:off x="7086063" y="3200948"/>
            <a:ext cx="180620" cy="180620"/>
            <a:chOff x="0" y="0"/>
            <a:chExt cx="812800" cy="812800"/>
          </a:xfrm>
        </p:grpSpPr>
        <p:sp>
          <p:nvSpPr>
            <p:cNvPr id="37" name="Freeform 2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38" name="TextBox 26"/>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39" name="Group 27"/>
          <p:cNvGrpSpPr/>
          <p:nvPr/>
        </p:nvGrpSpPr>
        <p:grpSpPr>
          <a:xfrm>
            <a:off x="2590631" y="3200948"/>
            <a:ext cx="180620" cy="180620"/>
            <a:chOff x="0" y="0"/>
            <a:chExt cx="812800" cy="812800"/>
          </a:xfrm>
        </p:grpSpPr>
        <p:sp>
          <p:nvSpPr>
            <p:cNvPr id="40"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41" name="TextBox 29"/>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42" name="Group 30"/>
          <p:cNvGrpSpPr/>
          <p:nvPr/>
        </p:nvGrpSpPr>
        <p:grpSpPr>
          <a:xfrm>
            <a:off x="1476561" y="3200948"/>
            <a:ext cx="180620" cy="180620"/>
            <a:chOff x="0" y="0"/>
            <a:chExt cx="812800" cy="812800"/>
          </a:xfrm>
        </p:grpSpPr>
        <p:sp>
          <p:nvSpPr>
            <p:cNvPr id="43"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44" name="TextBox 32"/>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45" name="Group 33"/>
          <p:cNvGrpSpPr/>
          <p:nvPr/>
        </p:nvGrpSpPr>
        <p:grpSpPr>
          <a:xfrm>
            <a:off x="9731967" y="3200948"/>
            <a:ext cx="180620" cy="180620"/>
            <a:chOff x="0" y="0"/>
            <a:chExt cx="812800" cy="812800"/>
          </a:xfrm>
        </p:grpSpPr>
        <p:sp>
          <p:nvSpPr>
            <p:cNvPr id="46" name="Freeform 3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47" name="TextBox 35"/>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48" name="Group 36"/>
          <p:cNvGrpSpPr/>
          <p:nvPr/>
        </p:nvGrpSpPr>
        <p:grpSpPr>
          <a:xfrm>
            <a:off x="10310655" y="3191423"/>
            <a:ext cx="180620" cy="180620"/>
            <a:chOff x="0" y="0"/>
            <a:chExt cx="812800" cy="812800"/>
          </a:xfrm>
        </p:grpSpPr>
        <p:sp>
          <p:nvSpPr>
            <p:cNvPr id="49" name="Freeform 3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50" name="TextBox 38"/>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51" name="Group 39"/>
          <p:cNvGrpSpPr/>
          <p:nvPr/>
        </p:nvGrpSpPr>
        <p:grpSpPr>
          <a:xfrm>
            <a:off x="15879879" y="3191423"/>
            <a:ext cx="180620" cy="180620"/>
            <a:chOff x="0" y="0"/>
            <a:chExt cx="812800" cy="812800"/>
          </a:xfrm>
        </p:grpSpPr>
        <p:sp>
          <p:nvSpPr>
            <p:cNvPr id="52" name="Freeform 4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53" name="TextBox 41"/>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54" name="Group 42"/>
          <p:cNvGrpSpPr/>
          <p:nvPr/>
        </p:nvGrpSpPr>
        <p:grpSpPr>
          <a:xfrm>
            <a:off x="16313058" y="3200948"/>
            <a:ext cx="180620" cy="180620"/>
            <a:chOff x="0" y="0"/>
            <a:chExt cx="812800" cy="812800"/>
          </a:xfrm>
        </p:grpSpPr>
        <p:sp>
          <p:nvSpPr>
            <p:cNvPr id="55" name="Freeform 4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A0A40"/>
            </a:solidFill>
          </p:spPr>
        </p:sp>
        <p:sp>
          <p:nvSpPr>
            <p:cNvPr id="56" name="TextBox 44"/>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sp>
        <p:nvSpPr>
          <p:cNvPr id="57" name="TextBox 47"/>
          <p:cNvSpPr txBox="1"/>
          <p:nvPr/>
        </p:nvSpPr>
        <p:spPr>
          <a:xfrm>
            <a:off x="-260455" y="1719281"/>
            <a:ext cx="18808909" cy="487313"/>
          </a:xfrm>
          <a:prstGeom prst="rect">
            <a:avLst/>
          </a:prstGeom>
        </p:spPr>
        <p:txBody>
          <a:bodyPr lIns="0" tIns="0" rIns="0" bIns="0" rtlCol="0" anchor="t">
            <a:spAutoFit/>
          </a:bodyPr>
          <a:lstStyle/>
          <a:p>
            <a:pPr algn="ctr">
              <a:lnSpc>
                <a:spcPts val="3840"/>
              </a:lnSpc>
            </a:pPr>
            <a:r>
              <a:rPr lang="fr-FR" sz="3600" dirty="0" smtClean="0"/>
              <a:t>Automatisation </a:t>
            </a:r>
            <a:r>
              <a:rPr lang="fr-FR" sz="3600" dirty="0" err="1"/>
              <a:t>IaC</a:t>
            </a:r>
            <a:r>
              <a:rPr lang="fr-FR" sz="3600" dirty="0"/>
              <a:t> : </a:t>
            </a:r>
            <a:r>
              <a:rPr lang="fr-FR" sz="3600" dirty="0" err="1"/>
              <a:t>Terraform</a:t>
            </a:r>
            <a:r>
              <a:rPr lang="fr-FR" sz="3600" dirty="0"/>
              <a:t> + </a:t>
            </a:r>
            <a:r>
              <a:rPr lang="fr-FR" sz="3600" dirty="0" err="1"/>
              <a:t>Ansible</a:t>
            </a:r>
            <a:endParaRPr lang="en-US" sz="3600" dirty="0">
              <a:sym typeface="Open Sauce Bold"/>
            </a:endParaRPr>
          </a:p>
        </p:txBody>
      </p:sp>
      <p:sp>
        <p:nvSpPr>
          <p:cNvPr id="58" name="TextBox 48"/>
          <p:cNvSpPr txBox="1"/>
          <p:nvPr/>
        </p:nvSpPr>
        <p:spPr>
          <a:xfrm>
            <a:off x="2881662" y="3129333"/>
            <a:ext cx="4090101" cy="333375"/>
          </a:xfrm>
          <a:prstGeom prst="rect">
            <a:avLst/>
          </a:prstGeom>
        </p:spPr>
        <p:txBody>
          <a:bodyPr lIns="0" tIns="0" rIns="0" bIns="0" rtlCol="0" anchor="t">
            <a:spAutoFit/>
          </a:bodyPr>
          <a:lstStyle/>
          <a:p>
            <a:pPr algn="ctr">
              <a:lnSpc>
                <a:spcPts val="2760"/>
              </a:lnSpc>
            </a:pPr>
            <a:r>
              <a:rPr lang="en-US" sz="2300" b="1">
                <a:solidFill>
                  <a:srgbClr val="FCFDFE"/>
                </a:solidFill>
                <a:latin typeface="Open Sauce Bold"/>
                <a:ea typeface="Open Sauce Bold"/>
                <a:cs typeface="Open Sauce Bold"/>
                <a:sym typeface="Open Sauce Bold"/>
              </a:rPr>
              <a:t>Terraform -Provisionnement</a:t>
            </a:r>
          </a:p>
        </p:txBody>
      </p:sp>
      <p:sp>
        <p:nvSpPr>
          <p:cNvPr id="59" name="TextBox 49"/>
          <p:cNvSpPr txBox="1"/>
          <p:nvPr/>
        </p:nvSpPr>
        <p:spPr>
          <a:xfrm>
            <a:off x="10310655" y="3099727"/>
            <a:ext cx="5805013" cy="676275"/>
          </a:xfrm>
          <a:prstGeom prst="rect">
            <a:avLst/>
          </a:prstGeom>
        </p:spPr>
        <p:txBody>
          <a:bodyPr lIns="0" tIns="0" rIns="0" bIns="0" rtlCol="0" anchor="t">
            <a:spAutoFit/>
          </a:bodyPr>
          <a:lstStyle/>
          <a:p>
            <a:pPr algn="ctr">
              <a:lnSpc>
                <a:spcPts val="2760"/>
              </a:lnSpc>
            </a:pPr>
            <a:r>
              <a:rPr lang="en-US" sz="2300" b="1">
                <a:solidFill>
                  <a:srgbClr val="FCFDFE"/>
                </a:solidFill>
                <a:latin typeface="Open Sauce Bold"/>
                <a:ea typeface="Open Sauce Bold"/>
                <a:cs typeface="Open Sauce Bold"/>
                <a:sym typeface="Open Sauce Bold"/>
              </a:rPr>
              <a:t>Ansible - Configuration &amp; Hardening</a:t>
            </a:r>
          </a:p>
          <a:p>
            <a:pPr algn="ctr">
              <a:lnSpc>
                <a:spcPts val="2760"/>
              </a:lnSpc>
            </a:pPr>
            <a:endParaRPr lang="en-US" sz="2300" b="1">
              <a:solidFill>
                <a:srgbClr val="FCFDFE"/>
              </a:solidFill>
              <a:latin typeface="Open Sauce Bold"/>
              <a:ea typeface="Open Sauce Bold"/>
              <a:cs typeface="Open Sauce Bold"/>
              <a:sym typeface="Open Sauce Bold"/>
            </a:endParaRPr>
          </a:p>
        </p:txBody>
      </p:sp>
      <p:sp>
        <p:nvSpPr>
          <p:cNvPr id="60" name="Text 7"/>
          <p:cNvSpPr/>
          <p:nvPr/>
        </p:nvSpPr>
        <p:spPr>
          <a:xfrm>
            <a:off x="1953545" y="3751954"/>
            <a:ext cx="4769601" cy="1528572"/>
          </a:xfrm>
          <a:prstGeom prst="rect">
            <a:avLst/>
          </a:prstGeom>
          <a:noFill/>
          <a:ln/>
        </p:spPr>
        <p:txBody>
          <a:bodyPr wrap="square" rtlCol="0" anchor="ctr"/>
          <a:lstStyle/>
          <a:p>
            <a:pPr marL="0" indent="0">
              <a:buNone/>
            </a:pPr>
            <a:endParaRPr lang="en-US" dirty="0">
              <a:solidFill>
                <a:schemeClr val="bg1"/>
              </a:solidFill>
            </a:endParaRPr>
          </a:p>
        </p:txBody>
      </p:sp>
      <p:sp>
        <p:nvSpPr>
          <p:cNvPr id="61" name="Text 9"/>
          <p:cNvSpPr/>
          <p:nvPr/>
        </p:nvSpPr>
        <p:spPr>
          <a:xfrm>
            <a:off x="1953545" y="4300594"/>
            <a:ext cx="4769601" cy="1528572"/>
          </a:xfrm>
          <a:prstGeom prst="rect">
            <a:avLst/>
          </a:prstGeom>
          <a:noFill/>
          <a:ln/>
        </p:spPr>
        <p:txBody>
          <a:bodyPr wrap="square" rtlCol="0" anchor="ctr"/>
          <a:lstStyle/>
          <a:p>
            <a:pPr marL="0" indent="0">
              <a:buNone/>
            </a:pPr>
            <a:endParaRPr lang="en-US" dirty="0">
              <a:solidFill>
                <a:schemeClr val="bg1"/>
              </a:solidFill>
            </a:endParaRPr>
          </a:p>
        </p:txBody>
      </p:sp>
      <p:sp>
        <p:nvSpPr>
          <p:cNvPr id="62" name="Text 11"/>
          <p:cNvSpPr/>
          <p:nvPr/>
        </p:nvSpPr>
        <p:spPr>
          <a:xfrm>
            <a:off x="1953545" y="4849234"/>
            <a:ext cx="4769601" cy="1528572"/>
          </a:xfrm>
          <a:prstGeom prst="rect">
            <a:avLst/>
          </a:prstGeom>
          <a:noFill/>
          <a:ln/>
        </p:spPr>
        <p:txBody>
          <a:bodyPr wrap="square" rtlCol="0" anchor="ctr"/>
          <a:lstStyle/>
          <a:p>
            <a:pPr>
              <a:lnSpc>
                <a:spcPct val="150000"/>
              </a:lnSpc>
            </a:pPr>
            <a:r>
              <a:rPr lang="fr-FR" dirty="0">
                <a:solidFill>
                  <a:schemeClr val="bg1"/>
                </a:solidFill>
                <a:latin typeface="Calibri" pitchFamily="34" charset="0"/>
                <a:ea typeface="Calibri" pitchFamily="34" charset="-122"/>
                <a:cs typeface="Calibri" pitchFamily="34" charset="-120"/>
              </a:rPr>
              <a:t>Automatisation du déploiement de l’infrastructure </a:t>
            </a:r>
            <a:r>
              <a:rPr lang="fr-FR" dirty="0" err="1">
                <a:solidFill>
                  <a:schemeClr val="bg1"/>
                </a:solidFill>
                <a:latin typeface="Calibri" pitchFamily="34" charset="0"/>
                <a:ea typeface="Calibri" pitchFamily="34" charset="-122"/>
                <a:cs typeface="Calibri" pitchFamily="34" charset="-120"/>
              </a:rPr>
              <a:t>Proxmox</a:t>
            </a:r>
            <a:r>
              <a:rPr lang="fr-FR" dirty="0">
                <a:solidFill>
                  <a:schemeClr val="bg1"/>
                </a:solidFill>
                <a:latin typeface="Calibri" pitchFamily="34" charset="0"/>
                <a:ea typeface="Calibri" pitchFamily="34" charset="-122"/>
                <a:cs typeface="Calibri" pitchFamily="34" charset="-120"/>
              </a:rPr>
              <a:t> </a:t>
            </a:r>
          </a:p>
          <a:p>
            <a:pPr>
              <a:lnSpc>
                <a:spcPct val="150000"/>
              </a:lnSpc>
            </a:pPr>
            <a:r>
              <a:rPr lang="fr-FR" dirty="0">
                <a:solidFill>
                  <a:schemeClr val="bg1"/>
                </a:solidFill>
                <a:latin typeface="Calibri" pitchFamily="34" charset="0"/>
                <a:ea typeface="Calibri" pitchFamily="34" charset="-122"/>
                <a:cs typeface="Calibri" pitchFamily="34" charset="-120"/>
              </a:rPr>
              <a:t>Création des </a:t>
            </a:r>
            <a:r>
              <a:rPr lang="fr-FR" dirty="0" err="1">
                <a:solidFill>
                  <a:schemeClr val="bg1"/>
                </a:solidFill>
                <a:latin typeface="Calibri" pitchFamily="34" charset="0"/>
                <a:ea typeface="Calibri" pitchFamily="34" charset="-122"/>
                <a:cs typeface="Calibri" pitchFamily="34" charset="-120"/>
              </a:rPr>
              <a:t>VMs</a:t>
            </a:r>
            <a:r>
              <a:rPr lang="fr-FR" dirty="0">
                <a:solidFill>
                  <a:schemeClr val="bg1"/>
                </a:solidFill>
                <a:latin typeface="Calibri" pitchFamily="34" charset="0"/>
                <a:ea typeface="Calibri" pitchFamily="34" charset="-122"/>
                <a:cs typeface="Calibri" pitchFamily="34" charset="-120"/>
              </a:rPr>
              <a:t>, </a:t>
            </a:r>
            <a:r>
              <a:rPr lang="fr-FR" dirty="0" err="1">
                <a:solidFill>
                  <a:schemeClr val="bg1"/>
                </a:solidFill>
                <a:latin typeface="Calibri" pitchFamily="34" charset="0"/>
                <a:ea typeface="Calibri" pitchFamily="34" charset="-122"/>
                <a:cs typeface="Calibri" pitchFamily="34" charset="-120"/>
              </a:rPr>
              <a:t>VLANs</a:t>
            </a:r>
            <a:r>
              <a:rPr lang="fr-FR" dirty="0">
                <a:solidFill>
                  <a:schemeClr val="bg1"/>
                </a:solidFill>
                <a:latin typeface="Calibri" pitchFamily="34" charset="0"/>
                <a:ea typeface="Calibri" pitchFamily="34" charset="-122"/>
                <a:cs typeface="Calibri" pitchFamily="34" charset="-120"/>
              </a:rPr>
              <a:t> et pools </a:t>
            </a:r>
            <a:r>
              <a:rPr lang="fr-FR" dirty="0" err="1">
                <a:solidFill>
                  <a:schemeClr val="bg1"/>
                </a:solidFill>
                <a:latin typeface="Calibri" pitchFamily="34" charset="0"/>
                <a:ea typeface="Calibri" pitchFamily="34" charset="-122"/>
                <a:cs typeface="Calibri" pitchFamily="34" charset="-120"/>
              </a:rPr>
              <a:t>Ceph</a:t>
            </a:r>
            <a:r>
              <a:rPr lang="fr-FR" dirty="0">
                <a:solidFill>
                  <a:schemeClr val="bg1"/>
                </a:solidFill>
                <a:latin typeface="Calibri" pitchFamily="34" charset="0"/>
                <a:ea typeface="Calibri" pitchFamily="34" charset="-122"/>
                <a:cs typeface="Calibri" pitchFamily="34" charset="-120"/>
              </a:rPr>
              <a:t> par code </a:t>
            </a:r>
          </a:p>
          <a:p>
            <a:pPr>
              <a:lnSpc>
                <a:spcPct val="150000"/>
              </a:lnSpc>
            </a:pPr>
            <a:r>
              <a:rPr lang="fr-FR" dirty="0">
                <a:solidFill>
                  <a:schemeClr val="bg1"/>
                </a:solidFill>
                <a:latin typeface="Calibri" pitchFamily="34" charset="0"/>
                <a:ea typeface="Calibri" pitchFamily="34" charset="-122"/>
                <a:cs typeface="Calibri" pitchFamily="34" charset="-120"/>
              </a:rPr>
              <a:t>Environnements reproductibles et cohérents </a:t>
            </a:r>
          </a:p>
          <a:p>
            <a:pPr>
              <a:lnSpc>
                <a:spcPct val="150000"/>
              </a:lnSpc>
            </a:pPr>
            <a:r>
              <a:rPr lang="fr-FR" dirty="0">
                <a:solidFill>
                  <a:schemeClr val="bg1"/>
                </a:solidFill>
                <a:latin typeface="Calibri" pitchFamily="34" charset="0"/>
                <a:ea typeface="Calibri" pitchFamily="34" charset="-122"/>
                <a:cs typeface="Calibri" pitchFamily="34" charset="-120"/>
              </a:rPr>
              <a:t>Gestion centralisée de la configuration </a:t>
            </a:r>
          </a:p>
          <a:p>
            <a:pPr>
              <a:lnSpc>
                <a:spcPct val="150000"/>
              </a:lnSpc>
            </a:pPr>
            <a:r>
              <a:rPr lang="fr-FR" dirty="0">
                <a:solidFill>
                  <a:schemeClr val="bg1"/>
                </a:solidFill>
                <a:latin typeface="Calibri" pitchFamily="34" charset="0"/>
                <a:ea typeface="Calibri" pitchFamily="34" charset="-122"/>
                <a:cs typeface="Calibri" pitchFamily="34" charset="-120"/>
              </a:rPr>
              <a:t>Déploiement rapide en quelques minutes</a:t>
            </a:r>
            <a:r>
              <a:rPr lang="fr-FR" dirty="0"/>
              <a:t> </a:t>
            </a:r>
          </a:p>
          <a:p>
            <a:pPr marL="0" indent="0">
              <a:buNone/>
            </a:pPr>
            <a:endParaRPr lang="en-US" dirty="0">
              <a:solidFill>
                <a:schemeClr val="bg1"/>
              </a:solidFill>
            </a:endParaRPr>
          </a:p>
        </p:txBody>
      </p:sp>
      <p:sp>
        <p:nvSpPr>
          <p:cNvPr id="63" name="Text 13"/>
          <p:cNvSpPr/>
          <p:nvPr/>
        </p:nvSpPr>
        <p:spPr>
          <a:xfrm>
            <a:off x="1953545" y="5397874"/>
            <a:ext cx="4769601" cy="1528572"/>
          </a:xfrm>
          <a:prstGeom prst="rect">
            <a:avLst/>
          </a:prstGeom>
          <a:noFill/>
          <a:ln/>
        </p:spPr>
        <p:txBody>
          <a:bodyPr wrap="square" rtlCol="0" anchor="ctr"/>
          <a:lstStyle/>
          <a:p>
            <a:pPr marL="0" indent="0">
              <a:buNone/>
            </a:pPr>
            <a:endParaRPr lang="en-US" dirty="0">
              <a:solidFill>
                <a:schemeClr val="bg1"/>
              </a:solidFill>
            </a:endParaRPr>
          </a:p>
        </p:txBody>
      </p:sp>
      <p:sp>
        <p:nvSpPr>
          <p:cNvPr id="64" name="Text 15"/>
          <p:cNvSpPr/>
          <p:nvPr/>
        </p:nvSpPr>
        <p:spPr>
          <a:xfrm>
            <a:off x="1953545" y="5946514"/>
            <a:ext cx="4769601" cy="1528572"/>
          </a:xfrm>
          <a:prstGeom prst="rect">
            <a:avLst/>
          </a:prstGeom>
          <a:noFill/>
          <a:ln/>
        </p:spPr>
        <p:txBody>
          <a:bodyPr wrap="square" rtlCol="0" anchor="ctr"/>
          <a:lstStyle/>
          <a:p>
            <a:pPr marL="0" indent="0">
              <a:buNone/>
            </a:pPr>
            <a:endParaRPr lang="en-US" dirty="0">
              <a:solidFill>
                <a:schemeClr val="bg1"/>
              </a:solidFill>
            </a:endParaRPr>
          </a:p>
        </p:txBody>
      </p:sp>
      <p:sp>
        <p:nvSpPr>
          <p:cNvPr id="75" name="Text 20"/>
          <p:cNvSpPr/>
          <p:nvPr/>
        </p:nvSpPr>
        <p:spPr>
          <a:xfrm>
            <a:off x="10310556" y="4292291"/>
            <a:ext cx="4754986" cy="320040"/>
          </a:xfrm>
          <a:prstGeom prst="rect">
            <a:avLst/>
          </a:prstGeom>
          <a:noFill/>
          <a:ln/>
        </p:spPr>
        <p:txBody>
          <a:bodyPr wrap="square" rtlCol="0" anchor="ctr"/>
          <a:lstStyle/>
          <a:p>
            <a:pPr marL="0" indent="0">
              <a:buNone/>
            </a:pPr>
            <a:endParaRPr lang="en-US" dirty="0">
              <a:solidFill>
                <a:schemeClr val="bg1"/>
              </a:solidFill>
            </a:endParaRPr>
          </a:p>
        </p:txBody>
      </p:sp>
      <p:sp>
        <p:nvSpPr>
          <p:cNvPr id="76" name="Text 22"/>
          <p:cNvSpPr/>
          <p:nvPr/>
        </p:nvSpPr>
        <p:spPr>
          <a:xfrm>
            <a:off x="10310556" y="4840931"/>
            <a:ext cx="3611880" cy="320040"/>
          </a:xfrm>
          <a:prstGeom prst="rect">
            <a:avLst/>
          </a:prstGeom>
          <a:noFill/>
          <a:ln/>
        </p:spPr>
        <p:txBody>
          <a:bodyPr wrap="square" rtlCol="0" anchor="ctr"/>
          <a:lstStyle/>
          <a:p>
            <a:pPr marL="0" indent="0">
              <a:buNone/>
            </a:pPr>
            <a:r>
              <a:rPr lang="en-US" dirty="0" smtClean="0">
                <a:solidFill>
                  <a:schemeClr val="bg1"/>
                </a:solidFill>
                <a:latin typeface="Calibri" pitchFamily="34" charset="0"/>
                <a:ea typeface="Calibri" pitchFamily="34" charset="-122"/>
                <a:cs typeface="Calibri" pitchFamily="34" charset="-120"/>
              </a:rPr>
              <a:t>SSH</a:t>
            </a:r>
            <a:r>
              <a:rPr lang="en-US" dirty="0">
                <a:solidFill>
                  <a:schemeClr val="bg1"/>
                </a:solidFill>
                <a:latin typeface="Calibri" pitchFamily="34" charset="0"/>
                <a:ea typeface="Calibri" pitchFamily="34" charset="-122"/>
                <a:cs typeface="Calibri" pitchFamily="34" charset="-120"/>
              </a:rPr>
              <a:t>, UFW, PAM, auditd</a:t>
            </a:r>
            <a:endParaRPr lang="en-US" dirty="0">
              <a:solidFill>
                <a:schemeClr val="bg1"/>
              </a:solidFill>
            </a:endParaRPr>
          </a:p>
        </p:txBody>
      </p:sp>
      <p:sp>
        <p:nvSpPr>
          <p:cNvPr id="77" name="Text 24"/>
          <p:cNvSpPr/>
          <p:nvPr/>
        </p:nvSpPr>
        <p:spPr>
          <a:xfrm>
            <a:off x="10310556" y="5389571"/>
            <a:ext cx="4472244" cy="320040"/>
          </a:xfrm>
          <a:prstGeom prst="rect">
            <a:avLst/>
          </a:prstGeom>
          <a:noFill/>
          <a:ln/>
        </p:spPr>
        <p:txBody>
          <a:bodyPr wrap="square" rtlCol="0" anchor="ctr"/>
          <a:lstStyle/>
          <a:p>
            <a:pPr marL="0" indent="0">
              <a:buNone/>
            </a:pPr>
            <a:r>
              <a:rPr lang="en-US" dirty="0">
                <a:solidFill>
                  <a:schemeClr val="bg1"/>
                </a:solidFill>
                <a:latin typeface="Calibri" pitchFamily="34" charset="0"/>
                <a:ea typeface="Calibri" pitchFamily="34" charset="-122"/>
                <a:cs typeface="Calibri" pitchFamily="34" charset="-120"/>
              </a:rPr>
              <a:t>Backup PBS automatique toutes les 2h</a:t>
            </a:r>
            <a:endParaRPr lang="en-US" dirty="0">
              <a:solidFill>
                <a:schemeClr val="bg1"/>
              </a:solidFill>
            </a:endParaRPr>
          </a:p>
        </p:txBody>
      </p:sp>
      <p:sp>
        <p:nvSpPr>
          <p:cNvPr id="80" name="Text 26"/>
          <p:cNvSpPr/>
          <p:nvPr/>
        </p:nvSpPr>
        <p:spPr>
          <a:xfrm>
            <a:off x="10310556" y="5938211"/>
            <a:ext cx="4243644" cy="264221"/>
          </a:xfrm>
          <a:prstGeom prst="rect">
            <a:avLst/>
          </a:prstGeom>
          <a:noFill/>
          <a:ln/>
        </p:spPr>
        <p:txBody>
          <a:bodyPr wrap="square" rtlCol="0" anchor="ctr"/>
          <a:lstStyle/>
          <a:p>
            <a:pPr marL="0" indent="0">
              <a:buNone/>
            </a:pPr>
            <a:r>
              <a:rPr lang="en-US" dirty="0">
                <a:solidFill>
                  <a:schemeClr val="bg1"/>
                </a:solidFill>
                <a:latin typeface="Calibri" pitchFamily="34" charset="0"/>
                <a:ea typeface="Calibri" pitchFamily="34" charset="-122"/>
                <a:cs typeface="Calibri" pitchFamily="34" charset="-120"/>
              </a:rPr>
              <a:t>3 snapshots max / VM avec rotation auto</a:t>
            </a:r>
            <a:endParaRPr lang="en-US" dirty="0">
              <a:solidFill>
                <a:schemeClr val="bg1"/>
              </a:solidFill>
            </a:endParaRPr>
          </a:p>
        </p:txBody>
      </p:sp>
      <p:sp>
        <p:nvSpPr>
          <p:cNvPr id="83" name="Text 28"/>
          <p:cNvSpPr/>
          <p:nvPr/>
        </p:nvSpPr>
        <p:spPr>
          <a:xfrm>
            <a:off x="10310556" y="6486851"/>
            <a:ext cx="3611880" cy="320040"/>
          </a:xfrm>
          <a:prstGeom prst="rect">
            <a:avLst/>
          </a:prstGeom>
          <a:noFill/>
          <a:ln/>
        </p:spPr>
        <p:txBody>
          <a:bodyPr wrap="square" rtlCol="0" anchor="ctr"/>
          <a:lstStyle/>
          <a:p>
            <a:pPr marL="0" indent="0">
              <a:buNone/>
            </a:pPr>
            <a:endParaRPr lang="en-US" dirty="0">
              <a:solidFill>
                <a:schemeClr val="bg1"/>
              </a:solidFill>
            </a:endParaRPr>
          </a:p>
        </p:txBody>
      </p:sp>
    </p:spTree>
    <p:extLst>
      <p:ext uri="{BB962C8B-B14F-4D97-AF65-F5344CB8AC3E}">
        <p14:creationId xmlns:p14="http://schemas.microsoft.com/office/powerpoint/2010/main" val="130824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solidFill>
                <a:sym typeface="TT Fors Bold"/>
              </a:rPr>
              <a:t>Automatisation</a:t>
            </a:r>
            <a:r>
              <a:rPr lang="en-US" sz="2400" b="1" dirty="0">
                <a:solidFill>
                  <a:schemeClr val="bg1">
                    <a:lumMod val="50000"/>
                  </a:schemeClr>
                </a:solidFill>
                <a:sym typeface="TT Fors Bold"/>
              </a:rPr>
              <a:t> </a:t>
            </a:r>
            <a:r>
              <a:rPr lang="en-US" sz="2400" b="1" dirty="0" err="1">
                <a:solidFill>
                  <a:schemeClr val="bg1"/>
                </a:solidFill>
                <a:sym typeface="TT Fors Bold"/>
              </a:rPr>
              <a:t>IaC</a:t>
            </a:r>
            <a:endParaRPr lang="fr-FR" sz="2400" b="1" dirty="0">
              <a:solidFill>
                <a:schemeClr val="bg1"/>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96728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mtClean="0"/>
              <a:pPr/>
              <a:t>19</a:t>
            </a:fld>
            <a:endParaRPr lang="en-US"/>
          </a:p>
        </p:txBody>
      </p:sp>
      <p:grpSp>
        <p:nvGrpSpPr>
          <p:cNvPr id="13" name="Group 2"/>
          <p:cNvGrpSpPr/>
          <p:nvPr/>
        </p:nvGrpSpPr>
        <p:grpSpPr>
          <a:xfrm>
            <a:off x="9444517" y="3039717"/>
            <a:ext cx="8391949" cy="6541653"/>
            <a:chOff x="0" y="0"/>
            <a:chExt cx="2210225" cy="1722904"/>
          </a:xfrm>
        </p:grpSpPr>
        <p:sp>
          <p:nvSpPr>
            <p:cNvPr id="14" name="Freeform 3"/>
            <p:cNvSpPr/>
            <p:nvPr/>
          </p:nvSpPr>
          <p:spPr>
            <a:xfrm>
              <a:off x="0" y="0"/>
              <a:ext cx="2210225" cy="1722905"/>
            </a:xfrm>
            <a:custGeom>
              <a:avLst/>
              <a:gdLst/>
              <a:ahLst/>
              <a:cxnLst/>
              <a:rect l="l" t="t" r="r" b="b"/>
              <a:pathLst>
                <a:path w="2210225" h="1722905">
                  <a:moveTo>
                    <a:pt x="23986" y="0"/>
                  </a:moveTo>
                  <a:lnTo>
                    <a:pt x="2186239" y="0"/>
                  </a:lnTo>
                  <a:cubicBezTo>
                    <a:pt x="2199486" y="0"/>
                    <a:pt x="2210225" y="10739"/>
                    <a:pt x="2210225" y="23986"/>
                  </a:cubicBezTo>
                  <a:lnTo>
                    <a:pt x="2210225" y="1698918"/>
                  </a:lnTo>
                  <a:cubicBezTo>
                    <a:pt x="2210225" y="1712166"/>
                    <a:pt x="2199486" y="1722905"/>
                    <a:pt x="2186239" y="1722905"/>
                  </a:cubicBezTo>
                  <a:lnTo>
                    <a:pt x="23986" y="1722905"/>
                  </a:lnTo>
                  <a:cubicBezTo>
                    <a:pt x="10739" y="1722905"/>
                    <a:pt x="0" y="1712166"/>
                    <a:pt x="0" y="1698918"/>
                  </a:cubicBezTo>
                  <a:lnTo>
                    <a:pt x="0" y="23986"/>
                  </a:lnTo>
                  <a:cubicBezTo>
                    <a:pt x="0" y="10739"/>
                    <a:pt x="10739" y="0"/>
                    <a:pt x="23986" y="0"/>
                  </a:cubicBezTo>
                  <a:close/>
                </a:path>
              </a:pathLst>
            </a:custGeom>
            <a:solidFill>
              <a:srgbClr val="C9D0D6"/>
            </a:solidFill>
          </p:spPr>
        </p:sp>
        <p:sp>
          <p:nvSpPr>
            <p:cNvPr id="15" name="TextBox 4"/>
            <p:cNvSpPr txBox="1"/>
            <p:nvPr/>
          </p:nvSpPr>
          <p:spPr>
            <a:xfrm>
              <a:off x="0" y="-47625"/>
              <a:ext cx="2210225" cy="1770529"/>
            </a:xfrm>
            <a:prstGeom prst="rect">
              <a:avLst/>
            </a:prstGeom>
          </p:spPr>
          <p:txBody>
            <a:bodyPr lIns="50800" tIns="50800" rIns="50800" bIns="50800" rtlCol="0" anchor="ctr"/>
            <a:lstStyle/>
            <a:p>
              <a:pPr algn="ctr">
                <a:lnSpc>
                  <a:spcPts val="3254"/>
                </a:lnSpc>
              </a:pPr>
              <a:endParaRPr/>
            </a:p>
          </p:txBody>
        </p:sp>
      </p:grpSp>
      <p:sp>
        <p:nvSpPr>
          <p:cNvPr id="20" name="Freeform 9"/>
          <p:cNvSpPr/>
          <p:nvPr/>
        </p:nvSpPr>
        <p:spPr>
          <a:xfrm>
            <a:off x="9820249" y="4176829"/>
            <a:ext cx="7772177" cy="5073505"/>
          </a:xfrm>
          <a:custGeom>
            <a:avLst/>
            <a:gdLst/>
            <a:ahLst/>
            <a:cxnLst/>
            <a:rect l="l" t="t" r="r" b="b"/>
            <a:pathLst>
              <a:path w="7772177" h="5073505">
                <a:moveTo>
                  <a:pt x="0" y="0"/>
                </a:moveTo>
                <a:lnTo>
                  <a:pt x="7772178" y="0"/>
                </a:lnTo>
                <a:lnTo>
                  <a:pt x="7772178" y="5073504"/>
                </a:lnTo>
                <a:lnTo>
                  <a:pt x="0" y="5073504"/>
                </a:lnTo>
                <a:lnTo>
                  <a:pt x="0" y="0"/>
                </a:lnTo>
                <a:close/>
              </a:path>
            </a:pathLst>
          </a:custGeom>
          <a:blipFill>
            <a:blip r:embed="rId4"/>
            <a:stretch>
              <a:fillRect/>
            </a:stretch>
          </a:blipFill>
        </p:spPr>
      </p:sp>
      <p:grpSp>
        <p:nvGrpSpPr>
          <p:cNvPr id="21" name="Group 10"/>
          <p:cNvGrpSpPr/>
          <p:nvPr/>
        </p:nvGrpSpPr>
        <p:grpSpPr>
          <a:xfrm>
            <a:off x="519754" y="5254225"/>
            <a:ext cx="653456" cy="689405"/>
            <a:chOff x="0" y="0"/>
            <a:chExt cx="184775" cy="194940"/>
          </a:xfrm>
        </p:grpSpPr>
        <p:sp>
          <p:nvSpPr>
            <p:cNvPr id="22" name="Freeform 11"/>
            <p:cNvSpPr/>
            <p:nvPr/>
          </p:nvSpPr>
          <p:spPr>
            <a:xfrm>
              <a:off x="0" y="0"/>
              <a:ext cx="184775" cy="194940"/>
            </a:xfrm>
            <a:custGeom>
              <a:avLst/>
              <a:gdLst/>
              <a:ahLst/>
              <a:cxnLst/>
              <a:rect l="l" t="t" r="r" b="b"/>
              <a:pathLst>
                <a:path w="184775" h="194940">
                  <a:moveTo>
                    <a:pt x="92387" y="0"/>
                  </a:moveTo>
                  <a:lnTo>
                    <a:pt x="92387" y="0"/>
                  </a:lnTo>
                  <a:cubicBezTo>
                    <a:pt x="116890" y="0"/>
                    <a:pt x="140389" y="9734"/>
                    <a:pt x="157715" y="27060"/>
                  </a:cubicBezTo>
                  <a:cubicBezTo>
                    <a:pt x="175041" y="44386"/>
                    <a:pt x="184775" y="67885"/>
                    <a:pt x="184775" y="92387"/>
                  </a:cubicBezTo>
                  <a:lnTo>
                    <a:pt x="184775" y="102552"/>
                  </a:lnTo>
                  <a:cubicBezTo>
                    <a:pt x="184775" y="127055"/>
                    <a:pt x="175041" y="150554"/>
                    <a:pt x="157715" y="167880"/>
                  </a:cubicBezTo>
                  <a:cubicBezTo>
                    <a:pt x="140389" y="185206"/>
                    <a:pt x="116890" y="194940"/>
                    <a:pt x="92387" y="194940"/>
                  </a:cubicBezTo>
                  <a:lnTo>
                    <a:pt x="92387" y="194940"/>
                  </a:lnTo>
                  <a:cubicBezTo>
                    <a:pt x="67885" y="194940"/>
                    <a:pt x="44386" y="185206"/>
                    <a:pt x="27060" y="167880"/>
                  </a:cubicBezTo>
                  <a:cubicBezTo>
                    <a:pt x="9734" y="150554"/>
                    <a:pt x="0" y="127055"/>
                    <a:pt x="0" y="102552"/>
                  </a:cubicBezTo>
                  <a:lnTo>
                    <a:pt x="0" y="92387"/>
                  </a:lnTo>
                  <a:cubicBezTo>
                    <a:pt x="0" y="67885"/>
                    <a:pt x="9734" y="44386"/>
                    <a:pt x="27060" y="27060"/>
                  </a:cubicBezTo>
                  <a:cubicBezTo>
                    <a:pt x="44386" y="9734"/>
                    <a:pt x="67885" y="0"/>
                    <a:pt x="92387" y="0"/>
                  </a:cubicBezTo>
                  <a:close/>
                </a:path>
              </a:pathLst>
            </a:custGeom>
            <a:solidFill>
              <a:srgbClr val="122359"/>
            </a:solidFill>
          </p:spPr>
        </p:sp>
        <p:sp>
          <p:nvSpPr>
            <p:cNvPr id="23" name="TextBox 12"/>
            <p:cNvSpPr txBox="1"/>
            <p:nvPr/>
          </p:nvSpPr>
          <p:spPr>
            <a:xfrm>
              <a:off x="0" y="-38100"/>
              <a:ext cx="184775" cy="233040"/>
            </a:xfrm>
            <a:prstGeom prst="rect">
              <a:avLst/>
            </a:prstGeom>
          </p:spPr>
          <p:txBody>
            <a:bodyPr lIns="50800" tIns="50800" rIns="50800" bIns="50800" rtlCol="0" anchor="ctr"/>
            <a:lstStyle/>
            <a:p>
              <a:pPr algn="ctr">
                <a:lnSpc>
                  <a:spcPts val="2520"/>
                </a:lnSpc>
              </a:pPr>
              <a:endParaRPr/>
            </a:p>
          </p:txBody>
        </p:sp>
      </p:grpSp>
      <p:grpSp>
        <p:nvGrpSpPr>
          <p:cNvPr id="24" name="Group 13"/>
          <p:cNvGrpSpPr/>
          <p:nvPr/>
        </p:nvGrpSpPr>
        <p:grpSpPr>
          <a:xfrm>
            <a:off x="519754" y="7052839"/>
            <a:ext cx="653456" cy="689405"/>
            <a:chOff x="0" y="0"/>
            <a:chExt cx="184775" cy="194940"/>
          </a:xfrm>
        </p:grpSpPr>
        <p:sp>
          <p:nvSpPr>
            <p:cNvPr id="25" name="Freeform 14"/>
            <p:cNvSpPr/>
            <p:nvPr/>
          </p:nvSpPr>
          <p:spPr>
            <a:xfrm>
              <a:off x="0" y="0"/>
              <a:ext cx="184775" cy="194940"/>
            </a:xfrm>
            <a:custGeom>
              <a:avLst/>
              <a:gdLst/>
              <a:ahLst/>
              <a:cxnLst/>
              <a:rect l="l" t="t" r="r" b="b"/>
              <a:pathLst>
                <a:path w="184775" h="194940">
                  <a:moveTo>
                    <a:pt x="92387" y="0"/>
                  </a:moveTo>
                  <a:lnTo>
                    <a:pt x="92387" y="0"/>
                  </a:lnTo>
                  <a:cubicBezTo>
                    <a:pt x="116890" y="0"/>
                    <a:pt x="140389" y="9734"/>
                    <a:pt x="157715" y="27060"/>
                  </a:cubicBezTo>
                  <a:cubicBezTo>
                    <a:pt x="175041" y="44386"/>
                    <a:pt x="184775" y="67885"/>
                    <a:pt x="184775" y="92387"/>
                  </a:cubicBezTo>
                  <a:lnTo>
                    <a:pt x="184775" y="102552"/>
                  </a:lnTo>
                  <a:cubicBezTo>
                    <a:pt x="184775" y="127055"/>
                    <a:pt x="175041" y="150554"/>
                    <a:pt x="157715" y="167880"/>
                  </a:cubicBezTo>
                  <a:cubicBezTo>
                    <a:pt x="140389" y="185206"/>
                    <a:pt x="116890" y="194940"/>
                    <a:pt x="92387" y="194940"/>
                  </a:cubicBezTo>
                  <a:lnTo>
                    <a:pt x="92387" y="194940"/>
                  </a:lnTo>
                  <a:cubicBezTo>
                    <a:pt x="67885" y="194940"/>
                    <a:pt x="44386" y="185206"/>
                    <a:pt x="27060" y="167880"/>
                  </a:cubicBezTo>
                  <a:cubicBezTo>
                    <a:pt x="9734" y="150554"/>
                    <a:pt x="0" y="127055"/>
                    <a:pt x="0" y="102552"/>
                  </a:cubicBezTo>
                  <a:lnTo>
                    <a:pt x="0" y="92387"/>
                  </a:lnTo>
                  <a:cubicBezTo>
                    <a:pt x="0" y="67885"/>
                    <a:pt x="9734" y="44386"/>
                    <a:pt x="27060" y="27060"/>
                  </a:cubicBezTo>
                  <a:cubicBezTo>
                    <a:pt x="44386" y="9734"/>
                    <a:pt x="67885" y="0"/>
                    <a:pt x="92387" y="0"/>
                  </a:cubicBezTo>
                  <a:close/>
                </a:path>
              </a:pathLst>
            </a:custGeom>
            <a:solidFill>
              <a:srgbClr val="3D6298"/>
            </a:solidFill>
          </p:spPr>
        </p:sp>
        <p:sp>
          <p:nvSpPr>
            <p:cNvPr id="26" name="TextBox 15"/>
            <p:cNvSpPr txBox="1"/>
            <p:nvPr/>
          </p:nvSpPr>
          <p:spPr>
            <a:xfrm>
              <a:off x="0" y="-38100"/>
              <a:ext cx="184775" cy="233040"/>
            </a:xfrm>
            <a:prstGeom prst="rect">
              <a:avLst/>
            </a:prstGeom>
          </p:spPr>
          <p:txBody>
            <a:bodyPr lIns="50800" tIns="50800" rIns="50800" bIns="50800" rtlCol="0" anchor="ctr"/>
            <a:lstStyle/>
            <a:p>
              <a:pPr algn="ctr">
                <a:lnSpc>
                  <a:spcPts val="2520"/>
                </a:lnSpc>
              </a:pPr>
              <a:endParaRPr/>
            </a:p>
          </p:txBody>
        </p:sp>
      </p:grpSp>
      <p:grpSp>
        <p:nvGrpSpPr>
          <p:cNvPr id="27" name="Group 16"/>
          <p:cNvGrpSpPr/>
          <p:nvPr/>
        </p:nvGrpSpPr>
        <p:grpSpPr>
          <a:xfrm>
            <a:off x="519754" y="8851454"/>
            <a:ext cx="653456" cy="689405"/>
            <a:chOff x="0" y="0"/>
            <a:chExt cx="184775" cy="194940"/>
          </a:xfrm>
        </p:grpSpPr>
        <p:sp>
          <p:nvSpPr>
            <p:cNvPr id="28" name="Freeform 17"/>
            <p:cNvSpPr/>
            <p:nvPr/>
          </p:nvSpPr>
          <p:spPr>
            <a:xfrm>
              <a:off x="0" y="0"/>
              <a:ext cx="184775" cy="194940"/>
            </a:xfrm>
            <a:custGeom>
              <a:avLst/>
              <a:gdLst/>
              <a:ahLst/>
              <a:cxnLst/>
              <a:rect l="l" t="t" r="r" b="b"/>
              <a:pathLst>
                <a:path w="184775" h="194940">
                  <a:moveTo>
                    <a:pt x="92387" y="0"/>
                  </a:moveTo>
                  <a:lnTo>
                    <a:pt x="92387" y="0"/>
                  </a:lnTo>
                  <a:cubicBezTo>
                    <a:pt x="116890" y="0"/>
                    <a:pt x="140389" y="9734"/>
                    <a:pt x="157715" y="27060"/>
                  </a:cubicBezTo>
                  <a:cubicBezTo>
                    <a:pt x="175041" y="44386"/>
                    <a:pt x="184775" y="67885"/>
                    <a:pt x="184775" y="92387"/>
                  </a:cubicBezTo>
                  <a:lnTo>
                    <a:pt x="184775" y="102552"/>
                  </a:lnTo>
                  <a:cubicBezTo>
                    <a:pt x="184775" y="127055"/>
                    <a:pt x="175041" y="150554"/>
                    <a:pt x="157715" y="167880"/>
                  </a:cubicBezTo>
                  <a:cubicBezTo>
                    <a:pt x="140389" y="185206"/>
                    <a:pt x="116890" y="194940"/>
                    <a:pt x="92387" y="194940"/>
                  </a:cubicBezTo>
                  <a:lnTo>
                    <a:pt x="92387" y="194940"/>
                  </a:lnTo>
                  <a:cubicBezTo>
                    <a:pt x="67885" y="194940"/>
                    <a:pt x="44386" y="185206"/>
                    <a:pt x="27060" y="167880"/>
                  </a:cubicBezTo>
                  <a:cubicBezTo>
                    <a:pt x="9734" y="150554"/>
                    <a:pt x="0" y="127055"/>
                    <a:pt x="0" y="102552"/>
                  </a:cubicBezTo>
                  <a:lnTo>
                    <a:pt x="0" y="92387"/>
                  </a:lnTo>
                  <a:cubicBezTo>
                    <a:pt x="0" y="67885"/>
                    <a:pt x="9734" y="44386"/>
                    <a:pt x="27060" y="27060"/>
                  </a:cubicBezTo>
                  <a:cubicBezTo>
                    <a:pt x="44386" y="9734"/>
                    <a:pt x="67885" y="0"/>
                    <a:pt x="92387" y="0"/>
                  </a:cubicBezTo>
                  <a:close/>
                </a:path>
              </a:pathLst>
            </a:custGeom>
            <a:solidFill>
              <a:srgbClr val="1963B9"/>
            </a:solidFill>
          </p:spPr>
        </p:sp>
        <p:sp>
          <p:nvSpPr>
            <p:cNvPr id="29" name="TextBox 18"/>
            <p:cNvSpPr txBox="1"/>
            <p:nvPr/>
          </p:nvSpPr>
          <p:spPr>
            <a:xfrm>
              <a:off x="0" y="-38100"/>
              <a:ext cx="184775" cy="233040"/>
            </a:xfrm>
            <a:prstGeom prst="rect">
              <a:avLst/>
            </a:prstGeom>
          </p:spPr>
          <p:txBody>
            <a:bodyPr lIns="50800" tIns="50800" rIns="50800" bIns="50800" rtlCol="0" anchor="ctr"/>
            <a:lstStyle/>
            <a:p>
              <a:pPr algn="ctr">
                <a:lnSpc>
                  <a:spcPts val="2520"/>
                </a:lnSpc>
              </a:pPr>
              <a:endParaRPr/>
            </a:p>
          </p:txBody>
        </p:sp>
      </p:grpSp>
      <p:grpSp>
        <p:nvGrpSpPr>
          <p:cNvPr id="30" name="Group 19"/>
          <p:cNvGrpSpPr/>
          <p:nvPr/>
        </p:nvGrpSpPr>
        <p:grpSpPr>
          <a:xfrm>
            <a:off x="4995690" y="5254225"/>
            <a:ext cx="653456" cy="689405"/>
            <a:chOff x="0" y="0"/>
            <a:chExt cx="184775" cy="194940"/>
          </a:xfrm>
        </p:grpSpPr>
        <p:sp>
          <p:nvSpPr>
            <p:cNvPr id="31" name="Freeform 20"/>
            <p:cNvSpPr/>
            <p:nvPr/>
          </p:nvSpPr>
          <p:spPr>
            <a:xfrm>
              <a:off x="0" y="0"/>
              <a:ext cx="184775" cy="194940"/>
            </a:xfrm>
            <a:custGeom>
              <a:avLst/>
              <a:gdLst/>
              <a:ahLst/>
              <a:cxnLst/>
              <a:rect l="l" t="t" r="r" b="b"/>
              <a:pathLst>
                <a:path w="184775" h="194940">
                  <a:moveTo>
                    <a:pt x="92387" y="0"/>
                  </a:moveTo>
                  <a:lnTo>
                    <a:pt x="92387" y="0"/>
                  </a:lnTo>
                  <a:cubicBezTo>
                    <a:pt x="116890" y="0"/>
                    <a:pt x="140389" y="9734"/>
                    <a:pt x="157715" y="27060"/>
                  </a:cubicBezTo>
                  <a:cubicBezTo>
                    <a:pt x="175041" y="44386"/>
                    <a:pt x="184775" y="67885"/>
                    <a:pt x="184775" y="92387"/>
                  </a:cubicBezTo>
                  <a:lnTo>
                    <a:pt x="184775" y="102552"/>
                  </a:lnTo>
                  <a:cubicBezTo>
                    <a:pt x="184775" y="127055"/>
                    <a:pt x="175041" y="150554"/>
                    <a:pt x="157715" y="167880"/>
                  </a:cubicBezTo>
                  <a:cubicBezTo>
                    <a:pt x="140389" y="185206"/>
                    <a:pt x="116890" y="194940"/>
                    <a:pt x="92387" y="194940"/>
                  </a:cubicBezTo>
                  <a:lnTo>
                    <a:pt x="92387" y="194940"/>
                  </a:lnTo>
                  <a:cubicBezTo>
                    <a:pt x="67885" y="194940"/>
                    <a:pt x="44386" y="185206"/>
                    <a:pt x="27060" y="167880"/>
                  </a:cubicBezTo>
                  <a:cubicBezTo>
                    <a:pt x="9734" y="150554"/>
                    <a:pt x="0" y="127055"/>
                    <a:pt x="0" y="102552"/>
                  </a:cubicBezTo>
                  <a:lnTo>
                    <a:pt x="0" y="92387"/>
                  </a:lnTo>
                  <a:cubicBezTo>
                    <a:pt x="0" y="67885"/>
                    <a:pt x="9734" y="44386"/>
                    <a:pt x="27060" y="27060"/>
                  </a:cubicBezTo>
                  <a:cubicBezTo>
                    <a:pt x="44386" y="9734"/>
                    <a:pt x="67885" y="0"/>
                    <a:pt x="92387" y="0"/>
                  </a:cubicBezTo>
                  <a:close/>
                </a:path>
              </a:pathLst>
            </a:custGeom>
            <a:solidFill>
              <a:srgbClr val="A1D2F5"/>
            </a:solidFill>
          </p:spPr>
        </p:sp>
        <p:sp>
          <p:nvSpPr>
            <p:cNvPr id="32" name="TextBox 21"/>
            <p:cNvSpPr txBox="1"/>
            <p:nvPr/>
          </p:nvSpPr>
          <p:spPr>
            <a:xfrm>
              <a:off x="0" y="-38100"/>
              <a:ext cx="184775" cy="233040"/>
            </a:xfrm>
            <a:prstGeom prst="rect">
              <a:avLst/>
            </a:prstGeom>
          </p:spPr>
          <p:txBody>
            <a:bodyPr lIns="50800" tIns="50800" rIns="50800" bIns="50800" rtlCol="0" anchor="ctr"/>
            <a:lstStyle/>
            <a:p>
              <a:pPr algn="ctr">
                <a:lnSpc>
                  <a:spcPts val="2520"/>
                </a:lnSpc>
              </a:pPr>
              <a:endParaRPr/>
            </a:p>
          </p:txBody>
        </p:sp>
      </p:grpSp>
      <p:grpSp>
        <p:nvGrpSpPr>
          <p:cNvPr id="34" name="Group 22"/>
          <p:cNvGrpSpPr/>
          <p:nvPr/>
        </p:nvGrpSpPr>
        <p:grpSpPr>
          <a:xfrm>
            <a:off x="4995690" y="7052839"/>
            <a:ext cx="653456" cy="689405"/>
            <a:chOff x="0" y="0"/>
            <a:chExt cx="184775" cy="194940"/>
          </a:xfrm>
        </p:grpSpPr>
        <p:sp>
          <p:nvSpPr>
            <p:cNvPr id="35" name="Freeform 23"/>
            <p:cNvSpPr/>
            <p:nvPr/>
          </p:nvSpPr>
          <p:spPr>
            <a:xfrm>
              <a:off x="0" y="0"/>
              <a:ext cx="184775" cy="194940"/>
            </a:xfrm>
            <a:custGeom>
              <a:avLst/>
              <a:gdLst/>
              <a:ahLst/>
              <a:cxnLst/>
              <a:rect l="l" t="t" r="r" b="b"/>
              <a:pathLst>
                <a:path w="184775" h="194940">
                  <a:moveTo>
                    <a:pt x="92387" y="0"/>
                  </a:moveTo>
                  <a:lnTo>
                    <a:pt x="92387" y="0"/>
                  </a:lnTo>
                  <a:cubicBezTo>
                    <a:pt x="116890" y="0"/>
                    <a:pt x="140389" y="9734"/>
                    <a:pt x="157715" y="27060"/>
                  </a:cubicBezTo>
                  <a:cubicBezTo>
                    <a:pt x="175041" y="44386"/>
                    <a:pt x="184775" y="67885"/>
                    <a:pt x="184775" y="92387"/>
                  </a:cubicBezTo>
                  <a:lnTo>
                    <a:pt x="184775" y="102552"/>
                  </a:lnTo>
                  <a:cubicBezTo>
                    <a:pt x="184775" y="127055"/>
                    <a:pt x="175041" y="150554"/>
                    <a:pt x="157715" y="167880"/>
                  </a:cubicBezTo>
                  <a:cubicBezTo>
                    <a:pt x="140389" y="185206"/>
                    <a:pt x="116890" y="194940"/>
                    <a:pt x="92387" y="194940"/>
                  </a:cubicBezTo>
                  <a:lnTo>
                    <a:pt x="92387" y="194940"/>
                  </a:lnTo>
                  <a:cubicBezTo>
                    <a:pt x="67885" y="194940"/>
                    <a:pt x="44386" y="185206"/>
                    <a:pt x="27060" y="167880"/>
                  </a:cubicBezTo>
                  <a:cubicBezTo>
                    <a:pt x="9734" y="150554"/>
                    <a:pt x="0" y="127055"/>
                    <a:pt x="0" y="102552"/>
                  </a:cubicBezTo>
                  <a:lnTo>
                    <a:pt x="0" y="92387"/>
                  </a:lnTo>
                  <a:cubicBezTo>
                    <a:pt x="0" y="67885"/>
                    <a:pt x="9734" y="44386"/>
                    <a:pt x="27060" y="27060"/>
                  </a:cubicBezTo>
                  <a:cubicBezTo>
                    <a:pt x="44386" y="9734"/>
                    <a:pt x="67885" y="0"/>
                    <a:pt x="92387" y="0"/>
                  </a:cubicBezTo>
                  <a:close/>
                </a:path>
              </a:pathLst>
            </a:custGeom>
            <a:solidFill>
              <a:srgbClr val="A1D2F5"/>
            </a:solidFill>
          </p:spPr>
        </p:sp>
        <p:sp>
          <p:nvSpPr>
            <p:cNvPr id="36" name="TextBox 24"/>
            <p:cNvSpPr txBox="1"/>
            <p:nvPr/>
          </p:nvSpPr>
          <p:spPr>
            <a:xfrm>
              <a:off x="0" y="-38100"/>
              <a:ext cx="184775" cy="233040"/>
            </a:xfrm>
            <a:prstGeom prst="rect">
              <a:avLst/>
            </a:prstGeom>
          </p:spPr>
          <p:txBody>
            <a:bodyPr lIns="50800" tIns="50800" rIns="50800" bIns="50800" rtlCol="0" anchor="ctr"/>
            <a:lstStyle/>
            <a:p>
              <a:pPr algn="ctr">
                <a:lnSpc>
                  <a:spcPts val="2520"/>
                </a:lnSpc>
              </a:pPr>
              <a:endParaRPr/>
            </a:p>
          </p:txBody>
        </p:sp>
      </p:grpSp>
      <p:sp>
        <p:nvSpPr>
          <p:cNvPr id="37" name="Freeform 25"/>
          <p:cNvSpPr/>
          <p:nvPr/>
        </p:nvSpPr>
        <p:spPr>
          <a:xfrm>
            <a:off x="581054" y="5388966"/>
            <a:ext cx="515775" cy="448185"/>
          </a:xfrm>
          <a:custGeom>
            <a:avLst/>
            <a:gdLst/>
            <a:ahLst/>
            <a:cxnLst/>
            <a:rect l="l" t="t" r="r" b="b"/>
            <a:pathLst>
              <a:path w="564302" h="536792">
                <a:moveTo>
                  <a:pt x="0" y="0"/>
                </a:moveTo>
                <a:lnTo>
                  <a:pt x="564302" y="0"/>
                </a:lnTo>
                <a:lnTo>
                  <a:pt x="564302" y="536792"/>
                </a:lnTo>
                <a:lnTo>
                  <a:pt x="0" y="536792"/>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38" name="Freeform 26"/>
          <p:cNvSpPr/>
          <p:nvPr/>
        </p:nvSpPr>
        <p:spPr>
          <a:xfrm>
            <a:off x="618047" y="7155445"/>
            <a:ext cx="467248" cy="484194"/>
          </a:xfrm>
          <a:custGeom>
            <a:avLst/>
            <a:gdLst/>
            <a:ahLst/>
            <a:cxnLst/>
            <a:rect l="l" t="t" r="r" b="b"/>
            <a:pathLst>
              <a:path w="467248" h="484194">
                <a:moveTo>
                  <a:pt x="0" y="0"/>
                </a:moveTo>
                <a:lnTo>
                  <a:pt x="467248" y="0"/>
                </a:lnTo>
                <a:lnTo>
                  <a:pt x="467248" y="484194"/>
                </a:lnTo>
                <a:lnTo>
                  <a:pt x="0" y="484194"/>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sp>
        <p:nvSpPr>
          <p:cNvPr id="39" name="Freeform 27"/>
          <p:cNvSpPr/>
          <p:nvPr/>
        </p:nvSpPr>
        <p:spPr>
          <a:xfrm>
            <a:off x="606454" y="8961445"/>
            <a:ext cx="467248" cy="467248"/>
          </a:xfrm>
          <a:custGeom>
            <a:avLst/>
            <a:gdLst/>
            <a:ahLst/>
            <a:cxnLst/>
            <a:rect l="l" t="t" r="r" b="b"/>
            <a:pathLst>
              <a:path w="467248" h="467248">
                <a:moveTo>
                  <a:pt x="0" y="0"/>
                </a:moveTo>
                <a:lnTo>
                  <a:pt x="467248" y="0"/>
                </a:lnTo>
                <a:lnTo>
                  <a:pt x="467248" y="467247"/>
                </a:lnTo>
                <a:lnTo>
                  <a:pt x="0" y="467247"/>
                </a:lnTo>
                <a:lnTo>
                  <a:pt x="0" y="0"/>
                </a:lnTo>
                <a:close/>
              </a:path>
            </a:pathLst>
          </a:custGeom>
          <a:blipFill>
            <a:blip r:embed="rId9">
              <a:extLst>
                <a:ext uri="{96DAC541-7B7A-43D3-8B79-37D633B846F1}">
                  <asvg:svgBlip xmlns:asvg="http://schemas.microsoft.com/office/drawing/2016/SVG/main" xmlns="" r:embed="rId10"/>
                </a:ext>
              </a:extLst>
            </a:blip>
            <a:stretch>
              <a:fillRect/>
            </a:stretch>
          </a:blipFill>
        </p:spPr>
      </p:sp>
      <p:sp>
        <p:nvSpPr>
          <p:cNvPr id="40" name="Freeform 28"/>
          <p:cNvSpPr/>
          <p:nvPr/>
        </p:nvSpPr>
        <p:spPr>
          <a:xfrm>
            <a:off x="5076270" y="5329894"/>
            <a:ext cx="509166" cy="507256"/>
          </a:xfrm>
          <a:custGeom>
            <a:avLst/>
            <a:gdLst/>
            <a:ahLst/>
            <a:cxnLst/>
            <a:rect l="l" t="t" r="r" b="b"/>
            <a:pathLst>
              <a:path w="509166" h="507256">
                <a:moveTo>
                  <a:pt x="0" y="0"/>
                </a:moveTo>
                <a:lnTo>
                  <a:pt x="509165" y="0"/>
                </a:lnTo>
                <a:lnTo>
                  <a:pt x="509165" y="507257"/>
                </a:lnTo>
                <a:lnTo>
                  <a:pt x="0" y="507257"/>
                </a:lnTo>
                <a:lnTo>
                  <a:pt x="0" y="0"/>
                </a:lnTo>
                <a:close/>
              </a:path>
            </a:pathLst>
          </a:custGeom>
          <a:blipFill>
            <a:blip r:embed="rId11">
              <a:extLst>
                <a:ext uri="{96DAC541-7B7A-43D3-8B79-37D633B846F1}">
                  <asvg:svgBlip xmlns:asvg="http://schemas.microsoft.com/office/drawing/2016/SVG/main" xmlns="" r:embed="rId12"/>
                </a:ext>
              </a:extLst>
            </a:blip>
            <a:stretch>
              <a:fillRect/>
            </a:stretch>
          </a:blipFill>
        </p:spPr>
      </p:sp>
      <p:sp>
        <p:nvSpPr>
          <p:cNvPr id="41" name="Freeform 29"/>
          <p:cNvSpPr/>
          <p:nvPr/>
        </p:nvSpPr>
        <p:spPr>
          <a:xfrm>
            <a:off x="5082027" y="7155445"/>
            <a:ext cx="503408" cy="503408"/>
          </a:xfrm>
          <a:custGeom>
            <a:avLst/>
            <a:gdLst/>
            <a:ahLst/>
            <a:cxnLst/>
            <a:rect l="l" t="t" r="r" b="b"/>
            <a:pathLst>
              <a:path w="503408" h="503408">
                <a:moveTo>
                  <a:pt x="0" y="0"/>
                </a:moveTo>
                <a:lnTo>
                  <a:pt x="503408" y="0"/>
                </a:lnTo>
                <a:lnTo>
                  <a:pt x="503408" y="503408"/>
                </a:lnTo>
                <a:lnTo>
                  <a:pt x="0" y="503408"/>
                </a:lnTo>
                <a:lnTo>
                  <a:pt x="0" y="0"/>
                </a:lnTo>
                <a:close/>
              </a:path>
            </a:pathLst>
          </a:custGeom>
          <a:blipFill>
            <a:blip r:embed="rId13">
              <a:extLst>
                <a:ext uri="{96DAC541-7B7A-43D3-8B79-37D633B846F1}">
                  <asvg:svgBlip xmlns:asvg="http://schemas.microsoft.com/office/drawing/2016/SVG/main" xmlns="" r:embed="rId14"/>
                </a:ext>
              </a:extLst>
            </a:blip>
            <a:stretch>
              <a:fillRect/>
            </a:stretch>
          </a:blipFill>
        </p:spPr>
      </p:sp>
      <p:sp>
        <p:nvSpPr>
          <p:cNvPr id="43" name="TextBox 31"/>
          <p:cNvSpPr txBox="1"/>
          <p:nvPr/>
        </p:nvSpPr>
        <p:spPr>
          <a:xfrm>
            <a:off x="9803316" y="3410757"/>
            <a:ext cx="7369497" cy="461665"/>
          </a:xfrm>
          <a:prstGeom prst="rect">
            <a:avLst/>
          </a:prstGeom>
        </p:spPr>
        <p:txBody>
          <a:bodyPr lIns="0" tIns="0" rIns="0" bIns="0" rtlCol="0" anchor="t">
            <a:spAutoFit/>
          </a:bodyPr>
          <a:lstStyle/>
          <a:p>
            <a:pPr algn="l">
              <a:lnSpc>
                <a:spcPts val="3648"/>
              </a:lnSpc>
            </a:pPr>
            <a:r>
              <a:rPr lang="en-US" sz="3347" dirty="0">
                <a:solidFill>
                  <a:srgbClr val="000000"/>
                </a:solidFill>
                <a:latin typeface="Codec Pro"/>
                <a:ea typeface="Codec Pro"/>
                <a:cs typeface="Codec Pro"/>
                <a:sym typeface="Codec Pro"/>
              </a:rPr>
              <a:t> Interface Client </a:t>
            </a:r>
            <a:r>
              <a:rPr lang="en-US" sz="3347" dirty="0" smtClean="0">
                <a:solidFill>
                  <a:srgbClr val="000000"/>
                </a:solidFill>
                <a:latin typeface="Codec Pro"/>
                <a:ea typeface="Codec Pro"/>
                <a:cs typeface="Codec Pro"/>
                <a:sym typeface="Codec Pro"/>
              </a:rPr>
              <a:t>- </a:t>
            </a:r>
            <a:r>
              <a:rPr lang="en-US" sz="3347" dirty="0" err="1" smtClean="0">
                <a:solidFill>
                  <a:srgbClr val="000000"/>
                </a:solidFill>
                <a:latin typeface="Codec Pro"/>
                <a:ea typeface="Codec Pro"/>
                <a:cs typeface="Codec Pro"/>
                <a:sym typeface="Codec Pro"/>
              </a:rPr>
              <a:t>Portail</a:t>
            </a:r>
            <a:r>
              <a:rPr lang="en-US" sz="3347" dirty="0" smtClean="0">
                <a:solidFill>
                  <a:srgbClr val="000000"/>
                </a:solidFill>
                <a:latin typeface="Codec Pro"/>
                <a:ea typeface="Codec Pro"/>
                <a:cs typeface="Codec Pro"/>
                <a:sym typeface="Codec Pro"/>
              </a:rPr>
              <a:t> </a:t>
            </a:r>
            <a:r>
              <a:rPr lang="en-US" sz="3347" dirty="0">
                <a:solidFill>
                  <a:srgbClr val="000000"/>
                </a:solidFill>
                <a:latin typeface="Codec Pro"/>
                <a:ea typeface="Codec Pro"/>
                <a:cs typeface="Codec Pro"/>
                <a:sym typeface="Codec Pro"/>
              </a:rPr>
              <a:t>Web </a:t>
            </a:r>
            <a:r>
              <a:rPr lang="en-US" sz="3347" dirty="0" err="1">
                <a:solidFill>
                  <a:srgbClr val="000000"/>
                </a:solidFill>
                <a:latin typeface="Codec Pro"/>
                <a:ea typeface="Codec Pro"/>
                <a:cs typeface="Codec Pro"/>
                <a:sym typeface="Codec Pro"/>
              </a:rPr>
              <a:t>Réel</a:t>
            </a:r>
            <a:endParaRPr lang="en-US" sz="3347" dirty="0">
              <a:solidFill>
                <a:srgbClr val="000000"/>
              </a:solidFill>
              <a:latin typeface="Codec Pro"/>
              <a:ea typeface="Codec Pro"/>
              <a:cs typeface="Codec Pro"/>
              <a:sym typeface="Codec Pro"/>
            </a:endParaRPr>
          </a:p>
        </p:txBody>
      </p:sp>
      <p:sp>
        <p:nvSpPr>
          <p:cNvPr id="44" name="TextBox 32"/>
          <p:cNvSpPr txBox="1"/>
          <p:nvPr/>
        </p:nvSpPr>
        <p:spPr>
          <a:xfrm>
            <a:off x="851671" y="2933700"/>
            <a:ext cx="7193001" cy="551048"/>
          </a:xfrm>
          <a:prstGeom prst="rect">
            <a:avLst/>
          </a:prstGeom>
        </p:spPr>
        <p:txBody>
          <a:bodyPr lIns="0" tIns="0" rIns="0" bIns="0" rtlCol="0" anchor="t">
            <a:spAutoFit/>
          </a:bodyPr>
          <a:lstStyle/>
          <a:p>
            <a:pPr algn="l">
              <a:lnSpc>
                <a:spcPts val="4520"/>
              </a:lnSpc>
              <a:spcBef>
                <a:spcPct val="0"/>
              </a:spcBef>
            </a:pPr>
            <a:r>
              <a:rPr lang="en-US" sz="3228" b="1" dirty="0" err="1">
                <a:latin typeface="DM Sans Bold"/>
                <a:ea typeface="DM Sans Bold"/>
                <a:cs typeface="DM Sans Bold"/>
                <a:sym typeface="DM Sans Bold"/>
              </a:rPr>
              <a:t>Rôle</a:t>
            </a:r>
            <a:r>
              <a:rPr lang="en-US" sz="3228" b="1" dirty="0">
                <a:latin typeface="DM Sans Bold"/>
                <a:ea typeface="DM Sans Bold"/>
                <a:cs typeface="DM Sans Bold"/>
                <a:sym typeface="DM Sans Bold"/>
              </a:rPr>
              <a:t> de </a:t>
            </a:r>
            <a:r>
              <a:rPr lang="en-US" sz="3228" b="1" dirty="0" err="1">
                <a:latin typeface="DM Sans Bold"/>
                <a:ea typeface="DM Sans Bold"/>
                <a:cs typeface="DM Sans Bold"/>
                <a:sym typeface="DM Sans Bold"/>
              </a:rPr>
              <a:t>l'Application</a:t>
            </a:r>
            <a:endParaRPr lang="en-US" sz="3228" b="1" dirty="0">
              <a:latin typeface="DM Sans Bold"/>
              <a:ea typeface="DM Sans Bold"/>
              <a:cs typeface="DM Sans Bold"/>
              <a:sym typeface="DM Sans Bold"/>
            </a:endParaRPr>
          </a:p>
        </p:txBody>
      </p:sp>
      <p:sp>
        <p:nvSpPr>
          <p:cNvPr id="45" name="TextBox 33"/>
          <p:cNvSpPr txBox="1"/>
          <p:nvPr/>
        </p:nvSpPr>
        <p:spPr>
          <a:xfrm>
            <a:off x="851671" y="3598127"/>
            <a:ext cx="7193001" cy="1656098"/>
          </a:xfrm>
          <a:prstGeom prst="rect">
            <a:avLst/>
          </a:prstGeom>
        </p:spPr>
        <p:txBody>
          <a:bodyPr lIns="0" tIns="0" rIns="0" bIns="0" rtlCol="0" anchor="t">
            <a:spAutoFit/>
          </a:bodyPr>
          <a:lstStyle/>
          <a:p>
            <a:pPr algn="l">
              <a:lnSpc>
                <a:spcPts val="2636"/>
              </a:lnSpc>
              <a:spcBef>
                <a:spcPct val="0"/>
              </a:spcBef>
            </a:pPr>
            <a:r>
              <a:rPr lang="en-US" sz="1883">
                <a:solidFill>
                  <a:srgbClr val="000000"/>
                </a:solidFill>
                <a:latin typeface="DM Sans"/>
                <a:ea typeface="DM Sans"/>
                <a:cs typeface="DM Sans"/>
                <a:sym typeface="DM Sans"/>
              </a:rPr>
              <a:t>Le portail TMPA Cloud Server est une application web Flask (Python) qui centralise et orchestre l'ensemble des opérations de déploiement de l'infrastructure. Il constitue le point d'entrée unique pour créer des VMs multitenant en un seul clic.</a:t>
            </a:r>
          </a:p>
          <a:p>
            <a:pPr algn="l">
              <a:lnSpc>
                <a:spcPts val="2636"/>
              </a:lnSpc>
              <a:spcBef>
                <a:spcPct val="0"/>
              </a:spcBef>
            </a:pPr>
            <a:endParaRPr lang="en-US" sz="1883">
              <a:solidFill>
                <a:srgbClr val="000000"/>
              </a:solidFill>
              <a:latin typeface="DM Sans"/>
              <a:ea typeface="DM Sans"/>
              <a:cs typeface="DM Sans"/>
              <a:sym typeface="DM Sans"/>
            </a:endParaRPr>
          </a:p>
        </p:txBody>
      </p:sp>
      <p:sp>
        <p:nvSpPr>
          <p:cNvPr id="46" name="TextBox 34"/>
          <p:cNvSpPr txBox="1"/>
          <p:nvPr/>
        </p:nvSpPr>
        <p:spPr>
          <a:xfrm>
            <a:off x="1396580" y="5662349"/>
            <a:ext cx="3136652" cy="826135"/>
          </a:xfrm>
          <a:prstGeom prst="rect">
            <a:avLst/>
          </a:prstGeom>
        </p:spPr>
        <p:txBody>
          <a:bodyPr lIns="0" tIns="0" rIns="0" bIns="0" rtlCol="0" anchor="t">
            <a:spAutoFit/>
          </a:bodyPr>
          <a:lstStyle/>
          <a:p>
            <a:pPr algn="l">
              <a:lnSpc>
                <a:spcPts val="2240"/>
              </a:lnSpc>
              <a:spcBef>
                <a:spcPct val="0"/>
              </a:spcBef>
            </a:pPr>
            <a:r>
              <a:rPr lang="en-US" sz="1600" dirty="0">
                <a:solidFill>
                  <a:srgbClr val="000000"/>
                </a:solidFill>
                <a:latin typeface="DM Sans"/>
                <a:ea typeface="DM Sans"/>
                <a:cs typeface="DM Sans"/>
                <a:sym typeface="DM Sans"/>
              </a:rPr>
              <a:t>Cloner le template Ubuntu 22.04 via Terraform sur </a:t>
            </a:r>
            <a:r>
              <a:rPr lang="en-US" sz="1600" dirty="0" err="1">
                <a:solidFill>
                  <a:srgbClr val="000000"/>
                </a:solidFill>
                <a:latin typeface="DM Sans"/>
                <a:ea typeface="DM Sans"/>
                <a:cs typeface="DM Sans"/>
                <a:sym typeface="DM Sans"/>
              </a:rPr>
              <a:t>Proxmox</a:t>
            </a:r>
            <a:r>
              <a:rPr lang="en-US" sz="1600" dirty="0">
                <a:solidFill>
                  <a:srgbClr val="000000"/>
                </a:solidFill>
                <a:latin typeface="DM Sans"/>
                <a:ea typeface="DM Sans"/>
                <a:cs typeface="DM Sans"/>
                <a:sym typeface="DM Sans"/>
              </a:rPr>
              <a:t> — </a:t>
            </a:r>
            <a:r>
              <a:rPr lang="en-US" sz="1600" dirty="0" err="1">
                <a:solidFill>
                  <a:srgbClr val="000000"/>
                </a:solidFill>
                <a:latin typeface="DM Sans"/>
                <a:ea typeface="DM Sans"/>
                <a:cs typeface="DM Sans"/>
                <a:sym typeface="DM Sans"/>
              </a:rPr>
              <a:t>aucune</a:t>
            </a:r>
            <a:r>
              <a:rPr lang="en-US" sz="1600" dirty="0">
                <a:solidFill>
                  <a:srgbClr val="000000"/>
                </a:solidFill>
                <a:latin typeface="DM Sans"/>
                <a:ea typeface="DM Sans"/>
                <a:cs typeface="DM Sans"/>
                <a:sym typeface="DM Sans"/>
              </a:rPr>
              <a:t> intervention </a:t>
            </a:r>
            <a:r>
              <a:rPr lang="en-US" sz="1600" dirty="0" err="1">
                <a:solidFill>
                  <a:srgbClr val="000000"/>
                </a:solidFill>
                <a:latin typeface="DM Sans"/>
                <a:ea typeface="DM Sans"/>
                <a:cs typeface="DM Sans"/>
                <a:sym typeface="DM Sans"/>
              </a:rPr>
              <a:t>manuelle</a:t>
            </a:r>
            <a:endParaRPr lang="en-US" sz="1600" dirty="0">
              <a:solidFill>
                <a:srgbClr val="000000"/>
              </a:solidFill>
              <a:latin typeface="DM Sans"/>
              <a:ea typeface="DM Sans"/>
              <a:cs typeface="DM Sans"/>
              <a:sym typeface="DM Sans"/>
            </a:endParaRPr>
          </a:p>
        </p:txBody>
      </p:sp>
      <p:sp>
        <p:nvSpPr>
          <p:cNvPr id="47" name="TextBox 35"/>
          <p:cNvSpPr txBox="1"/>
          <p:nvPr/>
        </p:nvSpPr>
        <p:spPr>
          <a:xfrm>
            <a:off x="1396580" y="5271784"/>
            <a:ext cx="3460614" cy="280670"/>
          </a:xfrm>
          <a:prstGeom prst="rect">
            <a:avLst/>
          </a:prstGeom>
        </p:spPr>
        <p:txBody>
          <a:bodyPr lIns="0" tIns="0" rIns="0" bIns="0" rtlCol="0" anchor="t">
            <a:spAutoFit/>
          </a:bodyPr>
          <a:lstStyle/>
          <a:p>
            <a:pPr algn="l">
              <a:lnSpc>
                <a:spcPts val="2380"/>
              </a:lnSpc>
              <a:spcBef>
                <a:spcPct val="0"/>
              </a:spcBef>
            </a:pPr>
            <a:r>
              <a:rPr lang="en-US" sz="1700" b="1">
                <a:solidFill>
                  <a:srgbClr val="000000"/>
                </a:solidFill>
                <a:latin typeface="DM Sans Bold"/>
                <a:ea typeface="DM Sans Bold"/>
                <a:cs typeface="DM Sans Bold"/>
                <a:sym typeface="DM Sans Bold"/>
              </a:rPr>
              <a:t>Provisionnement VM automatisé</a:t>
            </a:r>
          </a:p>
        </p:txBody>
      </p:sp>
      <p:sp>
        <p:nvSpPr>
          <p:cNvPr id="48" name="TextBox 36"/>
          <p:cNvSpPr txBox="1"/>
          <p:nvPr/>
        </p:nvSpPr>
        <p:spPr>
          <a:xfrm>
            <a:off x="1396580" y="7460963"/>
            <a:ext cx="3136652" cy="849155"/>
          </a:xfrm>
          <a:prstGeom prst="rect">
            <a:avLst/>
          </a:prstGeom>
        </p:spPr>
        <p:txBody>
          <a:bodyPr lIns="0" tIns="0" rIns="0" bIns="0" rtlCol="0" anchor="t">
            <a:spAutoFit/>
          </a:bodyPr>
          <a:lstStyle/>
          <a:p>
            <a:pPr marL="0" lvl="0" indent="0" algn="l">
              <a:lnSpc>
                <a:spcPts val="2240"/>
              </a:lnSpc>
              <a:spcBef>
                <a:spcPct val="0"/>
              </a:spcBef>
            </a:pPr>
            <a:r>
              <a:rPr lang="en-US" sz="1600">
                <a:solidFill>
                  <a:srgbClr val="000000"/>
                </a:solidFill>
                <a:latin typeface="DM Sans"/>
                <a:ea typeface="DM Sans"/>
                <a:cs typeface="DM Sans"/>
                <a:sym typeface="DM Sans"/>
              </a:rPr>
              <a:t>Cré</a:t>
            </a:r>
            <a:r>
              <a:rPr lang="en-US" sz="1600" u="none" strike="noStrike">
                <a:solidFill>
                  <a:srgbClr val="000000"/>
                </a:solidFill>
                <a:latin typeface="DM Sans"/>
                <a:ea typeface="DM Sans"/>
                <a:cs typeface="DM Sans"/>
                <a:sym typeface="DM Sans"/>
              </a:rPr>
              <a:t>er VLAN + DHCP + règles firewall pfSense via Ansible en ~30 secondes</a:t>
            </a:r>
          </a:p>
        </p:txBody>
      </p:sp>
      <p:sp>
        <p:nvSpPr>
          <p:cNvPr id="49" name="TextBox 37"/>
          <p:cNvSpPr txBox="1"/>
          <p:nvPr/>
        </p:nvSpPr>
        <p:spPr>
          <a:xfrm>
            <a:off x="1396580" y="7070398"/>
            <a:ext cx="3599110" cy="287037"/>
          </a:xfrm>
          <a:prstGeom prst="rect">
            <a:avLst/>
          </a:prstGeom>
        </p:spPr>
        <p:txBody>
          <a:bodyPr lIns="0" tIns="0" rIns="0" bIns="0" rtlCol="0" anchor="t">
            <a:spAutoFit/>
          </a:bodyPr>
          <a:lstStyle/>
          <a:p>
            <a:pPr marL="0" lvl="0" indent="0" algn="l">
              <a:lnSpc>
                <a:spcPts val="2380"/>
              </a:lnSpc>
              <a:spcBef>
                <a:spcPct val="0"/>
              </a:spcBef>
            </a:pPr>
            <a:r>
              <a:rPr lang="en-US" sz="1700" b="1">
                <a:solidFill>
                  <a:srgbClr val="000000"/>
                </a:solidFill>
                <a:latin typeface="DM Sans Bold"/>
                <a:ea typeface="DM Sans Bold"/>
                <a:cs typeface="DM Sans Bold"/>
                <a:sym typeface="DM Sans Bold"/>
              </a:rPr>
              <a:t>Configuration ré</a:t>
            </a:r>
            <a:r>
              <a:rPr lang="en-US" sz="1700" b="1" u="none" strike="noStrike">
                <a:solidFill>
                  <a:srgbClr val="000000"/>
                </a:solidFill>
                <a:latin typeface="DM Sans Bold"/>
                <a:ea typeface="DM Sans Bold"/>
                <a:cs typeface="DM Sans Bold"/>
                <a:sym typeface="DM Sans Bold"/>
              </a:rPr>
              <a:t>seau instantanée</a:t>
            </a:r>
          </a:p>
        </p:txBody>
      </p:sp>
      <p:sp>
        <p:nvSpPr>
          <p:cNvPr id="50" name="TextBox 38"/>
          <p:cNvSpPr txBox="1"/>
          <p:nvPr/>
        </p:nvSpPr>
        <p:spPr>
          <a:xfrm>
            <a:off x="1396580" y="9259578"/>
            <a:ext cx="3136652" cy="849155"/>
          </a:xfrm>
          <a:prstGeom prst="rect">
            <a:avLst/>
          </a:prstGeom>
        </p:spPr>
        <p:txBody>
          <a:bodyPr lIns="0" tIns="0" rIns="0" bIns="0" rtlCol="0" anchor="t">
            <a:spAutoFit/>
          </a:bodyPr>
          <a:lstStyle/>
          <a:p>
            <a:pPr marL="0" lvl="0" indent="0" algn="l">
              <a:lnSpc>
                <a:spcPts val="2240"/>
              </a:lnSpc>
              <a:spcBef>
                <a:spcPct val="0"/>
              </a:spcBef>
            </a:pPr>
            <a:r>
              <a:rPr lang="en-US" sz="1600" dirty="0" err="1">
                <a:solidFill>
                  <a:srgbClr val="000000"/>
                </a:solidFill>
                <a:latin typeface="DM Sans"/>
                <a:ea typeface="DM Sans"/>
                <a:cs typeface="DM Sans"/>
                <a:sym typeface="DM Sans"/>
              </a:rPr>
              <a:t>Aff</a:t>
            </a:r>
            <a:r>
              <a:rPr lang="en-US" sz="1600" u="none" strike="noStrike" dirty="0" err="1">
                <a:solidFill>
                  <a:srgbClr val="000000"/>
                </a:solidFill>
                <a:latin typeface="DM Sans"/>
                <a:ea typeface="DM Sans"/>
                <a:cs typeface="DM Sans"/>
                <a:sym typeface="DM Sans"/>
              </a:rPr>
              <a:t>icher</a:t>
            </a:r>
            <a:r>
              <a:rPr lang="en-US" sz="1600" u="none" strike="noStrike" dirty="0">
                <a:solidFill>
                  <a:srgbClr val="000000"/>
                </a:solidFill>
                <a:latin typeface="DM Sans"/>
                <a:ea typeface="DM Sans"/>
                <a:cs typeface="DM Sans"/>
                <a:sym typeface="DM Sans"/>
              </a:rPr>
              <a:t> </a:t>
            </a:r>
            <a:r>
              <a:rPr lang="en-US" sz="1600" u="none" strike="noStrike" dirty="0" err="1">
                <a:solidFill>
                  <a:srgbClr val="000000"/>
                </a:solidFill>
                <a:latin typeface="DM Sans"/>
                <a:ea typeface="DM Sans"/>
                <a:cs typeface="DM Sans"/>
                <a:sym typeface="DM Sans"/>
              </a:rPr>
              <a:t>l'avancement</a:t>
            </a:r>
            <a:r>
              <a:rPr lang="en-US" sz="1600" u="none" strike="noStrike" dirty="0">
                <a:solidFill>
                  <a:srgbClr val="000000"/>
                </a:solidFill>
                <a:latin typeface="DM Sans"/>
                <a:ea typeface="DM Sans"/>
                <a:cs typeface="DM Sans"/>
                <a:sym typeface="DM Sans"/>
              </a:rPr>
              <a:t> du </a:t>
            </a:r>
            <a:r>
              <a:rPr lang="en-US" sz="1600" u="none" strike="noStrike" dirty="0" err="1">
                <a:solidFill>
                  <a:srgbClr val="000000"/>
                </a:solidFill>
                <a:latin typeface="DM Sans"/>
                <a:ea typeface="DM Sans"/>
                <a:cs typeface="DM Sans"/>
                <a:sym typeface="DM Sans"/>
              </a:rPr>
              <a:t>déploiement</a:t>
            </a:r>
            <a:r>
              <a:rPr lang="en-US" sz="1600" u="none" strike="noStrike" dirty="0">
                <a:solidFill>
                  <a:srgbClr val="000000"/>
                </a:solidFill>
                <a:latin typeface="DM Sans"/>
                <a:ea typeface="DM Sans"/>
                <a:cs typeface="DM Sans"/>
                <a:sym typeface="DM Sans"/>
              </a:rPr>
              <a:t> </a:t>
            </a:r>
            <a:r>
              <a:rPr lang="en-US" sz="1600" u="none" strike="noStrike" dirty="0" err="1">
                <a:solidFill>
                  <a:srgbClr val="000000"/>
                </a:solidFill>
                <a:latin typeface="DM Sans"/>
                <a:ea typeface="DM Sans"/>
                <a:cs typeface="DM Sans"/>
                <a:sym typeface="DM Sans"/>
              </a:rPr>
              <a:t>étape</a:t>
            </a:r>
            <a:r>
              <a:rPr lang="en-US" sz="1600" u="none" strike="noStrike" dirty="0">
                <a:solidFill>
                  <a:srgbClr val="000000"/>
                </a:solidFill>
                <a:latin typeface="DM Sans"/>
                <a:ea typeface="DM Sans"/>
                <a:cs typeface="DM Sans"/>
                <a:sym typeface="DM Sans"/>
              </a:rPr>
              <a:t> par </a:t>
            </a:r>
            <a:r>
              <a:rPr lang="en-US" sz="1600" u="none" strike="noStrike" dirty="0" err="1">
                <a:solidFill>
                  <a:srgbClr val="000000"/>
                </a:solidFill>
                <a:latin typeface="DM Sans"/>
                <a:ea typeface="DM Sans"/>
                <a:cs typeface="DM Sans"/>
                <a:sym typeface="DM Sans"/>
              </a:rPr>
              <a:t>étape</a:t>
            </a:r>
            <a:r>
              <a:rPr lang="en-US" sz="1600" u="none" strike="noStrike" dirty="0">
                <a:solidFill>
                  <a:srgbClr val="000000"/>
                </a:solidFill>
                <a:latin typeface="DM Sans"/>
                <a:ea typeface="DM Sans"/>
                <a:cs typeface="DM Sans"/>
                <a:sym typeface="DM Sans"/>
              </a:rPr>
              <a:t> via Server-Sent Events</a:t>
            </a:r>
          </a:p>
        </p:txBody>
      </p:sp>
      <p:sp>
        <p:nvSpPr>
          <p:cNvPr id="51" name="TextBox 39"/>
          <p:cNvSpPr txBox="1"/>
          <p:nvPr/>
        </p:nvSpPr>
        <p:spPr>
          <a:xfrm>
            <a:off x="1396580" y="8869012"/>
            <a:ext cx="2361428" cy="287037"/>
          </a:xfrm>
          <a:prstGeom prst="rect">
            <a:avLst/>
          </a:prstGeom>
        </p:spPr>
        <p:txBody>
          <a:bodyPr lIns="0" tIns="0" rIns="0" bIns="0" rtlCol="0" anchor="t">
            <a:spAutoFit/>
          </a:bodyPr>
          <a:lstStyle/>
          <a:p>
            <a:pPr marL="0" lvl="0" indent="0" algn="l">
              <a:lnSpc>
                <a:spcPts val="2380"/>
              </a:lnSpc>
              <a:spcBef>
                <a:spcPct val="0"/>
              </a:spcBef>
            </a:pPr>
            <a:r>
              <a:rPr lang="en-US" sz="1700" b="1">
                <a:solidFill>
                  <a:srgbClr val="000000"/>
                </a:solidFill>
                <a:latin typeface="DM Sans Bold"/>
                <a:ea typeface="DM Sans Bold"/>
                <a:cs typeface="DM Sans Bold"/>
                <a:sym typeface="DM Sans Bold"/>
              </a:rPr>
              <a:t>Logs </a:t>
            </a:r>
            <a:r>
              <a:rPr lang="en-US" sz="1700" b="1" u="none" strike="noStrike">
                <a:solidFill>
                  <a:srgbClr val="000000"/>
                </a:solidFill>
                <a:latin typeface="DM Sans Bold"/>
                <a:ea typeface="DM Sans Bold"/>
                <a:cs typeface="DM Sans Bold"/>
                <a:sym typeface="DM Sans Bold"/>
              </a:rPr>
              <a:t>temps réel (SSE)</a:t>
            </a:r>
          </a:p>
        </p:txBody>
      </p:sp>
      <p:sp>
        <p:nvSpPr>
          <p:cNvPr id="52" name="TextBox 40"/>
          <p:cNvSpPr txBox="1"/>
          <p:nvPr/>
        </p:nvSpPr>
        <p:spPr>
          <a:xfrm>
            <a:off x="5872516" y="5662349"/>
            <a:ext cx="3136652" cy="565257"/>
          </a:xfrm>
          <a:prstGeom prst="rect">
            <a:avLst/>
          </a:prstGeom>
        </p:spPr>
        <p:txBody>
          <a:bodyPr lIns="0" tIns="0" rIns="0" bIns="0" rtlCol="0" anchor="t">
            <a:spAutoFit/>
          </a:bodyPr>
          <a:lstStyle/>
          <a:p>
            <a:pPr marL="0" lvl="0" indent="0" algn="l">
              <a:lnSpc>
                <a:spcPts val="2240"/>
              </a:lnSpc>
              <a:spcBef>
                <a:spcPct val="0"/>
              </a:spcBef>
            </a:pPr>
            <a:r>
              <a:rPr lang="en-US" sz="1600">
                <a:solidFill>
                  <a:srgbClr val="000000"/>
                </a:solidFill>
                <a:latin typeface="DM Sans"/>
                <a:ea typeface="DM Sans"/>
                <a:cs typeface="DM Sans"/>
                <a:sym typeface="DM Sans"/>
              </a:rPr>
              <a:t>H</a:t>
            </a:r>
            <a:r>
              <a:rPr lang="en-US" sz="1600" u="none" strike="noStrike">
                <a:solidFill>
                  <a:srgbClr val="000000"/>
                </a:solidFill>
                <a:latin typeface="DM Sans"/>
                <a:ea typeface="DM Sans"/>
                <a:cs typeface="DM Sans"/>
                <a:sym typeface="DM Sans"/>
              </a:rPr>
              <a:t>istoriser chaque déploiement dans history.json et ELK Stack</a:t>
            </a:r>
          </a:p>
        </p:txBody>
      </p:sp>
      <p:sp>
        <p:nvSpPr>
          <p:cNvPr id="53" name="TextBox 41"/>
          <p:cNvSpPr txBox="1"/>
          <p:nvPr/>
        </p:nvSpPr>
        <p:spPr>
          <a:xfrm>
            <a:off x="5872516" y="5271784"/>
            <a:ext cx="2361428" cy="287037"/>
          </a:xfrm>
          <a:prstGeom prst="rect">
            <a:avLst/>
          </a:prstGeom>
        </p:spPr>
        <p:txBody>
          <a:bodyPr lIns="0" tIns="0" rIns="0" bIns="0" rtlCol="0" anchor="t">
            <a:spAutoFit/>
          </a:bodyPr>
          <a:lstStyle/>
          <a:p>
            <a:pPr marL="0" lvl="0" indent="0" algn="l">
              <a:lnSpc>
                <a:spcPts val="2380"/>
              </a:lnSpc>
              <a:spcBef>
                <a:spcPct val="0"/>
              </a:spcBef>
            </a:pPr>
            <a:r>
              <a:rPr lang="en-US" sz="1700" b="1">
                <a:solidFill>
                  <a:srgbClr val="000000"/>
                </a:solidFill>
                <a:latin typeface="DM Sans Bold"/>
                <a:ea typeface="DM Sans Bold"/>
                <a:cs typeface="DM Sans Bold"/>
                <a:sym typeface="DM Sans Bold"/>
              </a:rPr>
              <a:t>Traç</a:t>
            </a:r>
            <a:r>
              <a:rPr lang="en-US" sz="1700" b="1" u="none" strike="noStrike">
                <a:solidFill>
                  <a:srgbClr val="000000"/>
                </a:solidFill>
                <a:latin typeface="DM Sans Bold"/>
                <a:ea typeface="DM Sans Bold"/>
                <a:cs typeface="DM Sans Bold"/>
                <a:sym typeface="DM Sans Bold"/>
              </a:rPr>
              <a:t>abilité complète</a:t>
            </a:r>
          </a:p>
        </p:txBody>
      </p:sp>
      <p:sp>
        <p:nvSpPr>
          <p:cNvPr id="54" name="TextBox 42"/>
          <p:cNvSpPr txBox="1"/>
          <p:nvPr/>
        </p:nvSpPr>
        <p:spPr>
          <a:xfrm>
            <a:off x="5872516" y="7460963"/>
            <a:ext cx="3136652" cy="565257"/>
          </a:xfrm>
          <a:prstGeom prst="rect">
            <a:avLst/>
          </a:prstGeom>
        </p:spPr>
        <p:txBody>
          <a:bodyPr lIns="0" tIns="0" rIns="0" bIns="0" rtlCol="0" anchor="t">
            <a:spAutoFit/>
          </a:bodyPr>
          <a:lstStyle/>
          <a:p>
            <a:pPr marL="0" lvl="0" indent="0" algn="l">
              <a:lnSpc>
                <a:spcPts val="2240"/>
              </a:lnSpc>
              <a:spcBef>
                <a:spcPct val="0"/>
              </a:spcBef>
            </a:pPr>
            <a:r>
              <a:rPr lang="en-US" sz="1600">
                <a:solidFill>
                  <a:srgbClr val="000000"/>
                </a:solidFill>
                <a:latin typeface="DM Sans"/>
                <a:ea typeface="DM Sans"/>
                <a:cs typeface="DM Sans"/>
                <a:sym typeface="DM Sans"/>
              </a:rPr>
              <a:t>Chaqu</a:t>
            </a:r>
            <a:r>
              <a:rPr lang="en-US" sz="1600" u="none" strike="noStrike">
                <a:solidFill>
                  <a:srgbClr val="000000"/>
                </a:solidFill>
                <a:latin typeface="DM Sans"/>
                <a:ea typeface="DM Sans"/>
                <a:cs typeface="DM Sans"/>
                <a:sym typeface="DM Sans"/>
              </a:rPr>
              <a:t>e action est authentifiée, autorisée par RBAC et auditée</a:t>
            </a:r>
          </a:p>
        </p:txBody>
      </p:sp>
      <p:sp>
        <p:nvSpPr>
          <p:cNvPr id="55" name="TextBox 43"/>
          <p:cNvSpPr txBox="1"/>
          <p:nvPr/>
        </p:nvSpPr>
        <p:spPr>
          <a:xfrm>
            <a:off x="5872516" y="7070398"/>
            <a:ext cx="3437917" cy="287037"/>
          </a:xfrm>
          <a:prstGeom prst="rect">
            <a:avLst/>
          </a:prstGeom>
        </p:spPr>
        <p:txBody>
          <a:bodyPr lIns="0" tIns="0" rIns="0" bIns="0" rtlCol="0" anchor="t">
            <a:spAutoFit/>
          </a:bodyPr>
          <a:lstStyle/>
          <a:p>
            <a:pPr marL="0" lvl="0" indent="0" algn="l">
              <a:lnSpc>
                <a:spcPts val="2380"/>
              </a:lnSpc>
              <a:spcBef>
                <a:spcPct val="0"/>
              </a:spcBef>
            </a:pPr>
            <a:r>
              <a:rPr lang="en-US" sz="1700" b="1">
                <a:solidFill>
                  <a:srgbClr val="000000"/>
                </a:solidFill>
                <a:latin typeface="DM Sans Bold"/>
                <a:ea typeface="DM Sans Bold"/>
                <a:cs typeface="DM Sans Bold"/>
                <a:sym typeface="DM Sans Bold"/>
              </a:rPr>
              <a:t>Accès sécur</a:t>
            </a:r>
            <a:r>
              <a:rPr lang="en-US" sz="1700" b="1" u="none" strike="noStrike">
                <a:solidFill>
                  <a:srgbClr val="000000"/>
                </a:solidFill>
                <a:latin typeface="DM Sans Bold"/>
                <a:ea typeface="DM Sans Bold"/>
                <a:cs typeface="DM Sans Bold"/>
                <a:sym typeface="DM Sans Bold"/>
              </a:rPr>
              <a:t>isé Authentik SSO</a:t>
            </a:r>
          </a:p>
        </p:txBody>
      </p:sp>
      <p:sp>
        <p:nvSpPr>
          <p:cNvPr id="2" name="Rectangle 1"/>
          <p:cNvSpPr/>
          <p:nvPr/>
        </p:nvSpPr>
        <p:spPr>
          <a:xfrm>
            <a:off x="5076270" y="1634429"/>
            <a:ext cx="9342173" cy="646331"/>
          </a:xfrm>
          <a:prstGeom prst="rect">
            <a:avLst/>
          </a:prstGeom>
        </p:spPr>
        <p:txBody>
          <a:bodyPr wrap="none">
            <a:spAutoFit/>
          </a:bodyPr>
          <a:lstStyle/>
          <a:p>
            <a:r>
              <a:rPr lang="fr-FR" sz="3600" dirty="0" smtClean="0"/>
              <a:t>Interface </a:t>
            </a:r>
            <a:r>
              <a:rPr lang="fr-FR" sz="3600" dirty="0"/>
              <a:t>Client : Portail Web TMPA Cloud Server</a:t>
            </a:r>
            <a:r>
              <a:rPr lang="en-US" sz="3600" dirty="0"/>
              <a:t> </a:t>
            </a:r>
            <a:endParaRPr lang="fr-FR" sz="3600" dirty="0"/>
          </a:p>
        </p:txBody>
      </p:sp>
    </p:spTree>
    <p:extLst>
      <p:ext uri="{BB962C8B-B14F-4D97-AF65-F5344CB8AC3E}">
        <p14:creationId xmlns:p14="http://schemas.microsoft.com/office/powerpoint/2010/main" val="335471518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75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barn(inVertical)">
                                      <p:cBhvr>
                                        <p:cTn id="7" dur="500"/>
                                        <p:tgtEl>
                                          <p:spTgt spid="43"/>
                                        </p:tgtEl>
                                      </p:cBhvr>
                                    </p:animEffect>
                                  </p:childTnLst>
                                </p:cTn>
                              </p:par>
                              <p:par>
                                <p:cTn id="8" presetID="16" presetClass="entr" presetSubtype="21"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barn(inVertical)">
                                      <p:cBhvr>
                                        <p:cTn id="10" dur="500"/>
                                        <p:tgtEl>
                                          <p:spTgt spid="13"/>
                                        </p:tgtEl>
                                      </p:cBhvr>
                                    </p:animEffect>
                                  </p:childTnLst>
                                </p:cTn>
                              </p:par>
                              <p:par>
                                <p:cTn id="11" presetID="16" presetClass="entr" presetSubtype="21"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barn(inVertical)">
                                      <p:cBhvr>
                                        <p:cTn id="13" dur="5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44"/>
                                        </p:tgtEl>
                                        <p:attrNameLst>
                                          <p:attrName>style.visibility</p:attrName>
                                        </p:attrNameLst>
                                      </p:cBhvr>
                                      <p:to>
                                        <p:strVal val="visible"/>
                                      </p:to>
                                    </p:set>
                                    <p:animEffect transition="in" filter="wipe(down)">
                                      <p:cBhvr>
                                        <p:cTn id="18" dur="500"/>
                                        <p:tgtEl>
                                          <p:spTgt spid="44"/>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down)">
                                      <p:cBhvr>
                                        <p:cTn id="21" dur="500"/>
                                        <p:tgtEl>
                                          <p:spTgt spid="45"/>
                                        </p:tgtEl>
                                      </p:cBhvr>
                                    </p:animEffect>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1000"/>
                                        <p:tgtEl>
                                          <p:spTgt spid="21"/>
                                        </p:tgtEl>
                                      </p:cBhvr>
                                    </p:animEffect>
                                    <p:anim calcmode="lin" valueType="num">
                                      <p:cBhvr>
                                        <p:cTn id="27" dur="1000" fill="hold"/>
                                        <p:tgtEl>
                                          <p:spTgt spid="21"/>
                                        </p:tgtEl>
                                        <p:attrNameLst>
                                          <p:attrName>ppt_x</p:attrName>
                                        </p:attrNameLst>
                                      </p:cBhvr>
                                      <p:tavLst>
                                        <p:tav tm="0">
                                          <p:val>
                                            <p:strVal val="#ppt_x"/>
                                          </p:val>
                                        </p:tav>
                                        <p:tav tm="100000">
                                          <p:val>
                                            <p:strVal val="#ppt_x"/>
                                          </p:val>
                                        </p:tav>
                                      </p:tavLst>
                                    </p:anim>
                                    <p:anim calcmode="lin" valueType="num">
                                      <p:cBhvr>
                                        <p:cTn id="28" dur="1000" fill="hold"/>
                                        <p:tgtEl>
                                          <p:spTgt spid="21"/>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animEffect transition="in" filter="fade">
                                      <p:cBhvr>
                                        <p:cTn id="31" dur="1000"/>
                                        <p:tgtEl>
                                          <p:spTgt spid="37"/>
                                        </p:tgtEl>
                                      </p:cBhvr>
                                    </p:animEffect>
                                    <p:anim calcmode="lin" valueType="num">
                                      <p:cBhvr>
                                        <p:cTn id="32" dur="1000" fill="hold"/>
                                        <p:tgtEl>
                                          <p:spTgt spid="37"/>
                                        </p:tgtEl>
                                        <p:attrNameLst>
                                          <p:attrName>ppt_x</p:attrName>
                                        </p:attrNameLst>
                                      </p:cBhvr>
                                      <p:tavLst>
                                        <p:tav tm="0">
                                          <p:val>
                                            <p:strVal val="#ppt_x"/>
                                          </p:val>
                                        </p:tav>
                                        <p:tav tm="100000">
                                          <p:val>
                                            <p:strVal val="#ppt_x"/>
                                          </p:val>
                                        </p:tav>
                                      </p:tavLst>
                                    </p:anim>
                                    <p:anim calcmode="lin" valueType="num">
                                      <p:cBhvr>
                                        <p:cTn id="33" dur="1000" fill="hold"/>
                                        <p:tgtEl>
                                          <p:spTgt spid="37"/>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47"/>
                                        </p:tgtEl>
                                        <p:attrNameLst>
                                          <p:attrName>style.visibility</p:attrName>
                                        </p:attrNameLst>
                                      </p:cBhvr>
                                      <p:to>
                                        <p:strVal val="visible"/>
                                      </p:to>
                                    </p:set>
                                    <p:animEffect transition="in" filter="fade">
                                      <p:cBhvr>
                                        <p:cTn id="36" dur="1000"/>
                                        <p:tgtEl>
                                          <p:spTgt spid="47"/>
                                        </p:tgtEl>
                                      </p:cBhvr>
                                    </p:animEffect>
                                    <p:anim calcmode="lin" valueType="num">
                                      <p:cBhvr>
                                        <p:cTn id="37" dur="1000" fill="hold"/>
                                        <p:tgtEl>
                                          <p:spTgt spid="47"/>
                                        </p:tgtEl>
                                        <p:attrNameLst>
                                          <p:attrName>ppt_x</p:attrName>
                                        </p:attrNameLst>
                                      </p:cBhvr>
                                      <p:tavLst>
                                        <p:tav tm="0">
                                          <p:val>
                                            <p:strVal val="#ppt_x"/>
                                          </p:val>
                                        </p:tav>
                                        <p:tav tm="100000">
                                          <p:val>
                                            <p:strVal val="#ppt_x"/>
                                          </p:val>
                                        </p:tav>
                                      </p:tavLst>
                                    </p:anim>
                                    <p:anim calcmode="lin" valueType="num">
                                      <p:cBhvr>
                                        <p:cTn id="38" dur="1000" fill="hold"/>
                                        <p:tgtEl>
                                          <p:spTgt spid="47"/>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1000"/>
                                        <p:tgtEl>
                                          <p:spTgt spid="46"/>
                                        </p:tgtEl>
                                      </p:cBhvr>
                                    </p:animEffect>
                                    <p:anim calcmode="lin" valueType="num">
                                      <p:cBhvr>
                                        <p:cTn id="42" dur="1000" fill="hold"/>
                                        <p:tgtEl>
                                          <p:spTgt spid="46"/>
                                        </p:tgtEl>
                                        <p:attrNameLst>
                                          <p:attrName>ppt_x</p:attrName>
                                        </p:attrNameLst>
                                      </p:cBhvr>
                                      <p:tavLst>
                                        <p:tav tm="0">
                                          <p:val>
                                            <p:strVal val="#ppt_x"/>
                                          </p:val>
                                        </p:tav>
                                        <p:tav tm="100000">
                                          <p:val>
                                            <p:strVal val="#ppt_x"/>
                                          </p:val>
                                        </p:tav>
                                      </p:tavLst>
                                    </p:anim>
                                    <p:anim calcmode="lin" valueType="num">
                                      <p:cBhvr>
                                        <p:cTn id="43" dur="10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38"/>
                                        </p:tgtEl>
                                        <p:attrNameLst>
                                          <p:attrName>style.visibility</p:attrName>
                                        </p:attrNameLst>
                                      </p:cBhvr>
                                      <p:to>
                                        <p:strVal val="visible"/>
                                      </p:to>
                                    </p:set>
                                    <p:animEffect transition="in" filter="fade">
                                      <p:cBhvr>
                                        <p:cTn id="48" dur="1000"/>
                                        <p:tgtEl>
                                          <p:spTgt spid="38"/>
                                        </p:tgtEl>
                                      </p:cBhvr>
                                    </p:animEffect>
                                    <p:anim calcmode="lin" valueType="num">
                                      <p:cBhvr>
                                        <p:cTn id="49" dur="1000" fill="hold"/>
                                        <p:tgtEl>
                                          <p:spTgt spid="38"/>
                                        </p:tgtEl>
                                        <p:attrNameLst>
                                          <p:attrName>ppt_x</p:attrName>
                                        </p:attrNameLst>
                                      </p:cBhvr>
                                      <p:tavLst>
                                        <p:tav tm="0">
                                          <p:val>
                                            <p:strVal val="#ppt_x"/>
                                          </p:val>
                                        </p:tav>
                                        <p:tav tm="100000">
                                          <p:val>
                                            <p:strVal val="#ppt_x"/>
                                          </p:val>
                                        </p:tav>
                                      </p:tavLst>
                                    </p:anim>
                                    <p:anim calcmode="lin" valueType="num">
                                      <p:cBhvr>
                                        <p:cTn id="50" dur="1000" fill="hold"/>
                                        <p:tgtEl>
                                          <p:spTgt spid="38"/>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1000"/>
                                        <p:tgtEl>
                                          <p:spTgt spid="24"/>
                                        </p:tgtEl>
                                      </p:cBhvr>
                                    </p:animEffect>
                                    <p:anim calcmode="lin" valueType="num">
                                      <p:cBhvr>
                                        <p:cTn id="54" dur="1000" fill="hold"/>
                                        <p:tgtEl>
                                          <p:spTgt spid="24"/>
                                        </p:tgtEl>
                                        <p:attrNameLst>
                                          <p:attrName>ppt_x</p:attrName>
                                        </p:attrNameLst>
                                      </p:cBhvr>
                                      <p:tavLst>
                                        <p:tav tm="0">
                                          <p:val>
                                            <p:strVal val="#ppt_x"/>
                                          </p:val>
                                        </p:tav>
                                        <p:tav tm="100000">
                                          <p:val>
                                            <p:strVal val="#ppt_x"/>
                                          </p:val>
                                        </p:tav>
                                      </p:tavLst>
                                    </p:anim>
                                    <p:anim calcmode="lin" valueType="num">
                                      <p:cBhvr>
                                        <p:cTn id="55" dur="1000" fill="hold"/>
                                        <p:tgtEl>
                                          <p:spTgt spid="24"/>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1000"/>
                                        <p:tgtEl>
                                          <p:spTgt spid="49"/>
                                        </p:tgtEl>
                                      </p:cBhvr>
                                    </p:animEffect>
                                    <p:anim calcmode="lin" valueType="num">
                                      <p:cBhvr>
                                        <p:cTn id="59" dur="1000" fill="hold"/>
                                        <p:tgtEl>
                                          <p:spTgt spid="49"/>
                                        </p:tgtEl>
                                        <p:attrNameLst>
                                          <p:attrName>ppt_x</p:attrName>
                                        </p:attrNameLst>
                                      </p:cBhvr>
                                      <p:tavLst>
                                        <p:tav tm="0">
                                          <p:val>
                                            <p:strVal val="#ppt_x"/>
                                          </p:val>
                                        </p:tav>
                                        <p:tav tm="100000">
                                          <p:val>
                                            <p:strVal val="#ppt_x"/>
                                          </p:val>
                                        </p:tav>
                                      </p:tavLst>
                                    </p:anim>
                                    <p:anim calcmode="lin" valueType="num">
                                      <p:cBhvr>
                                        <p:cTn id="60" dur="1000" fill="hold"/>
                                        <p:tgtEl>
                                          <p:spTgt spid="49"/>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48"/>
                                        </p:tgtEl>
                                        <p:attrNameLst>
                                          <p:attrName>style.visibility</p:attrName>
                                        </p:attrNameLst>
                                      </p:cBhvr>
                                      <p:to>
                                        <p:strVal val="visible"/>
                                      </p:to>
                                    </p:set>
                                    <p:animEffect transition="in" filter="fade">
                                      <p:cBhvr>
                                        <p:cTn id="63" dur="1000"/>
                                        <p:tgtEl>
                                          <p:spTgt spid="48"/>
                                        </p:tgtEl>
                                      </p:cBhvr>
                                    </p:animEffect>
                                    <p:anim calcmode="lin" valueType="num">
                                      <p:cBhvr>
                                        <p:cTn id="64" dur="1000" fill="hold"/>
                                        <p:tgtEl>
                                          <p:spTgt spid="48"/>
                                        </p:tgtEl>
                                        <p:attrNameLst>
                                          <p:attrName>ppt_x</p:attrName>
                                        </p:attrNameLst>
                                      </p:cBhvr>
                                      <p:tavLst>
                                        <p:tav tm="0">
                                          <p:val>
                                            <p:strVal val="#ppt_x"/>
                                          </p:val>
                                        </p:tav>
                                        <p:tav tm="100000">
                                          <p:val>
                                            <p:strVal val="#ppt_x"/>
                                          </p:val>
                                        </p:tav>
                                      </p:tavLst>
                                    </p:anim>
                                    <p:anim calcmode="lin" valueType="num">
                                      <p:cBhvr>
                                        <p:cTn id="65" dur="10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1000"/>
                                        <p:tgtEl>
                                          <p:spTgt spid="27"/>
                                        </p:tgtEl>
                                      </p:cBhvr>
                                    </p:animEffect>
                                    <p:anim calcmode="lin" valueType="num">
                                      <p:cBhvr>
                                        <p:cTn id="71" dur="1000" fill="hold"/>
                                        <p:tgtEl>
                                          <p:spTgt spid="27"/>
                                        </p:tgtEl>
                                        <p:attrNameLst>
                                          <p:attrName>ppt_x</p:attrName>
                                        </p:attrNameLst>
                                      </p:cBhvr>
                                      <p:tavLst>
                                        <p:tav tm="0">
                                          <p:val>
                                            <p:strVal val="#ppt_x"/>
                                          </p:val>
                                        </p:tav>
                                        <p:tav tm="100000">
                                          <p:val>
                                            <p:strVal val="#ppt_x"/>
                                          </p:val>
                                        </p:tav>
                                      </p:tavLst>
                                    </p:anim>
                                    <p:anim calcmode="lin" valueType="num">
                                      <p:cBhvr>
                                        <p:cTn id="72" dur="1000" fill="hold"/>
                                        <p:tgtEl>
                                          <p:spTgt spid="2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74" dur="1" fill="hold">
                                          <p:stCondLst>
                                            <p:cond delay="0"/>
                                          </p:stCondLst>
                                        </p:cTn>
                                        <p:tgtEl>
                                          <p:spTgt spid="39"/>
                                        </p:tgtEl>
                                        <p:attrNameLst>
                                          <p:attrName>style.visibility</p:attrName>
                                        </p:attrNameLst>
                                      </p:cBhvr>
                                      <p:to>
                                        <p:strVal val="visible"/>
                                      </p:to>
                                    </p:set>
                                    <p:animEffect transition="in" filter="fade">
                                      <p:cBhvr>
                                        <p:cTn id="75" dur="1000"/>
                                        <p:tgtEl>
                                          <p:spTgt spid="39"/>
                                        </p:tgtEl>
                                      </p:cBhvr>
                                    </p:animEffect>
                                    <p:anim calcmode="lin" valueType="num">
                                      <p:cBhvr>
                                        <p:cTn id="76" dur="1000" fill="hold"/>
                                        <p:tgtEl>
                                          <p:spTgt spid="39"/>
                                        </p:tgtEl>
                                        <p:attrNameLst>
                                          <p:attrName>ppt_x</p:attrName>
                                        </p:attrNameLst>
                                      </p:cBhvr>
                                      <p:tavLst>
                                        <p:tav tm="0">
                                          <p:val>
                                            <p:strVal val="#ppt_x"/>
                                          </p:val>
                                        </p:tav>
                                        <p:tav tm="100000">
                                          <p:val>
                                            <p:strVal val="#ppt_x"/>
                                          </p:val>
                                        </p:tav>
                                      </p:tavLst>
                                    </p:anim>
                                    <p:anim calcmode="lin" valueType="num">
                                      <p:cBhvr>
                                        <p:cTn id="77" dur="1000" fill="hold"/>
                                        <p:tgtEl>
                                          <p:spTgt spid="39"/>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51"/>
                                        </p:tgtEl>
                                        <p:attrNameLst>
                                          <p:attrName>style.visibility</p:attrName>
                                        </p:attrNameLst>
                                      </p:cBhvr>
                                      <p:to>
                                        <p:strVal val="visible"/>
                                      </p:to>
                                    </p:set>
                                    <p:animEffect transition="in" filter="fade">
                                      <p:cBhvr>
                                        <p:cTn id="80" dur="1000"/>
                                        <p:tgtEl>
                                          <p:spTgt spid="51"/>
                                        </p:tgtEl>
                                      </p:cBhvr>
                                    </p:animEffect>
                                    <p:anim calcmode="lin" valueType="num">
                                      <p:cBhvr>
                                        <p:cTn id="81" dur="1000" fill="hold"/>
                                        <p:tgtEl>
                                          <p:spTgt spid="51"/>
                                        </p:tgtEl>
                                        <p:attrNameLst>
                                          <p:attrName>ppt_x</p:attrName>
                                        </p:attrNameLst>
                                      </p:cBhvr>
                                      <p:tavLst>
                                        <p:tav tm="0">
                                          <p:val>
                                            <p:strVal val="#ppt_x"/>
                                          </p:val>
                                        </p:tav>
                                        <p:tav tm="100000">
                                          <p:val>
                                            <p:strVal val="#ppt_x"/>
                                          </p:val>
                                        </p:tav>
                                      </p:tavLst>
                                    </p:anim>
                                    <p:anim calcmode="lin" valueType="num">
                                      <p:cBhvr>
                                        <p:cTn id="82" dur="1000" fill="hold"/>
                                        <p:tgtEl>
                                          <p:spTgt spid="51"/>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50"/>
                                        </p:tgtEl>
                                        <p:attrNameLst>
                                          <p:attrName>style.visibility</p:attrName>
                                        </p:attrNameLst>
                                      </p:cBhvr>
                                      <p:to>
                                        <p:strVal val="visible"/>
                                      </p:to>
                                    </p:set>
                                    <p:animEffect transition="in" filter="fade">
                                      <p:cBhvr>
                                        <p:cTn id="85" dur="1000"/>
                                        <p:tgtEl>
                                          <p:spTgt spid="50"/>
                                        </p:tgtEl>
                                      </p:cBhvr>
                                    </p:animEffect>
                                    <p:anim calcmode="lin" valueType="num">
                                      <p:cBhvr>
                                        <p:cTn id="86" dur="1000" fill="hold"/>
                                        <p:tgtEl>
                                          <p:spTgt spid="50"/>
                                        </p:tgtEl>
                                        <p:attrNameLst>
                                          <p:attrName>ppt_x</p:attrName>
                                        </p:attrNameLst>
                                      </p:cBhvr>
                                      <p:tavLst>
                                        <p:tav tm="0">
                                          <p:val>
                                            <p:strVal val="#ppt_x"/>
                                          </p:val>
                                        </p:tav>
                                        <p:tav tm="100000">
                                          <p:val>
                                            <p:strVal val="#ppt_x"/>
                                          </p:val>
                                        </p:tav>
                                      </p:tavLst>
                                    </p:anim>
                                    <p:anim calcmode="lin" valueType="num">
                                      <p:cBhvr>
                                        <p:cTn id="87" dur="10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0" presetID="22" presetClass="entr" presetSubtype="4" fill="hold"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wipe(down)">
                                      <p:cBhvr>
                                        <p:cTn id="92" dur="500"/>
                                        <p:tgtEl>
                                          <p:spTgt spid="30"/>
                                        </p:tgtEl>
                                      </p:cBhvr>
                                    </p:animEffect>
                                  </p:childTnLst>
                                </p:cTn>
                              </p:par>
                              <p:par>
                                <p:cTn id="93" presetID="22" presetClass="entr" presetSubtype="4" fill="hold" nodeType="withEffect">
                                  <p:stCondLst>
                                    <p:cond delay="0"/>
                                  </p:stCondLst>
                                  <p:childTnLst>
                                    <p:set>
                                      <p:cBhvr>
                                        <p:cTn id="94" dur="1" fill="hold">
                                          <p:stCondLst>
                                            <p:cond delay="0"/>
                                          </p:stCondLst>
                                        </p:cTn>
                                        <p:tgtEl>
                                          <p:spTgt spid="40"/>
                                        </p:tgtEl>
                                        <p:attrNameLst>
                                          <p:attrName>style.visibility</p:attrName>
                                        </p:attrNameLst>
                                      </p:cBhvr>
                                      <p:to>
                                        <p:strVal val="visible"/>
                                      </p:to>
                                    </p:set>
                                    <p:animEffect transition="in" filter="wipe(down)">
                                      <p:cBhvr>
                                        <p:cTn id="95" dur="500"/>
                                        <p:tgtEl>
                                          <p:spTgt spid="40"/>
                                        </p:tgtEl>
                                      </p:cBhvr>
                                    </p:animEffect>
                                  </p:childTnLst>
                                </p:cTn>
                              </p:par>
                              <p:par>
                                <p:cTn id="96" presetID="22" presetClass="entr" presetSubtype="4"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wipe(down)">
                                      <p:cBhvr>
                                        <p:cTn id="98" dur="500"/>
                                        <p:tgtEl>
                                          <p:spTgt spid="53"/>
                                        </p:tgtEl>
                                      </p:cBhvr>
                                    </p:animEffect>
                                  </p:childTnLst>
                                </p:cTn>
                              </p:par>
                              <p:par>
                                <p:cTn id="99" presetID="22" presetClass="entr" presetSubtype="4"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wipe(down)">
                                      <p:cBhvr>
                                        <p:cTn id="101" dur="500"/>
                                        <p:tgtEl>
                                          <p:spTgt spid="52"/>
                                        </p:tgtEl>
                                      </p:cBhvr>
                                    </p:animEffect>
                                  </p:childTnLst>
                                </p:cTn>
                              </p:par>
                              <p:par>
                                <p:cTn id="102" presetID="22" presetClass="entr" presetSubtype="4" fill="hold" nodeType="with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wipe(down)">
                                      <p:cBhvr>
                                        <p:cTn id="104" dur="500"/>
                                        <p:tgtEl>
                                          <p:spTgt spid="41"/>
                                        </p:tgtEl>
                                      </p:cBhvr>
                                    </p:animEffect>
                                  </p:childTnLst>
                                </p:cTn>
                              </p:par>
                              <p:par>
                                <p:cTn id="105" presetID="22" presetClass="entr" presetSubtype="4" fill="hold" nodeType="with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wipe(down)">
                                      <p:cBhvr>
                                        <p:cTn id="107" dur="500"/>
                                        <p:tgtEl>
                                          <p:spTgt spid="34"/>
                                        </p:tgtEl>
                                      </p:cBhvr>
                                    </p:animEffect>
                                  </p:childTnLst>
                                </p:cTn>
                              </p:par>
                              <p:par>
                                <p:cTn id="108" presetID="22" presetClass="entr" presetSubtype="4" fill="hold" grpId="0" nodeType="withEffect">
                                  <p:stCondLst>
                                    <p:cond delay="0"/>
                                  </p:stCondLst>
                                  <p:childTnLst>
                                    <p:set>
                                      <p:cBhvr>
                                        <p:cTn id="109" dur="1" fill="hold">
                                          <p:stCondLst>
                                            <p:cond delay="0"/>
                                          </p:stCondLst>
                                        </p:cTn>
                                        <p:tgtEl>
                                          <p:spTgt spid="55"/>
                                        </p:tgtEl>
                                        <p:attrNameLst>
                                          <p:attrName>style.visibility</p:attrName>
                                        </p:attrNameLst>
                                      </p:cBhvr>
                                      <p:to>
                                        <p:strVal val="visible"/>
                                      </p:to>
                                    </p:set>
                                    <p:animEffect transition="in" filter="wipe(down)">
                                      <p:cBhvr>
                                        <p:cTn id="110" dur="500"/>
                                        <p:tgtEl>
                                          <p:spTgt spid="55"/>
                                        </p:tgtEl>
                                      </p:cBhvr>
                                    </p:animEffect>
                                  </p:childTnLst>
                                </p:cTn>
                              </p:par>
                              <p:par>
                                <p:cTn id="111" presetID="22" presetClass="entr" presetSubtype="4" fill="hold" grpId="0" nodeType="withEffect">
                                  <p:stCondLst>
                                    <p:cond delay="0"/>
                                  </p:stCondLst>
                                  <p:childTnLst>
                                    <p:set>
                                      <p:cBhvr>
                                        <p:cTn id="112" dur="1" fill="hold">
                                          <p:stCondLst>
                                            <p:cond delay="0"/>
                                          </p:stCondLst>
                                        </p:cTn>
                                        <p:tgtEl>
                                          <p:spTgt spid="54"/>
                                        </p:tgtEl>
                                        <p:attrNameLst>
                                          <p:attrName>style.visibility</p:attrName>
                                        </p:attrNameLst>
                                      </p:cBhvr>
                                      <p:to>
                                        <p:strVal val="visible"/>
                                      </p:to>
                                    </p:set>
                                    <p:animEffect transition="in" filter="wipe(down)">
                                      <p:cBhvr>
                                        <p:cTn id="113"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P spid="46" grpId="0"/>
      <p:bldP spid="47" grpId="0"/>
      <p:bldP spid="48" grpId="0"/>
      <p:bldP spid="49" grpId="0"/>
      <p:bldP spid="50" grpId="0"/>
      <p:bldP spid="51" grpId="0"/>
      <p:bldP spid="52" grpId="0"/>
      <p:bldP spid="53" grpId="0"/>
      <p:bldP spid="54" grpId="0"/>
      <p:bldP spid="5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79663"/>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12801600"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1600" smtClean="0"/>
              <a:pPr/>
              <a:t>20</a:t>
            </a:fld>
            <a:endParaRPr lang="en-US" sz="1600" dirty="0"/>
          </a:p>
        </p:txBody>
      </p:sp>
      <p:sp>
        <p:nvSpPr>
          <p:cNvPr id="59" name="Freeform 2"/>
          <p:cNvSpPr/>
          <p:nvPr/>
        </p:nvSpPr>
        <p:spPr>
          <a:xfrm>
            <a:off x="8853298" y="4701478"/>
            <a:ext cx="6059540" cy="5505224"/>
          </a:xfrm>
          <a:custGeom>
            <a:avLst/>
            <a:gdLst/>
            <a:ahLst/>
            <a:cxnLst/>
            <a:rect l="l" t="t" r="r" b="b"/>
            <a:pathLst>
              <a:path w="6059540" h="5505224">
                <a:moveTo>
                  <a:pt x="0" y="0"/>
                </a:moveTo>
                <a:lnTo>
                  <a:pt x="6059540" y="0"/>
                </a:lnTo>
                <a:lnTo>
                  <a:pt x="6059540" y="5505224"/>
                </a:lnTo>
                <a:lnTo>
                  <a:pt x="0" y="5505224"/>
                </a:lnTo>
                <a:lnTo>
                  <a:pt x="0" y="0"/>
                </a:lnTo>
                <a:close/>
              </a:path>
            </a:pathLst>
          </a:custGeom>
          <a:blipFill>
            <a:blip r:embed="rId4">
              <a:extLst>
                <a:ext uri="{96DAC541-7B7A-43D3-8B79-37D633B846F1}">
                  <asvg:svgBlip xmlns="" xmlns:asvg="http://schemas.microsoft.com/office/drawing/2016/SVG/main" r:embed="rId5"/>
                </a:ext>
              </a:extLst>
            </a:blip>
            <a:stretch>
              <a:fillRect t="-53755" r="-39690"/>
            </a:stretch>
          </a:blipFill>
        </p:spPr>
      </p:sp>
      <p:sp>
        <p:nvSpPr>
          <p:cNvPr id="60" name="Freeform 3"/>
          <p:cNvSpPr/>
          <p:nvPr/>
        </p:nvSpPr>
        <p:spPr>
          <a:xfrm>
            <a:off x="12698198" y="385671"/>
            <a:ext cx="5887354" cy="5406924"/>
          </a:xfrm>
          <a:custGeom>
            <a:avLst/>
            <a:gdLst/>
            <a:ahLst/>
            <a:cxnLst/>
            <a:rect l="l" t="t" r="r" b="b"/>
            <a:pathLst>
              <a:path w="5887354" h="5406924">
                <a:moveTo>
                  <a:pt x="0" y="0"/>
                </a:moveTo>
                <a:lnTo>
                  <a:pt x="5887354" y="0"/>
                </a:lnTo>
                <a:lnTo>
                  <a:pt x="5887354" y="5406924"/>
                </a:lnTo>
                <a:lnTo>
                  <a:pt x="0" y="5406924"/>
                </a:lnTo>
                <a:lnTo>
                  <a:pt x="0" y="0"/>
                </a:lnTo>
                <a:close/>
              </a:path>
            </a:pathLst>
          </a:custGeom>
          <a:blipFill>
            <a:blip r:embed="rId6">
              <a:extLst>
                <a:ext uri="{96DAC541-7B7A-43D3-8B79-37D633B846F1}">
                  <asvg:svgBlip xmlns="" xmlns:asvg="http://schemas.microsoft.com/office/drawing/2016/SVG/main" r:embed="rId7"/>
                </a:ext>
              </a:extLst>
            </a:blip>
            <a:stretch>
              <a:fillRect t="-56550" r="-43775"/>
            </a:stretch>
          </a:blipFill>
        </p:spPr>
      </p:sp>
      <p:grpSp>
        <p:nvGrpSpPr>
          <p:cNvPr id="61" name="Group 4"/>
          <p:cNvGrpSpPr/>
          <p:nvPr/>
        </p:nvGrpSpPr>
        <p:grpSpPr>
          <a:xfrm>
            <a:off x="800375" y="2617470"/>
            <a:ext cx="740162" cy="740162"/>
            <a:chOff x="0" y="0"/>
            <a:chExt cx="194940" cy="194940"/>
          </a:xfrm>
        </p:grpSpPr>
        <p:sp>
          <p:nvSpPr>
            <p:cNvPr id="62" name="Freeform 5"/>
            <p:cNvSpPr/>
            <p:nvPr/>
          </p:nvSpPr>
          <p:spPr>
            <a:xfrm>
              <a:off x="0" y="0"/>
              <a:ext cx="194940" cy="194940"/>
            </a:xfrm>
            <a:custGeom>
              <a:avLst/>
              <a:gdLst/>
              <a:ahLst/>
              <a:cxnLst/>
              <a:rect l="l" t="t" r="r" b="b"/>
              <a:pathLst>
                <a:path w="194940" h="194940">
                  <a:moveTo>
                    <a:pt x="97470" y="0"/>
                  </a:moveTo>
                  <a:lnTo>
                    <a:pt x="97470" y="0"/>
                  </a:lnTo>
                  <a:cubicBezTo>
                    <a:pt x="123320" y="0"/>
                    <a:pt x="148112" y="10269"/>
                    <a:pt x="166391" y="28548"/>
                  </a:cubicBezTo>
                  <a:cubicBezTo>
                    <a:pt x="184671" y="46827"/>
                    <a:pt x="194940" y="71619"/>
                    <a:pt x="194940" y="97470"/>
                  </a:cubicBezTo>
                  <a:lnTo>
                    <a:pt x="194940" y="97470"/>
                  </a:lnTo>
                  <a:cubicBezTo>
                    <a:pt x="194940" y="123320"/>
                    <a:pt x="184671" y="148112"/>
                    <a:pt x="166391" y="166391"/>
                  </a:cubicBezTo>
                  <a:cubicBezTo>
                    <a:pt x="148112" y="184671"/>
                    <a:pt x="123320" y="194940"/>
                    <a:pt x="97470" y="194940"/>
                  </a:cubicBezTo>
                  <a:lnTo>
                    <a:pt x="97470" y="194940"/>
                  </a:lnTo>
                  <a:cubicBezTo>
                    <a:pt x="71619" y="194940"/>
                    <a:pt x="46827" y="184671"/>
                    <a:pt x="28548" y="166391"/>
                  </a:cubicBezTo>
                  <a:cubicBezTo>
                    <a:pt x="10269" y="148112"/>
                    <a:pt x="0" y="123320"/>
                    <a:pt x="0" y="97470"/>
                  </a:cubicBezTo>
                  <a:lnTo>
                    <a:pt x="0" y="97470"/>
                  </a:lnTo>
                  <a:cubicBezTo>
                    <a:pt x="0" y="71619"/>
                    <a:pt x="10269" y="46827"/>
                    <a:pt x="28548" y="28548"/>
                  </a:cubicBezTo>
                  <a:cubicBezTo>
                    <a:pt x="46827" y="10269"/>
                    <a:pt x="71619" y="0"/>
                    <a:pt x="97470" y="0"/>
                  </a:cubicBezTo>
                  <a:close/>
                </a:path>
              </a:pathLst>
            </a:custGeom>
            <a:solidFill>
              <a:srgbClr val="122359"/>
            </a:solidFill>
          </p:spPr>
        </p:sp>
        <p:sp>
          <p:nvSpPr>
            <p:cNvPr id="63" name="TextBox 6"/>
            <p:cNvSpPr txBox="1"/>
            <p:nvPr/>
          </p:nvSpPr>
          <p:spPr>
            <a:xfrm>
              <a:off x="0" y="-38100"/>
              <a:ext cx="194940" cy="233040"/>
            </a:xfrm>
            <a:prstGeom prst="rect">
              <a:avLst/>
            </a:prstGeom>
          </p:spPr>
          <p:txBody>
            <a:bodyPr lIns="50800" tIns="50800" rIns="50800" bIns="50800" rtlCol="0" anchor="ctr"/>
            <a:lstStyle/>
            <a:p>
              <a:pPr algn="ctr">
                <a:lnSpc>
                  <a:spcPts val="2520"/>
                </a:lnSpc>
              </a:pPr>
              <a:endParaRPr/>
            </a:p>
          </p:txBody>
        </p:sp>
      </p:grpSp>
      <p:grpSp>
        <p:nvGrpSpPr>
          <p:cNvPr id="64" name="Group 7"/>
          <p:cNvGrpSpPr/>
          <p:nvPr/>
        </p:nvGrpSpPr>
        <p:grpSpPr>
          <a:xfrm>
            <a:off x="800375" y="4548505"/>
            <a:ext cx="740162" cy="740162"/>
            <a:chOff x="0" y="0"/>
            <a:chExt cx="194940" cy="194940"/>
          </a:xfrm>
        </p:grpSpPr>
        <p:sp>
          <p:nvSpPr>
            <p:cNvPr id="65" name="Freeform 8"/>
            <p:cNvSpPr/>
            <p:nvPr/>
          </p:nvSpPr>
          <p:spPr>
            <a:xfrm>
              <a:off x="0" y="0"/>
              <a:ext cx="194940" cy="194940"/>
            </a:xfrm>
            <a:custGeom>
              <a:avLst/>
              <a:gdLst/>
              <a:ahLst/>
              <a:cxnLst/>
              <a:rect l="l" t="t" r="r" b="b"/>
              <a:pathLst>
                <a:path w="194940" h="194940">
                  <a:moveTo>
                    <a:pt x="97470" y="0"/>
                  </a:moveTo>
                  <a:lnTo>
                    <a:pt x="97470" y="0"/>
                  </a:lnTo>
                  <a:cubicBezTo>
                    <a:pt x="123320" y="0"/>
                    <a:pt x="148112" y="10269"/>
                    <a:pt x="166391" y="28548"/>
                  </a:cubicBezTo>
                  <a:cubicBezTo>
                    <a:pt x="184671" y="46827"/>
                    <a:pt x="194940" y="71619"/>
                    <a:pt x="194940" y="97470"/>
                  </a:cubicBezTo>
                  <a:lnTo>
                    <a:pt x="194940" y="97470"/>
                  </a:lnTo>
                  <a:cubicBezTo>
                    <a:pt x="194940" y="123320"/>
                    <a:pt x="184671" y="148112"/>
                    <a:pt x="166391" y="166391"/>
                  </a:cubicBezTo>
                  <a:cubicBezTo>
                    <a:pt x="148112" y="184671"/>
                    <a:pt x="123320" y="194940"/>
                    <a:pt x="97470" y="194940"/>
                  </a:cubicBezTo>
                  <a:lnTo>
                    <a:pt x="97470" y="194940"/>
                  </a:lnTo>
                  <a:cubicBezTo>
                    <a:pt x="71619" y="194940"/>
                    <a:pt x="46827" y="184671"/>
                    <a:pt x="28548" y="166391"/>
                  </a:cubicBezTo>
                  <a:cubicBezTo>
                    <a:pt x="10269" y="148112"/>
                    <a:pt x="0" y="123320"/>
                    <a:pt x="0" y="97470"/>
                  </a:cubicBezTo>
                  <a:lnTo>
                    <a:pt x="0" y="97470"/>
                  </a:lnTo>
                  <a:cubicBezTo>
                    <a:pt x="0" y="71619"/>
                    <a:pt x="10269" y="46827"/>
                    <a:pt x="28548" y="28548"/>
                  </a:cubicBezTo>
                  <a:cubicBezTo>
                    <a:pt x="46827" y="10269"/>
                    <a:pt x="71619" y="0"/>
                    <a:pt x="97470" y="0"/>
                  </a:cubicBezTo>
                  <a:close/>
                </a:path>
              </a:pathLst>
            </a:custGeom>
            <a:solidFill>
              <a:srgbClr val="3D6298"/>
            </a:solidFill>
          </p:spPr>
        </p:sp>
        <p:sp>
          <p:nvSpPr>
            <p:cNvPr id="66" name="TextBox 9"/>
            <p:cNvSpPr txBox="1"/>
            <p:nvPr/>
          </p:nvSpPr>
          <p:spPr>
            <a:xfrm>
              <a:off x="0" y="-38100"/>
              <a:ext cx="194940" cy="233040"/>
            </a:xfrm>
            <a:prstGeom prst="rect">
              <a:avLst/>
            </a:prstGeom>
          </p:spPr>
          <p:txBody>
            <a:bodyPr lIns="50800" tIns="50800" rIns="50800" bIns="50800" rtlCol="0" anchor="ctr"/>
            <a:lstStyle/>
            <a:p>
              <a:pPr algn="ctr">
                <a:lnSpc>
                  <a:spcPts val="2520"/>
                </a:lnSpc>
              </a:pPr>
              <a:endParaRPr/>
            </a:p>
          </p:txBody>
        </p:sp>
      </p:grpSp>
      <p:grpSp>
        <p:nvGrpSpPr>
          <p:cNvPr id="67" name="Group 10"/>
          <p:cNvGrpSpPr/>
          <p:nvPr/>
        </p:nvGrpSpPr>
        <p:grpSpPr>
          <a:xfrm>
            <a:off x="800375" y="6479540"/>
            <a:ext cx="740162" cy="740162"/>
            <a:chOff x="0" y="0"/>
            <a:chExt cx="194940" cy="194940"/>
          </a:xfrm>
        </p:grpSpPr>
        <p:sp>
          <p:nvSpPr>
            <p:cNvPr id="68" name="Freeform 11"/>
            <p:cNvSpPr/>
            <p:nvPr/>
          </p:nvSpPr>
          <p:spPr>
            <a:xfrm>
              <a:off x="0" y="0"/>
              <a:ext cx="194940" cy="194940"/>
            </a:xfrm>
            <a:custGeom>
              <a:avLst/>
              <a:gdLst/>
              <a:ahLst/>
              <a:cxnLst/>
              <a:rect l="l" t="t" r="r" b="b"/>
              <a:pathLst>
                <a:path w="194940" h="194940">
                  <a:moveTo>
                    <a:pt x="97470" y="0"/>
                  </a:moveTo>
                  <a:lnTo>
                    <a:pt x="97470" y="0"/>
                  </a:lnTo>
                  <a:cubicBezTo>
                    <a:pt x="123320" y="0"/>
                    <a:pt x="148112" y="10269"/>
                    <a:pt x="166391" y="28548"/>
                  </a:cubicBezTo>
                  <a:cubicBezTo>
                    <a:pt x="184671" y="46827"/>
                    <a:pt x="194940" y="71619"/>
                    <a:pt x="194940" y="97470"/>
                  </a:cubicBezTo>
                  <a:lnTo>
                    <a:pt x="194940" y="97470"/>
                  </a:lnTo>
                  <a:cubicBezTo>
                    <a:pt x="194940" y="123320"/>
                    <a:pt x="184671" y="148112"/>
                    <a:pt x="166391" y="166391"/>
                  </a:cubicBezTo>
                  <a:cubicBezTo>
                    <a:pt x="148112" y="184671"/>
                    <a:pt x="123320" y="194940"/>
                    <a:pt x="97470" y="194940"/>
                  </a:cubicBezTo>
                  <a:lnTo>
                    <a:pt x="97470" y="194940"/>
                  </a:lnTo>
                  <a:cubicBezTo>
                    <a:pt x="71619" y="194940"/>
                    <a:pt x="46827" y="184671"/>
                    <a:pt x="28548" y="166391"/>
                  </a:cubicBezTo>
                  <a:cubicBezTo>
                    <a:pt x="10269" y="148112"/>
                    <a:pt x="0" y="123320"/>
                    <a:pt x="0" y="97470"/>
                  </a:cubicBezTo>
                  <a:lnTo>
                    <a:pt x="0" y="97470"/>
                  </a:lnTo>
                  <a:cubicBezTo>
                    <a:pt x="0" y="71619"/>
                    <a:pt x="10269" y="46827"/>
                    <a:pt x="28548" y="28548"/>
                  </a:cubicBezTo>
                  <a:cubicBezTo>
                    <a:pt x="46827" y="10269"/>
                    <a:pt x="71619" y="0"/>
                    <a:pt x="97470" y="0"/>
                  </a:cubicBezTo>
                  <a:close/>
                </a:path>
              </a:pathLst>
            </a:custGeom>
            <a:solidFill>
              <a:srgbClr val="BEC8DA"/>
            </a:solidFill>
          </p:spPr>
        </p:sp>
        <p:sp>
          <p:nvSpPr>
            <p:cNvPr id="69" name="TextBox 12"/>
            <p:cNvSpPr txBox="1"/>
            <p:nvPr/>
          </p:nvSpPr>
          <p:spPr>
            <a:xfrm>
              <a:off x="0" y="-38100"/>
              <a:ext cx="194940" cy="233040"/>
            </a:xfrm>
            <a:prstGeom prst="rect">
              <a:avLst/>
            </a:prstGeom>
          </p:spPr>
          <p:txBody>
            <a:bodyPr lIns="50800" tIns="50800" rIns="50800" bIns="50800" rtlCol="0" anchor="ctr"/>
            <a:lstStyle/>
            <a:p>
              <a:pPr algn="ctr">
                <a:lnSpc>
                  <a:spcPts val="2520"/>
                </a:lnSpc>
              </a:pPr>
              <a:endParaRPr/>
            </a:p>
          </p:txBody>
        </p:sp>
      </p:grpSp>
      <p:grpSp>
        <p:nvGrpSpPr>
          <p:cNvPr id="70" name="Group 13"/>
          <p:cNvGrpSpPr/>
          <p:nvPr/>
        </p:nvGrpSpPr>
        <p:grpSpPr>
          <a:xfrm>
            <a:off x="800375" y="8410575"/>
            <a:ext cx="740162" cy="740162"/>
            <a:chOff x="0" y="0"/>
            <a:chExt cx="194940" cy="194940"/>
          </a:xfrm>
        </p:grpSpPr>
        <p:sp>
          <p:nvSpPr>
            <p:cNvPr id="71" name="Freeform 14"/>
            <p:cNvSpPr/>
            <p:nvPr/>
          </p:nvSpPr>
          <p:spPr>
            <a:xfrm>
              <a:off x="0" y="0"/>
              <a:ext cx="194940" cy="194940"/>
            </a:xfrm>
            <a:custGeom>
              <a:avLst/>
              <a:gdLst/>
              <a:ahLst/>
              <a:cxnLst/>
              <a:rect l="l" t="t" r="r" b="b"/>
              <a:pathLst>
                <a:path w="194940" h="194940">
                  <a:moveTo>
                    <a:pt x="97470" y="0"/>
                  </a:moveTo>
                  <a:lnTo>
                    <a:pt x="97470" y="0"/>
                  </a:lnTo>
                  <a:cubicBezTo>
                    <a:pt x="123320" y="0"/>
                    <a:pt x="148112" y="10269"/>
                    <a:pt x="166391" y="28548"/>
                  </a:cubicBezTo>
                  <a:cubicBezTo>
                    <a:pt x="184671" y="46827"/>
                    <a:pt x="194940" y="71619"/>
                    <a:pt x="194940" y="97470"/>
                  </a:cubicBezTo>
                  <a:lnTo>
                    <a:pt x="194940" y="97470"/>
                  </a:lnTo>
                  <a:cubicBezTo>
                    <a:pt x="194940" y="123320"/>
                    <a:pt x="184671" y="148112"/>
                    <a:pt x="166391" y="166391"/>
                  </a:cubicBezTo>
                  <a:cubicBezTo>
                    <a:pt x="148112" y="184671"/>
                    <a:pt x="123320" y="194940"/>
                    <a:pt x="97470" y="194940"/>
                  </a:cubicBezTo>
                  <a:lnTo>
                    <a:pt x="97470" y="194940"/>
                  </a:lnTo>
                  <a:cubicBezTo>
                    <a:pt x="71619" y="194940"/>
                    <a:pt x="46827" y="184671"/>
                    <a:pt x="28548" y="166391"/>
                  </a:cubicBezTo>
                  <a:cubicBezTo>
                    <a:pt x="10269" y="148112"/>
                    <a:pt x="0" y="123320"/>
                    <a:pt x="0" y="97470"/>
                  </a:cubicBezTo>
                  <a:lnTo>
                    <a:pt x="0" y="97470"/>
                  </a:lnTo>
                  <a:cubicBezTo>
                    <a:pt x="0" y="71619"/>
                    <a:pt x="10269" y="46827"/>
                    <a:pt x="28548" y="28548"/>
                  </a:cubicBezTo>
                  <a:cubicBezTo>
                    <a:pt x="46827" y="10269"/>
                    <a:pt x="71619" y="0"/>
                    <a:pt x="97470" y="0"/>
                  </a:cubicBezTo>
                  <a:close/>
                </a:path>
              </a:pathLst>
            </a:custGeom>
            <a:solidFill>
              <a:srgbClr val="F68D55"/>
            </a:solidFill>
          </p:spPr>
        </p:sp>
        <p:sp>
          <p:nvSpPr>
            <p:cNvPr id="72" name="TextBox 15"/>
            <p:cNvSpPr txBox="1"/>
            <p:nvPr/>
          </p:nvSpPr>
          <p:spPr>
            <a:xfrm>
              <a:off x="0" y="-38100"/>
              <a:ext cx="194940" cy="233040"/>
            </a:xfrm>
            <a:prstGeom prst="rect">
              <a:avLst/>
            </a:prstGeom>
          </p:spPr>
          <p:txBody>
            <a:bodyPr lIns="50800" tIns="50800" rIns="50800" bIns="50800" rtlCol="0" anchor="ctr"/>
            <a:lstStyle/>
            <a:p>
              <a:pPr algn="ctr">
                <a:lnSpc>
                  <a:spcPts val="2520"/>
                </a:lnSpc>
              </a:pPr>
              <a:endParaRPr/>
            </a:p>
          </p:txBody>
        </p:sp>
      </p:grpSp>
      <p:grpSp>
        <p:nvGrpSpPr>
          <p:cNvPr id="73" name="Group 16"/>
          <p:cNvGrpSpPr/>
          <p:nvPr/>
        </p:nvGrpSpPr>
        <p:grpSpPr>
          <a:xfrm>
            <a:off x="5870215" y="2617470"/>
            <a:ext cx="740162" cy="740162"/>
            <a:chOff x="0" y="0"/>
            <a:chExt cx="194940" cy="194940"/>
          </a:xfrm>
        </p:grpSpPr>
        <p:sp>
          <p:nvSpPr>
            <p:cNvPr id="74" name="Freeform 17"/>
            <p:cNvSpPr/>
            <p:nvPr/>
          </p:nvSpPr>
          <p:spPr>
            <a:xfrm>
              <a:off x="0" y="0"/>
              <a:ext cx="194940" cy="194940"/>
            </a:xfrm>
            <a:custGeom>
              <a:avLst/>
              <a:gdLst/>
              <a:ahLst/>
              <a:cxnLst/>
              <a:rect l="l" t="t" r="r" b="b"/>
              <a:pathLst>
                <a:path w="194940" h="194940">
                  <a:moveTo>
                    <a:pt x="97470" y="0"/>
                  </a:moveTo>
                  <a:lnTo>
                    <a:pt x="97470" y="0"/>
                  </a:lnTo>
                  <a:cubicBezTo>
                    <a:pt x="123320" y="0"/>
                    <a:pt x="148112" y="10269"/>
                    <a:pt x="166391" y="28548"/>
                  </a:cubicBezTo>
                  <a:cubicBezTo>
                    <a:pt x="184671" y="46827"/>
                    <a:pt x="194940" y="71619"/>
                    <a:pt x="194940" y="97470"/>
                  </a:cubicBezTo>
                  <a:lnTo>
                    <a:pt x="194940" y="97470"/>
                  </a:lnTo>
                  <a:cubicBezTo>
                    <a:pt x="194940" y="123320"/>
                    <a:pt x="184671" y="148112"/>
                    <a:pt x="166391" y="166391"/>
                  </a:cubicBezTo>
                  <a:cubicBezTo>
                    <a:pt x="148112" y="184671"/>
                    <a:pt x="123320" y="194940"/>
                    <a:pt x="97470" y="194940"/>
                  </a:cubicBezTo>
                  <a:lnTo>
                    <a:pt x="97470" y="194940"/>
                  </a:lnTo>
                  <a:cubicBezTo>
                    <a:pt x="71619" y="194940"/>
                    <a:pt x="46827" y="184671"/>
                    <a:pt x="28548" y="166391"/>
                  </a:cubicBezTo>
                  <a:cubicBezTo>
                    <a:pt x="10269" y="148112"/>
                    <a:pt x="0" y="123320"/>
                    <a:pt x="0" y="97470"/>
                  </a:cubicBezTo>
                  <a:lnTo>
                    <a:pt x="0" y="97470"/>
                  </a:lnTo>
                  <a:cubicBezTo>
                    <a:pt x="0" y="71619"/>
                    <a:pt x="10269" y="46827"/>
                    <a:pt x="28548" y="28548"/>
                  </a:cubicBezTo>
                  <a:cubicBezTo>
                    <a:pt x="46827" y="10269"/>
                    <a:pt x="71619" y="0"/>
                    <a:pt x="97470" y="0"/>
                  </a:cubicBezTo>
                  <a:close/>
                </a:path>
              </a:pathLst>
            </a:custGeom>
            <a:solidFill>
              <a:srgbClr val="E8DED6"/>
            </a:solidFill>
          </p:spPr>
        </p:sp>
        <p:sp>
          <p:nvSpPr>
            <p:cNvPr id="75" name="TextBox 18"/>
            <p:cNvSpPr txBox="1"/>
            <p:nvPr/>
          </p:nvSpPr>
          <p:spPr>
            <a:xfrm>
              <a:off x="0" y="-38100"/>
              <a:ext cx="194940" cy="233040"/>
            </a:xfrm>
            <a:prstGeom prst="rect">
              <a:avLst/>
            </a:prstGeom>
          </p:spPr>
          <p:txBody>
            <a:bodyPr lIns="50800" tIns="50800" rIns="50800" bIns="50800" rtlCol="0" anchor="ctr"/>
            <a:lstStyle/>
            <a:p>
              <a:pPr algn="ctr">
                <a:lnSpc>
                  <a:spcPts val="2520"/>
                </a:lnSpc>
              </a:pPr>
              <a:endParaRPr/>
            </a:p>
          </p:txBody>
        </p:sp>
      </p:grpSp>
      <p:grpSp>
        <p:nvGrpSpPr>
          <p:cNvPr id="76" name="Group 19"/>
          <p:cNvGrpSpPr/>
          <p:nvPr/>
        </p:nvGrpSpPr>
        <p:grpSpPr>
          <a:xfrm>
            <a:off x="5870215" y="4548505"/>
            <a:ext cx="740162" cy="740162"/>
            <a:chOff x="0" y="0"/>
            <a:chExt cx="194940" cy="194940"/>
          </a:xfrm>
        </p:grpSpPr>
        <p:sp>
          <p:nvSpPr>
            <p:cNvPr id="77" name="Freeform 20"/>
            <p:cNvSpPr/>
            <p:nvPr/>
          </p:nvSpPr>
          <p:spPr>
            <a:xfrm>
              <a:off x="0" y="0"/>
              <a:ext cx="194940" cy="194940"/>
            </a:xfrm>
            <a:custGeom>
              <a:avLst/>
              <a:gdLst/>
              <a:ahLst/>
              <a:cxnLst/>
              <a:rect l="l" t="t" r="r" b="b"/>
              <a:pathLst>
                <a:path w="194940" h="194940">
                  <a:moveTo>
                    <a:pt x="97470" y="0"/>
                  </a:moveTo>
                  <a:lnTo>
                    <a:pt x="97470" y="0"/>
                  </a:lnTo>
                  <a:cubicBezTo>
                    <a:pt x="123320" y="0"/>
                    <a:pt x="148112" y="10269"/>
                    <a:pt x="166391" y="28548"/>
                  </a:cubicBezTo>
                  <a:cubicBezTo>
                    <a:pt x="184671" y="46827"/>
                    <a:pt x="194940" y="71619"/>
                    <a:pt x="194940" y="97470"/>
                  </a:cubicBezTo>
                  <a:lnTo>
                    <a:pt x="194940" y="97470"/>
                  </a:lnTo>
                  <a:cubicBezTo>
                    <a:pt x="194940" y="123320"/>
                    <a:pt x="184671" y="148112"/>
                    <a:pt x="166391" y="166391"/>
                  </a:cubicBezTo>
                  <a:cubicBezTo>
                    <a:pt x="148112" y="184671"/>
                    <a:pt x="123320" y="194940"/>
                    <a:pt x="97470" y="194940"/>
                  </a:cubicBezTo>
                  <a:lnTo>
                    <a:pt x="97470" y="194940"/>
                  </a:lnTo>
                  <a:cubicBezTo>
                    <a:pt x="71619" y="194940"/>
                    <a:pt x="46827" y="184671"/>
                    <a:pt x="28548" y="166391"/>
                  </a:cubicBezTo>
                  <a:cubicBezTo>
                    <a:pt x="10269" y="148112"/>
                    <a:pt x="0" y="123320"/>
                    <a:pt x="0" y="97470"/>
                  </a:cubicBezTo>
                  <a:lnTo>
                    <a:pt x="0" y="97470"/>
                  </a:lnTo>
                  <a:cubicBezTo>
                    <a:pt x="0" y="71619"/>
                    <a:pt x="10269" y="46827"/>
                    <a:pt x="28548" y="28548"/>
                  </a:cubicBezTo>
                  <a:cubicBezTo>
                    <a:pt x="46827" y="10269"/>
                    <a:pt x="71619" y="0"/>
                    <a:pt x="97470" y="0"/>
                  </a:cubicBezTo>
                  <a:close/>
                </a:path>
              </a:pathLst>
            </a:custGeom>
            <a:solidFill>
              <a:srgbClr val="FBF6EF"/>
            </a:solidFill>
          </p:spPr>
        </p:sp>
        <p:sp>
          <p:nvSpPr>
            <p:cNvPr id="80" name="TextBox 21"/>
            <p:cNvSpPr txBox="1"/>
            <p:nvPr/>
          </p:nvSpPr>
          <p:spPr>
            <a:xfrm>
              <a:off x="0" y="-38100"/>
              <a:ext cx="194940" cy="233040"/>
            </a:xfrm>
            <a:prstGeom prst="rect">
              <a:avLst/>
            </a:prstGeom>
          </p:spPr>
          <p:txBody>
            <a:bodyPr lIns="50800" tIns="50800" rIns="50800" bIns="50800" rtlCol="0" anchor="ctr"/>
            <a:lstStyle/>
            <a:p>
              <a:pPr algn="ctr">
                <a:lnSpc>
                  <a:spcPts val="2520"/>
                </a:lnSpc>
              </a:pPr>
              <a:endParaRPr/>
            </a:p>
          </p:txBody>
        </p:sp>
      </p:grpSp>
      <p:sp>
        <p:nvSpPr>
          <p:cNvPr id="83" name="Freeform 22"/>
          <p:cNvSpPr/>
          <p:nvPr/>
        </p:nvSpPr>
        <p:spPr>
          <a:xfrm>
            <a:off x="16688863" y="1412443"/>
            <a:ext cx="646637" cy="606222"/>
          </a:xfrm>
          <a:custGeom>
            <a:avLst/>
            <a:gdLst/>
            <a:ahLst/>
            <a:cxnLst/>
            <a:rect l="l" t="t" r="r" b="b"/>
            <a:pathLst>
              <a:path w="646637" h="606222">
                <a:moveTo>
                  <a:pt x="0" y="0"/>
                </a:moveTo>
                <a:lnTo>
                  <a:pt x="646637" y="0"/>
                </a:lnTo>
                <a:lnTo>
                  <a:pt x="646637" y="606223"/>
                </a:lnTo>
                <a:lnTo>
                  <a:pt x="0" y="606223"/>
                </a:lnTo>
                <a:lnTo>
                  <a:pt x="0" y="0"/>
                </a:lnTo>
                <a:close/>
              </a:path>
            </a:pathLst>
          </a:custGeom>
          <a:blipFill>
            <a:blip r:embed="rId8">
              <a:extLst>
                <a:ext uri="{96DAC541-7B7A-43D3-8B79-37D633B846F1}">
                  <asvg:svgBlip xmlns="" xmlns:asvg="http://schemas.microsoft.com/office/drawing/2016/SVG/main" r:embed="rId9"/>
                </a:ext>
              </a:extLst>
            </a:blip>
            <a:stretch>
              <a:fillRect/>
            </a:stretch>
          </a:blipFill>
          <a:ln cap="sq">
            <a:noFill/>
            <a:prstDash val="solid"/>
            <a:miter/>
          </a:ln>
        </p:spPr>
      </p:sp>
      <p:sp>
        <p:nvSpPr>
          <p:cNvPr id="86" name="Freeform 23"/>
          <p:cNvSpPr/>
          <p:nvPr/>
        </p:nvSpPr>
        <p:spPr>
          <a:xfrm>
            <a:off x="9966246" y="8331135"/>
            <a:ext cx="752452" cy="752452"/>
          </a:xfrm>
          <a:custGeom>
            <a:avLst/>
            <a:gdLst/>
            <a:ahLst/>
            <a:cxnLst/>
            <a:rect l="l" t="t" r="r" b="b"/>
            <a:pathLst>
              <a:path w="752452" h="752452">
                <a:moveTo>
                  <a:pt x="0" y="0"/>
                </a:moveTo>
                <a:lnTo>
                  <a:pt x="752451" y="0"/>
                </a:lnTo>
                <a:lnTo>
                  <a:pt x="752451" y="752452"/>
                </a:lnTo>
                <a:lnTo>
                  <a:pt x="0" y="752452"/>
                </a:lnTo>
                <a:lnTo>
                  <a:pt x="0" y="0"/>
                </a:lnTo>
                <a:close/>
              </a:path>
            </a:pathLst>
          </a:custGeom>
          <a:blipFill>
            <a:blip r:embed="rId10">
              <a:extLst>
                <a:ext uri="{96DAC541-7B7A-43D3-8B79-37D633B846F1}">
                  <asvg:svgBlip xmlns="" xmlns:asvg="http://schemas.microsoft.com/office/drawing/2016/SVG/main" r:embed="rId11"/>
                </a:ext>
              </a:extLst>
            </a:blip>
            <a:stretch>
              <a:fillRect/>
            </a:stretch>
          </a:blipFill>
        </p:spPr>
      </p:sp>
      <p:sp>
        <p:nvSpPr>
          <p:cNvPr id="87" name="Freeform 24"/>
          <p:cNvSpPr/>
          <p:nvPr/>
        </p:nvSpPr>
        <p:spPr>
          <a:xfrm>
            <a:off x="11364749" y="6937299"/>
            <a:ext cx="838154" cy="838154"/>
          </a:xfrm>
          <a:custGeom>
            <a:avLst/>
            <a:gdLst/>
            <a:ahLst/>
            <a:cxnLst/>
            <a:rect l="l" t="t" r="r" b="b"/>
            <a:pathLst>
              <a:path w="838154" h="838154">
                <a:moveTo>
                  <a:pt x="0" y="0"/>
                </a:moveTo>
                <a:lnTo>
                  <a:pt x="838155" y="0"/>
                </a:lnTo>
                <a:lnTo>
                  <a:pt x="838155" y="838154"/>
                </a:lnTo>
                <a:lnTo>
                  <a:pt x="0" y="838154"/>
                </a:lnTo>
                <a:lnTo>
                  <a:pt x="0" y="0"/>
                </a:lnTo>
                <a:close/>
              </a:path>
            </a:pathLst>
          </a:custGeom>
          <a:blipFill>
            <a:blip r:embed="rId12">
              <a:extLst>
                <a:ext uri="{96DAC541-7B7A-43D3-8B79-37D633B846F1}">
                  <asvg:svgBlip xmlns="" xmlns:asvg="http://schemas.microsoft.com/office/drawing/2016/SVG/main" r:embed="rId13"/>
                </a:ext>
              </a:extLst>
            </a:blip>
            <a:stretch>
              <a:fillRect/>
            </a:stretch>
          </a:blipFill>
        </p:spPr>
      </p:sp>
      <p:sp>
        <p:nvSpPr>
          <p:cNvPr id="88" name="Freeform 25"/>
          <p:cNvSpPr/>
          <p:nvPr/>
        </p:nvSpPr>
        <p:spPr>
          <a:xfrm>
            <a:off x="12698198" y="5492469"/>
            <a:ext cx="568819" cy="700085"/>
          </a:xfrm>
          <a:custGeom>
            <a:avLst/>
            <a:gdLst/>
            <a:ahLst/>
            <a:cxnLst/>
            <a:rect l="l" t="t" r="r" b="b"/>
            <a:pathLst>
              <a:path w="568819" h="700085">
                <a:moveTo>
                  <a:pt x="0" y="0"/>
                </a:moveTo>
                <a:lnTo>
                  <a:pt x="568818" y="0"/>
                </a:lnTo>
                <a:lnTo>
                  <a:pt x="568818" y="700085"/>
                </a:lnTo>
                <a:lnTo>
                  <a:pt x="0" y="700085"/>
                </a:lnTo>
                <a:lnTo>
                  <a:pt x="0" y="0"/>
                </a:lnTo>
                <a:close/>
              </a:path>
            </a:pathLst>
          </a:custGeom>
          <a:blipFill>
            <a:blip r:embed="rId14">
              <a:extLst>
                <a:ext uri="{96DAC541-7B7A-43D3-8B79-37D633B846F1}">
                  <asvg:svgBlip xmlns="" xmlns:asvg="http://schemas.microsoft.com/office/drawing/2016/SVG/main" r:embed="rId15"/>
                </a:ext>
              </a:extLst>
            </a:blip>
            <a:stretch>
              <a:fillRect/>
            </a:stretch>
          </a:blipFill>
        </p:spPr>
      </p:sp>
      <p:sp>
        <p:nvSpPr>
          <p:cNvPr id="89" name="Freeform 26"/>
          <p:cNvSpPr/>
          <p:nvPr/>
        </p:nvSpPr>
        <p:spPr>
          <a:xfrm>
            <a:off x="13793020" y="3736734"/>
            <a:ext cx="1004597" cy="1004597"/>
          </a:xfrm>
          <a:custGeom>
            <a:avLst/>
            <a:gdLst/>
            <a:ahLst/>
            <a:cxnLst/>
            <a:rect l="l" t="t" r="r" b="b"/>
            <a:pathLst>
              <a:path w="1004597" h="1004597">
                <a:moveTo>
                  <a:pt x="0" y="0"/>
                </a:moveTo>
                <a:lnTo>
                  <a:pt x="1004597" y="0"/>
                </a:lnTo>
                <a:lnTo>
                  <a:pt x="1004597" y="1004597"/>
                </a:lnTo>
                <a:lnTo>
                  <a:pt x="0" y="1004597"/>
                </a:lnTo>
                <a:lnTo>
                  <a:pt x="0" y="0"/>
                </a:lnTo>
                <a:close/>
              </a:path>
            </a:pathLst>
          </a:custGeom>
          <a:blipFill>
            <a:blip r:embed="rId16">
              <a:extLst>
                <a:ext uri="{96DAC541-7B7A-43D3-8B79-37D633B846F1}">
                  <asvg:svgBlip xmlns="" xmlns:asvg="http://schemas.microsoft.com/office/drawing/2016/SVG/main" r:embed="rId17"/>
                </a:ext>
              </a:extLst>
            </a:blip>
            <a:stretch>
              <a:fillRect/>
            </a:stretch>
          </a:blipFill>
        </p:spPr>
      </p:sp>
      <p:sp>
        <p:nvSpPr>
          <p:cNvPr id="90" name="Freeform 27"/>
          <p:cNvSpPr/>
          <p:nvPr/>
        </p:nvSpPr>
        <p:spPr>
          <a:xfrm>
            <a:off x="15313466" y="2596170"/>
            <a:ext cx="656818" cy="610841"/>
          </a:xfrm>
          <a:custGeom>
            <a:avLst/>
            <a:gdLst/>
            <a:ahLst/>
            <a:cxnLst/>
            <a:rect l="l" t="t" r="r" b="b"/>
            <a:pathLst>
              <a:path w="656818" h="610841">
                <a:moveTo>
                  <a:pt x="0" y="0"/>
                </a:moveTo>
                <a:lnTo>
                  <a:pt x="656818" y="0"/>
                </a:lnTo>
                <a:lnTo>
                  <a:pt x="656818" y="610841"/>
                </a:lnTo>
                <a:lnTo>
                  <a:pt x="0" y="610841"/>
                </a:lnTo>
                <a:lnTo>
                  <a:pt x="0" y="0"/>
                </a:lnTo>
                <a:close/>
              </a:path>
            </a:pathLst>
          </a:custGeom>
          <a:blipFill>
            <a:blip r:embed="rId18">
              <a:extLst>
                <a:ext uri="{96DAC541-7B7A-43D3-8B79-37D633B846F1}">
                  <asvg:svgBlip xmlns="" xmlns:asvg="http://schemas.microsoft.com/office/drawing/2016/SVG/main" r:embed="rId19"/>
                </a:ext>
              </a:extLst>
            </a:blip>
            <a:stretch>
              <a:fillRect/>
            </a:stretch>
          </a:blipFill>
        </p:spPr>
      </p:sp>
      <p:sp>
        <p:nvSpPr>
          <p:cNvPr id="91" name="TextBox 29"/>
          <p:cNvSpPr txBox="1"/>
          <p:nvPr/>
        </p:nvSpPr>
        <p:spPr>
          <a:xfrm>
            <a:off x="843614" y="1768586"/>
            <a:ext cx="15075910" cy="487313"/>
          </a:xfrm>
          <a:prstGeom prst="rect">
            <a:avLst/>
          </a:prstGeom>
        </p:spPr>
        <p:txBody>
          <a:bodyPr lIns="0" tIns="0" rIns="0" bIns="0" rtlCol="0" anchor="t">
            <a:spAutoFit/>
          </a:bodyPr>
          <a:lstStyle/>
          <a:p>
            <a:pPr algn="l">
              <a:lnSpc>
                <a:spcPts val="3780"/>
              </a:lnSpc>
              <a:spcBef>
                <a:spcPct val="0"/>
              </a:spcBef>
            </a:pPr>
            <a:r>
              <a:rPr lang="en-US" sz="3600" dirty="0" err="1">
                <a:sym typeface="DM Sans Bold"/>
              </a:rPr>
              <a:t>Proxmox</a:t>
            </a:r>
            <a:r>
              <a:rPr lang="en-US" sz="2700" b="1" dirty="0">
                <a:solidFill>
                  <a:srgbClr val="112F8D"/>
                </a:solidFill>
                <a:latin typeface="DM Sans Bold"/>
                <a:ea typeface="DM Sans Bold"/>
                <a:cs typeface="DM Sans Bold"/>
                <a:sym typeface="DM Sans Bold"/>
              </a:rPr>
              <a:t> </a:t>
            </a:r>
            <a:r>
              <a:rPr lang="en-US" sz="3600" dirty="0">
                <a:sym typeface="DM Sans Bold"/>
              </a:rPr>
              <a:t>Backup Server — </a:t>
            </a:r>
            <a:r>
              <a:rPr lang="en-US" sz="3600" dirty="0" err="1">
                <a:sym typeface="DM Sans Bold"/>
              </a:rPr>
              <a:t>Sauvegarde</a:t>
            </a:r>
            <a:r>
              <a:rPr lang="en-US" sz="3600" dirty="0">
                <a:sym typeface="DM Sans Bold"/>
              </a:rPr>
              <a:t> </a:t>
            </a:r>
            <a:r>
              <a:rPr lang="en-US" sz="3600" dirty="0" err="1">
                <a:sym typeface="DM Sans Bold"/>
              </a:rPr>
              <a:t>Automatique</a:t>
            </a:r>
            <a:r>
              <a:rPr lang="en-US" sz="3600" dirty="0">
                <a:sym typeface="DM Sans Bold"/>
              </a:rPr>
              <a:t> </a:t>
            </a:r>
            <a:r>
              <a:rPr lang="en-US" sz="3600" dirty="0" err="1">
                <a:sym typeface="DM Sans Bold"/>
              </a:rPr>
              <a:t>toutes</a:t>
            </a:r>
            <a:r>
              <a:rPr lang="en-US" sz="3600" dirty="0">
                <a:sym typeface="DM Sans Bold"/>
              </a:rPr>
              <a:t> les 2H</a:t>
            </a:r>
          </a:p>
        </p:txBody>
      </p:sp>
      <p:sp>
        <p:nvSpPr>
          <p:cNvPr id="92" name="TextBox 30"/>
          <p:cNvSpPr txBox="1"/>
          <p:nvPr/>
        </p:nvSpPr>
        <p:spPr>
          <a:xfrm>
            <a:off x="1793546" y="3058447"/>
            <a:ext cx="3552848" cy="306705"/>
          </a:xfrm>
          <a:prstGeom prst="rect">
            <a:avLst/>
          </a:prstGeom>
        </p:spPr>
        <p:txBody>
          <a:bodyPr lIns="0" tIns="0" rIns="0" bIns="0" rtlCol="0" anchor="t">
            <a:spAutoFit/>
          </a:bodyPr>
          <a:lstStyle/>
          <a:p>
            <a:pPr marL="0" lvl="0" indent="0" algn="l">
              <a:lnSpc>
                <a:spcPts val="2520"/>
              </a:lnSpc>
              <a:spcBef>
                <a:spcPct val="0"/>
              </a:spcBef>
            </a:pPr>
            <a:r>
              <a:rPr lang="en-US" sz="1800" u="none" strike="noStrike">
                <a:solidFill>
                  <a:srgbClr val="000000"/>
                </a:solidFill>
                <a:latin typeface="DM Sans"/>
                <a:ea typeface="DM Sans"/>
                <a:cs typeface="DM Sans"/>
                <a:sym typeface="DM Sans"/>
              </a:rPr>
              <a:t>Toutes les 2 heures</a:t>
            </a:r>
          </a:p>
        </p:txBody>
      </p:sp>
      <p:sp>
        <p:nvSpPr>
          <p:cNvPr id="93" name="TextBox 31"/>
          <p:cNvSpPr txBox="1"/>
          <p:nvPr/>
        </p:nvSpPr>
        <p:spPr>
          <a:xfrm>
            <a:off x="1793546" y="2701137"/>
            <a:ext cx="2674761" cy="365760"/>
          </a:xfrm>
          <a:prstGeom prst="rect">
            <a:avLst/>
          </a:prstGeom>
        </p:spPr>
        <p:txBody>
          <a:bodyPr lIns="0" tIns="0" rIns="0" bIns="0" rtlCol="0" anchor="t">
            <a:spAutoFit/>
          </a:bodyPr>
          <a:lstStyle/>
          <a:p>
            <a:pPr algn="l">
              <a:lnSpc>
                <a:spcPts val="2939"/>
              </a:lnSpc>
              <a:spcBef>
                <a:spcPct val="0"/>
              </a:spcBef>
            </a:pPr>
            <a:r>
              <a:rPr lang="en-US" sz="2099" b="1">
                <a:solidFill>
                  <a:srgbClr val="000000"/>
                </a:solidFill>
                <a:latin typeface="DM Sans Bold"/>
                <a:ea typeface="DM Sans Bold"/>
                <a:cs typeface="DM Sans Bold"/>
                <a:sym typeface="DM Sans Bold"/>
              </a:rPr>
              <a:t>Fréquence</a:t>
            </a:r>
          </a:p>
        </p:txBody>
      </p:sp>
      <p:sp>
        <p:nvSpPr>
          <p:cNvPr id="94" name="TextBox 32"/>
          <p:cNvSpPr txBox="1"/>
          <p:nvPr/>
        </p:nvSpPr>
        <p:spPr>
          <a:xfrm>
            <a:off x="843614" y="2782234"/>
            <a:ext cx="653685" cy="405803"/>
          </a:xfrm>
          <a:prstGeom prst="rect">
            <a:avLst/>
          </a:prstGeom>
        </p:spPr>
        <p:txBody>
          <a:bodyPr lIns="0" tIns="0" rIns="0" bIns="0" rtlCol="0" anchor="t">
            <a:spAutoFit/>
          </a:bodyPr>
          <a:lstStyle/>
          <a:p>
            <a:pPr algn="ctr">
              <a:lnSpc>
                <a:spcPts val="3359"/>
              </a:lnSpc>
              <a:spcBef>
                <a:spcPct val="0"/>
              </a:spcBef>
            </a:pPr>
            <a:r>
              <a:rPr lang="en-US" sz="2399" b="1">
                <a:solidFill>
                  <a:srgbClr val="FFFFFF"/>
                </a:solidFill>
                <a:latin typeface="DM Sans Bold"/>
                <a:ea typeface="DM Sans Bold"/>
                <a:cs typeface="DM Sans Bold"/>
                <a:sym typeface="DM Sans Bold"/>
              </a:rPr>
              <a:t>01</a:t>
            </a:r>
          </a:p>
        </p:txBody>
      </p:sp>
      <p:sp>
        <p:nvSpPr>
          <p:cNvPr id="95" name="TextBox 33"/>
          <p:cNvSpPr txBox="1"/>
          <p:nvPr/>
        </p:nvSpPr>
        <p:spPr>
          <a:xfrm>
            <a:off x="1793546" y="4989482"/>
            <a:ext cx="3552848" cy="306705"/>
          </a:xfrm>
          <a:prstGeom prst="rect">
            <a:avLst/>
          </a:prstGeom>
        </p:spPr>
        <p:txBody>
          <a:bodyPr lIns="0" tIns="0" rIns="0" bIns="0" rtlCol="0" anchor="t">
            <a:spAutoFit/>
          </a:bodyPr>
          <a:lstStyle/>
          <a:p>
            <a:pPr algn="l">
              <a:lnSpc>
                <a:spcPts val="2520"/>
              </a:lnSpc>
              <a:spcBef>
                <a:spcPct val="0"/>
              </a:spcBef>
            </a:pPr>
            <a:r>
              <a:rPr lang="en-US" sz="1800">
                <a:solidFill>
                  <a:srgbClr val="000000"/>
                </a:solidFill>
                <a:latin typeface="DM Sans"/>
                <a:ea typeface="DM Sans"/>
                <a:cs typeface="DM Sans"/>
                <a:sym typeface="DM Sans"/>
              </a:rPr>
              <a:t>Snapshot live (0 downtime)</a:t>
            </a:r>
          </a:p>
        </p:txBody>
      </p:sp>
      <p:sp>
        <p:nvSpPr>
          <p:cNvPr id="96" name="TextBox 34"/>
          <p:cNvSpPr txBox="1"/>
          <p:nvPr/>
        </p:nvSpPr>
        <p:spPr>
          <a:xfrm>
            <a:off x="1793546" y="4550410"/>
            <a:ext cx="2674761" cy="365760"/>
          </a:xfrm>
          <a:prstGeom prst="rect">
            <a:avLst/>
          </a:prstGeom>
        </p:spPr>
        <p:txBody>
          <a:bodyPr lIns="0" tIns="0" rIns="0" bIns="0" rtlCol="0" anchor="t">
            <a:spAutoFit/>
          </a:bodyPr>
          <a:lstStyle/>
          <a:p>
            <a:pPr marL="0" lvl="0" indent="0" algn="l">
              <a:lnSpc>
                <a:spcPts val="2939"/>
              </a:lnSpc>
              <a:spcBef>
                <a:spcPct val="0"/>
              </a:spcBef>
            </a:pPr>
            <a:r>
              <a:rPr lang="en-US" sz="2099" b="1" u="none" strike="noStrike">
                <a:solidFill>
                  <a:srgbClr val="000000"/>
                </a:solidFill>
                <a:latin typeface="DM Sans Bold"/>
                <a:ea typeface="DM Sans Bold"/>
                <a:cs typeface="DM Sans Bold"/>
                <a:sym typeface="DM Sans Bold"/>
              </a:rPr>
              <a:t>Assess Impact</a:t>
            </a:r>
          </a:p>
        </p:txBody>
      </p:sp>
      <p:sp>
        <p:nvSpPr>
          <p:cNvPr id="97" name="TextBox 35"/>
          <p:cNvSpPr txBox="1"/>
          <p:nvPr/>
        </p:nvSpPr>
        <p:spPr>
          <a:xfrm>
            <a:off x="843614" y="4713269"/>
            <a:ext cx="653685" cy="405803"/>
          </a:xfrm>
          <a:prstGeom prst="rect">
            <a:avLst/>
          </a:prstGeom>
        </p:spPr>
        <p:txBody>
          <a:bodyPr lIns="0" tIns="0" rIns="0" bIns="0" rtlCol="0" anchor="t">
            <a:spAutoFit/>
          </a:bodyPr>
          <a:lstStyle/>
          <a:p>
            <a:pPr algn="ctr">
              <a:lnSpc>
                <a:spcPts val="3359"/>
              </a:lnSpc>
              <a:spcBef>
                <a:spcPct val="0"/>
              </a:spcBef>
            </a:pPr>
            <a:r>
              <a:rPr lang="en-US" sz="2399" b="1">
                <a:solidFill>
                  <a:srgbClr val="FFFFFF"/>
                </a:solidFill>
                <a:latin typeface="DM Sans Bold"/>
                <a:ea typeface="DM Sans Bold"/>
                <a:cs typeface="DM Sans Bold"/>
                <a:sym typeface="DM Sans Bold"/>
              </a:rPr>
              <a:t>02</a:t>
            </a:r>
          </a:p>
        </p:txBody>
      </p:sp>
      <p:sp>
        <p:nvSpPr>
          <p:cNvPr id="98" name="TextBox 36"/>
          <p:cNvSpPr txBox="1"/>
          <p:nvPr/>
        </p:nvSpPr>
        <p:spPr>
          <a:xfrm>
            <a:off x="1793546" y="6920517"/>
            <a:ext cx="3552848" cy="306705"/>
          </a:xfrm>
          <a:prstGeom prst="rect">
            <a:avLst/>
          </a:prstGeom>
        </p:spPr>
        <p:txBody>
          <a:bodyPr lIns="0" tIns="0" rIns="0" bIns="0" rtlCol="0" anchor="t">
            <a:spAutoFit/>
          </a:bodyPr>
          <a:lstStyle/>
          <a:p>
            <a:pPr marL="0" lvl="0" indent="0" algn="l">
              <a:lnSpc>
                <a:spcPts val="2520"/>
              </a:lnSpc>
              <a:spcBef>
                <a:spcPct val="0"/>
              </a:spcBef>
            </a:pPr>
            <a:r>
              <a:rPr lang="en-US" sz="1800">
                <a:solidFill>
                  <a:srgbClr val="000000"/>
                </a:solidFill>
                <a:latin typeface="DM Sans"/>
                <a:ea typeface="DM Sans"/>
                <a:cs typeface="DM Sans"/>
                <a:sym typeface="DM Sans"/>
              </a:rPr>
              <a:t>Z</a:t>
            </a:r>
            <a:r>
              <a:rPr lang="en-US" sz="1800" u="none" strike="noStrike">
                <a:solidFill>
                  <a:srgbClr val="000000"/>
                </a:solidFill>
                <a:latin typeface="DM Sans"/>
                <a:ea typeface="DM Sans"/>
                <a:cs typeface="DM Sans"/>
                <a:sym typeface="DM Sans"/>
              </a:rPr>
              <a:t>std niveau 1</a:t>
            </a:r>
          </a:p>
        </p:txBody>
      </p:sp>
      <p:sp>
        <p:nvSpPr>
          <p:cNvPr id="100" name="TextBox 37"/>
          <p:cNvSpPr txBox="1"/>
          <p:nvPr/>
        </p:nvSpPr>
        <p:spPr>
          <a:xfrm>
            <a:off x="1793546" y="6481445"/>
            <a:ext cx="2674761" cy="365760"/>
          </a:xfrm>
          <a:prstGeom prst="rect">
            <a:avLst/>
          </a:prstGeom>
        </p:spPr>
        <p:txBody>
          <a:bodyPr lIns="0" tIns="0" rIns="0" bIns="0" rtlCol="0" anchor="t">
            <a:spAutoFit/>
          </a:bodyPr>
          <a:lstStyle/>
          <a:p>
            <a:pPr marL="0" lvl="0" indent="0" algn="l">
              <a:lnSpc>
                <a:spcPts val="2939"/>
              </a:lnSpc>
              <a:spcBef>
                <a:spcPct val="0"/>
              </a:spcBef>
            </a:pPr>
            <a:r>
              <a:rPr lang="en-US" sz="2099" b="1">
                <a:solidFill>
                  <a:srgbClr val="000000"/>
                </a:solidFill>
                <a:latin typeface="DM Sans Bold"/>
                <a:ea typeface="DM Sans Bold"/>
                <a:cs typeface="DM Sans Bold"/>
                <a:sym typeface="DM Sans Bold"/>
              </a:rPr>
              <a:t>Compr</a:t>
            </a:r>
            <a:r>
              <a:rPr lang="en-US" sz="2099" b="1" u="none" strike="noStrike">
                <a:solidFill>
                  <a:srgbClr val="000000"/>
                </a:solidFill>
                <a:latin typeface="DM Sans Bold"/>
                <a:ea typeface="DM Sans Bold"/>
                <a:cs typeface="DM Sans Bold"/>
                <a:sym typeface="DM Sans Bold"/>
              </a:rPr>
              <a:t>ession</a:t>
            </a:r>
          </a:p>
        </p:txBody>
      </p:sp>
      <p:sp>
        <p:nvSpPr>
          <p:cNvPr id="101" name="TextBox 38"/>
          <p:cNvSpPr txBox="1"/>
          <p:nvPr/>
        </p:nvSpPr>
        <p:spPr>
          <a:xfrm>
            <a:off x="843614" y="6644304"/>
            <a:ext cx="653685" cy="405802"/>
          </a:xfrm>
          <a:prstGeom prst="rect">
            <a:avLst/>
          </a:prstGeom>
        </p:spPr>
        <p:txBody>
          <a:bodyPr lIns="0" tIns="0" rIns="0" bIns="0" rtlCol="0" anchor="t">
            <a:spAutoFit/>
          </a:bodyPr>
          <a:lstStyle/>
          <a:p>
            <a:pPr algn="ctr">
              <a:lnSpc>
                <a:spcPts val="3359"/>
              </a:lnSpc>
              <a:spcBef>
                <a:spcPct val="0"/>
              </a:spcBef>
            </a:pPr>
            <a:r>
              <a:rPr lang="en-US" sz="2400" b="1">
                <a:solidFill>
                  <a:srgbClr val="122359"/>
                </a:solidFill>
                <a:latin typeface="DM Sans Bold"/>
                <a:ea typeface="DM Sans Bold"/>
                <a:cs typeface="DM Sans Bold"/>
                <a:sym typeface="DM Sans Bold"/>
              </a:rPr>
              <a:t>03</a:t>
            </a:r>
          </a:p>
        </p:txBody>
      </p:sp>
      <p:sp>
        <p:nvSpPr>
          <p:cNvPr id="102" name="TextBox 39"/>
          <p:cNvSpPr txBox="1"/>
          <p:nvPr/>
        </p:nvSpPr>
        <p:spPr>
          <a:xfrm>
            <a:off x="1793546" y="8851552"/>
            <a:ext cx="3552848" cy="621030"/>
          </a:xfrm>
          <a:prstGeom prst="rect">
            <a:avLst/>
          </a:prstGeom>
        </p:spPr>
        <p:txBody>
          <a:bodyPr lIns="0" tIns="0" rIns="0" bIns="0" rtlCol="0" anchor="t">
            <a:spAutoFit/>
          </a:bodyPr>
          <a:lstStyle/>
          <a:p>
            <a:pPr marL="0" lvl="0" indent="0" algn="l">
              <a:lnSpc>
                <a:spcPts val="2520"/>
              </a:lnSpc>
              <a:spcBef>
                <a:spcPct val="0"/>
              </a:spcBef>
            </a:pPr>
            <a:r>
              <a:rPr lang="en-US" sz="1800">
                <a:solidFill>
                  <a:srgbClr val="000000"/>
                </a:solidFill>
                <a:latin typeface="DM Sans"/>
                <a:ea typeface="DM Sans"/>
                <a:cs typeface="DM Sans"/>
                <a:sym typeface="DM Sans"/>
              </a:rPr>
              <a:t>Ac</a:t>
            </a:r>
            <a:r>
              <a:rPr lang="en-US" sz="1800" u="none" strike="noStrike">
                <a:solidFill>
                  <a:srgbClr val="000000"/>
                </a:solidFill>
                <a:latin typeface="DM Sans"/>
                <a:ea typeface="DM Sans"/>
                <a:cs typeface="DM Sans"/>
                <a:sym typeface="DM Sans"/>
              </a:rPr>
              <a:t>tivée — réduction 60-80%</a:t>
            </a:r>
          </a:p>
          <a:p>
            <a:pPr marL="0" lvl="0" indent="0" algn="l">
              <a:lnSpc>
                <a:spcPts val="2520"/>
              </a:lnSpc>
              <a:spcBef>
                <a:spcPct val="0"/>
              </a:spcBef>
            </a:pPr>
            <a:endParaRPr lang="en-US" sz="1800" u="none" strike="noStrike">
              <a:solidFill>
                <a:srgbClr val="000000"/>
              </a:solidFill>
              <a:latin typeface="DM Sans"/>
              <a:ea typeface="DM Sans"/>
              <a:cs typeface="DM Sans"/>
              <a:sym typeface="DM Sans"/>
            </a:endParaRPr>
          </a:p>
        </p:txBody>
      </p:sp>
      <p:sp>
        <p:nvSpPr>
          <p:cNvPr id="103" name="TextBox 40"/>
          <p:cNvSpPr txBox="1"/>
          <p:nvPr/>
        </p:nvSpPr>
        <p:spPr>
          <a:xfrm>
            <a:off x="1793546" y="8412480"/>
            <a:ext cx="2674761" cy="365760"/>
          </a:xfrm>
          <a:prstGeom prst="rect">
            <a:avLst/>
          </a:prstGeom>
        </p:spPr>
        <p:txBody>
          <a:bodyPr lIns="0" tIns="0" rIns="0" bIns="0" rtlCol="0" anchor="t">
            <a:spAutoFit/>
          </a:bodyPr>
          <a:lstStyle/>
          <a:p>
            <a:pPr marL="0" lvl="0" indent="0" algn="l">
              <a:lnSpc>
                <a:spcPts val="2939"/>
              </a:lnSpc>
              <a:spcBef>
                <a:spcPct val="0"/>
              </a:spcBef>
            </a:pPr>
            <a:r>
              <a:rPr lang="en-US" sz="2099" b="1">
                <a:solidFill>
                  <a:srgbClr val="000000"/>
                </a:solidFill>
                <a:latin typeface="DM Sans Bold"/>
                <a:ea typeface="DM Sans Bold"/>
                <a:cs typeface="DM Sans Bold"/>
                <a:sym typeface="DM Sans Bold"/>
              </a:rPr>
              <a:t>Dé</a:t>
            </a:r>
            <a:r>
              <a:rPr lang="en-US" sz="2099" b="1" u="none" strike="noStrike">
                <a:solidFill>
                  <a:srgbClr val="000000"/>
                </a:solidFill>
                <a:latin typeface="DM Sans Bold"/>
                <a:ea typeface="DM Sans Bold"/>
                <a:cs typeface="DM Sans Bold"/>
                <a:sym typeface="DM Sans Bold"/>
              </a:rPr>
              <a:t>duplication</a:t>
            </a:r>
          </a:p>
        </p:txBody>
      </p:sp>
      <p:sp>
        <p:nvSpPr>
          <p:cNvPr id="104" name="TextBox 41"/>
          <p:cNvSpPr txBox="1"/>
          <p:nvPr/>
        </p:nvSpPr>
        <p:spPr>
          <a:xfrm>
            <a:off x="843614" y="8575339"/>
            <a:ext cx="653685" cy="405803"/>
          </a:xfrm>
          <a:prstGeom prst="rect">
            <a:avLst/>
          </a:prstGeom>
        </p:spPr>
        <p:txBody>
          <a:bodyPr lIns="0" tIns="0" rIns="0" bIns="0" rtlCol="0" anchor="t">
            <a:spAutoFit/>
          </a:bodyPr>
          <a:lstStyle/>
          <a:p>
            <a:pPr algn="ctr">
              <a:lnSpc>
                <a:spcPts val="3359"/>
              </a:lnSpc>
              <a:spcBef>
                <a:spcPct val="0"/>
              </a:spcBef>
            </a:pPr>
            <a:r>
              <a:rPr lang="en-US" sz="2399" b="1">
                <a:solidFill>
                  <a:srgbClr val="122359"/>
                </a:solidFill>
                <a:latin typeface="DM Sans Bold"/>
                <a:ea typeface="DM Sans Bold"/>
                <a:cs typeface="DM Sans Bold"/>
                <a:sym typeface="DM Sans Bold"/>
              </a:rPr>
              <a:t>04</a:t>
            </a:r>
          </a:p>
        </p:txBody>
      </p:sp>
      <p:sp>
        <p:nvSpPr>
          <p:cNvPr id="105" name="TextBox 42"/>
          <p:cNvSpPr txBox="1"/>
          <p:nvPr/>
        </p:nvSpPr>
        <p:spPr>
          <a:xfrm>
            <a:off x="6863386" y="3058447"/>
            <a:ext cx="3552848" cy="621030"/>
          </a:xfrm>
          <a:prstGeom prst="rect">
            <a:avLst/>
          </a:prstGeom>
        </p:spPr>
        <p:txBody>
          <a:bodyPr lIns="0" tIns="0" rIns="0" bIns="0" rtlCol="0" anchor="t">
            <a:spAutoFit/>
          </a:bodyPr>
          <a:lstStyle/>
          <a:p>
            <a:pPr marL="0" lvl="0" indent="0" algn="l">
              <a:lnSpc>
                <a:spcPts val="2520"/>
              </a:lnSpc>
              <a:spcBef>
                <a:spcPct val="0"/>
              </a:spcBef>
            </a:pPr>
            <a:r>
              <a:rPr lang="en-US" sz="1800">
                <a:solidFill>
                  <a:srgbClr val="000000"/>
                </a:solidFill>
                <a:latin typeface="DM Sans"/>
                <a:ea typeface="DM Sans"/>
                <a:cs typeface="DM Sans"/>
                <a:sym typeface="DM Sans"/>
              </a:rPr>
              <a:t>3</a:t>
            </a:r>
            <a:r>
              <a:rPr lang="en-US" sz="1800" u="none" strike="noStrike">
                <a:solidFill>
                  <a:srgbClr val="000000"/>
                </a:solidFill>
                <a:latin typeface="DM Sans"/>
                <a:ea typeface="DM Sans"/>
                <a:cs typeface="DM Sans"/>
                <a:sym typeface="DM Sans"/>
              </a:rPr>
              <a:t> backups max / VM (6h)</a:t>
            </a:r>
          </a:p>
          <a:p>
            <a:pPr marL="0" lvl="0" indent="0" algn="l">
              <a:lnSpc>
                <a:spcPts val="2520"/>
              </a:lnSpc>
              <a:spcBef>
                <a:spcPct val="0"/>
              </a:spcBef>
            </a:pPr>
            <a:endParaRPr lang="en-US" sz="1800" u="none" strike="noStrike">
              <a:solidFill>
                <a:srgbClr val="000000"/>
              </a:solidFill>
              <a:latin typeface="DM Sans"/>
              <a:ea typeface="DM Sans"/>
              <a:cs typeface="DM Sans"/>
              <a:sym typeface="DM Sans"/>
            </a:endParaRPr>
          </a:p>
        </p:txBody>
      </p:sp>
      <p:sp>
        <p:nvSpPr>
          <p:cNvPr id="106" name="TextBox 43"/>
          <p:cNvSpPr txBox="1"/>
          <p:nvPr/>
        </p:nvSpPr>
        <p:spPr>
          <a:xfrm>
            <a:off x="6863386" y="2619375"/>
            <a:ext cx="2674761" cy="365760"/>
          </a:xfrm>
          <a:prstGeom prst="rect">
            <a:avLst/>
          </a:prstGeom>
        </p:spPr>
        <p:txBody>
          <a:bodyPr lIns="0" tIns="0" rIns="0" bIns="0" rtlCol="0" anchor="t">
            <a:spAutoFit/>
          </a:bodyPr>
          <a:lstStyle/>
          <a:p>
            <a:pPr marL="0" lvl="0" indent="0" algn="l">
              <a:lnSpc>
                <a:spcPts val="2939"/>
              </a:lnSpc>
              <a:spcBef>
                <a:spcPct val="0"/>
              </a:spcBef>
            </a:pPr>
            <a:r>
              <a:rPr lang="en-US" sz="2099" b="1" u="none" strike="noStrike">
                <a:solidFill>
                  <a:srgbClr val="000000"/>
                </a:solidFill>
                <a:latin typeface="DM Sans Bold"/>
                <a:ea typeface="DM Sans Bold"/>
                <a:cs typeface="DM Sans Bold"/>
                <a:sym typeface="DM Sans Bold"/>
              </a:rPr>
              <a:t>Rétention</a:t>
            </a:r>
          </a:p>
        </p:txBody>
      </p:sp>
      <p:sp>
        <p:nvSpPr>
          <p:cNvPr id="107" name="TextBox 44"/>
          <p:cNvSpPr txBox="1"/>
          <p:nvPr/>
        </p:nvSpPr>
        <p:spPr>
          <a:xfrm>
            <a:off x="5913454" y="2782234"/>
            <a:ext cx="653685" cy="405803"/>
          </a:xfrm>
          <a:prstGeom prst="rect">
            <a:avLst/>
          </a:prstGeom>
        </p:spPr>
        <p:txBody>
          <a:bodyPr lIns="0" tIns="0" rIns="0" bIns="0" rtlCol="0" anchor="t">
            <a:spAutoFit/>
          </a:bodyPr>
          <a:lstStyle/>
          <a:p>
            <a:pPr algn="ctr">
              <a:lnSpc>
                <a:spcPts val="3359"/>
              </a:lnSpc>
              <a:spcBef>
                <a:spcPct val="0"/>
              </a:spcBef>
            </a:pPr>
            <a:r>
              <a:rPr lang="en-US" sz="2399" b="1">
                <a:solidFill>
                  <a:srgbClr val="122359"/>
                </a:solidFill>
                <a:latin typeface="DM Sans Bold"/>
                <a:ea typeface="DM Sans Bold"/>
                <a:cs typeface="DM Sans Bold"/>
                <a:sym typeface="DM Sans Bold"/>
              </a:rPr>
              <a:t>05</a:t>
            </a:r>
          </a:p>
        </p:txBody>
      </p:sp>
      <p:sp>
        <p:nvSpPr>
          <p:cNvPr id="108" name="TextBox 45"/>
          <p:cNvSpPr txBox="1"/>
          <p:nvPr/>
        </p:nvSpPr>
        <p:spPr>
          <a:xfrm>
            <a:off x="6863386" y="4989482"/>
            <a:ext cx="3552848" cy="306705"/>
          </a:xfrm>
          <a:prstGeom prst="rect">
            <a:avLst/>
          </a:prstGeom>
        </p:spPr>
        <p:txBody>
          <a:bodyPr lIns="0" tIns="0" rIns="0" bIns="0" rtlCol="0" anchor="t">
            <a:spAutoFit/>
          </a:bodyPr>
          <a:lstStyle/>
          <a:p>
            <a:pPr marL="0" lvl="0" indent="0" algn="l">
              <a:lnSpc>
                <a:spcPts val="2520"/>
              </a:lnSpc>
              <a:spcBef>
                <a:spcPct val="0"/>
              </a:spcBef>
            </a:pPr>
            <a:r>
              <a:rPr lang="en-US" sz="1800" dirty="0">
                <a:solidFill>
                  <a:srgbClr val="000000"/>
                </a:solidFill>
                <a:latin typeface="DM Sans"/>
                <a:ea typeface="DM Sans"/>
                <a:cs typeface="DM Sans"/>
                <a:sym typeface="DM Sans"/>
              </a:rPr>
              <a:t>V</a:t>
            </a:r>
            <a:r>
              <a:rPr lang="en-US" sz="1800" u="none" strike="noStrike" dirty="0">
                <a:solidFill>
                  <a:srgbClr val="000000"/>
                </a:solidFill>
                <a:latin typeface="DM Sans"/>
                <a:ea typeface="DM Sans"/>
                <a:cs typeface="DM Sans"/>
                <a:sym typeface="DM Sans"/>
              </a:rPr>
              <a:t>erify job </a:t>
            </a:r>
            <a:r>
              <a:rPr lang="en-US" sz="1800" u="none" strike="noStrike" dirty="0" smtClean="0">
                <a:solidFill>
                  <a:srgbClr val="000000"/>
                </a:solidFill>
                <a:latin typeface="DM Sans"/>
                <a:ea typeface="DM Sans"/>
                <a:cs typeface="DM Sans"/>
                <a:sym typeface="DM Sans"/>
              </a:rPr>
              <a:t>- </a:t>
            </a:r>
            <a:r>
              <a:rPr lang="en-US" sz="1800" u="none" strike="noStrike" dirty="0" err="1">
                <a:solidFill>
                  <a:srgbClr val="000000"/>
                </a:solidFill>
                <a:latin typeface="DM Sans"/>
                <a:ea typeface="DM Sans"/>
                <a:cs typeface="DM Sans"/>
                <a:sym typeface="DM Sans"/>
              </a:rPr>
              <a:t>intégrité</a:t>
            </a:r>
            <a:r>
              <a:rPr lang="en-US" sz="1800" u="none" strike="noStrike" dirty="0">
                <a:solidFill>
                  <a:srgbClr val="000000"/>
                </a:solidFill>
                <a:latin typeface="DM Sans"/>
                <a:ea typeface="DM Sans"/>
                <a:cs typeface="DM Sans"/>
                <a:sym typeface="DM Sans"/>
              </a:rPr>
              <a:t> auto</a:t>
            </a:r>
          </a:p>
        </p:txBody>
      </p:sp>
      <p:sp>
        <p:nvSpPr>
          <p:cNvPr id="109" name="TextBox 46"/>
          <p:cNvSpPr txBox="1"/>
          <p:nvPr/>
        </p:nvSpPr>
        <p:spPr>
          <a:xfrm>
            <a:off x="6863386" y="4550410"/>
            <a:ext cx="2674761" cy="365760"/>
          </a:xfrm>
          <a:prstGeom prst="rect">
            <a:avLst/>
          </a:prstGeom>
        </p:spPr>
        <p:txBody>
          <a:bodyPr lIns="0" tIns="0" rIns="0" bIns="0" rtlCol="0" anchor="t">
            <a:spAutoFit/>
          </a:bodyPr>
          <a:lstStyle/>
          <a:p>
            <a:pPr marL="0" lvl="0" indent="0" algn="l">
              <a:lnSpc>
                <a:spcPts val="2939"/>
              </a:lnSpc>
              <a:spcBef>
                <a:spcPct val="0"/>
              </a:spcBef>
            </a:pPr>
            <a:r>
              <a:rPr lang="en-US" sz="2099" b="1">
                <a:solidFill>
                  <a:srgbClr val="000000"/>
                </a:solidFill>
                <a:latin typeface="DM Sans Bold"/>
                <a:ea typeface="DM Sans Bold"/>
                <a:cs typeface="DM Sans Bold"/>
                <a:sym typeface="DM Sans Bold"/>
              </a:rPr>
              <a:t>Vérificati</a:t>
            </a:r>
            <a:r>
              <a:rPr lang="en-US" sz="2099" b="1" u="none" strike="noStrike">
                <a:solidFill>
                  <a:srgbClr val="000000"/>
                </a:solidFill>
                <a:latin typeface="DM Sans Bold"/>
                <a:ea typeface="DM Sans Bold"/>
                <a:cs typeface="DM Sans Bold"/>
                <a:sym typeface="DM Sans Bold"/>
              </a:rPr>
              <a:t>on</a:t>
            </a:r>
          </a:p>
        </p:txBody>
      </p:sp>
      <p:sp>
        <p:nvSpPr>
          <p:cNvPr id="110" name="TextBox 47"/>
          <p:cNvSpPr txBox="1"/>
          <p:nvPr/>
        </p:nvSpPr>
        <p:spPr>
          <a:xfrm>
            <a:off x="5913454" y="4713269"/>
            <a:ext cx="653685" cy="405803"/>
          </a:xfrm>
          <a:prstGeom prst="rect">
            <a:avLst/>
          </a:prstGeom>
        </p:spPr>
        <p:txBody>
          <a:bodyPr lIns="0" tIns="0" rIns="0" bIns="0" rtlCol="0" anchor="t">
            <a:spAutoFit/>
          </a:bodyPr>
          <a:lstStyle/>
          <a:p>
            <a:pPr algn="ctr">
              <a:lnSpc>
                <a:spcPts val="3359"/>
              </a:lnSpc>
              <a:spcBef>
                <a:spcPct val="0"/>
              </a:spcBef>
            </a:pPr>
            <a:r>
              <a:rPr lang="en-US" sz="2399" b="1">
                <a:solidFill>
                  <a:srgbClr val="122359"/>
                </a:solidFill>
                <a:latin typeface="DM Sans Bold"/>
                <a:ea typeface="DM Sans Bold"/>
                <a:cs typeface="DM Sans Bold"/>
                <a:sym typeface="DM Sans Bold"/>
              </a:rPr>
              <a:t>06</a:t>
            </a:r>
          </a:p>
        </p:txBody>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solidFill>
                <a:sym typeface="TT Fors Bold"/>
              </a:rPr>
              <a:t>Backup</a:t>
            </a:r>
            <a:r>
              <a:rPr lang="en-US" sz="2400" b="1" dirty="0">
                <a:solidFill>
                  <a:schemeClr val="bg1">
                    <a:lumMod val="50000"/>
                  </a:schemeClr>
                </a:solidFill>
                <a:sym typeface="TT Fors Bold"/>
              </a:rPr>
              <a:t> </a:t>
            </a:r>
            <a:r>
              <a:rPr lang="en-US" sz="2400" b="1" dirty="0">
                <a:solidFill>
                  <a:schemeClr val="bg1"/>
                </a:solidFill>
                <a:sym typeface="TT Fors Bold"/>
              </a:rPr>
              <a:t>&amp;</a:t>
            </a:r>
            <a:r>
              <a:rPr lang="en-US" sz="2400" b="1" dirty="0">
                <a:solidFill>
                  <a:schemeClr val="bg1">
                    <a:lumMod val="50000"/>
                  </a:schemeClr>
                </a:solidFill>
                <a:sym typeface="TT Fors Bold"/>
              </a:rPr>
              <a:t> </a:t>
            </a:r>
            <a:r>
              <a:rPr lang="en-US" sz="2400" b="1" dirty="0">
                <a:solidFill>
                  <a:schemeClr val="bg1"/>
                </a:solidFill>
                <a:sym typeface="TT Fors Bold"/>
              </a:rPr>
              <a:t>Disaster</a:t>
            </a:r>
            <a:r>
              <a:rPr lang="en-US" sz="2400" b="1" dirty="0">
                <a:solidFill>
                  <a:schemeClr val="bg1">
                    <a:lumMod val="50000"/>
                  </a:schemeClr>
                </a:solidFill>
                <a:sym typeface="TT Fors Bold"/>
              </a:rPr>
              <a:t> </a:t>
            </a:r>
            <a:r>
              <a:rPr lang="en-US" sz="2400" b="1" dirty="0">
                <a:solidFill>
                  <a:schemeClr val="bg1"/>
                </a:solidFill>
                <a:sym typeface="TT Fors Bold"/>
              </a:rPr>
              <a:t>Recovery</a:t>
            </a:r>
            <a:endParaRPr lang="fr-FR" sz="2400" b="1" dirty="0">
              <a:solidFill>
                <a:schemeClr val="bg1"/>
              </a:solidFill>
            </a:endParaRPr>
          </a:p>
        </p:txBody>
      </p:sp>
      <p:sp>
        <p:nvSpPr>
          <p:cNvPr id="111" name="Isosceles Triangle 9">
            <a:extLst>
              <a:ext uri="{FF2B5EF4-FFF2-40B4-BE49-F238E27FC236}">
                <a16:creationId xmlns:a16="http://schemas.microsoft.com/office/drawing/2014/main" id="{709D209E-827B-4D05-AF40-9CDA368833AE}"/>
              </a:ext>
            </a:extLst>
          </p:cNvPr>
          <p:cNvSpPr/>
          <p:nvPr/>
        </p:nvSpPr>
        <p:spPr>
          <a:xfrm>
            <a:off x="12954000" y="900625"/>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Tree>
    <p:extLst>
      <p:ext uri="{BB962C8B-B14F-4D97-AF65-F5344CB8AC3E}">
        <p14:creationId xmlns:p14="http://schemas.microsoft.com/office/powerpoint/2010/main" val="17554687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750" advClick="0">
        <p159:morph option="byObject"/>
      </p:transition>
    </mc:Choice>
    <mc:Fallback>
      <p:transition spd="slow" advClick="0">
        <p:fade/>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1600" smtClean="0"/>
              <a:pPr/>
              <a:t>21</a:t>
            </a:fld>
            <a:endParaRPr lang="en-US" sz="1600" dirty="0"/>
          </a:p>
        </p:txBody>
      </p:sp>
      <p:sp>
        <p:nvSpPr>
          <p:cNvPr id="31" name="Rectangle 30">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32"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34"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35"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36"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solidFill>
                <a:sym typeface="TT Fors Bold"/>
              </a:rPr>
              <a:t>Automatisation</a:t>
            </a:r>
            <a:r>
              <a:rPr lang="en-US" sz="2400" b="1" dirty="0">
                <a:solidFill>
                  <a:schemeClr val="bg1">
                    <a:lumMod val="50000"/>
                  </a:schemeClr>
                </a:solidFill>
                <a:sym typeface="TT Fors Bold"/>
              </a:rPr>
              <a:t> </a:t>
            </a:r>
            <a:r>
              <a:rPr lang="en-US" sz="2400" b="1" dirty="0" err="1">
                <a:solidFill>
                  <a:schemeClr val="bg1"/>
                </a:solidFill>
                <a:sym typeface="TT Fors Bold"/>
              </a:rPr>
              <a:t>IaC</a:t>
            </a:r>
            <a:endParaRPr lang="fr-FR" sz="2400" b="1" dirty="0">
              <a:solidFill>
                <a:schemeClr val="bg1"/>
              </a:solidFill>
            </a:endParaRPr>
          </a:p>
        </p:txBody>
      </p:sp>
      <p:sp>
        <p:nvSpPr>
          <p:cNvPr id="37"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38"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39" name="Isosceles Triangle 9">
            <a:extLst>
              <a:ext uri="{FF2B5EF4-FFF2-40B4-BE49-F238E27FC236}">
                <a16:creationId xmlns:a16="http://schemas.microsoft.com/office/drawing/2014/main" id="{709D209E-827B-4D05-AF40-9CDA368833AE}"/>
              </a:ext>
            </a:extLst>
          </p:cNvPr>
          <p:cNvSpPr/>
          <p:nvPr/>
        </p:nvSpPr>
        <p:spPr>
          <a:xfrm>
            <a:off x="96728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grpSp>
        <p:nvGrpSpPr>
          <p:cNvPr id="14" name="Group 3"/>
          <p:cNvGrpSpPr/>
          <p:nvPr/>
        </p:nvGrpSpPr>
        <p:grpSpPr>
          <a:xfrm>
            <a:off x="1389162" y="2839505"/>
            <a:ext cx="7585879" cy="7326706"/>
            <a:chOff x="0" y="0"/>
            <a:chExt cx="1997927" cy="1929667"/>
          </a:xfrm>
        </p:grpSpPr>
        <p:sp>
          <p:nvSpPr>
            <p:cNvPr id="15" name="Freeform 4"/>
            <p:cNvSpPr/>
            <p:nvPr/>
          </p:nvSpPr>
          <p:spPr>
            <a:xfrm>
              <a:off x="0" y="0"/>
              <a:ext cx="1997927" cy="1929667"/>
            </a:xfrm>
            <a:custGeom>
              <a:avLst/>
              <a:gdLst/>
              <a:ahLst/>
              <a:cxnLst/>
              <a:rect l="l" t="t" r="r" b="b"/>
              <a:pathLst>
                <a:path w="1997927" h="1929667">
                  <a:moveTo>
                    <a:pt x="0" y="0"/>
                  </a:moveTo>
                  <a:lnTo>
                    <a:pt x="1997927" y="0"/>
                  </a:lnTo>
                  <a:lnTo>
                    <a:pt x="1997927" y="1929667"/>
                  </a:lnTo>
                  <a:lnTo>
                    <a:pt x="0" y="1929667"/>
                  </a:lnTo>
                  <a:close/>
                </a:path>
              </a:pathLst>
            </a:custGeom>
            <a:solidFill>
              <a:srgbClr val="FFFFFF"/>
            </a:solidFill>
            <a:ln w="38100" cap="sq">
              <a:solidFill>
                <a:srgbClr val="FF3131"/>
              </a:solidFill>
              <a:prstDash val="solid"/>
              <a:miter/>
            </a:ln>
          </p:spPr>
        </p:sp>
        <p:sp>
          <p:nvSpPr>
            <p:cNvPr id="16" name="TextBox 5"/>
            <p:cNvSpPr txBox="1"/>
            <p:nvPr/>
          </p:nvSpPr>
          <p:spPr>
            <a:xfrm>
              <a:off x="0" y="0"/>
              <a:ext cx="1997927" cy="1929667"/>
            </a:xfrm>
            <a:prstGeom prst="rect">
              <a:avLst/>
            </a:prstGeom>
          </p:spPr>
          <p:txBody>
            <a:bodyPr lIns="50800" tIns="50800" rIns="50800" bIns="50800" rtlCol="0" anchor="ctr"/>
            <a:lstStyle/>
            <a:p>
              <a:pPr algn="ctr">
                <a:lnSpc>
                  <a:spcPts val="2160"/>
                </a:lnSpc>
              </a:pPr>
              <a:endParaRPr/>
            </a:p>
          </p:txBody>
        </p:sp>
      </p:grpSp>
      <p:sp>
        <p:nvSpPr>
          <p:cNvPr id="17" name="Freeform 6"/>
          <p:cNvSpPr/>
          <p:nvPr/>
        </p:nvSpPr>
        <p:spPr>
          <a:xfrm>
            <a:off x="9431896" y="6454535"/>
            <a:ext cx="7466942" cy="4480165"/>
          </a:xfrm>
          <a:custGeom>
            <a:avLst/>
            <a:gdLst/>
            <a:ahLst/>
            <a:cxnLst/>
            <a:rect l="l" t="t" r="r" b="b"/>
            <a:pathLst>
              <a:path w="7466942" h="4480165">
                <a:moveTo>
                  <a:pt x="0" y="0"/>
                </a:moveTo>
                <a:lnTo>
                  <a:pt x="7466942" y="0"/>
                </a:lnTo>
                <a:lnTo>
                  <a:pt x="7466942" y="4480166"/>
                </a:lnTo>
                <a:lnTo>
                  <a:pt x="0" y="4480166"/>
                </a:lnTo>
                <a:lnTo>
                  <a:pt x="0" y="0"/>
                </a:lnTo>
                <a:close/>
              </a:path>
            </a:pathLst>
          </a:custGeom>
          <a:blipFill>
            <a:blip r:embed="rId4">
              <a:alphaModFix amt="53000"/>
              <a:extLst>
                <a:ext uri="{96DAC541-7B7A-43D3-8B79-37D633B846F1}">
                  <asvg:svgBlip xmlns:asvg="http://schemas.microsoft.com/office/drawing/2016/SVG/main" xmlns="" r:embed="rId5"/>
                </a:ext>
              </a:extLst>
            </a:blip>
            <a:stretch>
              <a:fillRect/>
            </a:stretch>
          </a:blipFill>
          <a:ln cap="sq">
            <a:noFill/>
            <a:prstDash val="solid"/>
            <a:miter/>
          </a:ln>
        </p:spPr>
      </p:sp>
      <p:grpSp>
        <p:nvGrpSpPr>
          <p:cNvPr id="18" name="Group 7"/>
          <p:cNvGrpSpPr/>
          <p:nvPr/>
        </p:nvGrpSpPr>
        <p:grpSpPr>
          <a:xfrm>
            <a:off x="9260791" y="2839505"/>
            <a:ext cx="7585879" cy="7326706"/>
            <a:chOff x="0" y="0"/>
            <a:chExt cx="1997927" cy="1929667"/>
          </a:xfrm>
        </p:grpSpPr>
        <p:sp>
          <p:nvSpPr>
            <p:cNvPr id="19" name="Freeform 8"/>
            <p:cNvSpPr/>
            <p:nvPr/>
          </p:nvSpPr>
          <p:spPr>
            <a:xfrm>
              <a:off x="0" y="0"/>
              <a:ext cx="1997927" cy="1929667"/>
            </a:xfrm>
            <a:custGeom>
              <a:avLst/>
              <a:gdLst/>
              <a:ahLst/>
              <a:cxnLst/>
              <a:rect l="l" t="t" r="r" b="b"/>
              <a:pathLst>
                <a:path w="1997927" h="1929667">
                  <a:moveTo>
                    <a:pt x="0" y="0"/>
                  </a:moveTo>
                  <a:lnTo>
                    <a:pt x="1997927" y="0"/>
                  </a:lnTo>
                  <a:lnTo>
                    <a:pt x="1997927" y="1929667"/>
                  </a:lnTo>
                  <a:lnTo>
                    <a:pt x="0" y="1929667"/>
                  </a:lnTo>
                  <a:close/>
                </a:path>
              </a:pathLst>
            </a:custGeom>
            <a:solidFill>
              <a:srgbClr val="FFFFFF"/>
            </a:solidFill>
            <a:ln w="38100" cap="sq">
              <a:solidFill>
                <a:srgbClr val="00BF63"/>
              </a:solidFill>
              <a:prstDash val="solid"/>
              <a:miter/>
            </a:ln>
          </p:spPr>
        </p:sp>
        <p:sp>
          <p:nvSpPr>
            <p:cNvPr id="20" name="TextBox 9"/>
            <p:cNvSpPr txBox="1"/>
            <p:nvPr/>
          </p:nvSpPr>
          <p:spPr>
            <a:xfrm>
              <a:off x="0" y="0"/>
              <a:ext cx="1997927" cy="1929667"/>
            </a:xfrm>
            <a:prstGeom prst="rect">
              <a:avLst/>
            </a:prstGeom>
          </p:spPr>
          <p:txBody>
            <a:bodyPr lIns="50800" tIns="50800" rIns="50800" bIns="50800" rtlCol="0" anchor="ctr"/>
            <a:lstStyle/>
            <a:p>
              <a:pPr algn="ctr">
                <a:lnSpc>
                  <a:spcPts val="2160"/>
                </a:lnSpc>
              </a:pPr>
              <a:endParaRPr/>
            </a:p>
          </p:txBody>
        </p:sp>
      </p:grpSp>
      <p:grpSp>
        <p:nvGrpSpPr>
          <p:cNvPr id="21" name="Group 10"/>
          <p:cNvGrpSpPr/>
          <p:nvPr/>
        </p:nvGrpSpPr>
        <p:grpSpPr>
          <a:xfrm>
            <a:off x="3230590" y="3186277"/>
            <a:ext cx="3903024" cy="824757"/>
            <a:chOff x="0" y="0"/>
            <a:chExt cx="1027957" cy="217220"/>
          </a:xfrm>
        </p:grpSpPr>
        <p:sp>
          <p:nvSpPr>
            <p:cNvPr id="22" name="Freeform 11"/>
            <p:cNvSpPr/>
            <p:nvPr/>
          </p:nvSpPr>
          <p:spPr>
            <a:xfrm>
              <a:off x="0" y="0"/>
              <a:ext cx="1027957" cy="217220"/>
            </a:xfrm>
            <a:custGeom>
              <a:avLst/>
              <a:gdLst/>
              <a:ahLst/>
              <a:cxnLst/>
              <a:rect l="l" t="t" r="r" b="b"/>
              <a:pathLst>
                <a:path w="1027957" h="217220">
                  <a:moveTo>
                    <a:pt x="0" y="0"/>
                  </a:moveTo>
                  <a:lnTo>
                    <a:pt x="1027957" y="0"/>
                  </a:lnTo>
                  <a:lnTo>
                    <a:pt x="1027957" y="217220"/>
                  </a:lnTo>
                  <a:lnTo>
                    <a:pt x="0" y="217220"/>
                  </a:lnTo>
                  <a:close/>
                </a:path>
              </a:pathLst>
            </a:custGeom>
            <a:solidFill>
              <a:srgbClr val="FF3131"/>
            </a:solidFill>
          </p:spPr>
        </p:sp>
        <p:sp>
          <p:nvSpPr>
            <p:cNvPr id="23" name="TextBox 12"/>
            <p:cNvSpPr txBox="1"/>
            <p:nvPr/>
          </p:nvSpPr>
          <p:spPr>
            <a:xfrm>
              <a:off x="0" y="0"/>
              <a:ext cx="1027957" cy="217220"/>
            </a:xfrm>
            <a:prstGeom prst="rect">
              <a:avLst/>
            </a:prstGeom>
          </p:spPr>
          <p:txBody>
            <a:bodyPr lIns="50800" tIns="50800" rIns="50800" bIns="50800" rtlCol="0" anchor="ctr"/>
            <a:lstStyle/>
            <a:p>
              <a:pPr algn="ctr">
                <a:lnSpc>
                  <a:spcPts val="2160"/>
                </a:lnSpc>
              </a:pPr>
              <a:endParaRPr/>
            </a:p>
          </p:txBody>
        </p:sp>
      </p:grpSp>
      <p:grpSp>
        <p:nvGrpSpPr>
          <p:cNvPr id="24" name="Group 13"/>
          <p:cNvGrpSpPr/>
          <p:nvPr/>
        </p:nvGrpSpPr>
        <p:grpSpPr>
          <a:xfrm>
            <a:off x="11154387" y="3186277"/>
            <a:ext cx="3903024" cy="824757"/>
            <a:chOff x="0" y="0"/>
            <a:chExt cx="1027957" cy="217220"/>
          </a:xfrm>
        </p:grpSpPr>
        <p:sp>
          <p:nvSpPr>
            <p:cNvPr id="25" name="Freeform 14"/>
            <p:cNvSpPr/>
            <p:nvPr/>
          </p:nvSpPr>
          <p:spPr>
            <a:xfrm>
              <a:off x="0" y="0"/>
              <a:ext cx="1027957" cy="217220"/>
            </a:xfrm>
            <a:custGeom>
              <a:avLst/>
              <a:gdLst/>
              <a:ahLst/>
              <a:cxnLst/>
              <a:rect l="l" t="t" r="r" b="b"/>
              <a:pathLst>
                <a:path w="1027957" h="217220">
                  <a:moveTo>
                    <a:pt x="0" y="0"/>
                  </a:moveTo>
                  <a:lnTo>
                    <a:pt x="1027957" y="0"/>
                  </a:lnTo>
                  <a:lnTo>
                    <a:pt x="1027957" y="217220"/>
                  </a:lnTo>
                  <a:lnTo>
                    <a:pt x="0" y="217220"/>
                  </a:lnTo>
                  <a:close/>
                </a:path>
              </a:pathLst>
            </a:custGeom>
            <a:solidFill>
              <a:srgbClr val="00BF63"/>
            </a:solidFill>
          </p:spPr>
        </p:sp>
        <p:sp>
          <p:nvSpPr>
            <p:cNvPr id="26" name="TextBox 15"/>
            <p:cNvSpPr txBox="1"/>
            <p:nvPr/>
          </p:nvSpPr>
          <p:spPr>
            <a:xfrm>
              <a:off x="0" y="0"/>
              <a:ext cx="1027957" cy="217220"/>
            </a:xfrm>
            <a:prstGeom prst="rect">
              <a:avLst/>
            </a:prstGeom>
          </p:spPr>
          <p:txBody>
            <a:bodyPr lIns="50800" tIns="50800" rIns="50800" bIns="50800" rtlCol="0" anchor="ctr"/>
            <a:lstStyle/>
            <a:p>
              <a:pPr algn="ctr">
                <a:lnSpc>
                  <a:spcPts val="2160"/>
                </a:lnSpc>
              </a:pPr>
              <a:endParaRPr/>
            </a:p>
          </p:txBody>
        </p:sp>
      </p:grpSp>
      <p:grpSp>
        <p:nvGrpSpPr>
          <p:cNvPr id="27" name="Group 16"/>
          <p:cNvGrpSpPr/>
          <p:nvPr/>
        </p:nvGrpSpPr>
        <p:grpSpPr>
          <a:xfrm>
            <a:off x="7741647" y="5288099"/>
            <a:ext cx="2804706" cy="2804706"/>
            <a:chOff x="0" y="0"/>
            <a:chExt cx="812800" cy="812800"/>
          </a:xfrm>
        </p:grpSpPr>
        <p:sp>
          <p:nvSpPr>
            <p:cNvPr id="28"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16176"/>
            </a:solidFill>
            <a:ln cap="sq">
              <a:noFill/>
              <a:prstDash val="solid"/>
              <a:miter/>
            </a:ln>
          </p:spPr>
        </p:sp>
        <p:sp>
          <p:nvSpPr>
            <p:cNvPr id="29" name="TextBox 18"/>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grpSp>
        <p:nvGrpSpPr>
          <p:cNvPr id="30" name="Group 19"/>
          <p:cNvGrpSpPr/>
          <p:nvPr/>
        </p:nvGrpSpPr>
        <p:grpSpPr>
          <a:xfrm>
            <a:off x="7929681" y="5478725"/>
            <a:ext cx="2423454" cy="2423454"/>
            <a:chOff x="0" y="0"/>
            <a:chExt cx="812800" cy="812800"/>
          </a:xfrm>
        </p:grpSpPr>
        <p:sp>
          <p:nvSpPr>
            <p:cNvPr id="4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7D1D1"/>
            </a:solidFill>
          </p:spPr>
        </p:sp>
        <p:sp>
          <p:nvSpPr>
            <p:cNvPr id="41" name="TextBox 21"/>
            <p:cNvSpPr txBox="1"/>
            <p:nvPr/>
          </p:nvSpPr>
          <p:spPr>
            <a:xfrm>
              <a:off x="76200" y="76200"/>
              <a:ext cx="660400" cy="660400"/>
            </a:xfrm>
            <a:prstGeom prst="rect">
              <a:avLst/>
            </a:prstGeom>
          </p:spPr>
          <p:txBody>
            <a:bodyPr lIns="50800" tIns="50800" rIns="50800" bIns="50800" rtlCol="0" anchor="ctr"/>
            <a:lstStyle/>
            <a:p>
              <a:pPr algn="ctr">
                <a:lnSpc>
                  <a:spcPts val="2160"/>
                </a:lnSpc>
              </a:pPr>
              <a:endParaRPr/>
            </a:p>
          </p:txBody>
        </p:sp>
      </p:grpSp>
      <p:sp>
        <p:nvSpPr>
          <p:cNvPr id="42" name="Freeform 22"/>
          <p:cNvSpPr/>
          <p:nvPr/>
        </p:nvSpPr>
        <p:spPr>
          <a:xfrm>
            <a:off x="1791324" y="4831291"/>
            <a:ext cx="416885" cy="416885"/>
          </a:xfrm>
          <a:custGeom>
            <a:avLst/>
            <a:gdLst/>
            <a:ahLst/>
            <a:cxnLst/>
            <a:rect l="l" t="t" r="r" b="b"/>
            <a:pathLst>
              <a:path w="416885" h="416885">
                <a:moveTo>
                  <a:pt x="0" y="0"/>
                </a:moveTo>
                <a:lnTo>
                  <a:pt x="416885" y="0"/>
                </a:lnTo>
                <a:lnTo>
                  <a:pt x="416885" y="416886"/>
                </a:lnTo>
                <a:lnTo>
                  <a:pt x="0" y="41688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43" name="Freeform 23"/>
          <p:cNvSpPr/>
          <p:nvPr/>
        </p:nvSpPr>
        <p:spPr>
          <a:xfrm>
            <a:off x="16078415" y="4831291"/>
            <a:ext cx="416885" cy="416885"/>
          </a:xfrm>
          <a:custGeom>
            <a:avLst/>
            <a:gdLst/>
            <a:ahLst/>
            <a:cxnLst/>
            <a:rect l="l" t="t" r="r" b="b"/>
            <a:pathLst>
              <a:path w="416885" h="416885">
                <a:moveTo>
                  <a:pt x="0" y="0"/>
                </a:moveTo>
                <a:lnTo>
                  <a:pt x="416885" y="0"/>
                </a:lnTo>
                <a:lnTo>
                  <a:pt x="416885" y="416886"/>
                </a:lnTo>
                <a:lnTo>
                  <a:pt x="0" y="416886"/>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p:spPr>
      </p:sp>
      <p:sp>
        <p:nvSpPr>
          <p:cNvPr id="44" name="Freeform 24"/>
          <p:cNvSpPr/>
          <p:nvPr/>
        </p:nvSpPr>
        <p:spPr>
          <a:xfrm>
            <a:off x="1791324" y="5656650"/>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45" name="Freeform 25"/>
          <p:cNvSpPr/>
          <p:nvPr/>
        </p:nvSpPr>
        <p:spPr>
          <a:xfrm>
            <a:off x="16078415" y="5656650"/>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a:ln cap="sq">
            <a:noFill/>
            <a:prstDash val="solid"/>
            <a:miter/>
          </a:ln>
        </p:spPr>
      </p:sp>
      <p:sp>
        <p:nvSpPr>
          <p:cNvPr id="46" name="Freeform 26"/>
          <p:cNvSpPr/>
          <p:nvPr/>
        </p:nvSpPr>
        <p:spPr>
          <a:xfrm>
            <a:off x="1791324" y="6482009"/>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47" name="Freeform 27"/>
          <p:cNvSpPr/>
          <p:nvPr/>
        </p:nvSpPr>
        <p:spPr>
          <a:xfrm>
            <a:off x="16078415" y="6482009"/>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a:ln cap="sq">
            <a:noFill/>
            <a:prstDash val="solid"/>
            <a:miter/>
          </a:ln>
        </p:spPr>
      </p:sp>
      <p:sp>
        <p:nvSpPr>
          <p:cNvPr id="48" name="Freeform 28"/>
          <p:cNvSpPr/>
          <p:nvPr/>
        </p:nvSpPr>
        <p:spPr>
          <a:xfrm>
            <a:off x="1791324" y="7307368"/>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49" name="Freeform 29"/>
          <p:cNvSpPr/>
          <p:nvPr/>
        </p:nvSpPr>
        <p:spPr>
          <a:xfrm>
            <a:off x="16078415" y="7307368"/>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a:ln cap="sq">
            <a:noFill/>
            <a:prstDash val="solid"/>
            <a:miter/>
          </a:ln>
        </p:spPr>
      </p:sp>
      <p:sp>
        <p:nvSpPr>
          <p:cNvPr id="50" name="Freeform 30"/>
          <p:cNvSpPr/>
          <p:nvPr/>
        </p:nvSpPr>
        <p:spPr>
          <a:xfrm>
            <a:off x="1791324" y="8132727"/>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51" name="Freeform 31"/>
          <p:cNvSpPr/>
          <p:nvPr/>
        </p:nvSpPr>
        <p:spPr>
          <a:xfrm>
            <a:off x="16078415" y="8132727"/>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a:ln cap="sq">
            <a:noFill/>
            <a:prstDash val="solid"/>
            <a:miter/>
          </a:ln>
        </p:spPr>
      </p:sp>
      <p:sp>
        <p:nvSpPr>
          <p:cNvPr id="52" name="Freeform 32"/>
          <p:cNvSpPr/>
          <p:nvPr/>
        </p:nvSpPr>
        <p:spPr>
          <a:xfrm>
            <a:off x="1791324" y="8958086"/>
            <a:ext cx="416885" cy="416885"/>
          </a:xfrm>
          <a:custGeom>
            <a:avLst/>
            <a:gdLst/>
            <a:ahLst/>
            <a:cxnLst/>
            <a:rect l="l" t="t" r="r" b="b"/>
            <a:pathLst>
              <a:path w="416885" h="416885">
                <a:moveTo>
                  <a:pt x="0" y="0"/>
                </a:moveTo>
                <a:lnTo>
                  <a:pt x="416885" y="0"/>
                </a:lnTo>
                <a:lnTo>
                  <a:pt x="416885" y="416885"/>
                </a:lnTo>
                <a:lnTo>
                  <a:pt x="0" y="416885"/>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53" name="TextBox 34"/>
          <p:cNvSpPr txBox="1"/>
          <p:nvPr/>
        </p:nvSpPr>
        <p:spPr>
          <a:xfrm>
            <a:off x="5514638" y="1520603"/>
            <a:ext cx="7098292" cy="830997"/>
          </a:xfrm>
          <a:prstGeom prst="rect">
            <a:avLst/>
          </a:prstGeom>
        </p:spPr>
        <p:txBody>
          <a:bodyPr wrap="square" lIns="0" tIns="0" rIns="0" bIns="0" rtlCol="0" anchor="t">
            <a:spAutoFit/>
          </a:bodyPr>
          <a:lstStyle/>
          <a:p>
            <a:r>
              <a:rPr lang="fr-FR" sz="3600" dirty="0"/>
              <a:t>Avant</a:t>
            </a:r>
            <a:r>
              <a:rPr lang="fr-FR" sz="5400" dirty="0"/>
              <a:t> </a:t>
            </a:r>
            <a:r>
              <a:rPr lang="fr-FR" sz="3600" dirty="0"/>
              <a:t>/ Après le portail (comparaison)</a:t>
            </a:r>
            <a:endParaRPr lang="en-US" sz="3600" dirty="0"/>
          </a:p>
        </p:txBody>
      </p:sp>
      <p:sp>
        <p:nvSpPr>
          <p:cNvPr id="54" name="TextBox 35"/>
          <p:cNvSpPr txBox="1"/>
          <p:nvPr/>
        </p:nvSpPr>
        <p:spPr>
          <a:xfrm>
            <a:off x="2490152" y="4868284"/>
            <a:ext cx="6256243" cy="342900"/>
          </a:xfrm>
          <a:prstGeom prst="rect">
            <a:avLst/>
          </a:prstGeom>
        </p:spPr>
        <p:txBody>
          <a:bodyPr lIns="0" tIns="0" rIns="0" bIns="0" rtlCol="0" anchor="t">
            <a:spAutoFit/>
          </a:bodyPr>
          <a:lstStyle/>
          <a:p>
            <a:pPr algn="l">
              <a:lnSpc>
                <a:spcPts val="2759"/>
              </a:lnSpc>
            </a:pPr>
            <a:r>
              <a:rPr lang="en-US" sz="2299">
                <a:solidFill>
                  <a:srgbClr val="363A3B"/>
                </a:solidFill>
                <a:latin typeface="Open Sauce"/>
                <a:ea typeface="Open Sauce"/>
                <a:cs typeface="Open Sauce"/>
                <a:sym typeface="Open Sauce"/>
              </a:rPr>
              <a:t>Création VM manuelle dans Proxmox UI</a:t>
            </a:r>
          </a:p>
        </p:txBody>
      </p:sp>
      <p:sp>
        <p:nvSpPr>
          <p:cNvPr id="55" name="TextBox 36"/>
          <p:cNvSpPr txBox="1"/>
          <p:nvPr/>
        </p:nvSpPr>
        <p:spPr>
          <a:xfrm>
            <a:off x="2490152" y="5693643"/>
            <a:ext cx="5606858" cy="342900"/>
          </a:xfrm>
          <a:prstGeom prst="rect">
            <a:avLst/>
          </a:prstGeom>
        </p:spPr>
        <p:txBody>
          <a:bodyPr lIns="0" tIns="0" rIns="0" bIns="0" rtlCol="0" anchor="t">
            <a:spAutoFit/>
          </a:bodyPr>
          <a:lstStyle/>
          <a:p>
            <a:pPr algn="l">
              <a:lnSpc>
                <a:spcPts val="2759"/>
              </a:lnSpc>
            </a:pPr>
            <a:r>
              <a:rPr lang="en-US" sz="2299">
                <a:solidFill>
                  <a:srgbClr val="363A3B"/>
                </a:solidFill>
                <a:latin typeface="Open Sauce"/>
                <a:ea typeface="Open Sauce"/>
                <a:cs typeface="Open Sauce"/>
                <a:sym typeface="Open Sauce"/>
              </a:rPr>
              <a:t>Config VLAN/DHCP manuelle pfSense</a:t>
            </a:r>
          </a:p>
        </p:txBody>
      </p:sp>
      <p:sp>
        <p:nvSpPr>
          <p:cNvPr id="56" name="TextBox 37"/>
          <p:cNvSpPr txBox="1"/>
          <p:nvPr/>
        </p:nvSpPr>
        <p:spPr>
          <a:xfrm>
            <a:off x="10202293" y="4868284"/>
            <a:ext cx="5590372" cy="342900"/>
          </a:xfrm>
          <a:prstGeom prst="rect">
            <a:avLst/>
          </a:prstGeom>
        </p:spPr>
        <p:txBody>
          <a:bodyPr lIns="0" tIns="0" rIns="0" bIns="0" rtlCol="0" anchor="t">
            <a:spAutoFit/>
          </a:bodyPr>
          <a:lstStyle/>
          <a:p>
            <a:pPr algn="r">
              <a:lnSpc>
                <a:spcPts val="2759"/>
              </a:lnSpc>
            </a:pPr>
            <a:r>
              <a:rPr lang="en-US" sz="2299">
                <a:solidFill>
                  <a:srgbClr val="116176"/>
                </a:solidFill>
                <a:latin typeface="Open Sauce"/>
                <a:ea typeface="Open Sauce"/>
                <a:cs typeface="Open Sauce"/>
                <a:sym typeface="Open Sauce"/>
              </a:rPr>
              <a:t>1 clic → VM créée automatiquement</a:t>
            </a:r>
          </a:p>
        </p:txBody>
      </p:sp>
      <p:sp>
        <p:nvSpPr>
          <p:cNvPr id="57" name="TextBox 38"/>
          <p:cNvSpPr txBox="1"/>
          <p:nvPr/>
        </p:nvSpPr>
        <p:spPr>
          <a:xfrm>
            <a:off x="10353135" y="5693643"/>
            <a:ext cx="5439530" cy="342900"/>
          </a:xfrm>
          <a:prstGeom prst="rect">
            <a:avLst/>
          </a:prstGeom>
        </p:spPr>
        <p:txBody>
          <a:bodyPr lIns="0" tIns="0" rIns="0" bIns="0" rtlCol="0" anchor="t">
            <a:spAutoFit/>
          </a:bodyPr>
          <a:lstStyle/>
          <a:p>
            <a:pPr algn="r">
              <a:lnSpc>
                <a:spcPts val="2759"/>
              </a:lnSpc>
            </a:pPr>
            <a:r>
              <a:rPr lang="en-US" sz="2299">
                <a:solidFill>
                  <a:srgbClr val="116176"/>
                </a:solidFill>
                <a:latin typeface="Open Sauce"/>
                <a:ea typeface="Open Sauce"/>
                <a:cs typeface="Open Sauce"/>
                <a:sym typeface="Open Sauce"/>
              </a:rPr>
              <a:t> VLAN + DHCP auto via Ansible (&lt;30s)</a:t>
            </a:r>
          </a:p>
        </p:txBody>
      </p:sp>
      <p:sp>
        <p:nvSpPr>
          <p:cNvPr id="58" name="TextBox 39"/>
          <p:cNvSpPr txBox="1"/>
          <p:nvPr/>
        </p:nvSpPr>
        <p:spPr>
          <a:xfrm>
            <a:off x="2490152" y="6519002"/>
            <a:ext cx="5251495" cy="342900"/>
          </a:xfrm>
          <a:prstGeom prst="rect">
            <a:avLst/>
          </a:prstGeom>
        </p:spPr>
        <p:txBody>
          <a:bodyPr lIns="0" tIns="0" rIns="0" bIns="0" rtlCol="0" anchor="t">
            <a:spAutoFit/>
          </a:bodyPr>
          <a:lstStyle/>
          <a:p>
            <a:pPr algn="l">
              <a:lnSpc>
                <a:spcPts val="2759"/>
              </a:lnSpc>
            </a:pPr>
            <a:r>
              <a:rPr lang="en-US" sz="2299">
                <a:solidFill>
                  <a:srgbClr val="363A3B"/>
                </a:solidFill>
                <a:latin typeface="Open Sauce"/>
                <a:ea typeface="Open Sauce"/>
                <a:cs typeface="Open Sauce"/>
                <a:sym typeface="Open Sauce"/>
              </a:rPr>
              <a:t>Règles firewall ajoutées une par une</a:t>
            </a:r>
          </a:p>
        </p:txBody>
      </p:sp>
      <p:sp>
        <p:nvSpPr>
          <p:cNvPr id="59" name="TextBox 40"/>
          <p:cNvSpPr txBox="1"/>
          <p:nvPr/>
        </p:nvSpPr>
        <p:spPr>
          <a:xfrm>
            <a:off x="10202293" y="6519002"/>
            <a:ext cx="5590372" cy="685800"/>
          </a:xfrm>
          <a:prstGeom prst="rect">
            <a:avLst/>
          </a:prstGeom>
        </p:spPr>
        <p:txBody>
          <a:bodyPr lIns="0" tIns="0" rIns="0" bIns="0" rtlCol="0" anchor="t">
            <a:spAutoFit/>
          </a:bodyPr>
          <a:lstStyle/>
          <a:p>
            <a:pPr algn="r">
              <a:lnSpc>
                <a:spcPts val="2759"/>
              </a:lnSpc>
            </a:pPr>
            <a:r>
              <a:rPr lang="en-US" sz="2299">
                <a:solidFill>
                  <a:srgbClr val="116176"/>
                </a:solidFill>
                <a:latin typeface="Open Sauce"/>
                <a:ea typeface="Open Sauce"/>
                <a:cs typeface="Open Sauce"/>
                <a:sym typeface="Open Sauce"/>
              </a:rPr>
              <a:t> Règles pfSense appliquées en 30 secondes</a:t>
            </a:r>
          </a:p>
        </p:txBody>
      </p:sp>
      <p:sp>
        <p:nvSpPr>
          <p:cNvPr id="60" name="TextBox 41"/>
          <p:cNvSpPr txBox="1"/>
          <p:nvPr/>
        </p:nvSpPr>
        <p:spPr>
          <a:xfrm>
            <a:off x="2490152" y="7344360"/>
            <a:ext cx="5251495" cy="342900"/>
          </a:xfrm>
          <a:prstGeom prst="rect">
            <a:avLst/>
          </a:prstGeom>
        </p:spPr>
        <p:txBody>
          <a:bodyPr lIns="0" tIns="0" rIns="0" bIns="0" rtlCol="0" anchor="t">
            <a:spAutoFit/>
          </a:bodyPr>
          <a:lstStyle/>
          <a:p>
            <a:pPr algn="l">
              <a:lnSpc>
                <a:spcPts val="2759"/>
              </a:lnSpc>
            </a:pPr>
            <a:r>
              <a:rPr lang="en-US" sz="2299">
                <a:solidFill>
                  <a:srgbClr val="363A3B"/>
                </a:solidFill>
                <a:latin typeface="Open Sauce"/>
                <a:ea typeface="Open Sauce"/>
                <a:cs typeface="Open Sauce"/>
                <a:sym typeface="Open Sauce"/>
              </a:rPr>
              <a:t>Aucun historique des déploiements</a:t>
            </a:r>
          </a:p>
        </p:txBody>
      </p:sp>
      <p:sp>
        <p:nvSpPr>
          <p:cNvPr id="61" name="TextBox 42"/>
          <p:cNvSpPr txBox="1"/>
          <p:nvPr/>
        </p:nvSpPr>
        <p:spPr>
          <a:xfrm>
            <a:off x="10987149" y="7344360"/>
            <a:ext cx="4805516" cy="342900"/>
          </a:xfrm>
          <a:prstGeom prst="rect">
            <a:avLst/>
          </a:prstGeom>
        </p:spPr>
        <p:txBody>
          <a:bodyPr lIns="0" tIns="0" rIns="0" bIns="0" rtlCol="0" anchor="t">
            <a:spAutoFit/>
          </a:bodyPr>
          <a:lstStyle/>
          <a:p>
            <a:pPr algn="r">
              <a:lnSpc>
                <a:spcPts val="2759"/>
              </a:lnSpc>
            </a:pPr>
            <a:r>
              <a:rPr lang="en-US" sz="2299">
                <a:solidFill>
                  <a:srgbClr val="116176"/>
                </a:solidFill>
                <a:latin typeface="Open Sauce"/>
                <a:ea typeface="Open Sauce"/>
                <a:cs typeface="Open Sauce"/>
                <a:sym typeface="Open Sauce"/>
              </a:rPr>
              <a:t>Historique complet - history.json </a:t>
            </a:r>
          </a:p>
        </p:txBody>
      </p:sp>
      <p:sp>
        <p:nvSpPr>
          <p:cNvPr id="62" name="TextBox 43"/>
          <p:cNvSpPr txBox="1"/>
          <p:nvPr/>
        </p:nvSpPr>
        <p:spPr>
          <a:xfrm>
            <a:off x="2490152" y="8169719"/>
            <a:ext cx="5870628" cy="342900"/>
          </a:xfrm>
          <a:prstGeom prst="rect">
            <a:avLst/>
          </a:prstGeom>
        </p:spPr>
        <p:txBody>
          <a:bodyPr lIns="0" tIns="0" rIns="0" bIns="0" rtlCol="0" anchor="t">
            <a:spAutoFit/>
          </a:bodyPr>
          <a:lstStyle/>
          <a:p>
            <a:pPr algn="l">
              <a:lnSpc>
                <a:spcPts val="2759"/>
              </a:lnSpc>
            </a:pPr>
            <a:r>
              <a:rPr lang="en-US" sz="2299">
                <a:solidFill>
                  <a:srgbClr val="363A3B"/>
                </a:solidFill>
                <a:latin typeface="Open Sauce"/>
                <a:ea typeface="Open Sauce"/>
                <a:cs typeface="Open Sauce"/>
                <a:sym typeface="Open Sauce"/>
              </a:rPr>
              <a:t>Risque d'erreurs et d'incohérences</a:t>
            </a:r>
          </a:p>
        </p:txBody>
      </p:sp>
      <p:sp>
        <p:nvSpPr>
          <p:cNvPr id="63" name="TextBox 44"/>
          <p:cNvSpPr txBox="1"/>
          <p:nvPr/>
        </p:nvSpPr>
        <p:spPr>
          <a:xfrm>
            <a:off x="11143004" y="8169719"/>
            <a:ext cx="4649661" cy="685800"/>
          </a:xfrm>
          <a:prstGeom prst="rect">
            <a:avLst/>
          </a:prstGeom>
        </p:spPr>
        <p:txBody>
          <a:bodyPr lIns="0" tIns="0" rIns="0" bIns="0" rtlCol="0" anchor="t">
            <a:spAutoFit/>
          </a:bodyPr>
          <a:lstStyle/>
          <a:p>
            <a:pPr algn="r">
              <a:lnSpc>
                <a:spcPts val="2759"/>
              </a:lnSpc>
            </a:pPr>
            <a:r>
              <a:rPr lang="en-US" sz="2299">
                <a:solidFill>
                  <a:srgbClr val="116176"/>
                </a:solidFill>
                <a:latin typeface="Open Sauce"/>
                <a:ea typeface="Open Sauce"/>
                <a:cs typeface="Open Sauce"/>
                <a:sym typeface="Open Sauce"/>
              </a:rPr>
              <a:t> Process standardisé et reproductible</a:t>
            </a:r>
          </a:p>
        </p:txBody>
      </p:sp>
      <p:sp>
        <p:nvSpPr>
          <p:cNvPr id="64" name="TextBox 45"/>
          <p:cNvSpPr txBox="1"/>
          <p:nvPr/>
        </p:nvSpPr>
        <p:spPr>
          <a:xfrm>
            <a:off x="2490152" y="8995078"/>
            <a:ext cx="5606858" cy="342900"/>
          </a:xfrm>
          <a:prstGeom prst="rect">
            <a:avLst/>
          </a:prstGeom>
        </p:spPr>
        <p:txBody>
          <a:bodyPr lIns="0" tIns="0" rIns="0" bIns="0" rtlCol="0" anchor="t">
            <a:spAutoFit/>
          </a:bodyPr>
          <a:lstStyle/>
          <a:p>
            <a:pPr algn="l">
              <a:lnSpc>
                <a:spcPts val="2759"/>
              </a:lnSpc>
            </a:pPr>
            <a:r>
              <a:rPr lang="en-US" sz="2299">
                <a:solidFill>
                  <a:srgbClr val="363A3B"/>
                </a:solidFill>
                <a:latin typeface="Open Sauce"/>
                <a:ea typeface="Open Sauce"/>
                <a:cs typeface="Open Sauce"/>
                <a:sym typeface="Open Sauce"/>
              </a:rPr>
              <a:t>Plusieurs heures par déploiement</a:t>
            </a:r>
          </a:p>
        </p:txBody>
      </p:sp>
      <p:sp>
        <p:nvSpPr>
          <p:cNvPr id="65" name="TextBox 46"/>
          <p:cNvSpPr txBox="1"/>
          <p:nvPr/>
        </p:nvSpPr>
        <p:spPr>
          <a:xfrm>
            <a:off x="8746395" y="6480902"/>
            <a:ext cx="790027" cy="419100"/>
          </a:xfrm>
          <a:prstGeom prst="rect">
            <a:avLst/>
          </a:prstGeom>
        </p:spPr>
        <p:txBody>
          <a:bodyPr lIns="0" tIns="0" rIns="0" bIns="0" rtlCol="0" anchor="t">
            <a:spAutoFit/>
          </a:bodyPr>
          <a:lstStyle/>
          <a:p>
            <a:pPr algn="ctr">
              <a:lnSpc>
                <a:spcPts val="3360"/>
              </a:lnSpc>
            </a:pPr>
            <a:r>
              <a:rPr lang="en-US" sz="2800" b="1">
                <a:solidFill>
                  <a:srgbClr val="116176"/>
                </a:solidFill>
                <a:latin typeface="Open Sauce Bold"/>
                <a:ea typeface="Open Sauce Bold"/>
                <a:cs typeface="Open Sauce Bold"/>
                <a:sym typeface="Open Sauce Bold"/>
              </a:rPr>
              <a:t>VS</a:t>
            </a:r>
          </a:p>
        </p:txBody>
      </p:sp>
      <p:sp>
        <p:nvSpPr>
          <p:cNvPr id="66" name="TextBox 47"/>
          <p:cNvSpPr txBox="1"/>
          <p:nvPr/>
        </p:nvSpPr>
        <p:spPr>
          <a:xfrm>
            <a:off x="3561009" y="3412918"/>
            <a:ext cx="3242184" cy="381000"/>
          </a:xfrm>
          <a:prstGeom prst="rect">
            <a:avLst/>
          </a:prstGeom>
        </p:spPr>
        <p:txBody>
          <a:bodyPr lIns="0" tIns="0" rIns="0" bIns="0" rtlCol="0" anchor="t">
            <a:spAutoFit/>
          </a:bodyPr>
          <a:lstStyle/>
          <a:p>
            <a:pPr algn="ctr">
              <a:lnSpc>
                <a:spcPts val="3120"/>
              </a:lnSpc>
            </a:pPr>
            <a:r>
              <a:rPr lang="en-US" sz="2600" b="1">
                <a:solidFill>
                  <a:srgbClr val="FFFFFF"/>
                </a:solidFill>
                <a:latin typeface="Open Sauce Bold"/>
                <a:ea typeface="Open Sauce Bold"/>
                <a:cs typeface="Open Sauce Bold"/>
                <a:sym typeface="Open Sauce Bold"/>
              </a:rPr>
              <a:t>AVANT le portail</a:t>
            </a:r>
          </a:p>
        </p:txBody>
      </p:sp>
      <p:sp>
        <p:nvSpPr>
          <p:cNvPr id="67" name="TextBox 48"/>
          <p:cNvSpPr txBox="1"/>
          <p:nvPr/>
        </p:nvSpPr>
        <p:spPr>
          <a:xfrm>
            <a:off x="11627706" y="3403393"/>
            <a:ext cx="2956385" cy="381000"/>
          </a:xfrm>
          <a:prstGeom prst="rect">
            <a:avLst/>
          </a:prstGeom>
        </p:spPr>
        <p:txBody>
          <a:bodyPr lIns="0" tIns="0" rIns="0" bIns="0" rtlCol="0" anchor="t">
            <a:spAutoFit/>
          </a:bodyPr>
          <a:lstStyle/>
          <a:p>
            <a:pPr algn="ctr">
              <a:lnSpc>
                <a:spcPts val="3120"/>
              </a:lnSpc>
            </a:pPr>
            <a:r>
              <a:rPr lang="en-US" sz="2600" b="1">
                <a:solidFill>
                  <a:srgbClr val="FFFFFF"/>
                </a:solidFill>
                <a:latin typeface="Open Sauce Bold"/>
                <a:ea typeface="Open Sauce Bold"/>
                <a:cs typeface="Open Sauce Bold"/>
                <a:sym typeface="Open Sauce Bold"/>
              </a:rPr>
              <a:t>APRÈS le portail</a:t>
            </a:r>
          </a:p>
        </p:txBody>
      </p:sp>
    </p:spTree>
    <p:extLst>
      <p:ext uri="{BB962C8B-B14F-4D97-AF65-F5344CB8AC3E}">
        <p14:creationId xmlns:p14="http://schemas.microsoft.com/office/powerpoint/2010/main" val="1743743472"/>
      </p:ext>
    </p:extLst>
  </p:cSld>
  <p:clrMapOvr>
    <a:masterClrMapping/>
  </p:clrMapOvr>
  <mc:AlternateContent xmlns:mc="http://schemas.openxmlformats.org/markup-compatibility/2006">
    <mc:Choice xmlns:p14="http://schemas.microsoft.com/office/powerpoint/2010/main" Requires="p14">
      <p:transition spd="slow" p14:dur="1500" advClick="0">
        <p:split orient="vert"/>
      </p:transition>
    </mc:Choice>
    <mc:Fallback>
      <p:transition spd="slow" advClick="0">
        <p:split orient="vert"/>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1600" smtClean="0"/>
              <a:pPr/>
              <a:t>22</a:t>
            </a:fld>
            <a:endParaRPr lang="en-US" sz="1600" dirty="0"/>
          </a:p>
        </p:txBody>
      </p:sp>
      <p:sp>
        <p:nvSpPr>
          <p:cNvPr id="31" name="Rectangle 30">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32"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34"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35"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36"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solidFill>
                <a:sym typeface="TT Fors Bold"/>
              </a:rPr>
              <a:t>Automatisation</a:t>
            </a:r>
            <a:r>
              <a:rPr lang="en-US" sz="2400" b="1" dirty="0">
                <a:solidFill>
                  <a:schemeClr val="bg1">
                    <a:lumMod val="50000"/>
                  </a:schemeClr>
                </a:solidFill>
                <a:sym typeface="TT Fors Bold"/>
              </a:rPr>
              <a:t> </a:t>
            </a:r>
            <a:r>
              <a:rPr lang="en-US" sz="2400" b="1" dirty="0" err="1">
                <a:solidFill>
                  <a:schemeClr val="bg1"/>
                </a:solidFill>
                <a:sym typeface="TT Fors Bold"/>
              </a:rPr>
              <a:t>IaC</a:t>
            </a:r>
            <a:endParaRPr lang="fr-FR" sz="2400" b="1" dirty="0">
              <a:solidFill>
                <a:schemeClr val="bg1"/>
              </a:solidFill>
            </a:endParaRPr>
          </a:p>
        </p:txBody>
      </p:sp>
      <p:sp>
        <p:nvSpPr>
          <p:cNvPr id="37"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38"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39" name="Isosceles Triangle 9">
            <a:extLst>
              <a:ext uri="{FF2B5EF4-FFF2-40B4-BE49-F238E27FC236}">
                <a16:creationId xmlns:a16="http://schemas.microsoft.com/office/drawing/2014/main" id="{709D209E-827B-4D05-AF40-9CDA368833AE}"/>
              </a:ext>
            </a:extLst>
          </p:cNvPr>
          <p:cNvSpPr/>
          <p:nvPr/>
        </p:nvSpPr>
        <p:spPr>
          <a:xfrm>
            <a:off x="96728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0" name="Freeform 2"/>
          <p:cNvSpPr/>
          <p:nvPr/>
        </p:nvSpPr>
        <p:spPr>
          <a:xfrm>
            <a:off x="0" y="2928049"/>
            <a:ext cx="8911983" cy="5881909"/>
          </a:xfrm>
          <a:custGeom>
            <a:avLst/>
            <a:gdLst/>
            <a:ahLst/>
            <a:cxnLst/>
            <a:rect l="l" t="t" r="r" b="b"/>
            <a:pathLst>
              <a:path w="8911983" h="5881909">
                <a:moveTo>
                  <a:pt x="0" y="0"/>
                </a:moveTo>
                <a:lnTo>
                  <a:pt x="8911983" y="0"/>
                </a:lnTo>
                <a:lnTo>
                  <a:pt x="8911983" y="5881909"/>
                </a:lnTo>
                <a:lnTo>
                  <a:pt x="0" y="588190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41" name="Group 3"/>
          <p:cNvGrpSpPr/>
          <p:nvPr/>
        </p:nvGrpSpPr>
        <p:grpSpPr>
          <a:xfrm>
            <a:off x="7597123" y="7620000"/>
            <a:ext cx="1546877" cy="1546877"/>
            <a:chOff x="0" y="0"/>
            <a:chExt cx="812800" cy="812800"/>
          </a:xfrm>
        </p:grpSpPr>
        <p:sp>
          <p:nvSpPr>
            <p:cNvPr id="42"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5792B4"/>
            </a:solidFill>
          </p:spPr>
        </p:sp>
        <p:sp>
          <p:nvSpPr>
            <p:cNvPr id="43" name="TextBox 5"/>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44" name="Group 6"/>
          <p:cNvGrpSpPr/>
          <p:nvPr/>
        </p:nvGrpSpPr>
        <p:grpSpPr>
          <a:xfrm>
            <a:off x="2691708" y="7358331"/>
            <a:ext cx="1546877" cy="1546877"/>
            <a:chOff x="0" y="0"/>
            <a:chExt cx="812800" cy="812800"/>
          </a:xfrm>
        </p:grpSpPr>
        <p:sp>
          <p:nvSpPr>
            <p:cNvPr id="45"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51C0CE"/>
            </a:solidFill>
          </p:spPr>
        </p:sp>
        <p:sp>
          <p:nvSpPr>
            <p:cNvPr id="46" name="TextBox 8"/>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47" name="Group 9"/>
          <p:cNvGrpSpPr/>
          <p:nvPr/>
        </p:nvGrpSpPr>
        <p:grpSpPr>
          <a:xfrm>
            <a:off x="5325848" y="4358623"/>
            <a:ext cx="1546877" cy="1546877"/>
            <a:chOff x="0" y="0"/>
            <a:chExt cx="812800" cy="812800"/>
          </a:xfrm>
        </p:grpSpPr>
        <p:sp>
          <p:nvSpPr>
            <p:cNvPr id="48"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5792B4"/>
            </a:solidFill>
          </p:spPr>
        </p:sp>
        <p:sp>
          <p:nvSpPr>
            <p:cNvPr id="49" name="TextBox 11"/>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50" name="Group 12"/>
          <p:cNvGrpSpPr/>
          <p:nvPr/>
        </p:nvGrpSpPr>
        <p:grpSpPr>
          <a:xfrm>
            <a:off x="1783408" y="2476500"/>
            <a:ext cx="1546877" cy="1546877"/>
            <a:chOff x="0" y="0"/>
            <a:chExt cx="812800" cy="812800"/>
          </a:xfrm>
        </p:grpSpPr>
        <p:sp>
          <p:nvSpPr>
            <p:cNvPr id="51"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CE4E8"/>
            </a:solidFill>
          </p:spPr>
        </p:sp>
        <p:sp>
          <p:nvSpPr>
            <p:cNvPr id="52" name="TextBox 14"/>
            <p:cNvSpPr txBox="1"/>
            <p:nvPr/>
          </p:nvSpPr>
          <p:spPr>
            <a:xfrm>
              <a:off x="76200" y="19050"/>
              <a:ext cx="660400" cy="717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53" name="Group 15"/>
          <p:cNvGrpSpPr/>
          <p:nvPr/>
        </p:nvGrpSpPr>
        <p:grpSpPr>
          <a:xfrm>
            <a:off x="10616397" y="3050938"/>
            <a:ext cx="503049" cy="1597855"/>
            <a:chOff x="0" y="0"/>
            <a:chExt cx="132490" cy="420834"/>
          </a:xfrm>
        </p:grpSpPr>
        <p:sp>
          <p:nvSpPr>
            <p:cNvPr id="54" name="Freeform 16"/>
            <p:cNvSpPr/>
            <p:nvPr/>
          </p:nvSpPr>
          <p:spPr>
            <a:xfrm>
              <a:off x="0" y="0"/>
              <a:ext cx="132490" cy="420834"/>
            </a:xfrm>
            <a:custGeom>
              <a:avLst/>
              <a:gdLst/>
              <a:ahLst/>
              <a:cxnLst/>
              <a:rect l="l" t="t" r="r" b="b"/>
              <a:pathLst>
                <a:path w="132490" h="420834">
                  <a:moveTo>
                    <a:pt x="66245" y="0"/>
                  </a:moveTo>
                  <a:lnTo>
                    <a:pt x="66245" y="0"/>
                  </a:lnTo>
                  <a:cubicBezTo>
                    <a:pt x="102831" y="0"/>
                    <a:pt x="132490" y="29659"/>
                    <a:pt x="132490" y="66245"/>
                  </a:cubicBezTo>
                  <a:lnTo>
                    <a:pt x="132490" y="354589"/>
                  </a:lnTo>
                  <a:cubicBezTo>
                    <a:pt x="132490" y="372158"/>
                    <a:pt x="125511" y="389008"/>
                    <a:pt x="113088" y="401431"/>
                  </a:cubicBezTo>
                  <a:cubicBezTo>
                    <a:pt x="100664" y="413855"/>
                    <a:pt x="83814" y="420834"/>
                    <a:pt x="66245" y="420834"/>
                  </a:cubicBezTo>
                  <a:lnTo>
                    <a:pt x="66245" y="420834"/>
                  </a:lnTo>
                  <a:cubicBezTo>
                    <a:pt x="29659" y="420834"/>
                    <a:pt x="0" y="391175"/>
                    <a:pt x="0" y="354589"/>
                  </a:cubicBezTo>
                  <a:lnTo>
                    <a:pt x="0" y="66245"/>
                  </a:lnTo>
                  <a:cubicBezTo>
                    <a:pt x="0" y="48676"/>
                    <a:pt x="6979" y="31826"/>
                    <a:pt x="19403" y="19403"/>
                  </a:cubicBezTo>
                  <a:cubicBezTo>
                    <a:pt x="31826" y="6979"/>
                    <a:pt x="48676" y="0"/>
                    <a:pt x="66245" y="0"/>
                  </a:cubicBezTo>
                  <a:close/>
                </a:path>
              </a:pathLst>
            </a:custGeom>
            <a:solidFill>
              <a:srgbClr val="6CE4E8"/>
            </a:solidFill>
          </p:spPr>
        </p:sp>
        <p:sp>
          <p:nvSpPr>
            <p:cNvPr id="55" name="TextBox 17"/>
            <p:cNvSpPr txBox="1"/>
            <p:nvPr/>
          </p:nvSpPr>
          <p:spPr>
            <a:xfrm>
              <a:off x="0" y="-57150"/>
              <a:ext cx="132490" cy="477984"/>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56" name="Group 18"/>
          <p:cNvGrpSpPr/>
          <p:nvPr/>
        </p:nvGrpSpPr>
        <p:grpSpPr>
          <a:xfrm>
            <a:off x="10616397" y="4612840"/>
            <a:ext cx="503049" cy="1597855"/>
            <a:chOff x="0" y="0"/>
            <a:chExt cx="132490" cy="420834"/>
          </a:xfrm>
        </p:grpSpPr>
        <p:sp>
          <p:nvSpPr>
            <p:cNvPr id="57" name="Freeform 19"/>
            <p:cNvSpPr/>
            <p:nvPr/>
          </p:nvSpPr>
          <p:spPr>
            <a:xfrm>
              <a:off x="0" y="0"/>
              <a:ext cx="132490" cy="420834"/>
            </a:xfrm>
            <a:custGeom>
              <a:avLst/>
              <a:gdLst/>
              <a:ahLst/>
              <a:cxnLst/>
              <a:rect l="l" t="t" r="r" b="b"/>
              <a:pathLst>
                <a:path w="132490" h="420834">
                  <a:moveTo>
                    <a:pt x="66245" y="0"/>
                  </a:moveTo>
                  <a:lnTo>
                    <a:pt x="66245" y="0"/>
                  </a:lnTo>
                  <a:cubicBezTo>
                    <a:pt x="102831" y="0"/>
                    <a:pt x="132490" y="29659"/>
                    <a:pt x="132490" y="66245"/>
                  </a:cubicBezTo>
                  <a:lnTo>
                    <a:pt x="132490" y="354589"/>
                  </a:lnTo>
                  <a:cubicBezTo>
                    <a:pt x="132490" y="372158"/>
                    <a:pt x="125511" y="389008"/>
                    <a:pt x="113088" y="401431"/>
                  </a:cubicBezTo>
                  <a:cubicBezTo>
                    <a:pt x="100664" y="413855"/>
                    <a:pt x="83814" y="420834"/>
                    <a:pt x="66245" y="420834"/>
                  </a:cubicBezTo>
                  <a:lnTo>
                    <a:pt x="66245" y="420834"/>
                  </a:lnTo>
                  <a:cubicBezTo>
                    <a:pt x="29659" y="420834"/>
                    <a:pt x="0" y="391175"/>
                    <a:pt x="0" y="354589"/>
                  </a:cubicBezTo>
                  <a:lnTo>
                    <a:pt x="0" y="66245"/>
                  </a:lnTo>
                  <a:cubicBezTo>
                    <a:pt x="0" y="48676"/>
                    <a:pt x="6979" y="31826"/>
                    <a:pt x="19403" y="19403"/>
                  </a:cubicBezTo>
                  <a:cubicBezTo>
                    <a:pt x="31826" y="6979"/>
                    <a:pt x="48676" y="0"/>
                    <a:pt x="66245" y="0"/>
                  </a:cubicBezTo>
                  <a:close/>
                </a:path>
              </a:pathLst>
            </a:custGeom>
            <a:solidFill>
              <a:srgbClr val="5792B4"/>
            </a:solidFill>
          </p:spPr>
        </p:sp>
        <p:sp>
          <p:nvSpPr>
            <p:cNvPr id="58" name="TextBox 20"/>
            <p:cNvSpPr txBox="1"/>
            <p:nvPr/>
          </p:nvSpPr>
          <p:spPr>
            <a:xfrm>
              <a:off x="0" y="-57150"/>
              <a:ext cx="132490" cy="477984"/>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59" name="Group 21"/>
          <p:cNvGrpSpPr/>
          <p:nvPr/>
        </p:nvGrpSpPr>
        <p:grpSpPr>
          <a:xfrm>
            <a:off x="10616397" y="6174743"/>
            <a:ext cx="503049" cy="1597855"/>
            <a:chOff x="0" y="0"/>
            <a:chExt cx="132490" cy="420834"/>
          </a:xfrm>
        </p:grpSpPr>
        <p:sp>
          <p:nvSpPr>
            <p:cNvPr id="60" name="Freeform 22"/>
            <p:cNvSpPr/>
            <p:nvPr/>
          </p:nvSpPr>
          <p:spPr>
            <a:xfrm>
              <a:off x="0" y="0"/>
              <a:ext cx="132490" cy="420834"/>
            </a:xfrm>
            <a:custGeom>
              <a:avLst/>
              <a:gdLst/>
              <a:ahLst/>
              <a:cxnLst/>
              <a:rect l="l" t="t" r="r" b="b"/>
              <a:pathLst>
                <a:path w="132490" h="420834">
                  <a:moveTo>
                    <a:pt x="66245" y="0"/>
                  </a:moveTo>
                  <a:lnTo>
                    <a:pt x="66245" y="0"/>
                  </a:lnTo>
                  <a:cubicBezTo>
                    <a:pt x="102831" y="0"/>
                    <a:pt x="132490" y="29659"/>
                    <a:pt x="132490" y="66245"/>
                  </a:cubicBezTo>
                  <a:lnTo>
                    <a:pt x="132490" y="354589"/>
                  </a:lnTo>
                  <a:cubicBezTo>
                    <a:pt x="132490" y="372158"/>
                    <a:pt x="125511" y="389008"/>
                    <a:pt x="113088" y="401431"/>
                  </a:cubicBezTo>
                  <a:cubicBezTo>
                    <a:pt x="100664" y="413855"/>
                    <a:pt x="83814" y="420834"/>
                    <a:pt x="66245" y="420834"/>
                  </a:cubicBezTo>
                  <a:lnTo>
                    <a:pt x="66245" y="420834"/>
                  </a:lnTo>
                  <a:cubicBezTo>
                    <a:pt x="29659" y="420834"/>
                    <a:pt x="0" y="391175"/>
                    <a:pt x="0" y="354589"/>
                  </a:cubicBezTo>
                  <a:lnTo>
                    <a:pt x="0" y="66245"/>
                  </a:lnTo>
                  <a:cubicBezTo>
                    <a:pt x="0" y="48676"/>
                    <a:pt x="6979" y="31826"/>
                    <a:pt x="19403" y="19403"/>
                  </a:cubicBezTo>
                  <a:cubicBezTo>
                    <a:pt x="31826" y="6979"/>
                    <a:pt x="48676" y="0"/>
                    <a:pt x="66245" y="0"/>
                  </a:cubicBezTo>
                  <a:close/>
                </a:path>
              </a:pathLst>
            </a:custGeom>
            <a:solidFill>
              <a:srgbClr val="51C0CE"/>
            </a:solidFill>
          </p:spPr>
        </p:sp>
        <p:sp>
          <p:nvSpPr>
            <p:cNvPr id="61" name="TextBox 23"/>
            <p:cNvSpPr txBox="1"/>
            <p:nvPr/>
          </p:nvSpPr>
          <p:spPr>
            <a:xfrm>
              <a:off x="0" y="-57150"/>
              <a:ext cx="132490" cy="477984"/>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62" name="Group 24"/>
          <p:cNvGrpSpPr/>
          <p:nvPr/>
        </p:nvGrpSpPr>
        <p:grpSpPr>
          <a:xfrm>
            <a:off x="10616397" y="7736645"/>
            <a:ext cx="503049" cy="1521655"/>
            <a:chOff x="0" y="0"/>
            <a:chExt cx="132490" cy="400765"/>
          </a:xfrm>
        </p:grpSpPr>
        <p:sp>
          <p:nvSpPr>
            <p:cNvPr id="63" name="Freeform 25"/>
            <p:cNvSpPr/>
            <p:nvPr/>
          </p:nvSpPr>
          <p:spPr>
            <a:xfrm>
              <a:off x="0" y="0"/>
              <a:ext cx="132490" cy="400765"/>
            </a:xfrm>
            <a:custGeom>
              <a:avLst/>
              <a:gdLst/>
              <a:ahLst/>
              <a:cxnLst/>
              <a:rect l="l" t="t" r="r" b="b"/>
              <a:pathLst>
                <a:path w="132490" h="400765">
                  <a:moveTo>
                    <a:pt x="66245" y="0"/>
                  </a:moveTo>
                  <a:lnTo>
                    <a:pt x="66245" y="0"/>
                  </a:lnTo>
                  <a:cubicBezTo>
                    <a:pt x="102831" y="0"/>
                    <a:pt x="132490" y="29659"/>
                    <a:pt x="132490" y="66245"/>
                  </a:cubicBezTo>
                  <a:lnTo>
                    <a:pt x="132490" y="334520"/>
                  </a:lnTo>
                  <a:cubicBezTo>
                    <a:pt x="132490" y="352089"/>
                    <a:pt x="125511" y="368939"/>
                    <a:pt x="113088" y="381362"/>
                  </a:cubicBezTo>
                  <a:cubicBezTo>
                    <a:pt x="100664" y="393786"/>
                    <a:pt x="83814" y="400765"/>
                    <a:pt x="66245" y="400765"/>
                  </a:cubicBezTo>
                  <a:lnTo>
                    <a:pt x="66245" y="400765"/>
                  </a:lnTo>
                  <a:cubicBezTo>
                    <a:pt x="48676" y="400765"/>
                    <a:pt x="31826" y="393786"/>
                    <a:pt x="19403" y="381362"/>
                  </a:cubicBezTo>
                  <a:cubicBezTo>
                    <a:pt x="6979" y="368939"/>
                    <a:pt x="0" y="352089"/>
                    <a:pt x="0" y="334520"/>
                  </a:cubicBezTo>
                  <a:lnTo>
                    <a:pt x="0" y="66245"/>
                  </a:lnTo>
                  <a:cubicBezTo>
                    <a:pt x="0" y="48676"/>
                    <a:pt x="6979" y="31826"/>
                    <a:pt x="19403" y="19403"/>
                  </a:cubicBezTo>
                  <a:cubicBezTo>
                    <a:pt x="31826" y="6979"/>
                    <a:pt x="48676" y="0"/>
                    <a:pt x="66245" y="0"/>
                  </a:cubicBezTo>
                  <a:close/>
                </a:path>
              </a:pathLst>
            </a:custGeom>
            <a:solidFill>
              <a:srgbClr val="5792B4"/>
            </a:solidFill>
          </p:spPr>
        </p:sp>
        <p:sp>
          <p:nvSpPr>
            <p:cNvPr id="64" name="TextBox 26"/>
            <p:cNvSpPr txBox="1"/>
            <p:nvPr/>
          </p:nvSpPr>
          <p:spPr>
            <a:xfrm>
              <a:off x="0" y="-57150"/>
              <a:ext cx="132490" cy="457915"/>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65" name="Group 27"/>
          <p:cNvGrpSpPr/>
          <p:nvPr/>
        </p:nvGrpSpPr>
        <p:grpSpPr>
          <a:xfrm>
            <a:off x="10473533" y="2728455"/>
            <a:ext cx="788777" cy="788777"/>
            <a:chOff x="0" y="0"/>
            <a:chExt cx="812800" cy="812800"/>
          </a:xfrm>
        </p:grpSpPr>
        <p:sp>
          <p:nvSpPr>
            <p:cNvPr id="66"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67" name="TextBox 29"/>
            <p:cNvSpPr txBox="1"/>
            <p:nvPr/>
          </p:nvSpPr>
          <p:spPr>
            <a:xfrm>
              <a:off x="76200" y="28575"/>
              <a:ext cx="660400" cy="708025"/>
            </a:xfrm>
            <a:prstGeom prst="rect">
              <a:avLst/>
            </a:prstGeom>
          </p:spPr>
          <p:txBody>
            <a:bodyPr lIns="50800" tIns="50800" rIns="50800" bIns="50800" rtlCol="0" anchor="ctr"/>
            <a:lstStyle/>
            <a:p>
              <a:pPr algn="ctr">
                <a:lnSpc>
                  <a:spcPts val="2939"/>
                </a:lnSpc>
              </a:pPr>
              <a:r>
                <a:rPr lang="en-US" sz="2099" b="1">
                  <a:solidFill>
                    <a:srgbClr val="F5FAFC"/>
                  </a:solidFill>
                  <a:latin typeface="DM Sans Bold"/>
                  <a:ea typeface="DM Sans Bold"/>
                  <a:cs typeface="DM Sans Bold"/>
                  <a:sym typeface="DM Sans Bold"/>
                </a:rPr>
                <a:t>01</a:t>
              </a:r>
            </a:p>
          </p:txBody>
        </p:sp>
      </p:grpSp>
      <p:grpSp>
        <p:nvGrpSpPr>
          <p:cNvPr id="68" name="Group 30"/>
          <p:cNvGrpSpPr/>
          <p:nvPr/>
        </p:nvGrpSpPr>
        <p:grpSpPr>
          <a:xfrm>
            <a:off x="10473533" y="4254404"/>
            <a:ext cx="788777" cy="788777"/>
            <a:chOff x="0" y="0"/>
            <a:chExt cx="812800" cy="812800"/>
          </a:xfrm>
        </p:grpSpPr>
        <p:sp>
          <p:nvSpPr>
            <p:cNvPr id="69"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70" name="TextBox 32"/>
            <p:cNvSpPr txBox="1"/>
            <p:nvPr/>
          </p:nvSpPr>
          <p:spPr>
            <a:xfrm>
              <a:off x="76200" y="28575"/>
              <a:ext cx="660400" cy="708025"/>
            </a:xfrm>
            <a:prstGeom prst="rect">
              <a:avLst/>
            </a:prstGeom>
          </p:spPr>
          <p:txBody>
            <a:bodyPr lIns="50800" tIns="50800" rIns="50800" bIns="50800" rtlCol="0" anchor="ctr"/>
            <a:lstStyle/>
            <a:p>
              <a:pPr algn="ctr">
                <a:lnSpc>
                  <a:spcPts val="2939"/>
                </a:lnSpc>
              </a:pPr>
              <a:r>
                <a:rPr lang="en-US" sz="2099" b="1" dirty="0">
                  <a:solidFill>
                    <a:srgbClr val="F5FAFC"/>
                  </a:solidFill>
                  <a:latin typeface="DM Sans Bold"/>
                  <a:ea typeface="DM Sans Bold"/>
                  <a:cs typeface="DM Sans Bold"/>
                  <a:sym typeface="DM Sans Bold"/>
                </a:rPr>
                <a:t>02</a:t>
              </a:r>
            </a:p>
          </p:txBody>
        </p:sp>
      </p:grpSp>
      <p:grpSp>
        <p:nvGrpSpPr>
          <p:cNvPr id="71" name="Group 33"/>
          <p:cNvGrpSpPr/>
          <p:nvPr/>
        </p:nvGrpSpPr>
        <p:grpSpPr>
          <a:xfrm>
            <a:off x="10473533" y="5780354"/>
            <a:ext cx="788777" cy="788777"/>
            <a:chOff x="0" y="0"/>
            <a:chExt cx="812800" cy="812800"/>
          </a:xfrm>
        </p:grpSpPr>
        <p:sp>
          <p:nvSpPr>
            <p:cNvPr id="72" name="Freeform 3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73" name="TextBox 35"/>
            <p:cNvSpPr txBox="1"/>
            <p:nvPr/>
          </p:nvSpPr>
          <p:spPr>
            <a:xfrm>
              <a:off x="76200" y="28575"/>
              <a:ext cx="660400" cy="708025"/>
            </a:xfrm>
            <a:prstGeom prst="rect">
              <a:avLst/>
            </a:prstGeom>
          </p:spPr>
          <p:txBody>
            <a:bodyPr lIns="50800" tIns="50800" rIns="50800" bIns="50800" rtlCol="0" anchor="ctr"/>
            <a:lstStyle/>
            <a:p>
              <a:pPr algn="ctr">
                <a:lnSpc>
                  <a:spcPts val="2939"/>
                </a:lnSpc>
              </a:pPr>
              <a:r>
                <a:rPr lang="en-US" sz="2099" b="1">
                  <a:solidFill>
                    <a:srgbClr val="F5FAFC"/>
                  </a:solidFill>
                  <a:latin typeface="DM Sans Bold"/>
                  <a:ea typeface="DM Sans Bold"/>
                  <a:cs typeface="DM Sans Bold"/>
                  <a:sym typeface="DM Sans Bold"/>
                </a:rPr>
                <a:t>03</a:t>
              </a:r>
            </a:p>
          </p:txBody>
        </p:sp>
      </p:grpSp>
      <p:grpSp>
        <p:nvGrpSpPr>
          <p:cNvPr id="74" name="Group 36"/>
          <p:cNvGrpSpPr/>
          <p:nvPr/>
        </p:nvGrpSpPr>
        <p:grpSpPr>
          <a:xfrm>
            <a:off x="10473533" y="7306304"/>
            <a:ext cx="788777" cy="788777"/>
            <a:chOff x="0" y="0"/>
            <a:chExt cx="812800" cy="812800"/>
          </a:xfrm>
        </p:grpSpPr>
        <p:sp>
          <p:nvSpPr>
            <p:cNvPr id="75" name="Freeform 3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76" name="TextBox 38"/>
            <p:cNvSpPr txBox="1"/>
            <p:nvPr/>
          </p:nvSpPr>
          <p:spPr>
            <a:xfrm>
              <a:off x="76200" y="28575"/>
              <a:ext cx="660400" cy="708025"/>
            </a:xfrm>
            <a:prstGeom prst="rect">
              <a:avLst/>
            </a:prstGeom>
          </p:spPr>
          <p:txBody>
            <a:bodyPr lIns="50800" tIns="50800" rIns="50800" bIns="50800" rtlCol="0" anchor="ctr"/>
            <a:lstStyle/>
            <a:p>
              <a:pPr algn="ctr">
                <a:lnSpc>
                  <a:spcPts val="2939"/>
                </a:lnSpc>
              </a:pPr>
              <a:r>
                <a:rPr lang="en-US" sz="2099" b="1">
                  <a:solidFill>
                    <a:srgbClr val="F5FAFC"/>
                  </a:solidFill>
                  <a:latin typeface="DM Sans Bold"/>
                  <a:ea typeface="DM Sans Bold"/>
                  <a:cs typeface="DM Sans Bold"/>
                  <a:sym typeface="DM Sans Bold"/>
                </a:rPr>
                <a:t>04</a:t>
              </a:r>
            </a:p>
          </p:txBody>
        </p:sp>
      </p:grpSp>
      <p:sp>
        <p:nvSpPr>
          <p:cNvPr id="77" name="AutoShape 39"/>
          <p:cNvSpPr/>
          <p:nvPr/>
        </p:nvSpPr>
        <p:spPr>
          <a:xfrm>
            <a:off x="11262310" y="4648793"/>
            <a:ext cx="5122969" cy="0"/>
          </a:xfrm>
          <a:prstGeom prst="line">
            <a:avLst/>
          </a:prstGeom>
          <a:ln w="38100" cap="flat">
            <a:solidFill>
              <a:srgbClr val="1F558B"/>
            </a:solidFill>
            <a:prstDash val="sysDot"/>
            <a:headEnd type="none" w="sm" len="sm"/>
            <a:tailEnd type="none" w="sm" len="sm"/>
          </a:ln>
        </p:spPr>
      </p:sp>
      <p:sp>
        <p:nvSpPr>
          <p:cNvPr id="80" name="AutoShape 40"/>
          <p:cNvSpPr/>
          <p:nvPr/>
        </p:nvSpPr>
        <p:spPr>
          <a:xfrm flipV="1">
            <a:off x="11262310" y="6174743"/>
            <a:ext cx="5122969" cy="0"/>
          </a:xfrm>
          <a:prstGeom prst="line">
            <a:avLst/>
          </a:prstGeom>
          <a:ln w="38100" cap="flat">
            <a:solidFill>
              <a:srgbClr val="1F558B"/>
            </a:solidFill>
            <a:prstDash val="sysDot"/>
            <a:headEnd type="none" w="sm" len="sm"/>
            <a:tailEnd type="none" w="sm" len="sm"/>
          </a:ln>
        </p:spPr>
      </p:sp>
      <p:sp>
        <p:nvSpPr>
          <p:cNvPr id="83" name="AutoShape 41"/>
          <p:cNvSpPr/>
          <p:nvPr/>
        </p:nvSpPr>
        <p:spPr>
          <a:xfrm>
            <a:off x="11262310" y="7700692"/>
            <a:ext cx="5122969" cy="0"/>
          </a:xfrm>
          <a:prstGeom prst="line">
            <a:avLst/>
          </a:prstGeom>
          <a:ln w="38100" cap="flat">
            <a:solidFill>
              <a:srgbClr val="1F558B"/>
            </a:solidFill>
            <a:prstDash val="sysDot"/>
            <a:headEnd type="none" w="sm" len="sm"/>
            <a:tailEnd type="none" w="sm" len="sm"/>
          </a:ln>
        </p:spPr>
      </p:sp>
      <p:sp>
        <p:nvSpPr>
          <p:cNvPr id="86" name="Freeform 42"/>
          <p:cNvSpPr/>
          <p:nvPr/>
        </p:nvSpPr>
        <p:spPr>
          <a:xfrm>
            <a:off x="0" y="3109338"/>
            <a:ext cx="1783408" cy="490130"/>
          </a:xfrm>
          <a:custGeom>
            <a:avLst/>
            <a:gdLst/>
            <a:ahLst/>
            <a:cxnLst/>
            <a:rect l="l" t="t" r="r" b="b"/>
            <a:pathLst>
              <a:path w="7657082" h="490130">
                <a:moveTo>
                  <a:pt x="0" y="0"/>
                </a:moveTo>
                <a:lnTo>
                  <a:pt x="7657082" y="0"/>
                </a:lnTo>
                <a:lnTo>
                  <a:pt x="7657082" y="490130"/>
                </a:lnTo>
                <a:lnTo>
                  <a:pt x="0" y="490130"/>
                </a:lnTo>
                <a:lnTo>
                  <a:pt x="0" y="0"/>
                </a:lnTo>
                <a:close/>
              </a:path>
            </a:pathLst>
          </a:custGeom>
          <a:blipFill>
            <a:blip r:embed="rId6"/>
            <a:stretch>
              <a:fillRect t="-326069"/>
            </a:stretch>
          </a:blipFill>
        </p:spPr>
      </p:sp>
      <p:sp>
        <p:nvSpPr>
          <p:cNvPr id="87" name="Freeform 43"/>
          <p:cNvSpPr/>
          <p:nvPr/>
        </p:nvSpPr>
        <p:spPr>
          <a:xfrm>
            <a:off x="3330285" y="3109338"/>
            <a:ext cx="2481194" cy="451636"/>
          </a:xfrm>
          <a:custGeom>
            <a:avLst/>
            <a:gdLst/>
            <a:ahLst/>
            <a:cxnLst/>
            <a:rect l="l" t="t" r="r" b="b"/>
            <a:pathLst>
              <a:path w="2481194" h="451636">
                <a:moveTo>
                  <a:pt x="0" y="0"/>
                </a:moveTo>
                <a:lnTo>
                  <a:pt x="2481194" y="0"/>
                </a:lnTo>
                <a:lnTo>
                  <a:pt x="2481194" y="451636"/>
                </a:lnTo>
                <a:lnTo>
                  <a:pt x="0" y="451636"/>
                </a:lnTo>
                <a:lnTo>
                  <a:pt x="0" y="0"/>
                </a:lnTo>
                <a:close/>
              </a:path>
            </a:pathLst>
          </a:custGeom>
          <a:blipFill>
            <a:blip r:embed="rId6"/>
            <a:stretch>
              <a:fillRect l="-113079" t="-388687" r="-113079"/>
            </a:stretch>
          </a:blipFill>
        </p:spPr>
      </p:sp>
      <p:sp>
        <p:nvSpPr>
          <p:cNvPr id="88" name="Freeform 44"/>
          <p:cNvSpPr/>
          <p:nvPr/>
        </p:nvSpPr>
        <p:spPr>
          <a:xfrm rot="2338049">
            <a:off x="4925423" y="3367573"/>
            <a:ext cx="1588757" cy="539729"/>
          </a:xfrm>
          <a:custGeom>
            <a:avLst/>
            <a:gdLst/>
            <a:ahLst/>
            <a:cxnLst/>
            <a:rect l="l" t="t" r="r" b="b"/>
            <a:pathLst>
              <a:path w="1588757" h="539729">
                <a:moveTo>
                  <a:pt x="0" y="0"/>
                </a:moveTo>
                <a:lnTo>
                  <a:pt x="1588757" y="0"/>
                </a:lnTo>
                <a:lnTo>
                  <a:pt x="1588757" y="539729"/>
                </a:lnTo>
                <a:lnTo>
                  <a:pt x="0" y="539729"/>
                </a:lnTo>
                <a:lnTo>
                  <a:pt x="0" y="0"/>
                </a:lnTo>
                <a:close/>
              </a:path>
            </a:pathLst>
          </a:custGeom>
          <a:blipFill>
            <a:blip r:embed="rId6"/>
            <a:stretch>
              <a:fillRect l="-113079" t="-161842" r="-113079"/>
            </a:stretch>
          </a:blipFill>
        </p:spPr>
      </p:sp>
      <p:sp>
        <p:nvSpPr>
          <p:cNvPr id="89" name="Freeform 45"/>
          <p:cNvSpPr/>
          <p:nvPr/>
        </p:nvSpPr>
        <p:spPr>
          <a:xfrm>
            <a:off x="3330285" y="5626761"/>
            <a:ext cx="2148898" cy="451636"/>
          </a:xfrm>
          <a:custGeom>
            <a:avLst/>
            <a:gdLst/>
            <a:ahLst/>
            <a:cxnLst/>
            <a:rect l="l" t="t" r="r" b="b"/>
            <a:pathLst>
              <a:path w="2148898" h="451636">
                <a:moveTo>
                  <a:pt x="0" y="0"/>
                </a:moveTo>
                <a:lnTo>
                  <a:pt x="2148898" y="0"/>
                </a:lnTo>
                <a:lnTo>
                  <a:pt x="2148898" y="451636"/>
                </a:lnTo>
                <a:lnTo>
                  <a:pt x="0" y="451636"/>
                </a:lnTo>
                <a:lnTo>
                  <a:pt x="0" y="0"/>
                </a:lnTo>
                <a:close/>
              </a:path>
            </a:pathLst>
          </a:custGeom>
          <a:blipFill>
            <a:blip r:embed="rId6"/>
            <a:stretch>
              <a:fillRect l="-146029" t="-388687" r="-130566"/>
            </a:stretch>
          </a:blipFill>
        </p:spPr>
      </p:sp>
      <p:sp>
        <p:nvSpPr>
          <p:cNvPr id="90" name="Freeform 46"/>
          <p:cNvSpPr/>
          <p:nvPr/>
        </p:nvSpPr>
        <p:spPr>
          <a:xfrm>
            <a:off x="4251399" y="8131770"/>
            <a:ext cx="3345724" cy="451636"/>
          </a:xfrm>
          <a:custGeom>
            <a:avLst/>
            <a:gdLst/>
            <a:ahLst/>
            <a:cxnLst/>
            <a:rect l="l" t="t" r="r" b="b"/>
            <a:pathLst>
              <a:path w="3345724" h="451636">
                <a:moveTo>
                  <a:pt x="0" y="0"/>
                </a:moveTo>
                <a:lnTo>
                  <a:pt x="3345724" y="0"/>
                </a:lnTo>
                <a:lnTo>
                  <a:pt x="3345724" y="451636"/>
                </a:lnTo>
                <a:lnTo>
                  <a:pt x="0" y="451636"/>
                </a:lnTo>
                <a:lnTo>
                  <a:pt x="0" y="0"/>
                </a:lnTo>
                <a:close/>
              </a:path>
            </a:pathLst>
          </a:custGeom>
          <a:blipFill>
            <a:blip r:embed="rId6"/>
            <a:stretch>
              <a:fillRect l="-93792" t="-388687" r="-48088"/>
            </a:stretch>
          </a:blipFill>
        </p:spPr>
      </p:sp>
      <p:sp>
        <p:nvSpPr>
          <p:cNvPr id="91" name="Freeform 47"/>
          <p:cNvSpPr/>
          <p:nvPr/>
        </p:nvSpPr>
        <p:spPr>
          <a:xfrm rot="18470366">
            <a:off x="2071168" y="6186438"/>
            <a:ext cx="1638445" cy="451636"/>
          </a:xfrm>
          <a:custGeom>
            <a:avLst/>
            <a:gdLst/>
            <a:ahLst/>
            <a:cxnLst/>
            <a:rect l="l" t="t" r="r" b="b"/>
            <a:pathLst>
              <a:path w="1638445" h="451636">
                <a:moveTo>
                  <a:pt x="0" y="0"/>
                </a:moveTo>
                <a:lnTo>
                  <a:pt x="1638445" y="0"/>
                </a:lnTo>
                <a:lnTo>
                  <a:pt x="1638445" y="451636"/>
                </a:lnTo>
                <a:lnTo>
                  <a:pt x="0" y="451636"/>
                </a:lnTo>
                <a:lnTo>
                  <a:pt x="0" y="0"/>
                </a:lnTo>
                <a:close/>
              </a:path>
            </a:pathLst>
          </a:custGeom>
          <a:blipFill>
            <a:blip r:embed="rId6"/>
            <a:stretch>
              <a:fillRect l="-191524" t="-388687" r="-202398"/>
            </a:stretch>
          </a:blipFill>
        </p:spPr>
      </p:sp>
      <p:sp>
        <p:nvSpPr>
          <p:cNvPr id="92" name="Freeform 48"/>
          <p:cNvSpPr/>
          <p:nvPr/>
        </p:nvSpPr>
        <p:spPr>
          <a:xfrm rot="14815022">
            <a:off x="2168702" y="7046200"/>
            <a:ext cx="817646" cy="451636"/>
          </a:xfrm>
          <a:custGeom>
            <a:avLst/>
            <a:gdLst/>
            <a:ahLst/>
            <a:cxnLst/>
            <a:rect l="l" t="t" r="r" b="b"/>
            <a:pathLst>
              <a:path w="817646" h="451636">
                <a:moveTo>
                  <a:pt x="0" y="0"/>
                </a:moveTo>
                <a:lnTo>
                  <a:pt x="817646" y="0"/>
                </a:lnTo>
                <a:lnTo>
                  <a:pt x="817646" y="451636"/>
                </a:lnTo>
                <a:lnTo>
                  <a:pt x="0" y="451636"/>
                </a:lnTo>
                <a:lnTo>
                  <a:pt x="0" y="0"/>
                </a:lnTo>
                <a:close/>
              </a:path>
            </a:pathLst>
          </a:custGeom>
          <a:blipFill>
            <a:blip r:embed="rId6"/>
            <a:stretch>
              <a:fillRect l="-394316" t="-388687" r="-495434"/>
            </a:stretch>
          </a:blipFill>
        </p:spPr>
      </p:sp>
      <p:sp>
        <p:nvSpPr>
          <p:cNvPr id="93" name="Freeform 49"/>
          <p:cNvSpPr/>
          <p:nvPr/>
        </p:nvSpPr>
        <p:spPr>
          <a:xfrm>
            <a:off x="2019430" y="2728455"/>
            <a:ext cx="1074833" cy="1074833"/>
          </a:xfrm>
          <a:custGeom>
            <a:avLst/>
            <a:gdLst/>
            <a:ahLst/>
            <a:cxnLst/>
            <a:rect l="l" t="t" r="r" b="b"/>
            <a:pathLst>
              <a:path w="1074833" h="1074833">
                <a:moveTo>
                  <a:pt x="0" y="0"/>
                </a:moveTo>
                <a:lnTo>
                  <a:pt x="1074833" y="0"/>
                </a:lnTo>
                <a:lnTo>
                  <a:pt x="1074833" y="1074833"/>
                </a:lnTo>
                <a:lnTo>
                  <a:pt x="0" y="1074833"/>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sp>
        <p:nvSpPr>
          <p:cNvPr id="94" name="Freeform 50"/>
          <p:cNvSpPr/>
          <p:nvPr/>
        </p:nvSpPr>
        <p:spPr>
          <a:xfrm>
            <a:off x="7876847" y="8059413"/>
            <a:ext cx="987429" cy="876119"/>
          </a:xfrm>
          <a:custGeom>
            <a:avLst/>
            <a:gdLst/>
            <a:ahLst/>
            <a:cxnLst/>
            <a:rect l="l" t="t" r="r" b="b"/>
            <a:pathLst>
              <a:path w="987429" h="876119">
                <a:moveTo>
                  <a:pt x="0" y="0"/>
                </a:moveTo>
                <a:lnTo>
                  <a:pt x="987429" y="0"/>
                </a:lnTo>
                <a:lnTo>
                  <a:pt x="987429" y="876119"/>
                </a:lnTo>
                <a:lnTo>
                  <a:pt x="0" y="876119"/>
                </a:lnTo>
                <a:lnTo>
                  <a:pt x="0" y="0"/>
                </a:lnTo>
                <a:close/>
              </a:path>
            </a:pathLst>
          </a:custGeom>
          <a:blipFill>
            <a:blip r:embed="rId9">
              <a:extLst>
                <a:ext uri="{96DAC541-7B7A-43D3-8B79-37D633B846F1}">
                  <asvg:svgBlip xmlns:asvg="http://schemas.microsoft.com/office/drawing/2016/SVG/main" xmlns="" r:embed="rId10"/>
                </a:ext>
              </a:extLst>
            </a:blip>
            <a:stretch>
              <a:fillRect/>
            </a:stretch>
          </a:blipFill>
        </p:spPr>
      </p:sp>
      <p:grpSp>
        <p:nvGrpSpPr>
          <p:cNvPr id="95" name="Group 51"/>
          <p:cNvGrpSpPr/>
          <p:nvPr/>
        </p:nvGrpSpPr>
        <p:grpSpPr>
          <a:xfrm>
            <a:off x="756506" y="2928049"/>
            <a:ext cx="788777" cy="788777"/>
            <a:chOff x="0" y="0"/>
            <a:chExt cx="812800" cy="812800"/>
          </a:xfrm>
        </p:grpSpPr>
        <p:sp>
          <p:nvSpPr>
            <p:cNvPr id="96" name="Freeform 5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97" name="TextBox 53"/>
            <p:cNvSpPr txBox="1"/>
            <p:nvPr/>
          </p:nvSpPr>
          <p:spPr>
            <a:xfrm>
              <a:off x="76200" y="28575"/>
              <a:ext cx="660400" cy="708025"/>
            </a:xfrm>
            <a:prstGeom prst="rect">
              <a:avLst/>
            </a:prstGeom>
          </p:spPr>
          <p:txBody>
            <a:bodyPr lIns="50800" tIns="50800" rIns="50800" bIns="50800" rtlCol="0" anchor="ctr"/>
            <a:lstStyle/>
            <a:p>
              <a:pPr algn="ctr">
                <a:lnSpc>
                  <a:spcPts val="3499"/>
                </a:lnSpc>
              </a:pPr>
              <a:r>
                <a:rPr lang="en-US" sz="2499" b="1">
                  <a:solidFill>
                    <a:srgbClr val="F5FAFC"/>
                  </a:solidFill>
                  <a:latin typeface="DM Sans Bold"/>
                  <a:ea typeface="DM Sans Bold"/>
                  <a:cs typeface="DM Sans Bold"/>
                  <a:sym typeface="DM Sans Bold"/>
                </a:rPr>
                <a:t>01</a:t>
              </a:r>
            </a:p>
          </p:txBody>
        </p:sp>
      </p:grpSp>
      <p:grpSp>
        <p:nvGrpSpPr>
          <p:cNvPr id="98" name="Group 54"/>
          <p:cNvGrpSpPr/>
          <p:nvPr/>
        </p:nvGrpSpPr>
        <p:grpSpPr>
          <a:xfrm>
            <a:off x="5774775" y="3517232"/>
            <a:ext cx="702965" cy="738645"/>
            <a:chOff x="0" y="0"/>
            <a:chExt cx="812800" cy="812800"/>
          </a:xfrm>
        </p:grpSpPr>
        <p:sp>
          <p:nvSpPr>
            <p:cNvPr id="100" name="Freeform 5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101" name="TextBox 56"/>
            <p:cNvSpPr txBox="1"/>
            <p:nvPr/>
          </p:nvSpPr>
          <p:spPr>
            <a:xfrm>
              <a:off x="76200" y="28575"/>
              <a:ext cx="660400" cy="708025"/>
            </a:xfrm>
            <a:prstGeom prst="rect">
              <a:avLst/>
            </a:prstGeom>
          </p:spPr>
          <p:txBody>
            <a:bodyPr lIns="50800" tIns="50800" rIns="50800" bIns="50800" rtlCol="0" anchor="ctr"/>
            <a:lstStyle/>
            <a:p>
              <a:pPr algn="ctr">
                <a:lnSpc>
                  <a:spcPts val="3499"/>
                </a:lnSpc>
              </a:pPr>
              <a:r>
                <a:rPr lang="en-US" sz="2499" b="1">
                  <a:solidFill>
                    <a:srgbClr val="F5FAFC"/>
                  </a:solidFill>
                  <a:latin typeface="DM Sans Bold"/>
                  <a:ea typeface="DM Sans Bold"/>
                  <a:cs typeface="DM Sans Bold"/>
                  <a:sym typeface="DM Sans Bold"/>
                </a:rPr>
                <a:t>02</a:t>
              </a:r>
            </a:p>
          </p:txBody>
        </p:sp>
      </p:grpSp>
      <p:grpSp>
        <p:nvGrpSpPr>
          <p:cNvPr id="102" name="Group 57"/>
          <p:cNvGrpSpPr/>
          <p:nvPr/>
        </p:nvGrpSpPr>
        <p:grpSpPr>
          <a:xfrm>
            <a:off x="2249695" y="6807391"/>
            <a:ext cx="788777" cy="788777"/>
            <a:chOff x="0" y="0"/>
            <a:chExt cx="812800" cy="812800"/>
          </a:xfrm>
        </p:grpSpPr>
        <p:sp>
          <p:nvSpPr>
            <p:cNvPr id="103" name="Freeform 5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104" name="TextBox 59"/>
            <p:cNvSpPr txBox="1"/>
            <p:nvPr/>
          </p:nvSpPr>
          <p:spPr>
            <a:xfrm>
              <a:off x="76200" y="28575"/>
              <a:ext cx="660400" cy="708025"/>
            </a:xfrm>
            <a:prstGeom prst="rect">
              <a:avLst/>
            </a:prstGeom>
          </p:spPr>
          <p:txBody>
            <a:bodyPr lIns="50800" tIns="50800" rIns="50800" bIns="50800" rtlCol="0" anchor="ctr"/>
            <a:lstStyle/>
            <a:p>
              <a:pPr algn="ctr">
                <a:lnSpc>
                  <a:spcPts val="3499"/>
                </a:lnSpc>
              </a:pPr>
              <a:r>
                <a:rPr lang="en-US" sz="2499" b="1">
                  <a:solidFill>
                    <a:srgbClr val="F5FAFC"/>
                  </a:solidFill>
                  <a:latin typeface="DM Sans Bold"/>
                  <a:ea typeface="DM Sans Bold"/>
                  <a:cs typeface="DM Sans Bold"/>
                  <a:sym typeface="DM Sans Bold"/>
                </a:rPr>
                <a:t>03</a:t>
              </a:r>
            </a:p>
          </p:txBody>
        </p:sp>
      </p:grpSp>
      <p:grpSp>
        <p:nvGrpSpPr>
          <p:cNvPr id="105" name="Group 60"/>
          <p:cNvGrpSpPr/>
          <p:nvPr/>
        </p:nvGrpSpPr>
        <p:grpSpPr>
          <a:xfrm>
            <a:off x="6563552" y="7951128"/>
            <a:ext cx="788777" cy="788777"/>
            <a:chOff x="0" y="0"/>
            <a:chExt cx="812800" cy="812800"/>
          </a:xfrm>
        </p:grpSpPr>
        <p:sp>
          <p:nvSpPr>
            <p:cNvPr id="106" name="Freeform 6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F558B"/>
            </a:solidFill>
          </p:spPr>
        </p:sp>
        <p:sp>
          <p:nvSpPr>
            <p:cNvPr id="107" name="TextBox 62"/>
            <p:cNvSpPr txBox="1"/>
            <p:nvPr/>
          </p:nvSpPr>
          <p:spPr>
            <a:xfrm>
              <a:off x="76200" y="28575"/>
              <a:ext cx="660400" cy="708025"/>
            </a:xfrm>
            <a:prstGeom prst="rect">
              <a:avLst/>
            </a:prstGeom>
          </p:spPr>
          <p:txBody>
            <a:bodyPr lIns="50800" tIns="50800" rIns="50800" bIns="50800" rtlCol="0" anchor="ctr"/>
            <a:lstStyle/>
            <a:p>
              <a:pPr algn="ctr">
                <a:lnSpc>
                  <a:spcPts val="3499"/>
                </a:lnSpc>
              </a:pPr>
              <a:r>
                <a:rPr lang="en-US" sz="2499" b="1">
                  <a:solidFill>
                    <a:srgbClr val="F5FAFC"/>
                  </a:solidFill>
                  <a:latin typeface="DM Sans Bold"/>
                  <a:ea typeface="DM Sans Bold"/>
                  <a:cs typeface="DM Sans Bold"/>
                  <a:sym typeface="DM Sans Bold"/>
                </a:rPr>
                <a:t>04</a:t>
              </a:r>
            </a:p>
          </p:txBody>
        </p:sp>
      </p:grpSp>
      <p:sp>
        <p:nvSpPr>
          <p:cNvPr id="108" name="Freeform 63"/>
          <p:cNvSpPr/>
          <p:nvPr/>
        </p:nvSpPr>
        <p:spPr>
          <a:xfrm>
            <a:off x="5581718" y="4596800"/>
            <a:ext cx="1035136" cy="1029961"/>
          </a:xfrm>
          <a:custGeom>
            <a:avLst/>
            <a:gdLst/>
            <a:ahLst/>
            <a:cxnLst/>
            <a:rect l="l" t="t" r="r" b="b"/>
            <a:pathLst>
              <a:path w="1035136" h="1029961">
                <a:moveTo>
                  <a:pt x="0" y="0"/>
                </a:moveTo>
                <a:lnTo>
                  <a:pt x="1035136" y="0"/>
                </a:lnTo>
                <a:lnTo>
                  <a:pt x="1035136" y="1029961"/>
                </a:lnTo>
                <a:lnTo>
                  <a:pt x="0" y="1029961"/>
                </a:lnTo>
                <a:lnTo>
                  <a:pt x="0" y="0"/>
                </a:lnTo>
                <a:close/>
              </a:path>
            </a:pathLst>
          </a:custGeom>
          <a:blipFill>
            <a:blip r:embed="rId11">
              <a:extLst>
                <a:ext uri="{96DAC541-7B7A-43D3-8B79-37D633B846F1}">
                  <asvg:svgBlip xmlns:asvg="http://schemas.microsoft.com/office/drawing/2016/SVG/main" xmlns="" r:embed="rId12"/>
                </a:ext>
              </a:extLst>
            </a:blip>
            <a:stretch>
              <a:fillRect/>
            </a:stretch>
          </a:blipFill>
        </p:spPr>
      </p:sp>
      <p:sp>
        <p:nvSpPr>
          <p:cNvPr id="109" name="Freeform 64"/>
          <p:cNvSpPr/>
          <p:nvPr/>
        </p:nvSpPr>
        <p:spPr>
          <a:xfrm>
            <a:off x="3042356" y="7700692"/>
            <a:ext cx="848976" cy="848976"/>
          </a:xfrm>
          <a:custGeom>
            <a:avLst/>
            <a:gdLst/>
            <a:ahLst/>
            <a:cxnLst/>
            <a:rect l="l" t="t" r="r" b="b"/>
            <a:pathLst>
              <a:path w="848976" h="848976">
                <a:moveTo>
                  <a:pt x="0" y="0"/>
                </a:moveTo>
                <a:lnTo>
                  <a:pt x="848977" y="0"/>
                </a:lnTo>
                <a:lnTo>
                  <a:pt x="848977" y="848977"/>
                </a:lnTo>
                <a:lnTo>
                  <a:pt x="0" y="848977"/>
                </a:lnTo>
                <a:lnTo>
                  <a:pt x="0" y="0"/>
                </a:lnTo>
                <a:close/>
              </a:path>
            </a:pathLst>
          </a:custGeom>
          <a:blipFill>
            <a:blip r:embed="rId13">
              <a:extLst>
                <a:ext uri="{96DAC541-7B7A-43D3-8B79-37D633B846F1}">
                  <asvg:svgBlip xmlns:asvg="http://schemas.microsoft.com/office/drawing/2016/SVG/main" xmlns="" r:embed="rId14"/>
                </a:ext>
              </a:extLst>
            </a:blip>
            <a:stretch>
              <a:fillRect/>
            </a:stretch>
          </a:blipFill>
        </p:spPr>
      </p:sp>
      <p:sp>
        <p:nvSpPr>
          <p:cNvPr id="110" name="TextBox 65"/>
          <p:cNvSpPr txBox="1"/>
          <p:nvPr/>
        </p:nvSpPr>
        <p:spPr>
          <a:xfrm>
            <a:off x="3360415" y="1409120"/>
            <a:ext cx="11976877" cy="599203"/>
          </a:xfrm>
          <a:prstGeom prst="rect">
            <a:avLst/>
          </a:prstGeom>
        </p:spPr>
        <p:txBody>
          <a:bodyPr lIns="0" tIns="0" rIns="0" bIns="0" rtlCol="0" anchor="t">
            <a:spAutoFit/>
          </a:bodyPr>
          <a:lstStyle/>
          <a:p>
            <a:pPr algn="ctr">
              <a:lnSpc>
                <a:spcPts val="5040"/>
              </a:lnSpc>
            </a:pPr>
            <a:r>
              <a:rPr lang="fr-FR" sz="3600" dirty="0"/>
              <a:t>Flux </a:t>
            </a:r>
            <a:r>
              <a:rPr lang="fr-FR" sz="3600" dirty="0" err="1"/>
              <a:t>IaC</a:t>
            </a:r>
            <a:r>
              <a:rPr lang="fr-FR" sz="3600" dirty="0"/>
              <a:t> complet (</a:t>
            </a:r>
            <a:r>
              <a:rPr lang="fr-FR" sz="3600" dirty="0" err="1"/>
              <a:t>Terraform</a:t>
            </a:r>
            <a:r>
              <a:rPr lang="fr-FR" sz="3600" dirty="0"/>
              <a:t> + </a:t>
            </a:r>
            <a:r>
              <a:rPr lang="fr-FR" sz="3600" dirty="0" err="1"/>
              <a:t>Ansible</a:t>
            </a:r>
            <a:r>
              <a:rPr lang="fr-FR" sz="3600" dirty="0"/>
              <a:t> + Portail)</a:t>
            </a:r>
            <a:endParaRPr lang="en-US" sz="3600" b="1" dirty="0">
              <a:solidFill>
                <a:srgbClr val="000000"/>
              </a:solidFill>
              <a:latin typeface="Proxima Nova Bold"/>
              <a:ea typeface="Proxima Nova Bold"/>
              <a:cs typeface="Proxima Nova Bold"/>
              <a:sym typeface="Proxima Nova Bold"/>
            </a:endParaRPr>
          </a:p>
        </p:txBody>
      </p:sp>
      <p:sp>
        <p:nvSpPr>
          <p:cNvPr id="111" name="TextBox 66"/>
          <p:cNvSpPr txBox="1"/>
          <p:nvPr/>
        </p:nvSpPr>
        <p:spPr>
          <a:xfrm>
            <a:off x="11738560" y="3423268"/>
            <a:ext cx="3877664" cy="935355"/>
          </a:xfrm>
          <a:prstGeom prst="rect">
            <a:avLst/>
          </a:prstGeom>
        </p:spPr>
        <p:txBody>
          <a:bodyPr lIns="0" tIns="0" rIns="0" bIns="0" rtlCol="0" anchor="t">
            <a:spAutoFit/>
          </a:bodyPr>
          <a:lstStyle/>
          <a:p>
            <a:pPr marL="0" lvl="0" indent="0" algn="l">
              <a:lnSpc>
                <a:spcPts val="2519"/>
              </a:lnSpc>
              <a:spcBef>
                <a:spcPct val="0"/>
              </a:spcBef>
            </a:pPr>
            <a:r>
              <a:rPr lang="en-US" sz="1799" u="none" strike="noStrike">
                <a:solidFill>
                  <a:srgbClr val="191919"/>
                </a:solidFill>
                <a:latin typeface="Proxima Nova"/>
                <a:ea typeface="Proxima Nova"/>
                <a:cs typeface="Proxima Nova"/>
                <a:sym typeface="Proxima Nova"/>
              </a:rPr>
              <a:t>Accès à la plateforme cloud du projet TMPA.</a:t>
            </a:r>
          </a:p>
          <a:p>
            <a:pPr marL="0" lvl="0" indent="0" algn="l">
              <a:lnSpc>
                <a:spcPts val="2519"/>
              </a:lnSpc>
              <a:spcBef>
                <a:spcPct val="0"/>
              </a:spcBef>
            </a:pPr>
            <a:endParaRPr lang="en-US" sz="1799" u="none" strike="noStrike">
              <a:solidFill>
                <a:srgbClr val="191919"/>
              </a:solidFill>
              <a:latin typeface="Proxima Nova"/>
              <a:ea typeface="Proxima Nova"/>
              <a:cs typeface="Proxima Nova"/>
              <a:sym typeface="Proxima Nova"/>
            </a:endParaRPr>
          </a:p>
        </p:txBody>
      </p:sp>
      <p:sp>
        <p:nvSpPr>
          <p:cNvPr id="112" name="TextBox 67"/>
          <p:cNvSpPr txBox="1"/>
          <p:nvPr/>
        </p:nvSpPr>
        <p:spPr>
          <a:xfrm>
            <a:off x="11738560" y="2905673"/>
            <a:ext cx="5257800" cy="396241"/>
          </a:xfrm>
          <a:prstGeom prst="rect">
            <a:avLst/>
          </a:prstGeom>
        </p:spPr>
        <p:txBody>
          <a:bodyPr lIns="0" tIns="0" rIns="0" bIns="0" rtlCol="0" anchor="t">
            <a:spAutoFit/>
          </a:bodyPr>
          <a:lstStyle/>
          <a:p>
            <a:pPr algn="l">
              <a:lnSpc>
                <a:spcPts val="3359"/>
              </a:lnSpc>
            </a:pPr>
            <a:r>
              <a:rPr lang="en-US" sz="2399" b="1">
                <a:solidFill>
                  <a:srgbClr val="1F1F4F"/>
                </a:solidFill>
                <a:latin typeface="Proxima Nova Bold"/>
                <a:ea typeface="Proxima Nova Bold"/>
                <a:cs typeface="Proxima Nova Bold"/>
                <a:sym typeface="Proxima Nova Bold"/>
              </a:rPr>
              <a:t>Client Navigateur</a:t>
            </a:r>
          </a:p>
        </p:txBody>
      </p:sp>
      <p:sp>
        <p:nvSpPr>
          <p:cNvPr id="113" name="TextBox 68"/>
          <p:cNvSpPr txBox="1"/>
          <p:nvPr/>
        </p:nvSpPr>
        <p:spPr>
          <a:xfrm>
            <a:off x="11738560" y="4806961"/>
            <a:ext cx="5257800" cy="396241"/>
          </a:xfrm>
          <a:prstGeom prst="rect">
            <a:avLst/>
          </a:prstGeom>
        </p:spPr>
        <p:txBody>
          <a:bodyPr lIns="0" tIns="0" rIns="0" bIns="0" rtlCol="0" anchor="t">
            <a:spAutoFit/>
          </a:bodyPr>
          <a:lstStyle/>
          <a:p>
            <a:pPr marL="0" lvl="0" indent="0" algn="l">
              <a:lnSpc>
                <a:spcPts val="3359"/>
              </a:lnSpc>
              <a:spcBef>
                <a:spcPct val="0"/>
              </a:spcBef>
            </a:pPr>
            <a:r>
              <a:rPr lang="en-US" sz="2399" b="1" u="none" strike="noStrike">
                <a:solidFill>
                  <a:srgbClr val="1F1F4F"/>
                </a:solidFill>
                <a:latin typeface="Proxima Nova Bold"/>
                <a:ea typeface="Proxima Nova Bold"/>
                <a:cs typeface="Proxima Nova Bold"/>
                <a:sym typeface="Proxima Nova Bold"/>
              </a:rPr>
              <a:t>Ansible  pfSense</a:t>
            </a:r>
          </a:p>
        </p:txBody>
      </p:sp>
      <p:sp>
        <p:nvSpPr>
          <p:cNvPr id="114" name="TextBox 69"/>
          <p:cNvSpPr txBox="1"/>
          <p:nvPr/>
        </p:nvSpPr>
        <p:spPr>
          <a:xfrm>
            <a:off x="11738560" y="6683326"/>
            <a:ext cx="3877664" cy="621030"/>
          </a:xfrm>
          <a:prstGeom prst="rect">
            <a:avLst/>
          </a:prstGeom>
        </p:spPr>
        <p:txBody>
          <a:bodyPr lIns="0" tIns="0" rIns="0" bIns="0" rtlCol="0" anchor="t">
            <a:spAutoFit/>
          </a:bodyPr>
          <a:lstStyle/>
          <a:p>
            <a:pPr marL="0" lvl="0" indent="0" algn="l">
              <a:lnSpc>
                <a:spcPts val="2519"/>
              </a:lnSpc>
              <a:spcBef>
                <a:spcPct val="0"/>
              </a:spcBef>
            </a:pPr>
            <a:r>
              <a:rPr lang="en-US" sz="1799" u="none" strike="noStrike">
                <a:solidFill>
                  <a:srgbClr val="191919"/>
                </a:solidFill>
                <a:latin typeface="Proxima Nova"/>
                <a:ea typeface="Proxima Nova"/>
                <a:cs typeface="Proxima Nova"/>
                <a:sym typeface="Proxima Nova"/>
              </a:rPr>
              <a:t>vm_name, node, cpu, ram, vlan_id, pool_id</a:t>
            </a:r>
          </a:p>
        </p:txBody>
      </p:sp>
      <p:sp>
        <p:nvSpPr>
          <p:cNvPr id="115" name="TextBox 70"/>
          <p:cNvSpPr txBox="1"/>
          <p:nvPr/>
        </p:nvSpPr>
        <p:spPr>
          <a:xfrm>
            <a:off x="11738560" y="6239461"/>
            <a:ext cx="5733153" cy="396241"/>
          </a:xfrm>
          <a:prstGeom prst="rect">
            <a:avLst/>
          </a:prstGeom>
        </p:spPr>
        <p:txBody>
          <a:bodyPr lIns="0" tIns="0" rIns="0" bIns="0" rtlCol="0" anchor="t">
            <a:spAutoFit/>
          </a:bodyPr>
          <a:lstStyle/>
          <a:p>
            <a:pPr marL="0" lvl="0" indent="0" algn="l">
              <a:lnSpc>
                <a:spcPts val="3359"/>
              </a:lnSpc>
              <a:spcBef>
                <a:spcPct val="0"/>
              </a:spcBef>
            </a:pPr>
            <a:r>
              <a:rPr lang="en-US" sz="2399" b="1" u="none" strike="noStrike">
                <a:solidFill>
                  <a:srgbClr val="1F1F4F"/>
                </a:solidFill>
                <a:latin typeface="Proxima Nova Bold"/>
                <a:ea typeface="Proxima Nova Bold"/>
                <a:cs typeface="Proxima Nova Bold"/>
                <a:sym typeface="Proxima Nova Bold"/>
              </a:rPr>
              <a:t>Terraform → Proxmox Clone Template</a:t>
            </a:r>
          </a:p>
        </p:txBody>
      </p:sp>
      <p:sp>
        <p:nvSpPr>
          <p:cNvPr id="116" name="TextBox 71"/>
          <p:cNvSpPr txBox="1"/>
          <p:nvPr/>
        </p:nvSpPr>
        <p:spPr>
          <a:xfrm>
            <a:off x="11738560" y="8410340"/>
            <a:ext cx="3877664" cy="621030"/>
          </a:xfrm>
          <a:prstGeom prst="rect">
            <a:avLst/>
          </a:prstGeom>
        </p:spPr>
        <p:txBody>
          <a:bodyPr lIns="0" tIns="0" rIns="0" bIns="0" rtlCol="0" anchor="t">
            <a:spAutoFit/>
          </a:bodyPr>
          <a:lstStyle/>
          <a:p>
            <a:pPr marL="0" lvl="0" indent="0" algn="l">
              <a:lnSpc>
                <a:spcPts val="2519"/>
              </a:lnSpc>
              <a:spcBef>
                <a:spcPct val="0"/>
              </a:spcBef>
            </a:pPr>
            <a:r>
              <a:rPr lang="en-US" sz="1799" u="none" strike="noStrike">
                <a:solidFill>
                  <a:srgbClr val="191919"/>
                </a:solidFill>
                <a:latin typeface="Proxima Nova"/>
                <a:ea typeface="Proxima Nova"/>
                <a:cs typeface="Proxima Nova"/>
                <a:sym typeface="Proxima Nova"/>
              </a:rPr>
              <a:t>Durée totale : ~20 min entièrement automatisé </a:t>
            </a:r>
          </a:p>
        </p:txBody>
      </p:sp>
      <p:sp>
        <p:nvSpPr>
          <p:cNvPr id="117" name="TextBox 72"/>
          <p:cNvSpPr txBox="1"/>
          <p:nvPr/>
        </p:nvSpPr>
        <p:spPr>
          <a:xfrm>
            <a:off x="11738560" y="7920701"/>
            <a:ext cx="3877664" cy="396241"/>
          </a:xfrm>
          <a:prstGeom prst="rect">
            <a:avLst/>
          </a:prstGeom>
        </p:spPr>
        <p:txBody>
          <a:bodyPr lIns="0" tIns="0" rIns="0" bIns="0" rtlCol="0" anchor="t">
            <a:spAutoFit/>
          </a:bodyPr>
          <a:lstStyle/>
          <a:p>
            <a:pPr marL="0" lvl="0" indent="0" algn="l">
              <a:lnSpc>
                <a:spcPts val="3359"/>
              </a:lnSpc>
              <a:spcBef>
                <a:spcPct val="0"/>
              </a:spcBef>
            </a:pPr>
            <a:r>
              <a:rPr lang="en-US" sz="2399" b="1" u="none" strike="noStrike">
                <a:solidFill>
                  <a:srgbClr val="1F1F4F"/>
                </a:solidFill>
                <a:latin typeface="Proxima Nova Bold"/>
                <a:ea typeface="Proxima Nova Bold"/>
                <a:cs typeface="Proxima Nova Bold"/>
                <a:sym typeface="Proxima Nova Bold"/>
              </a:rPr>
              <a:t>VM Opérationnelle</a:t>
            </a:r>
          </a:p>
        </p:txBody>
      </p:sp>
      <p:sp>
        <p:nvSpPr>
          <p:cNvPr id="118" name="TextBox 73"/>
          <p:cNvSpPr txBox="1"/>
          <p:nvPr/>
        </p:nvSpPr>
        <p:spPr>
          <a:xfrm>
            <a:off x="11738560" y="5231549"/>
            <a:ext cx="3877664" cy="621030"/>
          </a:xfrm>
          <a:prstGeom prst="rect">
            <a:avLst/>
          </a:prstGeom>
        </p:spPr>
        <p:txBody>
          <a:bodyPr lIns="0" tIns="0" rIns="0" bIns="0" rtlCol="0" anchor="t">
            <a:spAutoFit/>
          </a:bodyPr>
          <a:lstStyle/>
          <a:p>
            <a:pPr algn="l">
              <a:lnSpc>
                <a:spcPts val="2519"/>
              </a:lnSpc>
            </a:pPr>
            <a:r>
              <a:rPr lang="en-US" sz="1799">
                <a:solidFill>
                  <a:srgbClr val="191919"/>
                </a:solidFill>
                <a:latin typeface="Proxima Nova"/>
                <a:ea typeface="Proxima Nova"/>
                <a:cs typeface="Proxima Nova"/>
                <a:sym typeface="Proxima Nova"/>
              </a:rPr>
              <a:t>VLAN + DHCP + règle pfSense · 30s</a:t>
            </a:r>
          </a:p>
          <a:p>
            <a:pPr algn="l">
              <a:lnSpc>
                <a:spcPts val="2519"/>
              </a:lnSpc>
            </a:pPr>
            <a:r>
              <a:rPr lang="en-US" sz="1799">
                <a:solidFill>
                  <a:srgbClr val="191919"/>
                </a:solidFill>
                <a:latin typeface="Proxima Nova"/>
                <a:ea typeface="Proxima Nova"/>
                <a:cs typeface="Proxima Nova"/>
                <a:sym typeface="Proxima Nova"/>
              </a:rPr>
              <a:t>Hostname · IP fixe · SSH keys · 1 min</a:t>
            </a:r>
          </a:p>
        </p:txBody>
      </p:sp>
    </p:spTree>
    <p:extLst>
      <p:ext uri="{BB962C8B-B14F-4D97-AF65-F5344CB8AC3E}">
        <p14:creationId xmlns:p14="http://schemas.microsoft.com/office/powerpoint/2010/main" val="9129098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75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5"/>
                                        </p:tgtEl>
                                        <p:attrNameLst>
                                          <p:attrName>style.visibility</p:attrName>
                                        </p:attrNameLst>
                                      </p:cBhvr>
                                      <p:to>
                                        <p:strVal val="visible"/>
                                      </p:to>
                                    </p:set>
                                    <p:anim calcmode="lin" valueType="num">
                                      <p:cBhvr additive="base">
                                        <p:cTn id="7" dur="500" fill="hold"/>
                                        <p:tgtEl>
                                          <p:spTgt spid="65"/>
                                        </p:tgtEl>
                                        <p:attrNameLst>
                                          <p:attrName>ppt_x</p:attrName>
                                        </p:attrNameLst>
                                      </p:cBhvr>
                                      <p:tavLst>
                                        <p:tav tm="0">
                                          <p:val>
                                            <p:strVal val="#ppt_x"/>
                                          </p:val>
                                        </p:tav>
                                        <p:tav tm="100000">
                                          <p:val>
                                            <p:strVal val="#ppt_x"/>
                                          </p:val>
                                        </p:tav>
                                      </p:tavLst>
                                    </p:anim>
                                    <p:anim calcmode="lin" valueType="num">
                                      <p:cBhvr additive="base">
                                        <p:cTn id="8" dur="500" fill="hold"/>
                                        <p:tgtEl>
                                          <p:spTgt spid="6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12"/>
                                        </p:tgtEl>
                                        <p:attrNameLst>
                                          <p:attrName>style.visibility</p:attrName>
                                        </p:attrNameLst>
                                      </p:cBhvr>
                                      <p:to>
                                        <p:strVal val="visible"/>
                                      </p:to>
                                    </p:set>
                                    <p:anim calcmode="lin" valueType="num">
                                      <p:cBhvr additive="base">
                                        <p:cTn id="11" dur="500" fill="hold"/>
                                        <p:tgtEl>
                                          <p:spTgt spid="112"/>
                                        </p:tgtEl>
                                        <p:attrNameLst>
                                          <p:attrName>ppt_x</p:attrName>
                                        </p:attrNameLst>
                                      </p:cBhvr>
                                      <p:tavLst>
                                        <p:tav tm="0">
                                          <p:val>
                                            <p:strVal val="#ppt_x"/>
                                          </p:val>
                                        </p:tav>
                                        <p:tav tm="100000">
                                          <p:val>
                                            <p:strVal val="#ppt_x"/>
                                          </p:val>
                                        </p:tav>
                                      </p:tavLst>
                                    </p:anim>
                                    <p:anim calcmode="lin" valueType="num">
                                      <p:cBhvr additive="base">
                                        <p:cTn id="12" dur="500" fill="hold"/>
                                        <p:tgtEl>
                                          <p:spTgt spid="11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 calcmode="lin" valueType="num">
                                      <p:cBhvr additive="base">
                                        <p:cTn id="15" dur="500" fill="hold"/>
                                        <p:tgtEl>
                                          <p:spTgt spid="111"/>
                                        </p:tgtEl>
                                        <p:attrNameLst>
                                          <p:attrName>ppt_x</p:attrName>
                                        </p:attrNameLst>
                                      </p:cBhvr>
                                      <p:tavLst>
                                        <p:tav tm="0">
                                          <p:val>
                                            <p:strVal val="#ppt_x"/>
                                          </p:val>
                                        </p:tav>
                                        <p:tav tm="100000">
                                          <p:val>
                                            <p:strVal val="#ppt_x"/>
                                          </p:val>
                                        </p:tav>
                                      </p:tavLst>
                                    </p:anim>
                                    <p:anim calcmode="lin" valueType="num">
                                      <p:cBhvr additive="base">
                                        <p:cTn id="16" dur="500" fill="hold"/>
                                        <p:tgtEl>
                                          <p:spTgt spid="1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anim calcmode="lin" valueType="num">
                                      <p:cBhvr>
                                        <p:cTn id="22" dur="1000" fill="hold"/>
                                        <p:tgtEl>
                                          <p:spTgt spid="53"/>
                                        </p:tgtEl>
                                        <p:attrNameLst>
                                          <p:attrName>ppt_x</p:attrName>
                                        </p:attrNameLst>
                                      </p:cBhvr>
                                      <p:tavLst>
                                        <p:tav tm="0">
                                          <p:val>
                                            <p:strVal val="#ppt_x"/>
                                          </p:val>
                                        </p:tav>
                                        <p:tav tm="100000">
                                          <p:val>
                                            <p:strVal val="#ppt_x"/>
                                          </p:val>
                                        </p:tav>
                                      </p:tavLst>
                                    </p:anim>
                                    <p:anim calcmode="lin" valueType="num">
                                      <p:cBhvr>
                                        <p:cTn id="23" dur="10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77"/>
                                        </p:tgtEl>
                                        <p:attrNameLst>
                                          <p:attrName>style.visibility</p:attrName>
                                        </p:attrNameLst>
                                      </p:cBhvr>
                                      <p:to>
                                        <p:strVal val="visible"/>
                                      </p:to>
                                    </p:set>
                                    <p:anim calcmode="lin" valueType="num">
                                      <p:cBhvr additive="base">
                                        <p:cTn id="28" dur="500" fill="hold"/>
                                        <p:tgtEl>
                                          <p:spTgt spid="77"/>
                                        </p:tgtEl>
                                        <p:attrNameLst>
                                          <p:attrName>ppt_x</p:attrName>
                                        </p:attrNameLst>
                                      </p:cBhvr>
                                      <p:tavLst>
                                        <p:tav tm="0">
                                          <p:val>
                                            <p:strVal val="#ppt_x"/>
                                          </p:val>
                                        </p:tav>
                                        <p:tav tm="100000">
                                          <p:val>
                                            <p:strVal val="#ppt_x"/>
                                          </p:val>
                                        </p:tav>
                                      </p:tavLst>
                                    </p:anim>
                                    <p:anim calcmode="lin" valueType="num">
                                      <p:cBhvr additive="base">
                                        <p:cTn id="29" dur="500" fill="hold"/>
                                        <p:tgtEl>
                                          <p:spTgt spid="7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13"/>
                                        </p:tgtEl>
                                        <p:attrNameLst>
                                          <p:attrName>style.visibility</p:attrName>
                                        </p:attrNameLst>
                                      </p:cBhvr>
                                      <p:to>
                                        <p:strVal val="visible"/>
                                      </p:to>
                                    </p:set>
                                    <p:anim calcmode="lin" valueType="num">
                                      <p:cBhvr additive="base">
                                        <p:cTn id="32" dur="500" fill="hold"/>
                                        <p:tgtEl>
                                          <p:spTgt spid="113"/>
                                        </p:tgtEl>
                                        <p:attrNameLst>
                                          <p:attrName>ppt_x</p:attrName>
                                        </p:attrNameLst>
                                      </p:cBhvr>
                                      <p:tavLst>
                                        <p:tav tm="0">
                                          <p:val>
                                            <p:strVal val="#ppt_x"/>
                                          </p:val>
                                        </p:tav>
                                        <p:tav tm="100000">
                                          <p:val>
                                            <p:strVal val="#ppt_x"/>
                                          </p:val>
                                        </p:tav>
                                      </p:tavLst>
                                    </p:anim>
                                    <p:anim calcmode="lin" valueType="num">
                                      <p:cBhvr additive="base">
                                        <p:cTn id="33" dur="500" fill="hold"/>
                                        <p:tgtEl>
                                          <p:spTgt spid="113"/>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118"/>
                                        </p:tgtEl>
                                        <p:attrNameLst>
                                          <p:attrName>style.visibility</p:attrName>
                                        </p:attrNameLst>
                                      </p:cBhvr>
                                      <p:to>
                                        <p:strVal val="visible"/>
                                      </p:to>
                                    </p:set>
                                    <p:anim calcmode="lin" valueType="num">
                                      <p:cBhvr additive="base">
                                        <p:cTn id="36" dur="500" fill="hold"/>
                                        <p:tgtEl>
                                          <p:spTgt spid="118"/>
                                        </p:tgtEl>
                                        <p:attrNameLst>
                                          <p:attrName>ppt_x</p:attrName>
                                        </p:attrNameLst>
                                      </p:cBhvr>
                                      <p:tavLst>
                                        <p:tav tm="0">
                                          <p:val>
                                            <p:strVal val="#ppt_x"/>
                                          </p:val>
                                        </p:tav>
                                        <p:tav tm="100000">
                                          <p:val>
                                            <p:strVal val="#ppt_x"/>
                                          </p:val>
                                        </p:tav>
                                      </p:tavLst>
                                    </p:anim>
                                    <p:anim calcmode="lin" valueType="num">
                                      <p:cBhvr additive="base">
                                        <p:cTn id="37" dur="500" fill="hold"/>
                                        <p:tgtEl>
                                          <p:spTgt spid="118"/>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0"/>
                                  </p:stCondLst>
                                  <p:childTnLst>
                                    <p:set>
                                      <p:cBhvr>
                                        <p:cTn id="39" dur="1" fill="hold">
                                          <p:stCondLst>
                                            <p:cond delay="0"/>
                                          </p:stCondLst>
                                        </p:cTn>
                                        <p:tgtEl>
                                          <p:spTgt spid="68"/>
                                        </p:tgtEl>
                                        <p:attrNameLst>
                                          <p:attrName>style.visibility</p:attrName>
                                        </p:attrNameLst>
                                      </p:cBhvr>
                                      <p:to>
                                        <p:strVal val="visible"/>
                                      </p:to>
                                    </p:set>
                                    <p:anim calcmode="lin" valueType="num">
                                      <p:cBhvr additive="base">
                                        <p:cTn id="40" dur="500" fill="hold"/>
                                        <p:tgtEl>
                                          <p:spTgt spid="68"/>
                                        </p:tgtEl>
                                        <p:attrNameLst>
                                          <p:attrName>ppt_x</p:attrName>
                                        </p:attrNameLst>
                                      </p:cBhvr>
                                      <p:tavLst>
                                        <p:tav tm="0">
                                          <p:val>
                                            <p:strVal val="#ppt_x"/>
                                          </p:val>
                                        </p:tav>
                                        <p:tav tm="100000">
                                          <p:val>
                                            <p:strVal val="#ppt_x"/>
                                          </p:val>
                                        </p:tav>
                                      </p:tavLst>
                                    </p:anim>
                                    <p:anim calcmode="lin" valueType="num">
                                      <p:cBhvr additive="base">
                                        <p:cTn id="41" dur="500" fill="hold"/>
                                        <p:tgtEl>
                                          <p:spTgt spid="68"/>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2" presetClass="entr" presetSubtype="4" fill="hold" nodeType="clickEffect">
                                  <p:stCondLst>
                                    <p:cond delay="0"/>
                                  </p:stCondLst>
                                  <p:childTnLst>
                                    <p:set>
                                      <p:cBhvr>
                                        <p:cTn id="45" dur="1" fill="hold">
                                          <p:stCondLst>
                                            <p:cond delay="0"/>
                                          </p:stCondLst>
                                        </p:cTn>
                                        <p:tgtEl>
                                          <p:spTgt spid="56"/>
                                        </p:tgtEl>
                                        <p:attrNameLst>
                                          <p:attrName>style.visibility</p:attrName>
                                        </p:attrNameLst>
                                      </p:cBhvr>
                                      <p:to>
                                        <p:strVal val="visible"/>
                                      </p:to>
                                    </p:set>
                                    <p:animEffect transition="in" filter="wipe(down)">
                                      <p:cBhvr>
                                        <p:cTn id="46" dur="500"/>
                                        <p:tgtEl>
                                          <p:spTgt spid="56"/>
                                        </p:tgtEl>
                                      </p:cBhvr>
                                    </p:animEffect>
                                  </p:childTnLst>
                                </p:cTn>
                              </p:par>
                              <p:par>
                                <p:cTn id="47" presetID="22" presetClass="entr" presetSubtype="4" fill="hold" nodeType="withEffect">
                                  <p:stCondLst>
                                    <p:cond delay="0"/>
                                  </p:stCondLst>
                                  <p:childTnLst>
                                    <p:set>
                                      <p:cBhvr>
                                        <p:cTn id="48" dur="1" fill="hold">
                                          <p:stCondLst>
                                            <p:cond delay="0"/>
                                          </p:stCondLst>
                                        </p:cTn>
                                        <p:tgtEl>
                                          <p:spTgt spid="71"/>
                                        </p:tgtEl>
                                        <p:attrNameLst>
                                          <p:attrName>style.visibility</p:attrName>
                                        </p:attrNameLst>
                                      </p:cBhvr>
                                      <p:to>
                                        <p:strVal val="visible"/>
                                      </p:to>
                                    </p:set>
                                    <p:animEffect transition="in" filter="wipe(down)">
                                      <p:cBhvr>
                                        <p:cTn id="49" dur="500"/>
                                        <p:tgtEl>
                                          <p:spTgt spid="71"/>
                                        </p:tgtEl>
                                      </p:cBhvr>
                                    </p:animEffect>
                                  </p:childTnLst>
                                </p:cTn>
                              </p:par>
                              <p:par>
                                <p:cTn id="50" presetID="22" presetClass="entr" presetSubtype="4" fill="hold" nodeType="withEffect">
                                  <p:stCondLst>
                                    <p:cond delay="0"/>
                                  </p:stCondLst>
                                  <p:childTnLst>
                                    <p:set>
                                      <p:cBhvr>
                                        <p:cTn id="51" dur="1" fill="hold">
                                          <p:stCondLst>
                                            <p:cond delay="0"/>
                                          </p:stCondLst>
                                        </p:cTn>
                                        <p:tgtEl>
                                          <p:spTgt spid="80"/>
                                        </p:tgtEl>
                                        <p:attrNameLst>
                                          <p:attrName>style.visibility</p:attrName>
                                        </p:attrNameLst>
                                      </p:cBhvr>
                                      <p:to>
                                        <p:strVal val="visible"/>
                                      </p:to>
                                    </p:set>
                                    <p:animEffect transition="in" filter="wipe(down)">
                                      <p:cBhvr>
                                        <p:cTn id="52" dur="500"/>
                                        <p:tgtEl>
                                          <p:spTgt spid="80"/>
                                        </p:tgtEl>
                                      </p:cBhvr>
                                    </p:animEffect>
                                  </p:childTnLst>
                                </p:cTn>
                              </p:par>
                              <p:par>
                                <p:cTn id="53" presetID="22" presetClass="entr" presetSubtype="4" fill="hold" grpId="0" nodeType="withEffect">
                                  <p:stCondLst>
                                    <p:cond delay="0"/>
                                  </p:stCondLst>
                                  <p:childTnLst>
                                    <p:set>
                                      <p:cBhvr>
                                        <p:cTn id="54" dur="1" fill="hold">
                                          <p:stCondLst>
                                            <p:cond delay="0"/>
                                          </p:stCondLst>
                                        </p:cTn>
                                        <p:tgtEl>
                                          <p:spTgt spid="115"/>
                                        </p:tgtEl>
                                        <p:attrNameLst>
                                          <p:attrName>style.visibility</p:attrName>
                                        </p:attrNameLst>
                                      </p:cBhvr>
                                      <p:to>
                                        <p:strVal val="visible"/>
                                      </p:to>
                                    </p:set>
                                    <p:animEffect transition="in" filter="wipe(down)">
                                      <p:cBhvr>
                                        <p:cTn id="55" dur="500"/>
                                        <p:tgtEl>
                                          <p:spTgt spid="115"/>
                                        </p:tgtEl>
                                      </p:cBhvr>
                                    </p:animEffect>
                                  </p:childTnLst>
                                </p:cTn>
                              </p:par>
                              <p:par>
                                <p:cTn id="56" presetID="22" presetClass="entr" presetSubtype="4" fill="hold" grpId="0"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wipe(down)">
                                      <p:cBhvr>
                                        <p:cTn id="58" dur="500"/>
                                        <p:tgtEl>
                                          <p:spTgt spid="114"/>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4" fill="hold" nodeType="clickEffect">
                                  <p:stCondLst>
                                    <p:cond delay="0"/>
                                  </p:stCondLst>
                                  <p:childTnLst>
                                    <p:set>
                                      <p:cBhvr>
                                        <p:cTn id="62" dur="1" fill="hold">
                                          <p:stCondLst>
                                            <p:cond delay="0"/>
                                          </p:stCondLst>
                                        </p:cTn>
                                        <p:tgtEl>
                                          <p:spTgt spid="59"/>
                                        </p:tgtEl>
                                        <p:attrNameLst>
                                          <p:attrName>style.visibility</p:attrName>
                                        </p:attrNameLst>
                                      </p:cBhvr>
                                      <p:to>
                                        <p:strVal val="visible"/>
                                      </p:to>
                                    </p:set>
                                    <p:animEffect transition="in" filter="wipe(down)">
                                      <p:cBhvr>
                                        <p:cTn id="63" dur="500"/>
                                        <p:tgtEl>
                                          <p:spTgt spid="59"/>
                                        </p:tgtEl>
                                      </p:cBhvr>
                                    </p:animEffect>
                                  </p:childTnLst>
                                </p:cTn>
                              </p:par>
                              <p:par>
                                <p:cTn id="64" presetID="22" presetClass="entr" presetSubtype="4" fill="hold" nodeType="withEffect">
                                  <p:stCondLst>
                                    <p:cond delay="0"/>
                                  </p:stCondLst>
                                  <p:childTnLst>
                                    <p:set>
                                      <p:cBhvr>
                                        <p:cTn id="65" dur="1" fill="hold">
                                          <p:stCondLst>
                                            <p:cond delay="0"/>
                                          </p:stCondLst>
                                        </p:cTn>
                                        <p:tgtEl>
                                          <p:spTgt spid="74"/>
                                        </p:tgtEl>
                                        <p:attrNameLst>
                                          <p:attrName>style.visibility</p:attrName>
                                        </p:attrNameLst>
                                      </p:cBhvr>
                                      <p:to>
                                        <p:strVal val="visible"/>
                                      </p:to>
                                    </p:set>
                                    <p:animEffect transition="in" filter="wipe(down)">
                                      <p:cBhvr>
                                        <p:cTn id="66" dur="500"/>
                                        <p:tgtEl>
                                          <p:spTgt spid="74"/>
                                        </p:tgtEl>
                                      </p:cBhvr>
                                    </p:animEffect>
                                  </p:childTnLst>
                                </p:cTn>
                              </p:par>
                              <p:par>
                                <p:cTn id="67" presetID="22" presetClass="entr" presetSubtype="4" fill="hold" nodeType="withEffect">
                                  <p:stCondLst>
                                    <p:cond delay="0"/>
                                  </p:stCondLst>
                                  <p:childTnLst>
                                    <p:set>
                                      <p:cBhvr>
                                        <p:cTn id="68" dur="1" fill="hold">
                                          <p:stCondLst>
                                            <p:cond delay="0"/>
                                          </p:stCondLst>
                                        </p:cTn>
                                        <p:tgtEl>
                                          <p:spTgt spid="83"/>
                                        </p:tgtEl>
                                        <p:attrNameLst>
                                          <p:attrName>style.visibility</p:attrName>
                                        </p:attrNameLst>
                                      </p:cBhvr>
                                      <p:to>
                                        <p:strVal val="visible"/>
                                      </p:to>
                                    </p:set>
                                    <p:animEffect transition="in" filter="wipe(down)">
                                      <p:cBhvr>
                                        <p:cTn id="69" dur="500"/>
                                        <p:tgtEl>
                                          <p:spTgt spid="83"/>
                                        </p:tgtEl>
                                      </p:cBhvr>
                                    </p:animEffect>
                                  </p:childTnLst>
                                </p:cTn>
                              </p:par>
                              <p:par>
                                <p:cTn id="70" presetID="22" presetClass="entr" presetSubtype="4" fill="hold" grpId="0" nodeType="with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wipe(down)">
                                      <p:cBhvr>
                                        <p:cTn id="72" dur="500"/>
                                        <p:tgtEl>
                                          <p:spTgt spid="117"/>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4" fill="hold" nodeType="clickEffect">
                                  <p:stCondLst>
                                    <p:cond delay="0"/>
                                  </p:stCondLst>
                                  <p:childTnLst>
                                    <p:set>
                                      <p:cBhvr>
                                        <p:cTn id="76" dur="1" fill="hold">
                                          <p:stCondLst>
                                            <p:cond delay="0"/>
                                          </p:stCondLst>
                                        </p:cTn>
                                        <p:tgtEl>
                                          <p:spTgt spid="62"/>
                                        </p:tgtEl>
                                        <p:attrNameLst>
                                          <p:attrName>style.visibility</p:attrName>
                                        </p:attrNameLst>
                                      </p:cBhvr>
                                      <p:to>
                                        <p:strVal val="visible"/>
                                      </p:to>
                                    </p:set>
                                    <p:animEffect transition="in" filter="wipe(down)">
                                      <p:cBhvr>
                                        <p:cTn id="77" dur="500"/>
                                        <p:tgtEl>
                                          <p:spTgt spid="62"/>
                                        </p:tgtEl>
                                      </p:cBhvr>
                                    </p:animEffect>
                                  </p:childTnLst>
                                </p:cTn>
                              </p:par>
                              <p:par>
                                <p:cTn id="78" presetID="22" presetClass="entr" presetSubtype="4" fill="hold" grpId="0" nodeType="withEffect">
                                  <p:stCondLst>
                                    <p:cond delay="0"/>
                                  </p:stCondLst>
                                  <p:childTnLst>
                                    <p:set>
                                      <p:cBhvr>
                                        <p:cTn id="79" dur="1" fill="hold">
                                          <p:stCondLst>
                                            <p:cond delay="0"/>
                                          </p:stCondLst>
                                        </p:cTn>
                                        <p:tgtEl>
                                          <p:spTgt spid="116"/>
                                        </p:tgtEl>
                                        <p:attrNameLst>
                                          <p:attrName>style.visibility</p:attrName>
                                        </p:attrNameLst>
                                      </p:cBhvr>
                                      <p:to>
                                        <p:strVal val="visible"/>
                                      </p:to>
                                    </p:set>
                                    <p:animEffect transition="in" filter="wipe(down)">
                                      <p:cBhvr>
                                        <p:cTn id="80"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 grpId="0"/>
      <p:bldP spid="112" grpId="0"/>
      <p:bldP spid="113" grpId="0"/>
      <p:bldP spid="114" grpId="0"/>
      <p:bldP spid="115" grpId="0"/>
      <p:bldP spid="116" grpId="0"/>
      <p:bldP spid="117" grpId="0"/>
      <p:bldP spid="1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074003"/>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solidFill>
                <a:sym typeface="TT Fors Bold"/>
              </a:rPr>
              <a:t>Backup</a:t>
            </a:r>
            <a:r>
              <a:rPr lang="en-US" sz="2400" b="1" dirty="0">
                <a:solidFill>
                  <a:schemeClr val="bg1">
                    <a:lumMod val="50000"/>
                  </a:schemeClr>
                </a:solidFill>
                <a:sym typeface="TT Fors Bold"/>
              </a:rPr>
              <a:t> </a:t>
            </a:r>
            <a:r>
              <a:rPr lang="en-US" sz="2400" b="1" dirty="0">
                <a:solidFill>
                  <a:schemeClr val="bg1"/>
                </a:solidFill>
                <a:sym typeface="TT Fors Bold"/>
              </a:rPr>
              <a:t>&amp;</a:t>
            </a:r>
            <a:r>
              <a:rPr lang="en-US" sz="2400" b="1" dirty="0">
                <a:solidFill>
                  <a:schemeClr val="bg1">
                    <a:lumMod val="50000"/>
                  </a:schemeClr>
                </a:solidFill>
                <a:sym typeface="TT Fors Bold"/>
              </a:rPr>
              <a:t> </a:t>
            </a:r>
            <a:r>
              <a:rPr lang="en-US" sz="2400" b="1" dirty="0">
                <a:solidFill>
                  <a:schemeClr val="bg1"/>
                </a:solidFill>
                <a:sym typeface="TT Fors Bold"/>
              </a:rPr>
              <a:t>Disaster</a:t>
            </a:r>
            <a:r>
              <a:rPr lang="en-US" sz="2400" b="1" dirty="0">
                <a:solidFill>
                  <a:schemeClr val="bg1">
                    <a:lumMod val="50000"/>
                  </a:schemeClr>
                </a:solidFill>
                <a:sym typeface="TT Fors Bold"/>
              </a:rPr>
              <a:t> </a:t>
            </a:r>
            <a:r>
              <a:rPr lang="en-US" sz="2400" b="1" dirty="0">
                <a:solidFill>
                  <a:schemeClr val="bg1"/>
                </a:solidFill>
                <a:sym typeface="TT Fors Bold"/>
              </a:rPr>
              <a:t>Recovery</a:t>
            </a:r>
            <a:endParaRPr lang="fr-FR" sz="2400" b="1" dirty="0">
              <a:solidFill>
                <a:schemeClr val="bg1"/>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12801600"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2400" b="1" smtClean="0"/>
              <a:pPr/>
              <a:t>23</a:t>
            </a:fld>
            <a:endParaRPr lang="en-US" sz="1600" b="1" dirty="0"/>
          </a:p>
        </p:txBody>
      </p:sp>
      <p:grpSp>
        <p:nvGrpSpPr>
          <p:cNvPr id="13" name="Group 2"/>
          <p:cNvGrpSpPr/>
          <p:nvPr/>
        </p:nvGrpSpPr>
        <p:grpSpPr>
          <a:xfrm>
            <a:off x="12739392" y="5539947"/>
            <a:ext cx="4927505" cy="2552103"/>
            <a:chOff x="0" y="0"/>
            <a:chExt cx="1745987" cy="904299"/>
          </a:xfrm>
        </p:grpSpPr>
        <p:sp>
          <p:nvSpPr>
            <p:cNvPr id="14" name="Freeform 3"/>
            <p:cNvSpPr/>
            <p:nvPr/>
          </p:nvSpPr>
          <p:spPr>
            <a:xfrm>
              <a:off x="0" y="0"/>
              <a:ext cx="1745987" cy="904299"/>
            </a:xfrm>
            <a:custGeom>
              <a:avLst/>
              <a:gdLst/>
              <a:ahLst/>
              <a:cxnLst/>
              <a:rect l="l" t="t" r="r" b="b"/>
              <a:pathLst>
                <a:path w="1745987" h="904299">
                  <a:moveTo>
                    <a:pt x="4713" y="0"/>
                  </a:moveTo>
                  <a:lnTo>
                    <a:pt x="1741274" y="0"/>
                  </a:lnTo>
                  <a:cubicBezTo>
                    <a:pt x="1742524" y="0"/>
                    <a:pt x="1743723" y="497"/>
                    <a:pt x="1744607" y="1381"/>
                  </a:cubicBezTo>
                  <a:cubicBezTo>
                    <a:pt x="1745491" y="2265"/>
                    <a:pt x="1745987" y="3463"/>
                    <a:pt x="1745987" y="4713"/>
                  </a:cubicBezTo>
                  <a:lnTo>
                    <a:pt x="1745987" y="899586"/>
                  </a:lnTo>
                  <a:cubicBezTo>
                    <a:pt x="1745987" y="900836"/>
                    <a:pt x="1745491" y="902035"/>
                    <a:pt x="1744607" y="902919"/>
                  </a:cubicBezTo>
                  <a:cubicBezTo>
                    <a:pt x="1743723" y="903803"/>
                    <a:pt x="1742524" y="904299"/>
                    <a:pt x="1741274" y="904299"/>
                  </a:cubicBezTo>
                  <a:lnTo>
                    <a:pt x="4713" y="904299"/>
                  </a:lnTo>
                  <a:cubicBezTo>
                    <a:pt x="3463" y="904299"/>
                    <a:pt x="2265" y="903803"/>
                    <a:pt x="1381" y="902919"/>
                  </a:cubicBezTo>
                  <a:cubicBezTo>
                    <a:pt x="497" y="902035"/>
                    <a:pt x="0" y="900836"/>
                    <a:pt x="0" y="899586"/>
                  </a:cubicBezTo>
                  <a:lnTo>
                    <a:pt x="0" y="4713"/>
                  </a:lnTo>
                  <a:cubicBezTo>
                    <a:pt x="0" y="3463"/>
                    <a:pt x="497" y="2265"/>
                    <a:pt x="1381" y="1381"/>
                  </a:cubicBezTo>
                  <a:cubicBezTo>
                    <a:pt x="2265" y="497"/>
                    <a:pt x="3463" y="0"/>
                    <a:pt x="4713" y="0"/>
                  </a:cubicBezTo>
                  <a:close/>
                </a:path>
              </a:pathLst>
            </a:custGeom>
            <a:solidFill>
              <a:srgbClr val="D9D9D9"/>
            </a:solidFill>
            <a:ln cap="sq">
              <a:noFill/>
              <a:prstDash val="solid"/>
              <a:miter/>
            </a:ln>
          </p:spPr>
        </p:sp>
        <p:sp>
          <p:nvSpPr>
            <p:cNvPr id="15" name="TextBox 4"/>
            <p:cNvSpPr txBox="1"/>
            <p:nvPr/>
          </p:nvSpPr>
          <p:spPr>
            <a:xfrm>
              <a:off x="0" y="0"/>
              <a:ext cx="1745987" cy="904299"/>
            </a:xfrm>
            <a:prstGeom prst="rect">
              <a:avLst/>
            </a:prstGeom>
          </p:spPr>
          <p:txBody>
            <a:bodyPr lIns="50800" tIns="50800" rIns="50800" bIns="50800" rtlCol="0" anchor="ctr"/>
            <a:lstStyle/>
            <a:p>
              <a:pPr algn="ctr">
                <a:lnSpc>
                  <a:spcPts val="2160"/>
                </a:lnSpc>
              </a:pPr>
              <a:endParaRPr/>
            </a:p>
          </p:txBody>
        </p:sp>
      </p:grpSp>
      <p:pic>
        <p:nvPicPr>
          <p:cNvPr id="19" name="Picture 8"/>
          <p:cNvPicPr>
            <a:picLocks noChangeAspect="1"/>
          </p:cNvPicPr>
          <p:nvPr/>
        </p:nvPicPr>
        <p:blipFill>
          <a:blip r:embed="rId4"/>
          <a:stretch>
            <a:fillRect/>
          </a:stretch>
        </p:blipFill>
        <p:spPr>
          <a:xfrm>
            <a:off x="9167117" y="5551479"/>
            <a:ext cx="2190548" cy="2190548"/>
          </a:xfrm>
          <a:prstGeom prst="rect">
            <a:avLst/>
          </a:prstGeom>
        </p:spPr>
      </p:pic>
      <p:grpSp>
        <p:nvGrpSpPr>
          <p:cNvPr id="21" name="Group 10"/>
          <p:cNvGrpSpPr/>
          <p:nvPr/>
        </p:nvGrpSpPr>
        <p:grpSpPr>
          <a:xfrm>
            <a:off x="11697487" y="6328927"/>
            <a:ext cx="704754" cy="704754"/>
            <a:chOff x="0" y="0"/>
            <a:chExt cx="812800" cy="812800"/>
          </a:xfrm>
        </p:grpSpPr>
        <p:sp>
          <p:nvSpPr>
            <p:cNvPr id="22" name="Freeform 11"/>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B7D1D1"/>
            </a:solidFill>
          </p:spPr>
        </p:sp>
        <p:sp>
          <p:nvSpPr>
            <p:cNvPr id="23" name="TextBox 12"/>
            <p:cNvSpPr txBox="1"/>
            <p:nvPr/>
          </p:nvSpPr>
          <p:spPr>
            <a:xfrm>
              <a:off x="0" y="203200"/>
              <a:ext cx="711200" cy="406400"/>
            </a:xfrm>
            <a:prstGeom prst="rect">
              <a:avLst/>
            </a:prstGeom>
          </p:spPr>
          <p:txBody>
            <a:bodyPr lIns="50800" tIns="50800" rIns="50800" bIns="50800" rtlCol="0" anchor="ctr"/>
            <a:lstStyle/>
            <a:p>
              <a:pPr algn="ctr">
                <a:lnSpc>
                  <a:spcPts val="2160"/>
                </a:lnSpc>
              </a:pPr>
              <a:endParaRPr/>
            </a:p>
          </p:txBody>
        </p:sp>
      </p:grpSp>
      <p:sp>
        <p:nvSpPr>
          <p:cNvPr id="27" name="Freeform 16"/>
          <p:cNvSpPr/>
          <p:nvPr/>
        </p:nvSpPr>
        <p:spPr>
          <a:xfrm>
            <a:off x="9770769" y="6152302"/>
            <a:ext cx="983245" cy="983245"/>
          </a:xfrm>
          <a:custGeom>
            <a:avLst/>
            <a:gdLst/>
            <a:ahLst/>
            <a:cxnLst/>
            <a:rect l="l" t="t" r="r" b="b"/>
            <a:pathLst>
              <a:path w="983245" h="983245">
                <a:moveTo>
                  <a:pt x="0" y="0"/>
                </a:moveTo>
                <a:lnTo>
                  <a:pt x="983246" y="0"/>
                </a:lnTo>
                <a:lnTo>
                  <a:pt x="983246" y="983246"/>
                </a:lnTo>
                <a:lnTo>
                  <a:pt x="0" y="983246"/>
                </a:lnTo>
                <a:lnTo>
                  <a:pt x="0" y="0"/>
                </a:lnTo>
                <a:close/>
              </a:path>
            </a:pathLst>
          </a:custGeom>
          <a:blipFill>
            <a:blip r:embed="rId5">
              <a:extLst>
                <a:ext uri="{96DAC541-7B7A-43D3-8B79-37D633B846F1}">
                  <asvg:svgBlip xmlns="" xmlns:asvg="http://schemas.microsoft.com/office/drawing/2016/SVG/main" r:embed="rId7"/>
                </a:ext>
              </a:extLst>
            </a:blip>
            <a:stretch>
              <a:fillRect/>
            </a:stretch>
          </a:blipFill>
        </p:spPr>
      </p:sp>
      <p:sp>
        <p:nvSpPr>
          <p:cNvPr id="29" name="TextBox 18"/>
          <p:cNvSpPr txBox="1"/>
          <p:nvPr/>
        </p:nvSpPr>
        <p:spPr>
          <a:xfrm>
            <a:off x="12846590" y="5638775"/>
            <a:ext cx="5020037" cy="2313080"/>
          </a:xfrm>
          <a:prstGeom prst="rect">
            <a:avLst/>
          </a:prstGeom>
        </p:spPr>
        <p:txBody>
          <a:bodyPr lIns="0" tIns="0" rIns="0" bIns="0" rtlCol="0" anchor="t">
            <a:spAutoFit/>
          </a:bodyPr>
          <a:lstStyle/>
          <a:p>
            <a:pPr marL="380435" lvl="1" indent="-190217" algn="l">
              <a:lnSpc>
                <a:spcPts val="3101"/>
              </a:lnSpc>
              <a:buFont typeface="Arial"/>
              <a:buChar char="•"/>
            </a:pPr>
            <a:r>
              <a:rPr lang="en-US" sz="1762" dirty="0" err="1">
                <a:solidFill>
                  <a:srgbClr val="000000"/>
                </a:solidFill>
                <a:latin typeface="Open Sauce"/>
                <a:ea typeface="Open Sauce"/>
                <a:cs typeface="Open Sauce"/>
                <a:sym typeface="Open Sauce"/>
              </a:rPr>
              <a:t>Détection</a:t>
            </a:r>
            <a:r>
              <a:rPr lang="en-US" sz="1762" dirty="0">
                <a:solidFill>
                  <a:srgbClr val="000000"/>
                </a:solidFill>
                <a:latin typeface="Open Sauce"/>
                <a:ea typeface="Open Sauce"/>
                <a:cs typeface="Open Sauce"/>
                <a:sym typeface="Open Sauce"/>
              </a:rPr>
              <a:t> </a:t>
            </a:r>
            <a:r>
              <a:rPr lang="en-US" sz="1762" dirty="0" err="1">
                <a:solidFill>
                  <a:srgbClr val="000000"/>
                </a:solidFill>
                <a:latin typeface="Open Sauce"/>
                <a:ea typeface="Open Sauce"/>
                <a:cs typeface="Open Sauce"/>
                <a:sym typeface="Open Sauce"/>
              </a:rPr>
              <a:t>panne</a:t>
            </a:r>
            <a:r>
              <a:rPr lang="en-US" sz="1762" dirty="0">
                <a:solidFill>
                  <a:srgbClr val="000000"/>
                </a:solidFill>
                <a:latin typeface="Open Sauce"/>
                <a:ea typeface="Open Sauce"/>
                <a:cs typeface="Open Sauce"/>
                <a:sym typeface="Open Sauce"/>
              </a:rPr>
              <a:t> (timeout API &lt; 30s)</a:t>
            </a:r>
          </a:p>
          <a:p>
            <a:pPr marL="380435" lvl="1" indent="-190217" algn="l">
              <a:lnSpc>
                <a:spcPts val="3101"/>
              </a:lnSpc>
              <a:buFont typeface="Arial"/>
              <a:buChar char="•"/>
            </a:pPr>
            <a:r>
              <a:rPr lang="en-US" sz="1762" dirty="0" err="1">
                <a:solidFill>
                  <a:srgbClr val="000000"/>
                </a:solidFill>
                <a:latin typeface="Open Sauce"/>
                <a:ea typeface="Open Sauce"/>
                <a:cs typeface="Open Sauce"/>
                <a:sym typeface="Open Sauce"/>
              </a:rPr>
              <a:t>Sélection</a:t>
            </a:r>
            <a:r>
              <a:rPr lang="en-US" sz="1762" dirty="0">
                <a:solidFill>
                  <a:srgbClr val="000000"/>
                </a:solidFill>
                <a:latin typeface="Open Sauce"/>
                <a:ea typeface="Open Sauce"/>
                <a:cs typeface="Open Sauce"/>
                <a:sym typeface="Open Sauce"/>
              </a:rPr>
              <a:t> backup PBS (dernier </a:t>
            </a:r>
            <a:r>
              <a:rPr lang="en-US" sz="1762" dirty="0" err="1">
                <a:solidFill>
                  <a:srgbClr val="000000"/>
                </a:solidFill>
                <a:latin typeface="Open Sauce"/>
                <a:ea typeface="Open Sauce"/>
                <a:cs typeface="Open Sauce"/>
                <a:sym typeface="Open Sauce"/>
              </a:rPr>
              <a:t>valide</a:t>
            </a:r>
            <a:r>
              <a:rPr lang="en-US" sz="1762" dirty="0">
                <a:solidFill>
                  <a:srgbClr val="000000"/>
                </a:solidFill>
                <a:latin typeface="Open Sauce"/>
                <a:ea typeface="Open Sauce"/>
                <a:cs typeface="Open Sauce"/>
                <a:sym typeface="Open Sauce"/>
              </a:rPr>
              <a:t>)</a:t>
            </a:r>
          </a:p>
          <a:p>
            <a:pPr marL="380435" lvl="1" indent="-190217" algn="l">
              <a:lnSpc>
                <a:spcPts val="3101"/>
              </a:lnSpc>
              <a:buFont typeface="Arial"/>
              <a:buChar char="•"/>
            </a:pPr>
            <a:r>
              <a:rPr lang="en-US" sz="1762" dirty="0">
                <a:solidFill>
                  <a:srgbClr val="000000"/>
                </a:solidFill>
                <a:latin typeface="Open Sauce"/>
                <a:ea typeface="Open Sauce"/>
                <a:cs typeface="Open Sauce"/>
                <a:sym typeface="Open Sauce"/>
              </a:rPr>
              <a:t>Restauration sur </a:t>
            </a:r>
            <a:r>
              <a:rPr lang="en-US" sz="1762" dirty="0" err="1">
                <a:solidFill>
                  <a:srgbClr val="000000"/>
                </a:solidFill>
                <a:latin typeface="Open Sauce"/>
                <a:ea typeface="Open Sauce"/>
                <a:cs typeface="Open Sauce"/>
                <a:sym typeface="Open Sauce"/>
              </a:rPr>
              <a:t>nœud</a:t>
            </a:r>
            <a:r>
              <a:rPr lang="en-US" sz="1762" dirty="0">
                <a:solidFill>
                  <a:srgbClr val="000000"/>
                </a:solidFill>
                <a:latin typeface="Open Sauce"/>
                <a:ea typeface="Open Sauce"/>
                <a:cs typeface="Open Sauce"/>
                <a:sym typeface="Open Sauce"/>
              </a:rPr>
              <a:t> </a:t>
            </a:r>
            <a:r>
              <a:rPr lang="en-US" sz="1762" dirty="0" err="1">
                <a:solidFill>
                  <a:srgbClr val="000000"/>
                </a:solidFill>
                <a:latin typeface="Open Sauce"/>
                <a:ea typeface="Open Sauce"/>
                <a:cs typeface="Open Sauce"/>
                <a:sym typeface="Open Sauce"/>
              </a:rPr>
              <a:t>disponible</a:t>
            </a:r>
            <a:r>
              <a:rPr lang="en-US" sz="1762" dirty="0">
                <a:solidFill>
                  <a:srgbClr val="000000"/>
                </a:solidFill>
                <a:latin typeface="Open Sauce"/>
                <a:ea typeface="Open Sauce"/>
                <a:cs typeface="Open Sauce"/>
                <a:sym typeface="Open Sauce"/>
              </a:rPr>
              <a:t> (3-8 min)</a:t>
            </a:r>
          </a:p>
          <a:p>
            <a:pPr marL="380435" lvl="1" indent="-190217" algn="l">
              <a:lnSpc>
                <a:spcPts val="3101"/>
              </a:lnSpc>
              <a:buFont typeface="Arial"/>
              <a:buChar char="•"/>
            </a:pPr>
            <a:r>
              <a:rPr lang="en-US" sz="1762" dirty="0">
                <a:solidFill>
                  <a:srgbClr val="000000"/>
                </a:solidFill>
                <a:latin typeface="Open Sauce"/>
                <a:ea typeface="Open Sauce"/>
                <a:cs typeface="Open Sauce"/>
                <a:sym typeface="Open Sauce"/>
              </a:rPr>
              <a:t>Validation + rapport email DSI</a:t>
            </a:r>
          </a:p>
          <a:p>
            <a:pPr marL="380435" lvl="1" indent="-190217" algn="l">
              <a:lnSpc>
                <a:spcPts val="3101"/>
              </a:lnSpc>
              <a:buFont typeface="Arial"/>
              <a:buChar char="•"/>
            </a:pPr>
            <a:r>
              <a:rPr lang="en-US" sz="1762" dirty="0">
                <a:solidFill>
                  <a:srgbClr val="000000"/>
                </a:solidFill>
                <a:latin typeface="Open Sauce"/>
                <a:ea typeface="Open Sauce"/>
                <a:cs typeface="Open Sauce"/>
                <a:sym typeface="Open Sauce"/>
              </a:rPr>
              <a:t>Reconfiguration </a:t>
            </a:r>
            <a:r>
              <a:rPr lang="en-US" sz="1762" dirty="0" err="1">
                <a:solidFill>
                  <a:srgbClr val="000000"/>
                </a:solidFill>
                <a:latin typeface="Open Sauce"/>
                <a:ea typeface="Open Sauce"/>
                <a:cs typeface="Open Sauce"/>
                <a:sym typeface="Open Sauce"/>
              </a:rPr>
              <a:t>réseau</a:t>
            </a:r>
            <a:r>
              <a:rPr lang="en-US" sz="1762" dirty="0">
                <a:solidFill>
                  <a:srgbClr val="000000"/>
                </a:solidFill>
                <a:latin typeface="Open Sauce"/>
                <a:ea typeface="Open Sauce"/>
                <a:cs typeface="Open Sauce"/>
                <a:sym typeface="Open Sauce"/>
              </a:rPr>
              <a:t> VLAN / </a:t>
            </a:r>
            <a:r>
              <a:rPr lang="en-US" sz="1762" dirty="0" err="1">
                <a:solidFill>
                  <a:srgbClr val="000000"/>
                </a:solidFill>
                <a:latin typeface="Open Sauce"/>
                <a:ea typeface="Open Sauce"/>
                <a:cs typeface="Open Sauce"/>
                <a:sym typeface="Open Sauce"/>
              </a:rPr>
              <a:t>pfSense</a:t>
            </a:r>
            <a:endParaRPr lang="en-US" sz="1762" dirty="0">
              <a:solidFill>
                <a:srgbClr val="000000"/>
              </a:solidFill>
              <a:latin typeface="Open Sauce"/>
              <a:ea typeface="Open Sauce"/>
              <a:cs typeface="Open Sauce"/>
              <a:sym typeface="Open Sauce"/>
            </a:endParaRPr>
          </a:p>
        </p:txBody>
      </p:sp>
      <p:sp>
        <p:nvSpPr>
          <p:cNvPr id="31" name="TextBox 20"/>
          <p:cNvSpPr txBox="1"/>
          <p:nvPr/>
        </p:nvSpPr>
        <p:spPr>
          <a:xfrm>
            <a:off x="12739392" y="5084402"/>
            <a:ext cx="4927505" cy="320601"/>
          </a:xfrm>
          <a:prstGeom prst="rect">
            <a:avLst/>
          </a:prstGeom>
        </p:spPr>
        <p:txBody>
          <a:bodyPr lIns="0" tIns="0" rIns="0" bIns="0" rtlCol="0" anchor="t">
            <a:spAutoFit/>
          </a:bodyPr>
          <a:lstStyle/>
          <a:p>
            <a:pPr algn="l">
              <a:lnSpc>
                <a:spcPts val="2497"/>
              </a:lnSpc>
            </a:pPr>
            <a:r>
              <a:rPr lang="en-US" sz="2081" b="1" dirty="0" smtClean="0">
                <a:solidFill>
                  <a:srgbClr val="116176"/>
                </a:solidFill>
                <a:latin typeface="Open Sauce Bold"/>
                <a:ea typeface="Open Sauce Bold"/>
                <a:cs typeface="Open Sauce Bold"/>
                <a:sym typeface="Open Sauce Bold"/>
              </a:rPr>
              <a:t>restore.sh </a:t>
            </a:r>
            <a:r>
              <a:rPr lang="en-US" sz="2081" b="1" dirty="0">
                <a:solidFill>
                  <a:srgbClr val="116176"/>
                </a:solidFill>
                <a:latin typeface="Open Sauce Bold"/>
                <a:ea typeface="Open Sauce Bold"/>
                <a:cs typeface="Open Sauce Bold"/>
                <a:sym typeface="Open Sauce Bold"/>
              </a:rPr>
              <a:t>- DR VMs</a:t>
            </a:r>
          </a:p>
        </p:txBody>
      </p:sp>
      <p:sp>
        <p:nvSpPr>
          <p:cNvPr id="46" name="Freeform 34"/>
          <p:cNvSpPr/>
          <p:nvPr/>
        </p:nvSpPr>
        <p:spPr>
          <a:xfrm>
            <a:off x="760173" y="7933348"/>
            <a:ext cx="8166315" cy="563632"/>
          </a:xfrm>
          <a:custGeom>
            <a:avLst/>
            <a:gdLst/>
            <a:ahLst/>
            <a:cxnLst/>
            <a:rect l="l" t="t" r="r" b="b"/>
            <a:pathLst>
              <a:path w="8166315" h="563632">
                <a:moveTo>
                  <a:pt x="0" y="0"/>
                </a:moveTo>
                <a:lnTo>
                  <a:pt x="8166315" y="0"/>
                </a:lnTo>
                <a:lnTo>
                  <a:pt x="8166315" y="563632"/>
                </a:lnTo>
                <a:lnTo>
                  <a:pt x="0" y="563632"/>
                </a:lnTo>
                <a:lnTo>
                  <a:pt x="0" y="0"/>
                </a:lnTo>
                <a:close/>
              </a:path>
            </a:pathLst>
          </a:custGeom>
          <a:blipFill>
            <a:blip r:embed="rId8">
              <a:alphaModFix amt="67000"/>
            </a:blip>
            <a:stretch>
              <a:fillRect t="-15857" b="-15857"/>
            </a:stretch>
          </a:blipFill>
        </p:spPr>
      </p:sp>
      <p:grpSp>
        <p:nvGrpSpPr>
          <p:cNvPr id="47" name="Group 35"/>
          <p:cNvGrpSpPr/>
          <p:nvPr/>
        </p:nvGrpSpPr>
        <p:grpSpPr>
          <a:xfrm>
            <a:off x="760173" y="4577887"/>
            <a:ext cx="8166315" cy="3502079"/>
            <a:chOff x="0" y="0"/>
            <a:chExt cx="1243832" cy="533410"/>
          </a:xfrm>
        </p:grpSpPr>
        <p:sp>
          <p:nvSpPr>
            <p:cNvPr id="48" name="Freeform 36"/>
            <p:cNvSpPr/>
            <p:nvPr/>
          </p:nvSpPr>
          <p:spPr>
            <a:xfrm>
              <a:off x="0" y="0"/>
              <a:ext cx="1243832" cy="533410"/>
            </a:xfrm>
            <a:custGeom>
              <a:avLst/>
              <a:gdLst/>
              <a:ahLst/>
              <a:cxnLst/>
              <a:rect l="l" t="t" r="r" b="b"/>
              <a:pathLst>
                <a:path w="1243832" h="533410">
                  <a:moveTo>
                    <a:pt x="18013" y="0"/>
                  </a:moveTo>
                  <a:lnTo>
                    <a:pt x="1225819" y="0"/>
                  </a:lnTo>
                  <a:cubicBezTo>
                    <a:pt x="1230597" y="0"/>
                    <a:pt x="1235178" y="1898"/>
                    <a:pt x="1238556" y="5276"/>
                  </a:cubicBezTo>
                  <a:cubicBezTo>
                    <a:pt x="1241934" y="8654"/>
                    <a:pt x="1243832" y="13235"/>
                    <a:pt x="1243832" y="18013"/>
                  </a:cubicBezTo>
                  <a:lnTo>
                    <a:pt x="1243832" y="515398"/>
                  </a:lnTo>
                  <a:cubicBezTo>
                    <a:pt x="1243832" y="525346"/>
                    <a:pt x="1235767" y="533410"/>
                    <a:pt x="1225819" y="533410"/>
                  </a:cubicBezTo>
                  <a:lnTo>
                    <a:pt x="18013" y="533410"/>
                  </a:lnTo>
                  <a:cubicBezTo>
                    <a:pt x="8065" y="533410"/>
                    <a:pt x="0" y="525346"/>
                    <a:pt x="0" y="515398"/>
                  </a:cubicBezTo>
                  <a:lnTo>
                    <a:pt x="0" y="18013"/>
                  </a:lnTo>
                  <a:cubicBezTo>
                    <a:pt x="0" y="8065"/>
                    <a:pt x="8065" y="0"/>
                    <a:pt x="18013" y="0"/>
                  </a:cubicBezTo>
                  <a:close/>
                </a:path>
              </a:pathLst>
            </a:custGeom>
            <a:solidFill>
              <a:srgbClr val="EFEFEF"/>
            </a:solidFill>
          </p:spPr>
        </p:sp>
        <p:sp>
          <p:nvSpPr>
            <p:cNvPr id="49" name="TextBox 37"/>
            <p:cNvSpPr txBox="1"/>
            <p:nvPr/>
          </p:nvSpPr>
          <p:spPr>
            <a:xfrm>
              <a:off x="0" y="-38100"/>
              <a:ext cx="1243832" cy="571510"/>
            </a:xfrm>
            <a:prstGeom prst="rect">
              <a:avLst/>
            </a:prstGeom>
          </p:spPr>
          <p:txBody>
            <a:bodyPr lIns="50800" tIns="50800" rIns="50800" bIns="50800" rtlCol="0" anchor="ctr"/>
            <a:lstStyle/>
            <a:p>
              <a:pPr algn="ctr">
                <a:lnSpc>
                  <a:spcPts val="2520"/>
                </a:lnSpc>
              </a:pPr>
              <a:endParaRPr/>
            </a:p>
          </p:txBody>
        </p:sp>
      </p:grpSp>
      <p:grpSp>
        <p:nvGrpSpPr>
          <p:cNvPr id="50" name="Group 38"/>
          <p:cNvGrpSpPr/>
          <p:nvPr/>
        </p:nvGrpSpPr>
        <p:grpSpPr>
          <a:xfrm rot="-5400000">
            <a:off x="-378178" y="6187490"/>
            <a:ext cx="2276703" cy="282873"/>
            <a:chOff x="0" y="0"/>
            <a:chExt cx="4464845" cy="554743"/>
          </a:xfrm>
        </p:grpSpPr>
        <p:sp>
          <p:nvSpPr>
            <p:cNvPr id="51" name="Freeform 39"/>
            <p:cNvSpPr/>
            <p:nvPr/>
          </p:nvSpPr>
          <p:spPr>
            <a:xfrm>
              <a:off x="0" y="0"/>
              <a:ext cx="4464845" cy="554743"/>
            </a:xfrm>
            <a:custGeom>
              <a:avLst/>
              <a:gdLst/>
              <a:ahLst/>
              <a:cxnLst/>
              <a:rect l="l" t="t" r="r" b="b"/>
              <a:pathLst>
                <a:path w="4464845" h="554743">
                  <a:moveTo>
                    <a:pt x="4261645" y="0"/>
                  </a:moveTo>
                  <a:cubicBezTo>
                    <a:pt x="4373869" y="0"/>
                    <a:pt x="4464845" y="124183"/>
                    <a:pt x="4464845" y="277371"/>
                  </a:cubicBezTo>
                  <a:cubicBezTo>
                    <a:pt x="4464845" y="430559"/>
                    <a:pt x="4373869" y="554743"/>
                    <a:pt x="4261645" y="554743"/>
                  </a:cubicBezTo>
                  <a:lnTo>
                    <a:pt x="203200" y="554743"/>
                  </a:lnTo>
                  <a:cubicBezTo>
                    <a:pt x="90976" y="554743"/>
                    <a:pt x="0" y="430559"/>
                    <a:pt x="0" y="277371"/>
                  </a:cubicBezTo>
                  <a:cubicBezTo>
                    <a:pt x="0" y="124183"/>
                    <a:pt x="90976" y="0"/>
                    <a:pt x="203200" y="0"/>
                  </a:cubicBezTo>
                  <a:close/>
                </a:path>
              </a:pathLst>
            </a:custGeom>
            <a:solidFill>
              <a:srgbClr val="02B2E4"/>
            </a:solidFill>
          </p:spPr>
        </p:sp>
        <p:sp>
          <p:nvSpPr>
            <p:cNvPr id="52" name="TextBox 40"/>
            <p:cNvSpPr txBox="1"/>
            <p:nvPr/>
          </p:nvSpPr>
          <p:spPr>
            <a:xfrm>
              <a:off x="0" y="-38100"/>
              <a:ext cx="4464845" cy="592843"/>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53" name="Group 41"/>
          <p:cNvGrpSpPr/>
          <p:nvPr/>
        </p:nvGrpSpPr>
        <p:grpSpPr>
          <a:xfrm rot="-5400000">
            <a:off x="815627" y="5988204"/>
            <a:ext cx="570538" cy="681445"/>
            <a:chOff x="0" y="0"/>
            <a:chExt cx="812800" cy="970800"/>
          </a:xfrm>
        </p:grpSpPr>
        <p:sp>
          <p:nvSpPr>
            <p:cNvPr id="54" name="Freeform 42"/>
            <p:cNvSpPr/>
            <p:nvPr/>
          </p:nvSpPr>
          <p:spPr>
            <a:xfrm>
              <a:off x="0" y="0"/>
              <a:ext cx="812800" cy="970800"/>
            </a:xfrm>
            <a:custGeom>
              <a:avLst/>
              <a:gdLst/>
              <a:ahLst/>
              <a:cxnLst/>
              <a:rect l="l" t="t" r="r" b="b"/>
              <a:pathLst>
                <a:path w="812800" h="970800">
                  <a:moveTo>
                    <a:pt x="406400" y="970800"/>
                  </a:moveTo>
                  <a:lnTo>
                    <a:pt x="812800" y="0"/>
                  </a:lnTo>
                  <a:lnTo>
                    <a:pt x="0" y="0"/>
                  </a:lnTo>
                  <a:lnTo>
                    <a:pt x="406400" y="970800"/>
                  </a:lnTo>
                  <a:close/>
                </a:path>
              </a:pathLst>
            </a:custGeom>
            <a:solidFill>
              <a:srgbClr val="02B2E4">
                <a:alpha val="71765"/>
              </a:srgbClr>
            </a:solidFill>
          </p:spPr>
        </p:sp>
        <p:sp>
          <p:nvSpPr>
            <p:cNvPr id="55" name="TextBox 43"/>
            <p:cNvSpPr txBox="1"/>
            <p:nvPr/>
          </p:nvSpPr>
          <p:spPr>
            <a:xfrm>
              <a:off x="127000" y="31243"/>
              <a:ext cx="558800" cy="488828"/>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56" name="TextBox 44"/>
          <p:cNvSpPr txBox="1"/>
          <p:nvPr/>
        </p:nvSpPr>
        <p:spPr>
          <a:xfrm>
            <a:off x="1705988" y="5621522"/>
            <a:ext cx="6274685" cy="1045864"/>
          </a:xfrm>
          <a:prstGeom prst="rect">
            <a:avLst/>
          </a:prstGeom>
        </p:spPr>
        <p:txBody>
          <a:bodyPr lIns="0" tIns="0" rIns="0" bIns="0" rtlCol="0" anchor="t">
            <a:spAutoFit/>
          </a:bodyPr>
          <a:lstStyle/>
          <a:p>
            <a:pPr marL="0" lvl="0" indent="0" algn="l">
              <a:lnSpc>
                <a:spcPts val="2800"/>
              </a:lnSpc>
              <a:spcBef>
                <a:spcPct val="0"/>
              </a:spcBef>
            </a:pPr>
            <a:r>
              <a:rPr lang="en-US" sz="2000" dirty="0" err="1">
                <a:solidFill>
                  <a:srgbClr val="000000"/>
                </a:solidFill>
                <a:latin typeface="Proxima Nova"/>
                <a:ea typeface="Proxima Nova"/>
                <a:cs typeface="Proxima Nova"/>
                <a:sym typeface="Proxima Nova"/>
              </a:rPr>
              <a:t>Mise</a:t>
            </a:r>
            <a:r>
              <a:rPr lang="en-US" sz="2000" dirty="0">
                <a:solidFill>
                  <a:srgbClr val="000000"/>
                </a:solidFill>
                <a:latin typeface="Proxima Nova"/>
                <a:ea typeface="Proxima Nova"/>
                <a:cs typeface="Proxima Nova"/>
                <a:sym typeface="Proxima Nova"/>
              </a:rPr>
              <a:t> </a:t>
            </a:r>
            <a:r>
              <a:rPr lang="en-US" sz="2000" dirty="0" err="1">
                <a:solidFill>
                  <a:srgbClr val="000000"/>
                </a:solidFill>
                <a:latin typeface="Proxima Nova"/>
                <a:ea typeface="Proxima Nova"/>
                <a:cs typeface="Proxima Nova"/>
                <a:sym typeface="Proxima Nova"/>
              </a:rPr>
              <a:t>en</a:t>
            </a:r>
            <a:r>
              <a:rPr lang="en-US" sz="2000" dirty="0">
                <a:solidFill>
                  <a:srgbClr val="000000"/>
                </a:solidFill>
                <a:latin typeface="Proxima Nova"/>
                <a:ea typeface="Proxima Nova"/>
                <a:cs typeface="Proxima Nova"/>
                <a:sym typeface="Proxima Nova"/>
              </a:rPr>
              <a:t> p</a:t>
            </a:r>
            <a:r>
              <a:rPr lang="en-US" sz="2000" u="none" strike="noStrike" dirty="0">
                <a:solidFill>
                  <a:srgbClr val="000000"/>
                </a:solidFill>
                <a:latin typeface="Proxima Nova"/>
                <a:ea typeface="Proxima Nova"/>
                <a:cs typeface="Proxima Nova"/>
                <a:sym typeface="Proxima Nova"/>
              </a:rPr>
              <a:t>lace d'un plan de reprise après </a:t>
            </a:r>
            <a:r>
              <a:rPr lang="en-US" sz="2000" u="none" strike="noStrike" dirty="0" err="1">
                <a:solidFill>
                  <a:srgbClr val="000000"/>
                </a:solidFill>
                <a:latin typeface="Proxima Nova"/>
                <a:ea typeface="Proxima Nova"/>
                <a:cs typeface="Proxima Nova"/>
                <a:sym typeface="Proxima Nova"/>
              </a:rPr>
              <a:t>sinistre</a:t>
            </a:r>
            <a:r>
              <a:rPr lang="en-US" sz="2000" u="none" strike="noStrike" dirty="0">
                <a:solidFill>
                  <a:srgbClr val="000000"/>
                </a:solidFill>
                <a:latin typeface="Proxima Nova"/>
                <a:ea typeface="Proxima Nova"/>
                <a:cs typeface="Proxima Nova"/>
                <a:sym typeface="Proxima Nova"/>
              </a:rPr>
              <a:t> pour les machines </a:t>
            </a:r>
            <a:r>
              <a:rPr lang="en-US" sz="2000" u="none" strike="noStrike" dirty="0" err="1">
                <a:solidFill>
                  <a:srgbClr val="000000"/>
                </a:solidFill>
                <a:latin typeface="Proxima Nova"/>
                <a:ea typeface="Proxima Nova"/>
                <a:cs typeface="Proxima Nova"/>
                <a:sym typeface="Proxima Nova"/>
              </a:rPr>
              <a:t>virtuelles</a:t>
            </a:r>
            <a:r>
              <a:rPr lang="en-US" sz="2000" u="none" strike="noStrike" dirty="0">
                <a:solidFill>
                  <a:srgbClr val="000000"/>
                </a:solidFill>
                <a:latin typeface="Proxima Nova"/>
                <a:ea typeface="Proxima Nova"/>
                <a:cs typeface="Proxima Nova"/>
                <a:sym typeface="Proxima Nova"/>
              </a:rPr>
              <a:t> </a:t>
            </a:r>
            <a:r>
              <a:rPr lang="en-US" sz="2000" u="none" strike="noStrike" dirty="0" err="1">
                <a:solidFill>
                  <a:srgbClr val="000000"/>
                </a:solidFill>
                <a:latin typeface="Proxima Nova"/>
                <a:ea typeface="Proxima Nova"/>
                <a:cs typeface="Proxima Nova"/>
                <a:sym typeface="Proxima Nova"/>
              </a:rPr>
              <a:t>hébergeant</a:t>
            </a:r>
            <a:r>
              <a:rPr lang="en-US" sz="2000" u="none" strike="noStrike" dirty="0">
                <a:solidFill>
                  <a:srgbClr val="000000"/>
                </a:solidFill>
                <a:latin typeface="Proxima Nova"/>
                <a:ea typeface="Proxima Nova"/>
                <a:cs typeface="Proxima Nova"/>
                <a:sym typeface="Proxima Nova"/>
              </a:rPr>
              <a:t> les services </a:t>
            </a:r>
            <a:r>
              <a:rPr lang="en-US" sz="2000" u="none" strike="noStrike" dirty="0" err="1">
                <a:solidFill>
                  <a:srgbClr val="000000"/>
                </a:solidFill>
                <a:latin typeface="Proxima Nova"/>
                <a:ea typeface="Proxima Nova"/>
                <a:cs typeface="Proxima Nova"/>
                <a:sym typeface="Proxima Nova"/>
              </a:rPr>
              <a:t>portuaires</a:t>
            </a:r>
            <a:r>
              <a:rPr lang="en-US" sz="2000" u="none" strike="noStrike" dirty="0" smtClean="0">
                <a:solidFill>
                  <a:srgbClr val="000000"/>
                </a:solidFill>
                <a:latin typeface="Proxima Nova"/>
                <a:ea typeface="Proxima Nova"/>
                <a:cs typeface="Proxima Nova"/>
                <a:sym typeface="Proxima Nova"/>
              </a:rPr>
              <a:t>.</a:t>
            </a:r>
            <a:endParaRPr lang="en-US" sz="2000" u="none" strike="noStrike" dirty="0">
              <a:solidFill>
                <a:srgbClr val="000000"/>
              </a:solidFill>
              <a:latin typeface="Proxima Nova"/>
              <a:ea typeface="Proxima Nova"/>
              <a:cs typeface="Proxima Nova"/>
              <a:sym typeface="Proxima Nova"/>
            </a:endParaRPr>
          </a:p>
        </p:txBody>
      </p:sp>
      <p:sp>
        <p:nvSpPr>
          <p:cNvPr id="57" name="TextBox 45"/>
          <p:cNvSpPr txBox="1"/>
          <p:nvPr/>
        </p:nvSpPr>
        <p:spPr>
          <a:xfrm>
            <a:off x="1705988" y="4989110"/>
            <a:ext cx="6274685" cy="453554"/>
          </a:xfrm>
          <a:prstGeom prst="rect">
            <a:avLst/>
          </a:prstGeom>
        </p:spPr>
        <p:txBody>
          <a:bodyPr lIns="0" tIns="0" rIns="0" bIns="0" rtlCol="0" anchor="t">
            <a:spAutoFit/>
          </a:bodyPr>
          <a:lstStyle/>
          <a:p>
            <a:pPr marL="0" lvl="0" indent="0" algn="l">
              <a:lnSpc>
                <a:spcPts val="3808"/>
              </a:lnSpc>
              <a:spcBef>
                <a:spcPct val="0"/>
              </a:spcBef>
            </a:pPr>
            <a:r>
              <a:rPr lang="en-US" sz="2720" b="1">
                <a:solidFill>
                  <a:srgbClr val="000000"/>
                </a:solidFill>
                <a:latin typeface="Proxima Nova Bold"/>
                <a:ea typeface="Proxima Nova Bold"/>
                <a:cs typeface="Proxima Nova Bold"/>
                <a:sym typeface="Proxima Nova Bold"/>
              </a:rPr>
              <a:t>Disaster Recovery pour les VMs</a:t>
            </a:r>
          </a:p>
        </p:txBody>
      </p:sp>
      <p:sp>
        <p:nvSpPr>
          <p:cNvPr id="58" name="TextBox 29"/>
          <p:cNvSpPr txBox="1"/>
          <p:nvPr/>
        </p:nvSpPr>
        <p:spPr>
          <a:xfrm>
            <a:off x="5863113" y="1545780"/>
            <a:ext cx="6418570" cy="487313"/>
          </a:xfrm>
          <a:prstGeom prst="rect">
            <a:avLst/>
          </a:prstGeom>
        </p:spPr>
        <p:txBody>
          <a:bodyPr wrap="square" lIns="0" tIns="0" rIns="0" bIns="0" rtlCol="0" anchor="t">
            <a:spAutoFit/>
          </a:bodyPr>
          <a:lstStyle/>
          <a:p>
            <a:pPr>
              <a:lnSpc>
                <a:spcPts val="3780"/>
              </a:lnSpc>
              <a:spcBef>
                <a:spcPct val="0"/>
              </a:spcBef>
            </a:pPr>
            <a:r>
              <a:rPr lang="fr-FR" sz="3600" dirty="0" err="1"/>
              <a:t>Disaster</a:t>
            </a:r>
            <a:r>
              <a:rPr lang="fr-FR" sz="2800" dirty="0"/>
              <a:t> </a:t>
            </a:r>
            <a:r>
              <a:rPr lang="fr-FR" sz="3600" dirty="0" err="1"/>
              <a:t>Recovery</a:t>
            </a:r>
            <a:r>
              <a:rPr lang="fr-FR" sz="3600" dirty="0"/>
              <a:t> : </a:t>
            </a:r>
            <a:r>
              <a:rPr lang="fr-FR" sz="3600" dirty="0" err="1"/>
              <a:t>VMs</a:t>
            </a:r>
            <a:r>
              <a:rPr lang="fr-FR" sz="3600" dirty="0"/>
              <a:t> + </a:t>
            </a:r>
            <a:r>
              <a:rPr lang="fr-FR" sz="3600" dirty="0" err="1"/>
              <a:t>pfSense</a:t>
            </a:r>
            <a:endParaRPr lang="en-US" sz="3600" dirty="0">
              <a:sym typeface="DM Sans Bold"/>
            </a:endParaRPr>
          </a:p>
        </p:txBody>
      </p:sp>
    </p:spTree>
    <p:extLst>
      <p:ext uri="{BB962C8B-B14F-4D97-AF65-F5344CB8AC3E}">
        <p14:creationId xmlns:p14="http://schemas.microsoft.com/office/powerpoint/2010/main" val="26843061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419752"/>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Supervision &amp; </a:t>
            </a:r>
            <a:r>
              <a:rPr lang="en-US" sz="2400" b="1" dirty="0" err="1">
                <a:solidFill>
                  <a:schemeClr val="bg1">
                    <a:lumMod val="50000"/>
                  </a:schemeClr>
                </a:solidFill>
                <a:sym typeface="TT Fors Bold"/>
              </a:rPr>
              <a:t>Résultats</a:t>
            </a:r>
            <a:endParaRPr lang="fr-FR" sz="2400" b="1" dirty="0">
              <a:solidFill>
                <a:schemeClr val="bg1">
                  <a:lumMod val="50000"/>
                </a:schemeClr>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solidFill>
                <a:sym typeface="TT Fors Bold"/>
              </a:rPr>
              <a:t>Backup</a:t>
            </a:r>
            <a:r>
              <a:rPr lang="en-US" sz="2400" b="1" dirty="0">
                <a:solidFill>
                  <a:schemeClr val="bg1">
                    <a:lumMod val="50000"/>
                  </a:schemeClr>
                </a:solidFill>
                <a:sym typeface="TT Fors Bold"/>
              </a:rPr>
              <a:t> </a:t>
            </a:r>
            <a:r>
              <a:rPr lang="en-US" sz="2400" b="1" dirty="0">
                <a:solidFill>
                  <a:schemeClr val="bg1"/>
                </a:solidFill>
                <a:sym typeface="TT Fors Bold"/>
              </a:rPr>
              <a:t>&amp;</a:t>
            </a:r>
            <a:r>
              <a:rPr lang="en-US" sz="2400" b="1" dirty="0">
                <a:solidFill>
                  <a:schemeClr val="bg1">
                    <a:lumMod val="50000"/>
                  </a:schemeClr>
                </a:solidFill>
                <a:sym typeface="TT Fors Bold"/>
              </a:rPr>
              <a:t> </a:t>
            </a:r>
            <a:r>
              <a:rPr lang="en-US" sz="2400" b="1" dirty="0">
                <a:solidFill>
                  <a:schemeClr val="bg1"/>
                </a:solidFill>
                <a:sym typeface="TT Fors Bold"/>
              </a:rPr>
              <a:t>Disaster</a:t>
            </a:r>
            <a:r>
              <a:rPr lang="en-US" sz="2400" b="1" dirty="0">
                <a:solidFill>
                  <a:schemeClr val="bg1">
                    <a:lumMod val="50000"/>
                  </a:schemeClr>
                </a:solidFill>
                <a:sym typeface="TT Fors Bold"/>
              </a:rPr>
              <a:t> </a:t>
            </a:r>
            <a:r>
              <a:rPr lang="en-US" sz="2400" b="1" dirty="0">
                <a:solidFill>
                  <a:schemeClr val="bg1"/>
                </a:solidFill>
                <a:sym typeface="TT Fors Bold"/>
              </a:rPr>
              <a:t>Recovery</a:t>
            </a:r>
            <a:endParaRPr lang="fr-FR" sz="2400" b="1" dirty="0">
              <a:solidFill>
                <a:schemeClr val="bg1"/>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12801600"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1600" smtClean="0"/>
              <a:pPr/>
              <a:t>24</a:t>
            </a:fld>
            <a:endParaRPr lang="en-US" sz="1600" dirty="0"/>
          </a:p>
        </p:txBody>
      </p:sp>
      <p:sp>
        <p:nvSpPr>
          <p:cNvPr id="60" name="Text 14"/>
          <p:cNvSpPr/>
          <p:nvPr/>
        </p:nvSpPr>
        <p:spPr>
          <a:xfrm>
            <a:off x="5029200" y="1485254"/>
            <a:ext cx="11277600" cy="862614"/>
          </a:xfrm>
          <a:prstGeom prst="rect">
            <a:avLst/>
          </a:prstGeom>
          <a:noFill/>
          <a:ln/>
        </p:spPr>
        <p:txBody>
          <a:bodyPr wrap="square" lIns="0" tIns="0" rIns="0" bIns="0" rtlCol="0" anchor="ctr"/>
          <a:lstStyle/>
          <a:p>
            <a:pPr marL="0" indent="0">
              <a:buNone/>
            </a:pPr>
            <a:r>
              <a:rPr lang="en-US" sz="3600" dirty="0"/>
              <a:t>Disaster</a:t>
            </a:r>
            <a:r>
              <a:rPr lang="en-US" sz="2200" b="1" dirty="0">
                <a:solidFill>
                  <a:srgbClr val="132A56"/>
                </a:solidFill>
                <a:latin typeface="Calibri" pitchFamily="34" charset="0"/>
                <a:ea typeface="Calibri" pitchFamily="34" charset="-122"/>
                <a:cs typeface="Calibri" pitchFamily="34" charset="-120"/>
              </a:rPr>
              <a:t> </a:t>
            </a:r>
            <a:r>
              <a:rPr lang="en-US" sz="3600" dirty="0"/>
              <a:t>Recovery </a:t>
            </a:r>
            <a:r>
              <a:rPr lang="en-US" sz="3600" dirty="0" smtClean="0"/>
              <a:t>-  </a:t>
            </a:r>
            <a:r>
              <a:rPr lang="en-US" sz="3600" dirty="0"/>
              <a:t>Résultats RTO / RPO Mesurés</a:t>
            </a:r>
          </a:p>
        </p:txBody>
      </p:sp>
      <p:pic>
        <p:nvPicPr>
          <p:cNvPr id="1026" name="Picture 2" descr="RPO vs RTO : Ce qu'il faut savoir sur ces mesures essentielles de la  reprise d'activité | HYCU"/>
          <p:cNvPicPr>
            <a:picLocks noChangeAspect="1" noChangeArrowheads="1"/>
          </p:cNvPicPr>
          <p:nvPr/>
        </p:nvPicPr>
        <p:blipFill rotWithShape="1">
          <a:blip r:embed="rId4">
            <a:extLst>
              <a:ext uri="{28A0092B-C50C-407E-A947-70E740481C1C}">
                <a14:useLocalDpi xmlns:a14="http://schemas.microsoft.com/office/drawing/2010/main" val="0"/>
              </a:ext>
            </a:extLst>
          </a:blip>
          <a:srcRect l="-293" t="24596" r="293" b="7946"/>
          <a:stretch/>
        </p:blipFill>
        <p:spPr bwMode="auto">
          <a:xfrm>
            <a:off x="2743200" y="2628900"/>
            <a:ext cx="12877800" cy="357073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au 2"/>
          <p:cNvGraphicFramePr>
            <a:graphicFrameLocks noGrp="1"/>
          </p:cNvGraphicFramePr>
          <p:nvPr>
            <p:extLst>
              <p:ext uri="{D42A27DB-BD31-4B8C-83A1-F6EECF244321}">
                <p14:modId xmlns:p14="http://schemas.microsoft.com/office/powerpoint/2010/main" val="373687159"/>
              </p:ext>
            </p:extLst>
          </p:nvPr>
        </p:nvGraphicFramePr>
        <p:xfrm>
          <a:off x="1629903" y="6595834"/>
          <a:ext cx="15304521" cy="3548899"/>
        </p:xfrm>
        <a:graphic>
          <a:graphicData uri="http://schemas.openxmlformats.org/drawingml/2006/table">
            <a:tbl>
              <a:tblPr firstRow="1" firstCol="1" bandRow="1">
                <a:tableStyleId>{5C22544A-7EE6-4342-B048-85BDC9FD1C3A}</a:tableStyleId>
              </a:tblPr>
              <a:tblGrid>
                <a:gridCol w="5179158">
                  <a:extLst>
                    <a:ext uri="{9D8B030D-6E8A-4147-A177-3AD203B41FA5}">
                      <a16:colId xmlns:a16="http://schemas.microsoft.com/office/drawing/2014/main" val="2347804634"/>
                    </a:ext>
                  </a:extLst>
                </a:gridCol>
                <a:gridCol w="2295678">
                  <a:extLst>
                    <a:ext uri="{9D8B030D-6E8A-4147-A177-3AD203B41FA5}">
                      <a16:colId xmlns:a16="http://schemas.microsoft.com/office/drawing/2014/main" val="4280234457"/>
                    </a:ext>
                  </a:extLst>
                </a:gridCol>
                <a:gridCol w="2066788">
                  <a:extLst>
                    <a:ext uri="{9D8B030D-6E8A-4147-A177-3AD203B41FA5}">
                      <a16:colId xmlns:a16="http://schemas.microsoft.com/office/drawing/2014/main" val="2331070780"/>
                    </a:ext>
                  </a:extLst>
                </a:gridCol>
                <a:gridCol w="1732255">
                  <a:extLst>
                    <a:ext uri="{9D8B030D-6E8A-4147-A177-3AD203B41FA5}">
                      <a16:colId xmlns:a16="http://schemas.microsoft.com/office/drawing/2014/main" val="3740448643"/>
                    </a:ext>
                  </a:extLst>
                </a:gridCol>
                <a:gridCol w="4030642">
                  <a:extLst>
                    <a:ext uri="{9D8B030D-6E8A-4147-A177-3AD203B41FA5}">
                      <a16:colId xmlns:a16="http://schemas.microsoft.com/office/drawing/2014/main" val="3895604021"/>
                    </a:ext>
                  </a:extLst>
                </a:gridCol>
              </a:tblGrid>
              <a:tr h="663533">
                <a:tc>
                  <a:txBody>
                    <a:bodyPr/>
                    <a:lstStyle/>
                    <a:p>
                      <a:pPr algn="ctr">
                        <a:lnSpc>
                          <a:spcPct val="107000"/>
                        </a:lnSpc>
                        <a:spcAft>
                          <a:spcPts val="0"/>
                        </a:spcAft>
                      </a:pPr>
                      <a:r>
                        <a:rPr lang="fr-FR" sz="2000">
                          <a:effectLst/>
                        </a:rPr>
                        <a:t>Scénario</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RTO cible</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RTO mesuré</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dirty="0">
                          <a:effectLst/>
                        </a:rPr>
                        <a:t>RPO</a:t>
                      </a:r>
                      <a:endParaRPr lang="fr-FR" sz="20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Mécanisme</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5666703"/>
                  </a:ext>
                </a:extLst>
              </a:tr>
              <a:tr h="663533">
                <a:tc>
                  <a:txBody>
                    <a:bodyPr/>
                    <a:lstStyle/>
                    <a:p>
                      <a:pPr algn="l">
                        <a:lnSpc>
                          <a:spcPct val="107000"/>
                        </a:lnSpc>
                        <a:spcAft>
                          <a:spcPts val="0"/>
                        </a:spcAft>
                      </a:pPr>
                      <a:r>
                        <a:rPr lang="fr-FR" sz="2000">
                          <a:effectLst/>
                        </a:rPr>
                        <a:t>Failover Corosync (panne nœud)</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dirty="0">
                          <a:effectLst/>
                        </a:rPr>
                        <a:t>&lt; 60s</a:t>
                      </a:r>
                      <a:endParaRPr lang="fr-FR" sz="20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dirty="0">
                          <a:effectLst/>
                        </a:rPr>
                        <a:t>45s</a:t>
                      </a:r>
                      <a:endParaRPr lang="fr-FR" sz="20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0</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Corosync + Ceph RBD ×3</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07104796"/>
                  </a:ext>
                </a:extLst>
              </a:tr>
              <a:tr h="740611">
                <a:tc>
                  <a:txBody>
                    <a:bodyPr/>
                    <a:lstStyle/>
                    <a:p>
                      <a:pPr algn="l">
                        <a:lnSpc>
                          <a:spcPct val="107000"/>
                        </a:lnSpc>
                        <a:spcAft>
                          <a:spcPts val="0"/>
                        </a:spcAft>
                      </a:pPr>
                      <a:r>
                        <a:rPr lang="en-US" sz="2000">
                          <a:effectLst/>
                        </a:rPr>
                        <a:t>Restore VM applicative (restore_clone.sh)</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&lt; 5 min</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4m 30s</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2h (PBS)</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Terraform + PBS + Ansible</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472990662"/>
                  </a:ext>
                </a:extLst>
              </a:tr>
              <a:tr h="740611">
                <a:tc>
                  <a:txBody>
                    <a:bodyPr/>
                    <a:lstStyle/>
                    <a:p>
                      <a:pPr algn="l">
                        <a:lnSpc>
                          <a:spcPct val="107000"/>
                        </a:lnSpc>
                        <a:spcAft>
                          <a:spcPts val="0"/>
                        </a:spcAft>
                      </a:pPr>
                      <a:r>
                        <a:rPr lang="en-US" sz="2000">
                          <a:effectLst/>
                        </a:rPr>
                        <a:t>Restore firewall pfSense (fw.sh)</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&lt; 5 min</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dirty="0">
                          <a:effectLst/>
                        </a:rPr>
                        <a:t>4m 50s</a:t>
                      </a:r>
                      <a:endParaRPr lang="fr-FR" sz="20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2h (PBS)</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Terraform + AutoConsole + Ansible</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927065279"/>
                  </a:ext>
                </a:extLst>
              </a:tr>
              <a:tr h="740611">
                <a:tc>
                  <a:txBody>
                    <a:bodyPr/>
                    <a:lstStyle/>
                    <a:p>
                      <a:pPr algn="l">
                        <a:lnSpc>
                          <a:spcPct val="107000"/>
                        </a:lnSpc>
                        <a:spcAft>
                          <a:spcPts val="0"/>
                        </a:spcAft>
                      </a:pPr>
                      <a:r>
                        <a:rPr lang="fr-FR" sz="2000">
                          <a:effectLst/>
                        </a:rPr>
                        <a:t>Résilience Ceph (perte OSD)</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Immédiat</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dirty="0">
                          <a:effectLst/>
                        </a:rPr>
                        <a:t>2 à 5 min</a:t>
                      </a:r>
                      <a:endParaRPr lang="fr-FR" sz="20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a:effectLst/>
                        </a:rPr>
                        <a:t>0</a:t>
                      </a:r>
                      <a:endParaRPr lang="fr-FR" sz="20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2000" dirty="0">
                          <a:effectLst/>
                        </a:rPr>
                        <a:t>Reconstruction </a:t>
                      </a:r>
                      <a:r>
                        <a:rPr lang="fr-FR" sz="2000" dirty="0" err="1">
                          <a:effectLst/>
                        </a:rPr>
                        <a:t>chunks</a:t>
                      </a:r>
                      <a:r>
                        <a:rPr lang="fr-FR" sz="2000" dirty="0">
                          <a:effectLst/>
                        </a:rPr>
                        <a:t> automatique</a:t>
                      </a:r>
                      <a:endParaRPr lang="fr-FR" sz="20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250718035"/>
                  </a:ext>
                </a:extLst>
              </a:tr>
            </a:tbl>
          </a:graphicData>
        </a:graphic>
      </p:graphicFrame>
    </p:spTree>
    <p:extLst>
      <p:ext uri="{BB962C8B-B14F-4D97-AF65-F5344CB8AC3E}">
        <p14:creationId xmlns:p14="http://schemas.microsoft.com/office/powerpoint/2010/main" val="2253076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wipe(down)">
                                      <p:cBhvr>
                                        <p:cTn id="7" dur="500"/>
                                        <p:tgtEl>
                                          <p:spTgt spid="1026"/>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1015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solidFill>
                <a:sym typeface="TT Fors Bold"/>
              </a:rPr>
              <a:t>Supervision</a:t>
            </a:r>
            <a:r>
              <a:rPr lang="en-US" sz="2400" b="1" dirty="0">
                <a:solidFill>
                  <a:schemeClr val="bg1">
                    <a:lumMod val="50000"/>
                  </a:schemeClr>
                </a:solidFill>
                <a:sym typeface="TT Fors Bold"/>
              </a:rPr>
              <a:t> </a:t>
            </a:r>
            <a:r>
              <a:rPr lang="en-US" sz="2400" b="1" dirty="0">
                <a:solidFill>
                  <a:schemeClr val="bg1"/>
                </a:solidFill>
                <a:sym typeface="TT Fors Bold"/>
              </a:rPr>
              <a:t>&amp;</a:t>
            </a:r>
            <a:r>
              <a:rPr lang="en-US" sz="2400" b="1" dirty="0">
                <a:solidFill>
                  <a:schemeClr val="bg1">
                    <a:lumMod val="50000"/>
                  </a:schemeClr>
                </a:solidFill>
                <a:sym typeface="TT Fors Bold"/>
              </a:rPr>
              <a:t> </a:t>
            </a:r>
            <a:r>
              <a:rPr lang="en-US" sz="2400" b="1" dirty="0" err="1">
                <a:solidFill>
                  <a:schemeClr val="bg1"/>
                </a:solidFill>
                <a:sym typeface="TT Fors Bold"/>
              </a:rPr>
              <a:t>Résultats</a:t>
            </a:r>
            <a:endParaRPr lang="fr-FR" sz="2400" b="1" dirty="0">
              <a:solidFill>
                <a:schemeClr val="bg1"/>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159974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2400" b="1" smtClean="0"/>
              <a:pPr/>
              <a:t>25</a:t>
            </a:fld>
            <a:endParaRPr lang="en-US" sz="2400" b="1" dirty="0"/>
          </a:p>
        </p:txBody>
      </p:sp>
      <p:grpSp>
        <p:nvGrpSpPr>
          <p:cNvPr id="13" name="Group 2"/>
          <p:cNvGrpSpPr/>
          <p:nvPr/>
        </p:nvGrpSpPr>
        <p:grpSpPr>
          <a:xfrm>
            <a:off x="1093722" y="2733267"/>
            <a:ext cx="6638925" cy="3567347"/>
            <a:chOff x="0" y="0"/>
            <a:chExt cx="8851900" cy="4756462"/>
          </a:xfrm>
        </p:grpSpPr>
        <p:sp>
          <p:nvSpPr>
            <p:cNvPr id="14" name="Freeform 3"/>
            <p:cNvSpPr/>
            <p:nvPr/>
          </p:nvSpPr>
          <p:spPr>
            <a:xfrm rot="5400000">
              <a:off x="2925289" y="-563399"/>
              <a:ext cx="2394572" cy="8245150"/>
            </a:xfrm>
            <a:custGeom>
              <a:avLst/>
              <a:gdLst/>
              <a:ahLst/>
              <a:cxnLst/>
              <a:rect l="l" t="t" r="r" b="b"/>
              <a:pathLst>
                <a:path w="2394572" h="8245150">
                  <a:moveTo>
                    <a:pt x="0" y="0"/>
                  </a:moveTo>
                  <a:lnTo>
                    <a:pt x="2394572" y="0"/>
                  </a:lnTo>
                  <a:lnTo>
                    <a:pt x="2394572" y="8245150"/>
                  </a:lnTo>
                  <a:lnTo>
                    <a:pt x="0" y="8245150"/>
                  </a:lnTo>
                  <a:lnTo>
                    <a:pt x="0" y="0"/>
                  </a:lnTo>
                  <a:close/>
                </a:path>
              </a:pathLst>
            </a:custGeom>
            <a:blipFill>
              <a:blip r:embed="rId4"/>
              <a:stretch>
                <a:fillRect l="-25438" r="-25438"/>
              </a:stretch>
            </a:blipFill>
          </p:spPr>
        </p:sp>
        <p:grpSp>
          <p:nvGrpSpPr>
            <p:cNvPr id="15" name="Group 4"/>
            <p:cNvGrpSpPr/>
            <p:nvPr/>
          </p:nvGrpSpPr>
          <p:grpSpPr>
            <a:xfrm>
              <a:off x="366767" y="515060"/>
              <a:ext cx="7511617" cy="3693659"/>
              <a:chOff x="0" y="0"/>
              <a:chExt cx="1179434" cy="579959"/>
            </a:xfrm>
          </p:grpSpPr>
          <p:sp>
            <p:nvSpPr>
              <p:cNvPr id="27" name="Freeform 5"/>
              <p:cNvSpPr/>
              <p:nvPr/>
            </p:nvSpPr>
            <p:spPr>
              <a:xfrm>
                <a:off x="0" y="0"/>
                <a:ext cx="1179434" cy="579958"/>
              </a:xfrm>
              <a:custGeom>
                <a:avLst/>
                <a:gdLst/>
                <a:ahLst/>
                <a:cxnLst/>
                <a:rect l="l" t="t" r="r" b="b"/>
                <a:pathLst>
                  <a:path w="1179434" h="579958">
                    <a:moveTo>
                      <a:pt x="30755" y="0"/>
                    </a:moveTo>
                    <a:lnTo>
                      <a:pt x="1148678" y="0"/>
                    </a:lnTo>
                    <a:cubicBezTo>
                      <a:pt x="1165664" y="0"/>
                      <a:pt x="1179434" y="13770"/>
                      <a:pt x="1179434" y="30755"/>
                    </a:cubicBezTo>
                    <a:lnTo>
                      <a:pt x="1179434" y="549203"/>
                    </a:lnTo>
                    <a:cubicBezTo>
                      <a:pt x="1179434" y="566189"/>
                      <a:pt x="1165664" y="579958"/>
                      <a:pt x="1148678" y="579958"/>
                    </a:cubicBezTo>
                    <a:lnTo>
                      <a:pt x="30755" y="579958"/>
                    </a:lnTo>
                    <a:cubicBezTo>
                      <a:pt x="13770" y="579958"/>
                      <a:pt x="0" y="566189"/>
                      <a:pt x="0" y="549203"/>
                    </a:cubicBezTo>
                    <a:lnTo>
                      <a:pt x="0" y="30755"/>
                    </a:lnTo>
                    <a:cubicBezTo>
                      <a:pt x="0" y="13770"/>
                      <a:pt x="13770" y="0"/>
                      <a:pt x="30755" y="0"/>
                    </a:cubicBezTo>
                    <a:close/>
                  </a:path>
                </a:pathLst>
              </a:custGeom>
              <a:solidFill>
                <a:srgbClr val="D9D9D9"/>
              </a:solidFill>
            </p:spPr>
          </p:sp>
          <p:sp>
            <p:nvSpPr>
              <p:cNvPr id="28" name="TextBox 6"/>
              <p:cNvSpPr txBox="1"/>
              <p:nvPr/>
            </p:nvSpPr>
            <p:spPr>
              <a:xfrm>
                <a:off x="0" y="-19050"/>
                <a:ext cx="1179434" cy="599009"/>
              </a:xfrm>
              <a:prstGeom prst="rect">
                <a:avLst/>
              </a:prstGeom>
            </p:spPr>
            <p:txBody>
              <a:bodyPr lIns="50800" tIns="50800" rIns="50800" bIns="50800" rtlCol="0" anchor="ctr"/>
              <a:lstStyle/>
              <a:p>
                <a:pPr algn="ctr">
                  <a:lnSpc>
                    <a:spcPts val="1400"/>
                  </a:lnSpc>
                </a:pPr>
                <a:endParaRPr/>
              </a:p>
            </p:txBody>
          </p:sp>
        </p:grpSp>
        <p:grpSp>
          <p:nvGrpSpPr>
            <p:cNvPr id="16" name="Group 7"/>
            <p:cNvGrpSpPr/>
            <p:nvPr/>
          </p:nvGrpSpPr>
          <p:grpSpPr>
            <a:xfrm>
              <a:off x="6904867" y="0"/>
              <a:ext cx="1947033" cy="1283375"/>
              <a:chOff x="0" y="0"/>
              <a:chExt cx="613890" cy="404642"/>
            </a:xfrm>
          </p:grpSpPr>
          <p:sp>
            <p:nvSpPr>
              <p:cNvPr id="25" name="Freeform 8"/>
              <p:cNvSpPr/>
              <p:nvPr/>
            </p:nvSpPr>
            <p:spPr>
              <a:xfrm>
                <a:off x="0" y="0"/>
                <a:ext cx="613890" cy="404642"/>
              </a:xfrm>
              <a:custGeom>
                <a:avLst/>
                <a:gdLst/>
                <a:ahLst/>
                <a:cxnLst/>
                <a:rect l="l" t="t" r="r" b="b"/>
                <a:pathLst>
                  <a:path w="613890" h="404642">
                    <a:moveTo>
                      <a:pt x="162368" y="0"/>
                    </a:moveTo>
                    <a:lnTo>
                      <a:pt x="451522" y="0"/>
                    </a:lnTo>
                    <a:cubicBezTo>
                      <a:pt x="494585" y="0"/>
                      <a:pt x="535884" y="17107"/>
                      <a:pt x="566334" y="47556"/>
                    </a:cubicBezTo>
                    <a:cubicBezTo>
                      <a:pt x="596784" y="78006"/>
                      <a:pt x="613890" y="119305"/>
                      <a:pt x="613890" y="162368"/>
                    </a:cubicBezTo>
                    <a:lnTo>
                      <a:pt x="613890" y="242274"/>
                    </a:lnTo>
                    <a:cubicBezTo>
                      <a:pt x="613890" y="285337"/>
                      <a:pt x="596784" y="326636"/>
                      <a:pt x="566334" y="357086"/>
                    </a:cubicBezTo>
                    <a:cubicBezTo>
                      <a:pt x="535884" y="387536"/>
                      <a:pt x="494585" y="404642"/>
                      <a:pt x="451522" y="404642"/>
                    </a:cubicBezTo>
                    <a:lnTo>
                      <a:pt x="162368" y="404642"/>
                    </a:lnTo>
                    <a:cubicBezTo>
                      <a:pt x="72695" y="404642"/>
                      <a:pt x="0" y="331947"/>
                      <a:pt x="0" y="242274"/>
                    </a:cubicBezTo>
                    <a:lnTo>
                      <a:pt x="0" y="162368"/>
                    </a:lnTo>
                    <a:cubicBezTo>
                      <a:pt x="0" y="72695"/>
                      <a:pt x="72695" y="0"/>
                      <a:pt x="162368" y="0"/>
                    </a:cubicBezTo>
                    <a:close/>
                  </a:path>
                </a:pathLst>
              </a:custGeom>
              <a:solidFill>
                <a:srgbClr val="02B2E4"/>
              </a:solidFill>
            </p:spPr>
          </p:sp>
          <p:sp>
            <p:nvSpPr>
              <p:cNvPr id="26" name="TextBox 9"/>
              <p:cNvSpPr txBox="1"/>
              <p:nvPr/>
            </p:nvSpPr>
            <p:spPr>
              <a:xfrm>
                <a:off x="0" y="-57150"/>
                <a:ext cx="613890" cy="461792"/>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17" name="Group 10"/>
            <p:cNvGrpSpPr/>
            <p:nvPr/>
          </p:nvGrpSpPr>
          <p:grpSpPr>
            <a:xfrm>
              <a:off x="1032631" y="418986"/>
              <a:ext cx="6246540" cy="192149"/>
              <a:chOff x="0" y="0"/>
              <a:chExt cx="13211555" cy="406400"/>
            </a:xfrm>
          </p:grpSpPr>
          <p:sp>
            <p:nvSpPr>
              <p:cNvPr id="23" name="Freeform 11"/>
              <p:cNvSpPr/>
              <p:nvPr/>
            </p:nvSpPr>
            <p:spPr>
              <a:xfrm>
                <a:off x="0" y="0"/>
                <a:ext cx="13211555" cy="406400"/>
              </a:xfrm>
              <a:custGeom>
                <a:avLst/>
                <a:gdLst/>
                <a:ahLst/>
                <a:cxnLst/>
                <a:rect l="l" t="t" r="r" b="b"/>
                <a:pathLst>
                  <a:path w="13211555" h="406400">
                    <a:moveTo>
                      <a:pt x="13008355" y="0"/>
                    </a:moveTo>
                    <a:cubicBezTo>
                      <a:pt x="13120579" y="0"/>
                      <a:pt x="13211555" y="90976"/>
                      <a:pt x="13211555" y="203200"/>
                    </a:cubicBezTo>
                    <a:cubicBezTo>
                      <a:pt x="13211555" y="315424"/>
                      <a:pt x="13120579" y="406400"/>
                      <a:pt x="13008355" y="406400"/>
                    </a:cubicBezTo>
                    <a:lnTo>
                      <a:pt x="203200" y="406400"/>
                    </a:lnTo>
                    <a:cubicBezTo>
                      <a:pt x="90976" y="406400"/>
                      <a:pt x="0" y="315424"/>
                      <a:pt x="0" y="203200"/>
                    </a:cubicBezTo>
                    <a:cubicBezTo>
                      <a:pt x="0" y="90976"/>
                      <a:pt x="90976" y="0"/>
                      <a:pt x="203200" y="0"/>
                    </a:cubicBezTo>
                    <a:close/>
                  </a:path>
                </a:pathLst>
              </a:custGeom>
              <a:solidFill>
                <a:srgbClr val="02B2E4"/>
              </a:solidFill>
            </p:spPr>
          </p:sp>
          <p:sp>
            <p:nvSpPr>
              <p:cNvPr id="24" name="TextBox 12"/>
              <p:cNvSpPr txBox="1"/>
              <p:nvPr/>
            </p:nvSpPr>
            <p:spPr>
              <a:xfrm>
                <a:off x="0" y="-57150"/>
                <a:ext cx="13211555" cy="463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18" name="Group 13"/>
            <p:cNvGrpSpPr/>
            <p:nvPr/>
          </p:nvGrpSpPr>
          <p:grpSpPr>
            <a:xfrm>
              <a:off x="7024911" y="84295"/>
              <a:ext cx="1706944" cy="1125122"/>
              <a:chOff x="0" y="0"/>
              <a:chExt cx="538191" cy="354746"/>
            </a:xfrm>
          </p:grpSpPr>
          <p:sp>
            <p:nvSpPr>
              <p:cNvPr id="21" name="Freeform 14"/>
              <p:cNvSpPr/>
              <p:nvPr/>
            </p:nvSpPr>
            <p:spPr>
              <a:xfrm>
                <a:off x="0" y="0"/>
                <a:ext cx="538191" cy="354746"/>
              </a:xfrm>
              <a:custGeom>
                <a:avLst/>
                <a:gdLst/>
                <a:ahLst/>
                <a:cxnLst/>
                <a:rect l="l" t="t" r="r" b="b"/>
                <a:pathLst>
                  <a:path w="538191" h="354746">
                    <a:moveTo>
                      <a:pt x="156712" y="0"/>
                    </a:moveTo>
                    <a:lnTo>
                      <a:pt x="381479" y="0"/>
                    </a:lnTo>
                    <a:cubicBezTo>
                      <a:pt x="468029" y="0"/>
                      <a:pt x="538191" y="70163"/>
                      <a:pt x="538191" y="156712"/>
                    </a:cubicBezTo>
                    <a:lnTo>
                      <a:pt x="538191" y="198033"/>
                    </a:lnTo>
                    <a:cubicBezTo>
                      <a:pt x="538191" y="284583"/>
                      <a:pt x="468029" y="354746"/>
                      <a:pt x="381479" y="354746"/>
                    </a:cubicBezTo>
                    <a:lnTo>
                      <a:pt x="156712" y="354746"/>
                    </a:lnTo>
                    <a:cubicBezTo>
                      <a:pt x="70163" y="354746"/>
                      <a:pt x="0" y="284583"/>
                      <a:pt x="0" y="198033"/>
                    </a:cubicBezTo>
                    <a:lnTo>
                      <a:pt x="0" y="156712"/>
                    </a:lnTo>
                    <a:cubicBezTo>
                      <a:pt x="0" y="70163"/>
                      <a:pt x="70163" y="0"/>
                      <a:pt x="156712" y="0"/>
                    </a:cubicBezTo>
                    <a:close/>
                  </a:path>
                </a:pathLst>
              </a:custGeom>
              <a:ln w="38100" cap="rnd">
                <a:solidFill>
                  <a:srgbClr val="D9D9D9"/>
                </a:solidFill>
                <a:prstDash val="solid"/>
                <a:round/>
              </a:ln>
            </p:spPr>
          </p:sp>
          <p:sp>
            <p:nvSpPr>
              <p:cNvPr id="22" name="TextBox 15"/>
              <p:cNvSpPr txBox="1"/>
              <p:nvPr/>
            </p:nvSpPr>
            <p:spPr>
              <a:xfrm>
                <a:off x="0" y="-28575"/>
                <a:ext cx="538191" cy="383321"/>
              </a:xfrm>
              <a:prstGeom prst="rect">
                <a:avLst/>
              </a:prstGeom>
            </p:spPr>
            <p:txBody>
              <a:bodyPr lIns="50800" tIns="50800" rIns="50800" bIns="50800" rtlCol="0" anchor="ctr"/>
              <a:lstStyle/>
              <a:p>
                <a:pPr algn="ctr">
                  <a:lnSpc>
                    <a:spcPts val="2660"/>
                  </a:lnSpc>
                </a:pPr>
                <a:r>
                  <a:rPr lang="en-US" sz="1900" b="1">
                    <a:solidFill>
                      <a:srgbClr val="FFFFFF"/>
                    </a:solidFill>
                    <a:latin typeface="Gordita Bold"/>
                    <a:ea typeface="Gordita Bold"/>
                    <a:cs typeface="Gordita Bold"/>
                    <a:sym typeface="Gordita Bold"/>
                  </a:rPr>
                  <a:t>01</a:t>
                </a:r>
              </a:p>
            </p:txBody>
          </p:sp>
        </p:grpSp>
        <p:sp>
          <p:nvSpPr>
            <p:cNvPr id="19" name="TextBox 16"/>
            <p:cNvSpPr txBox="1"/>
            <p:nvPr/>
          </p:nvSpPr>
          <p:spPr>
            <a:xfrm>
              <a:off x="1121419" y="1180843"/>
              <a:ext cx="6002315" cy="444567"/>
            </a:xfrm>
            <a:prstGeom prst="rect">
              <a:avLst/>
            </a:prstGeom>
          </p:spPr>
          <p:txBody>
            <a:bodyPr lIns="0" tIns="0" rIns="0" bIns="0" rtlCol="0" anchor="t">
              <a:spAutoFit/>
            </a:bodyPr>
            <a:lstStyle/>
            <a:p>
              <a:pPr>
                <a:lnSpc>
                  <a:spcPts val="2638"/>
                </a:lnSpc>
                <a:spcBef>
                  <a:spcPct val="0"/>
                </a:spcBef>
              </a:pPr>
              <a:r>
                <a:rPr lang="fr-FR" sz="1884" b="1" dirty="0" err="1" smtClean="0">
                  <a:solidFill>
                    <a:srgbClr val="000000"/>
                  </a:solidFill>
                  <a:latin typeface="Gordita Bold"/>
                  <a:ea typeface="Gordita Bold"/>
                  <a:cs typeface="Gordita Bold"/>
                </a:rPr>
                <a:t>Prometheus</a:t>
              </a:r>
              <a:r>
                <a:rPr lang="fr-FR" b="1" dirty="0"/>
                <a:t> </a:t>
              </a:r>
              <a:endParaRPr lang="en-US" sz="1884" b="1" dirty="0">
                <a:solidFill>
                  <a:srgbClr val="000000"/>
                </a:solidFill>
                <a:latin typeface="Gordita Bold"/>
                <a:ea typeface="Gordita Bold"/>
                <a:cs typeface="Gordita Bold"/>
                <a:sym typeface="Gordita Bold"/>
              </a:endParaRPr>
            </a:p>
          </p:txBody>
        </p:sp>
        <p:sp>
          <p:nvSpPr>
            <p:cNvPr id="20" name="TextBox 17"/>
            <p:cNvSpPr txBox="1"/>
            <p:nvPr/>
          </p:nvSpPr>
          <p:spPr>
            <a:xfrm>
              <a:off x="1121419" y="1759786"/>
              <a:ext cx="6002315" cy="1333698"/>
            </a:xfrm>
            <a:prstGeom prst="rect">
              <a:avLst/>
            </a:prstGeom>
          </p:spPr>
          <p:txBody>
            <a:bodyPr lIns="0" tIns="0" rIns="0" bIns="0" rtlCol="0" anchor="t">
              <a:spAutoFit/>
            </a:bodyPr>
            <a:lstStyle/>
            <a:p>
              <a:pPr>
                <a:lnSpc>
                  <a:spcPts val="2638"/>
                </a:lnSpc>
                <a:spcBef>
                  <a:spcPct val="0"/>
                </a:spcBef>
              </a:pPr>
              <a:r>
                <a:rPr lang="fr-FR" dirty="0"/>
                <a:t>Système de monitoring open-source. Il collecte les métriques de performance de l'infrastructure via des </a:t>
              </a:r>
              <a:r>
                <a:rPr lang="fr-FR" dirty="0" smtClean="0"/>
                <a:t>périodiques</a:t>
              </a:r>
              <a:r>
                <a:rPr lang="fr-FR" dirty="0"/>
                <a:t>.</a:t>
              </a:r>
              <a:endParaRPr lang="en-US" sz="1884" dirty="0">
                <a:solidFill>
                  <a:srgbClr val="000000"/>
                </a:solidFill>
                <a:latin typeface="Gordita"/>
                <a:ea typeface="Gordita"/>
                <a:cs typeface="Gordita"/>
                <a:sym typeface="Gordita"/>
              </a:endParaRPr>
            </a:p>
          </p:txBody>
        </p:sp>
      </p:grpSp>
      <p:grpSp>
        <p:nvGrpSpPr>
          <p:cNvPr id="29" name="Group 18"/>
          <p:cNvGrpSpPr/>
          <p:nvPr/>
        </p:nvGrpSpPr>
        <p:grpSpPr>
          <a:xfrm>
            <a:off x="1093722" y="6624403"/>
            <a:ext cx="6638925" cy="3567347"/>
            <a:chOff x="0" y="0"/>
            <a:chExt cx="8851900" cy="4756462"/>
          </a:xfrm>
        </p:grpSpPr>
        <p:sp>
          <p:nvSpPr>
            <p:cNvPr id="30" name="Freeform 19"/>
            <p:cNvSpPr/>
            <p:nvPr/>
          </p:nvSpPr>
          <p:spPr>
            <a:xfrm rot="5400000">
              <a:off x="2925289" y="-563399"/>
              <a:ext cx="2394572" cy="8245150"/>
            </a:xfrm>
            <a:custGeom>
              <a:avLst/>
              <a:gdLst/>
              <a:ahLst/>
              <a:cxnLst/>
              <a:rect l="l" t="t" r="r" b="b"/>
              <a:pathLst>
                <a:path w="2394572" h="8245150">
                  <a:moveTo>
                    <a:pt x="0" y="0"/>
                  </a:moveTo>
                  <a:lnTo>
                    <a:pt x="2394572" y="0"/>
                  </a:lnTo>
                  <a:lnTo>
                    <a:pt x="2394572" y="8245150"/>
                  </a:lnTo>
                  <a:lnTo>
                    <a:pt x="0" y="8245150"/>
                  </a:lnTo>
                  <a:lnTo>
                    <a:pt x="0" y="0"/>
                  </a:lnTo>
                  <a:close/>
                </a:path>
              </a:pathLst>
            </a:custGeom>
            <a:blipFill>
              <a:blip r:embed="rId4"/>
              <a:stretch>
                <a:fillRect l="-25438" r="-25438"/>
              </a:stretch>
            </a:blipFill>
          </p:spPr>
        </p:sp>
        <p:grpSp>
          <p:nvGrpSpPr>
            <p:cNvPr id="31" name="Group 20"/>
            <p:cNvGrpSpPr/>
            <p:nvPr/>
          </p:nvGrpSpPr>
          <p:grpSpPr>
            <a:xfrm>
              <a:off x="366767" y="515060"/>
              <a:ext cx="7511617" cy="3693659"/>
              <a:chOff x="0" y="0"/>
              <a:chExt cx="1179434" cy="579959"/>
            </a:xfrm>
          </p:grpSpPr>
          <p:sp>
            <p:nvSpPr>
              <p:cNvPr id="44" name="Freeform 21"/>
              <p:cNvSpPr/>
              <p:nvPr/>
            </p:nvSpPr>
            <p:spPr>
              <a:xfrm>
                <a:off x="0" y="0"/>
                <a:ext cx="1179434" cy="579958"/>
              </a:xfrm>
              <a:custGeom>
                <a:avLst/>
                <a:gdLst/>
                <a:ahLst/>
                <a:cxnLst/>
                <a:rect l="l" t="t" r="r" b="b"/>
                <a:pathLst>
                  <a:path w="1179434" h="579958">
                    <a:moveTo>
                      <a:pt x="30755" y="0"/>
                    </a:moveTo>
                    <a:lnTo>
                      <a:pt x="1148678" y="0"/>
                    </a:lnTo>
                    <a:cubicBezTo>
                      <a:pt x="1165664" y="0"/>
                      <a:pt x="1179434" y="13770"/>
                      <a:pt x="1179434" y="30755"/>
                    </a:cubicBezTo>
                    <a:lnTo>
                      <a:pt x="1179434" y="549203"/>
                    </a:lnTo>
                    <a:cubicBezTo>
                      <a:pt x="1179434" y="566189"/>
                      <a:pt x="1165664" y="579958"/>
                      <a:pt x="1148678" y="579958"/>
                    </a:cubicBezTo>
                    <a:lnTo>
                      <a:pt x="30755" y="579958"/>
                    </a:lnTo>
                    <a:cubicBezTo>
                      <a:pt x="13770" y="579958"/>
                      <a:pt x="0" y="566189"/>
                      <a:pt x="0" y="549203"/>
                    </a:cubicBezTo>
                    <a:lnTo>
                      <a:pt x="0" y="30755"/>
                    </a:lnTo>
                    <a:cubicBezTo>
                      <a:pt x="0" y="13770"/>
                      <a:pt x="13770" y="0"/>
                      <a:pt x="30755" y="0"/>
                    </a:cubicBezTo>
                    <a:close/>
                  </a:path>
                </a:pathLst>
              </a:custGeom>
              <a:solidFill>
                <a:srgbClr val="D9D9D9"/>
              </a:solidFill>
            </p:spPr>
          </p:sp>
          <p:sp>
            <p:nvSpPr>
              <p:cNvPr id="45" name="TextBox 22"/>
              <p:cNvSpPr txBox="1"/>
              <p:nvPr/>
            </p:nvSpPr>
            <p:spPr>
              <a:xfrm>
                <a:off x="0" y="-19050"/>
                <a:ext cx="1179434" cy="599009"/>
              </a:xfrm>
              <a:prstGeom prst="rect">
                <a:avLst/>
              </a:prstGeom>
            </p:spPr>
            <p:txBody>
              <a:bodyPr lIns="50800" tIns="50800" rIns="50800" bIns="50800" rtlCol="0" anchor="ctr"/>
              <a:lstStyle/>
              <a:p>
                <a:pPr algn="ctr">
                  <a:lnSpc>
                    <a:spcPts val="1400"/>
                  </a:lnSpc>
                </a:pPr>
                <a:endParaRPr/>
              </a:p>
            </p:txBody>
          </p:sp>
        </p:grpSp>
        <p:grpSp>
          <p:nvGrpSpPr>
            <p:cNvPr id="32" name="Group 23"/>
            <p:cNvGrpSpPr/>
            <p:nvPr/>
          </p:nvGrpSpPr>
          <p:grpSpPr>
            <a:xfrm>
              <a:off x="6904867" y="0"/>
              <a:ext cx="1947033" cy="1283375"/>
              <a:chOff x="0" y="0"/>
              <a:chExt cx="613890" cy="404642"/>
            </a:xfrm>
          </p:grpSpPr>
          <p:sp>
            <p:nvSpPr>
              <p:cNvPr id="42" name="Freeform 24"/>
              <p:cNvSpPr/>
              <p:nvPr/>
            </p:nvSpPr>
            <p:spPr>
              <a:xfrm>
                <a:off x="0" y="0"/>
                <a:ext cx="613890" cy="404642"/>
              </a:xfrm>
              <a:custGeom>
                <a:avLst/>
                <a:gdLst/>
                <a:ahLst/>
                <a:cxnLst/>
                <a:rect l="l" t="t" r="r" b="b"/>
                <a:pathLst>
                  <a:path w="613890" h="404642">
                    <a:moveTo>
                      <a:pt x="162368" y="0"/>
                    </a:moveTo>
                    <a:lnTo>
                      <a:pt x="451522" y="0"/>
                    </a:lnTo>
                    <a:cubicBezTo>
                      <a:pt x="494585" y="0"/>
                      <a:pt x="535884" y="17107"/>
                      <a:pt x="566334" y="47556"/>
                    </a:cubicBezTo>
                    <a:cubicBezTo>
                      <a:pt x="596784" y="78006"/>
                      <a:pt x="613890" y="119305"/>
                      <a:pt x="613890" y="162368"/>
                    </a:cubicBezTo>
                    <a:lnTo>
                      <a:pt x="613890" y="242274"/>
                    </a:lnTo>
                    <a:cubicBezTo>
                      <a:pt x="613890" y="285337"/>
                      <a:pt x="596784" y="326636"/>
                      <a:pt x="566334" y="357086"/>
                    </a:cubicBezTo>
                    <a:cubicBezTo>
                      <a:pt x="535884" y="387536"/>
                      <a:pt x="494585" y="404642"/>
                      <a:pt x="451522" y="404642"/>
                    </a:cubicBezTo>
                    <a:lnTo>
                      <a:pt x="162368" y="404642"/>
                    </a:lnTo>
                    <a:cubicBezTo>
                      <a:pt x="72695" y="404642"/>
                      <a:pt x="0" y="331947"/>
                      <a:pt x="0" y="242274"/>
                    </a:cubicBezTo>
                    <a:lnTo>
                      <a:pt x="0" y="162368"/>
                    </a:lnTo>
                    <a:cubicBezTo>
                      <a:pt x="0" y="72695"/>
                      <a:pt x="72695" y="0"/>
                      <a:pt x="162368" y="0"/>
                    </a:cubicBezTo>
                    <a:close/>
                  </a:path>
                </a:pathLst>
              </a:custGeom>
              <a:solidFill>
                <a:srgbClr val="02B2E4"/>
              </a:solidFill>
            </p:spPr>
          </p:sp>
          <p:sp>
            <p:nvSpPr>
              <p:cNvPr id="43" name="TextBox 25"/>
              <p:cNvSpPr txBox="1"/>
              <p:nvPr/>
            </p:nvSpPr>
            <p:spPr>
              <a:xfrm>
                <a:off x="0" y="-57150"/>
                <a:ext cx="613890" cy="461792"/>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34" name="Group 26"/>
            <p:cNvGrpSpPr/>
            <p:nvPr/>
          </p:nvGrpSpPr>
          <p:grpSpPr>
            <a:xfrm>
              <a:off x="1032631" y="418986"/>
              <a:ext cx="6246540" cy="192149"/>
              <a:chOff x="0" y="0"/>
              <a:chExt cx="13211555" cy="406400"/>
            </a:xfrm>
          </p:grpSpPr>
          <p:sp>
            <p:nvSpPr>
              <p:cNvPr id="40" name="Freeform 27"/>
              <p:cNvSpPr/>
              <p:nvPr/>
            </p:nvSpPr>
            <p:spPr>
              <a:xfrm>
                <a:off x="0" y="0"/>
                <a:ext cx="13211555" cy="406400"/>
              </a:xfrm>
              <a:custGeom>
                <a:avLst/>
                <a:gdLst/>
                <a:ahLst/>
                <a:cxnLst/>
                <a:rect l="l" t="t" r="r" b="b"/>
                <a:pathLst>
                  <a:path w="13211555" h="406400">
                    <a:moveTo>
                      <a:pt x="13008355" y="0"/>
                    </a:moveTo>
                    <a:cubicBezTo>
                      <a:pt x="13120579" y="0"/>
                      <a:pt x="13211555" y="90976"/>
                      <a:pt x="13211555" y="203200"/>
                    </a:cubicBezTo>
                    <a:cubicBezTo>
                      <a:pt x="13211555" y="315424"/>
                      <a:pt x="13120579" y="406400"/>
                      <a:pt x="13008355" y="406400"/>
                    </a:cubicBezTo>
                    <a:lnTo>
                      <a:pt x="203200" y="406400"/>
                    </a:lnTo>
                    <a:cubicBezTo>
                      <a:pt x="90976" y="406400"/>
                      <a:pt x="0" y="315424"/>
                      <a:pt x="0" y="203200"/>
                    </a:cubicBezTo>
                    <a:cubicBezTo>
                      <a:pt x="0" y="90976"/>
                      <a:pt x="90976" y="0"/>
                      <a:pt x="203200" y="0"/>
                    </a:cubicBezTo>
                    <a:close/>
                  </a:path>
                </a:pathLst>
              </a:custGeom>
              <a:solidFill>
                <a:srgbClr val="02B2E4"/>
              </a:solidFill>
            </p:spPr>
          </p:sp>
          <p:sp>
            <p:nvSpPr>
              <p:cNvPr id="41" name="TextBox 28"/>
              <p:cNvSpPr txBox="1"/>
              <p:nvPr/>
            </p:nvSpPr>
            <p:spPr>
              <a:xfrm>
                <a:off x="0" y="-57150"/>
                <a:ext cx="13211555" cy="463550"/>
              </a:xfrm>
              <a:prstGeom prst="rect">
                <a:avLst/>
              </a:prstGeom>
            </p:spPr>
            <p:txBody>
              <a:bodyPr lIns="50800" tIns="50800" rIns="50800" bIns="50800" rtlCol="0" anchor="ctr"/>
              <a:lstStyle/>
              <a:p>
                <a:pPr marL="0" lvl="0" indent="0" algn="ctr">
                  <a:lnSpc>
                    <a:spcPts val="4059"/>
                  </a:lnSpc>
                  <a:spcBef>
                    <a:spcPct val="0"/>
                  </a:spcBef>
                </a:pPr>
                <a:endParaRPr/>
              </a:p>
            </p:txBody>
          </p:sp>
        </p:grpSp>
        <p:grpSp>
          <p:nvGrpSpPr>
            <p:cNvPr id="35" name="Group 29"/>
            <p:cNvGrpSpPr/>
            <p:nvPr/>
          </p:nvGrpSpPr>
          <p:grpSpPr>
            <a:xfrm>
              <a:off x="7024911" y="84295"/>
              <a:ext cx="1706944" cy="1125122"/>
              <a:chOff x="0" y="0"/>
              <a:chExt cx="538191" cy="354746"/>
            </a:xfrm>
          </p:grpSpPr>
          <p:sp>
            <p:nvSpPr>
              <p:cNvPr id="38" name="Freeform 30"/>
              <p:cNvSpPr/>
              <p:nvPr/>
            </p:nvSpPr>
            <p:spPr>
              <a:xfrm>
                <a:off x="0" y="0"/>
                <a:ext cx="538191" cy="354746"/>
              </a:xfrm>
              <a:custGeom>
                <a:avLst/>
                <a:gdLst/>
                <a:ahLst/>
                <a:cxnLst/>
                <a:rect l="l" t="t" r="r" b="b"/>
                <a:pathLst>
                  <a:path w="538191" h="354746">
                    <a:moveTo>
                      <a:pt x="156712" y="0"/>
                    </a:moveTo>
                    <a:lnTo>
                      <a:pt x="381479" y="0"/>
                    </a:lnTo>
                    <a:cubicBezTo>
                      <a:pt x="468029" y="0"/>
                      <a:pt x="538191" y="70163"/>
                      <a:pt x="538191" y="156712"/>
                    </a:cubicBezTo>
                    <a:lnTo>
                      <a:pt x="538191" y="198033"/>
                    </a:lnTo>
                    <a:cubicBezTo>
                      <a:pt x="538191" y="284583"/>
                      <a:pt x="468029" y="354746"/>
                      <a:pt x="381479" y="354746"/>
                    </a:cubicBezTo>
                    <a:lnTo>
                      <a:pt x="156712" y="354746"/>
                    </a:lnTo>
                    <a:cubicBezTo>
                      <a:pt x="70163" y="354746"/>
                      <a:pt x="0" y="284583"/>
                      <a:pt x="0" y="198033"/>
                    </a:cubicBezTo>
                    <a:lnTo>
                      <a:pt x="0" y="156712"/>
                    </a:lnTo>
                    <a:cubicBezTo>
                      <a:pt x="0" y="70163"/>
                      <a:pt x="70163" y="0"/>
                      <a:pt x="156712" y="0"/>
                    </a:cubicBezTo>
                    <a:close/>
                  </a:path>
                </a:pathLst>
              </a:custGeom>
              <a:solidFill>
                <a:srgbClr val="02B2E4"/>
              </a:solidFill>
              <a:ln w="38100" cap="rnd">
                <a:solidFill>
                  <a:srgbClr val="D9D9D9"/>
                </a:solidFill>
                <a:prstDash val="solid"/>
                <a:round/>
              </a:ln>
            </p:spPr>
          </p:sp>
          <p:sp>
            <p:nvSpPr>
              <p:cNvPr id="39" name="TextBox 31"/>
              <p:cNvSpPr txBox="1"/>
              <p:nvPr/>
            </p:nvSpPr>
            <p:spPr>
              <a:xfrm>
                <a:off x="0" y="-28575"/>
                <a:ext cx="538191" cy="383321"/>
              </a:xfrm>
              <a:prstGeom prst="rect">
                <a:avLst/>
              </a:prstGeom>
            </p:spPr>
            <p:txBody>
              <a:bodyPr lIns="50800" tIns="50800" rIns="50800" bIns="50800" rtlCol="0" anchor="ctr"/>
              <a:lstStyle/>
              <a:p>
                <a:pPr algn="ctr">
                  <a:lnSpc>
                    <a:spcPts val="2660"/>
                  </a:lnSpc>
                </a:pPr>
                <a:r>
                  <a:rPr lang="en-US" sz="1900" b="1">
                    <a:solidFill>
                      <a:srgbClr val="FFFFFF"/>
                    </a:solidFill>
                    <a:latin typeface="Gordita Bold"/>
                    <a:ea typeface="Gordita Bold"/>
                    <a:cs typeface="Gordita Bold"/>
                    <a:sym typeface="Gordita Bold"/>
                  </a:rPr>
                  <a:t>02</a:t>
                </a:r>
              </a:p>
            </p:txBody>
          </p:sp>
        </p:grpSp>
        <p:sp>
          <p:nvSpPr>
            <p:cNvPr id="36" name="TextBox 32"/>
            <p:cNvSpPr txBox="1"/>
            <p:nvPr/>
          </p:nvSpPr>
          <p:spPr>
            <a:xfrm>
              <a:off x="1121419" y="1180843"/>
              <a:ext cx="6002315" cy="412249"/>
            </a:xfrm>
            <a:prstGeom prst="rect">
              <a:avLst/>
            </a:prstGeom>
          </p:spPr>
          <p:txBody>
            <a:bodyPr lIns="0" tIns="0" rIns="0" bIns="0" rtlCol="0" anchor="t">
              <a:spAutoFit/>
            </a:bodyPr>
            <a:lstStyle/>
            <a:p>
              <a:pPr>
                <a:lnSpc>
                  <a:spcPts val="2638"/>
                </a:lnSpc>
                <a:spcBef>
                  <a:spcPct val="0"/>
                </a:spcBef>
              </a:pPr>
              <a:r>
                <a:rPr lang="fr-FR" sz="1884" b="1" dirty="0" err="1">
                  <a:solidFill>
                    <a:srgbClr val="000000"/>
                  </a:solidFill>
                  <a:latin typeface="Gordita Bold"/>
                  <a:ea typeface="Gordita Bold"/>
                  <a:cs typeface="Gordita Bold"/>
                </a:rPr>
                <a:t>Grafana</a:t>
              </a:r>
              <a:r>
                <a:rPr lang="fr-FR" b="1" dirty="0"/>
                <a:t> </a:t>
              </a:r>
              <a:endParaRPr lang="en-US" sz="1884" b="1" dirty="0">
                <a:solidFill>
                  <a:srgbClr val="000000"/>
                </a:solidFill>
                <a:latin typeface="Gordita Bold"/>
                <a:ea typeface="Gordita Bold"/>
                <a:cs typeface="Gordita Bold"/>
                <a:sym typeface="Gordita Bold"/>
              </a:endParaRPr>
            </a:p>
          </p:txBody>
        </p:sp>
        <p:sp>
          <p:nvSpPr>
            <p:cNvPr id="37" name="TextBox 33"/>
            <p:cNvSpPr txBox="1"/>
            <p:nvPr/>
          </p:nvSpPr>
          <p:spPr>
            <a:xfrm>
              <a:off x="1121419" y="1759786"/>
              <a:ext cx="6002315" cy="1292661"/>
            </a:xfrm>
            <a:prstGeom prst="rect">
              <a:avLst/>
            </a:prstGeom>
          </p:spPr>
          <p:txBody>
            <a:bodyPr lIns="0" tIns="0" rIns="0" bIns="0" rtlCol="0" anchor="t">
              <a:spAutoFit/>
            </a:bodyPr>
            <a:lstStyle/>
            <a:p>
              <a:pPr>
                <a:lnSpc>
                  <a:spcPts val="2638"/>
                </a:lnSpc>
                <a:spcBef>
                  <a:spcPct val="0"/>
                </a:spcBef>
              </a:pPr>
              <a:r>
                <a:rPr lang="fr-FR" dirty="0"/>
                <a:t>Plateforme de visualisation qui transforme ces données en tableaux de bord pour une analyse en temps réel.</a:t>
              </a:r>
              <a:endParaRPr lang="en-US" sz="1884" dirty="0">
                <a:solidFill>
                  <a:srgbClr val="000000"/>
                </a:solidFill>
                <a:latin typeface="Gordita"/>
                <a:ea typeface="Gordita"/>
                <a:cs typeface="Gordita"/>
                <a:sym typeface="Gordita"/>
              </a:endParaRPr>
            </a:p>
          </p:txBody>
        </p:sp>
      </p:grpSp>
      <p:sp>
        <p:nvSpPr>
          <p:cNvPr id="46" name="Freeform 34"/>
          <p:cNvSpPr/>
          <p:nvPr/>
        </p:nvSpPr>
        <p:spPr>
          <a:xfrm>
            <a:off x="10457687" y="2752398"/>
            <a:ext cx="927269" cy="1272410"/>
          </a:xfrm>
          <a:custGeom>
            <a:avLst/>
            <a:gdLst/>
            <a:ahLst/>
            <a:cxnLst/>
            <a:rect l="l" t="t" r="r" b="b"/>
            <a:pathLst>
              <a:path w="927269" h="1272410">
                <a:moveTo>
                  <a:pt x="0" y="0"/>
                </a:moveTo>
                <a:lnTo>
                  <a:pt x="927268" y="0"/>
                </a:lnTo>
                <a:lnTo>
                  <a:pt x="927268" y="1272410"/>
                </a:lnTo>
                <a:lnTo>
                  <a:pt x="0" y="1272410"/>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sp>
      <p:sp>
        <p:nvSpPr>
          <p:cNvPr id="47" name="Freeform 35"/>
          <p:cNvSpPr/>
          <p:nvPr/>
        </p:nvSpPr>
        <p:spPr>
          <a:xfrm>
            <a:off x="10457687" y="4215197"/>
            <a:ext cx="927269" cy="1272410"/>
          </a:xfrm>
          <a:custGeom>
            <a:avLst/>
            <a:gdLst/>
            <a:ahLst/>
            <a:cxnLst/>
            <a:rect l="l" t="t" r="r" b="b"/>
            <a:pathLst>
              <a:path w="927269" h="1272410">
                <a:moveTo>
                  <a:pt x="0" y="0"/>
                </a:moveTo>
                <a:lnTo>
                  <a:pt x="927268" y="0"/>
                </a:lnTo>
                <a:lnTo>
                  <a:pt x="927268" y="1272410"/>
                </a:lnTo>
                <a:lnTo>
                  <a:pt x="0" y="1272410"/>
                </a:lnTo>
                <a:lnTo>
                  <a:pt x="0" y="0"/>
                </a:lnTo>
                <a:close/>
              </a:path>
            </a:pathLst>
          </a:custGeom>
          <a:blipFill>
            <a:blip r:embed="rId7">
              <a:extLst>
                <a:ext uri="{96DAC541-7B7A-43D3-8B79-37D633B846F1}">
                  <asvg:svgBlip xmlns="" xmlns:asvg="http://schemas.microsoft.com/office/drawing/2016/SVG/main" r:embed="rId8"/>
                </a:ext>
              </a:extLst>
            </a:blip>
            <a:stretch>
              <a:fillRect/>
            </a:stretch>
          </a:blipFill>
        </p:spPr>
      </p:sp>
      <p:sp>
        <p:nvSpPr>
          <p:cNvPr id="48" name="Freeform 36"/>
          <p:cNvSpPr/>
          <p:nvPr/>
        </p:nvSpPr>
        <p:spPr>
          <a:xfrm>
            <a:off x="10457687" y="5677996"/>
            <a:ext cx="927269" cy="1272410"/>
          </a:xfrm>
          <a:custGeom>
            <a:avLst/>
            <a:gdLst/>
            <a:ahLst/>
            <a:cxnLst/>
            <a:rect l="l" t="t" r="r" b="b"/>
            <a:pathLst>
              <a:path w="927269" h="1272410">
                <a:moveTo>
                  <a:pt x="0" y="0"/>
                </a:moveTo>
                <a:lnTo>
                  <a:pt x="927268" y="0"/>
                </a:lnTo>
                <a:lnTo>
                  <a:pt x="927268" y="1272410"/>
                </a:lnTo>
                <a:lnTo>
                  <a:pt x="0" y="1272410"/>
                </a:lnTo>
                <a:lnTo>
                  <a:pt x="0" y="0"/>
                </a:lnTo>
                <a:close/>
              </a:path>
            </a:pathLst>
          </a:custGeom>
          <a:blipFill>
            <a:blip r:embed="rId9">
              <a:extLst>
                <a:ext uri="{96DAC541-7B7A-43D3-8B79-37D633B846F1}">
                  <asvg:svgBlip xmlns="" xmlns:asvg="http://schemas.microsoft.com/office/drawing/2016/SVG/main" r:embed="rId10"/>
                </a:ext>
              </a:extLst>
            </a:blip>
            <a:stretch>
              <a:fillRect/>
            </a:stretch>
          </a:blipFill>
        </p:spPr>
      </p:sp>
      <p:sp>
        <p:nvSpPr>
          <p:cNvPr id="50" name="Freeform 38"/>
          <p:cNvSpPr/>
          <p:nvPr/>
        </p:nvSpPr>
        <p:spPr>
          <a:xfrm>
            <a:off x="10457687" y="7372431"/>
            <a:ext cx="927269" cy="1272410"/>
          </a:xfrm>
          <a:custGeom>
            <a:avLst/>
            <a:gdLst/>
            <a:ahLst/>
            <a:cxnLst/>
            <a:rect l="l" t="t" r="r" b="b"/>
            <a:pathLst>
              <a:path w="927269" h="1272410">
                <a:moveTo>
                  <a:pt x="0" y="0"/>
                </a:moveTo>
                <a:lnTo>
                  <a:pt x="927268" y="0"/>
                </a:lnTo>
                <a:lnTo>
                  <a:pt x="927268" y="1272410"/>
                </a:lnTo>
                <a:lnTo>
                  <a:pt x="0" y="1272410"/>
                </a:lnTo>
                <a:lnTo>
                  <a:pt x="0" y="0"/>
                </a:lnTo>
                <a:close/>
              </a:path>
            </a:pathLst>
          </a:custGeom>
          <a:blipFill>
            <a:blip r:embed="rId11">
              <a:extLst>
                <a:ext uri="{96DAC541-7B7A-43D3-8B79-37D633B846F1}">
                  <asvg:svgBlip xmlns="" xmlns:asvg="http://schemas.microsoft.com/office/drawing/2016/SVG/main" r:embed="rId14"/>
                </a:ext>
              </a:extLst>
            </a:blip>
            <a:stretch>
              <a:fillRect/>
            </a:stretch>
          </a:blipFill>
        </p:spPr>
      </p:sp>
      <p:grpSp>
        <p:nvGrpSpPr>
          <p:cNvPr id="51" name="Group 39"/>
          <p:cNvGrpSpPr/>
          <p:nvPr/>
        </p:nvGrpSpPr>
        <p:grpSpPr>
          <a:xfrm>
            <a:off x="9021666" y="5677996"/>
            <a:ext cx="1642900" cy="1272410"/>
            <a:chOff x="0" y="0"/>
            <a:chExt cx="696167" cy="539175"/>
          </a:xfrm>
        </p:grpSpPr>
        <p:sp>
          <p:nvSpPr>
            <p:cNvPr id="52" name="Freeform 40"/>
            <p:cNvSpPr/>
            <p:nvPr/>
          </p:nvSpPr>
          <p:spPr>
            <a:xfrm>
              <a:off x="0" y="0"/>
              <a:ext cx="696167" cy="539175"/>
            </a:xfrm>
            <a:custGeom>
              <a:avLst/>
              <a:gdLst/>
              <a:ahLst/>
              <a:cxnLst/>
              <a:rect l="l" t="t" r="r" b="b"/>
              <a:pathLst>
                <a:path w="696167" h="539175">
                  <a:moveTo>
                    <a:pt x="696167" y="269587"/>
                  </a:moveTo>
                  <a:lnTo>
                    <a:pt x="492967" y="539175"/>
                  </a:lnTo>
                  <a:lnTo>
                    <a:pt x="203200" y="539175"/>
                  </a:lnTo>
                  <a:lnTo>
                    <a:pt x="0" y="269587"/>
                  </a:lnTo>
                  <a:lnTo>
                    <a:pt x="203200" y="0"/>
                  </a:lnTo>
                  <a:lnTo>
                    <a:pt x="492967" y="0"/>
                  </a:lnTo>
                  <a:lnTo>
                    <a:pt x="696167" y="269587"/>
                  </a:lnTo>
                  <a:close/>
                </a:path>
              </a:pathLst>
            </a:custGeom>
            <a:solidFill>
              <a:srgbClr val="D9D9D9"/>
            </a:solidFill>
          </p:spPr>
        </p:sp>
        <p:sp>
          <p:nvSpPr>
            <p:cNvPr id="53" name="TextBox 41"/>
            <p:cNvSpPr txBox="1"/>
            <p:nvPr/>
          </p:nvSpPr>
          <p:spPr>
            <a:xfrm>
              <a:off x="114300" y="-38100"/>
              <a:ext cx="467567" cy="577275"/>
            </a:xfrm>
            <a:prstGeom prst="rect">
              <a:avLst/>
            </a:prstGeom>
          </p:spPr>
          <p:txBody>
            <a:bodyPr lIns="50800" tIns="50800" rIns="50800" bIns="50800" rtlCol="0" anchor="ctr"/>
            <a:lstStyle/>
            <a:p>
              <a:pPr algn="ctr">
                <a:lnSpc>
                  <a:spcPts val="2520"/>
                </a:lnSpc>
              </a:pPr>
              <a:endParaRPr/>
            </a:p>
          </p:txBody>
        </p:sp>
      </p:grpSp>
      <p:grpSp>
        <p:nvGrpSpPr>
          <p:cNvPr id="57" name="Group 45"/>
          <p:cNvGrpSpPr/>
          <p:nvPr/>
        </p:nvGrpSpPr>
        <p:grpSpPr>
          <a:xfrm>
            <a:off x="9021666" y="4205632"/>
            <a:ext cx="1642900" cy="1272410"/>
            <a:chOff x="0" y="0"/>
            <a:chExt cx="696167" cy="539175"/>
          </a:xfrm>
        </p:grpSpPr>
        <p:sp>
          <p:nvSpPr>
            <p:cNvPr id="58" name="Freeform 46"/>
            <p:cNvSpPr/>
            <p:nvPr/>
          </p:nvSpPr>
          <p:spPr>
            <a:xfrm>
              <a:off x="0" y="0"/>
              <a:ext cx="696167" cy="539175"/>
            </a:xfrm>
            <a:custGeom>
              <a:avLst/>
              <a:gdLst/>
              <a:ahLst/>
              <a:cxnLst/>
              <a:rect l="l" t="t" r="r" b="b"/>
              <a:pathLst>
                <a:path w="696167" h="539175">
                  <a:moveTo>
                    <a:pt x="696167" y="269587"/>
                  </a:moveTo>
                  <a:lnTo>
                    <a:pt x="492967" y="539175"/>
                  </a:lnTo>
                  <a:lnTo>
                    <a:pt x="203200" y="539175"/>
                  </a:lnTo>
                  <a:lnTo>
                    <a:pt x="0" y="269587"/>
                  </a:lnTo>
                  <a:lnTo>
                    <a:pt x="203200" y="0"/>
                  </a:lnTo>
                  <a:lnTo>
                    <a:pt x="492967" y="0"/>
                  </a:lnTo>
                  <a:lnTo>
                    <a:pt x="696167" y="269587"/>
                  </a:lnTo>
                  <a:close/>
                </a:path>
              </a:pathLst>
            </a:custGeom>
            <a:solidFill>
              <a:srgbClr val="D9D9D9"/>
            </a:solidFill>
          </p:spPr>
        </p:sp>
        <p:sp>
          <p:nvSpPr>
            <p:cNvPr id="59" name="TextBox 47"/>
            <p:cNvSpPr txBox="1"/>
            <p:nvPr/>
          </p:nvSpPr>
          <p:spPr>
            <a:xfrm>
              <a:off x="114300" y="-38100"/>
              <a:ext cx="467567" cy="577275"/>
            </a:xfrm>
            <a:prstGeom prst="rect">
              <a:avLst/>
            </a:prstGeom>
          </p:spPr>
          <p:txBody>
            <a:bodyPr lIns="50800" tIns="50800" rIns="50800" bIns="50800" rtlCol="0" anchor="ctr"/>
            <a:lstStyle/>
            <a:p>
              <a:pPr algn="ctr">
                <a:lnSpc>
                  <a:spcPts val="2520"/>
                </a:lnSpc>
              </a:pPr>
              <a:endParaRPr/>
            </a:p>
          </p:txBody>
        </p:sp>
      </p:grpSp>
      <p:grpSp>
        <p:nvGrpSpPr>
          <p:cNvPr id="60" name="Group 48"/>
          <p:cNvGrpSpPr/>
          <p:nvPr/>
        </p:nvGrpSpPr>
        <p:grpSpPr>
          <a:xfrm>
            <a:off x="9021666" y="2733267"/>
            <a:ext cx="1642900" cy="1272410"/>
            <a:chOff x="0" y="0"/>
            <a:chExt cx="696167" cy="539175"/>
          </a:xfrm>
        </p:grpSpPr>
        <p:sp>
          <p:nvSpPr>
            <p:cNvPr id="61" name="Freeform 49"/>
            <p:cNvSpPr/>
            <p:nvPr/>
          </p:nvSpPr>
          <p:spPr>
            <a:xfrm>
              <a:off x="0" y="0"/>
              <a:ext cx="696167" cy="539175"/>
            </a:xfrm>
            <a:custGeom>
              <a:avLst/>
              <a:gdLst/>
              <a:ahLst/>
              <a:cxnLst/>
              <a:rect l="l" t="t" r="r" b="b"/>
              <a:pathLst>
                <a:path w="696167" h="539175">
                  <a:moveTo>
                    <a:pt x="696167" y="269587"/>
                  </a:moveTo>
                  <a:lnTo>
                    <a:pt x="492967" y="539175"/>
                  </a:lnTo>
                  <a:lnTo>
                    <a:pt x="203200" y="539175"/>
                  </a:lnTo>
                  <a:lnTo>
                    <a:pt x="0" y="269587"/>
                  </a:lnTo>
                  <a:lnTo>
                    <a:pt x="203200" y="0"/>
                  </a:lnTo>
                  <a:lnTo>
                    <a:pt x="492967" y="0"/>
                  </a:lnTo>
                  <a:lnTo>
                    <a:pt x="696167" y="269587"/>
                  </a:lnTo>
                  <a:close/>
                </a:path>
              </a:pathLst>
            </a:custGeom>
            <a:solidFill>
              <a:srgbClr val="D9D9D9"/>
            </a:solidFill>
          </p:spPr>
        </p:sp>
        <p:sp>
          <p:nvSpPr>
            <p:cNvPr id="62" name="TextBox 50"/>
            <p:cNvSpPr txBox="1"/>
            <p:nvPr/>
          </p:nvSpPr>
          <p:spPr>
            <a:xfrm>
              <a:off x="114300" y="-38100"/>
              <a:ext cx="467567" cy="577275"/>
            </a:xfrm>
            <a:prstGeom prst="rect">
              <a:avLst/>
            </a:prstGeom>
          </p:spPr>
          <p:txBody>
            <a:bodyPr lIns="50800" tIns="50800" rIns="50800" bIns="50800" rtlCol="0" anchor="ctr"/>
            <a:lstStyle/>
            <a:p>
              <a:pPr algn="ctr">
                <a:lnSpc>
                  <a:spcPts val="2520"/>
                </a:lnSpc>
              </a:pPr>
              <a:endParaRPr/>
            </a:p>
          </p:txBody>
        </p:sp>
      </p:grpSp>
      <p:grpSp>
        <p:nvGrpSpPr>
          <p:cNvPr id="63" name="Group 51"/>
          <p:cNvGrpSpPr/>
          <p:nvPr/>
        </p:nvGrpSpPr>
        <p:grpSpPr>
          <a:xfrm>
            <a:off x="9021666" y="7353300"/>
            <a:ext cx="1642900" cy="1272410"/>
            <a:chOff x="0" y="0"/>
            <a:chExt cx="696167" cy="539175"/>
          </a:xfrm>
        </p:grpSpPr>
        <p:sp>
          <p:nvSpPr>
            <p:cNvPr id="64" name="Freeform 52"/>
            <p:cNvSpPr/>
            <p:nvPr/>
          </p:nvSpPr>
          <p:spPr>
            <a:xfrm>
              <a:off x="0" y="0"/>
              <a:ext cx="696167" cy="539175"/>
            </a:xfrm>
            <a:custGeom>
              <a:avLst/>
              <a:gdLst/>
              <a:ahLst/>
              <a:cxnLst/>
              <a:rect l="l" t="t" r="r" b="b"/>
              <a:pathLst>
                <a:path w="696167" h="539175">
                  <a:moveTo>
                    <a:pt x="696167" y="269587"/>
                  </a:moveTo>
                  <a:lnTo>
                    <a:pt x="492967" y="539175"/>
                  </a:lnTo>
                  <a:lnTo>
                    <a:pt x="203200" y="539175"/>
                  </a:lnTo>
                  <a:lnTo>
                    <a:pt x="0" y="269587"/>
                  </a:lnTo>
                  <a:lnTo>
                    <a:pt x="203200" y="0"/>
                  </a:lnTo>
                  <a:lnTo>
                    <a:pt x="492967" y="0"/>
                  </a:lnTo>
                  <a:lnTo>
                    <a:pt x="696167" y="269587"/>
                  </a:lnTo>
                  <a:close/>
                </a:path>
              </a:pathLst>
            </a:custGeom>
            <a:solidFill>
              <a:srgbClr val="D9D9D9"/>
            </a:solidFill>
          </p:spPr>
        </p:sp>
        <p:sp>
          <p:nvSpPr>
            <p:cNvPr id="65" name="TextBox 53"/>
            <p:cNvSpPr txBox="1"/>
            <p:nvPr/>
          </p:nvSpPr>
          <p:spPr>
            <a:xfrm>
              <a:off x="114300" y="-38100"/>
              <a:ext cx="467567" cy="577275"/>
            </a:xfrm>
            <a:prstGeom prst="rect">
              <a:avLst/>
            </a:prstGeom>
          </p:spPr>
          <p:txBody>
            <a:bodyPr lIns="50800" tIns="50800" rIns="50800" bIns="50800" rtlCol="0" anchor="ctr"/>
            <a:lstStyle/>
            <a:p>
              <a:pPr algn="ctr">
                <a:lnSpc>
                  <a:spcPts val="2520"/>
                </a:lnSpc>
              </a:pPr>
              <a:endParaRPr/>
            </a:p>
          </p:txBody>
        </p:sp>
      </p:grpSp>
      <p:sp>
        <p:nvSpPr>
          <p:cNvPr id="66" name="Freeform 54"/>
          <p:cNvSpPr/>
          <p:nvPr/>
        </p:nvSpPr>
        <p:spPr>
          <a:xfrm>
            <a:off x="9409810" y="3124206"/>
            <a:ext cx="888179" cy="449641"/>
          </a:xfrm>
          <a:custGeom>
            <a:avLst/>
            <a:gdLst/>
            <a:ahLst/>
            <a:cxnLst/>
            <a:rect l="l" t="t" r="r" b="b"/>
            <a:pathLst>
              <a:path w="888179" h="449641">
                <a:moveTo>
                  <a:pt x="0" y="0"/>
                </a:moveTo>
                <a:lnTo>
                  <a:pt x="888179" y="0"/>
                </a:lnTo>
                <a:lnTo>
                  <a:pt x="888179" y="449641"/>
                </a:lnTo>
                <a:lnTo>
                  <a:pt x="0" y="449641"/>
                </a:lnTo>
                <a:lnTo>
                  <a:pt x="0" y="0"/>
                </a:lnTo>
                <a:close/>
              </a:path>
            </a:pathLst>
          </a:custGeom>
          <a:blipFill>
            <a:blip r:embed="rId15">
              <a:extLst>
                <a:ext uri="{96DAC541-7B7A-43D3-8B79-37D633B846F1}">
                  <asvg:svgBlip xmlns="" xmlns:asvg="http://schemas.microsoft.com/office/drawing/2016/SVG/main" r:embed="rId16"/>
                </a:ext>
              </a:extLst>
            </a:blip>
            <a:stretch>
              <a:fillRect/>
            </a:stretch>
          </a:blipFill>
        </p:spPr>
      </p:sp>
      <p:sp>
        <p:nvSpPr>
          <p:cNvPr id="67" name="Freeform 55"/>
          <p:cNvSpPr/>
          <p:nvPr/>
        </p:nvSpPr>
        <p:spPr>
          <a:xfrm>
            <a:off x="9409810" y="4600256"/>
            <a:ext cx="888179" cy="449641"/>
          </a:xfrm>
          <a:custGeom>
            <a:avLst/>
            <a:gdLst/>
            <a:ahLst/>
            <a:cxnLst/>
            <a:rect l="l" t="t" r="r" b="b"/>
            <a:pathLst>
              <a:path w="888179" h="449641">
                <a:moveTo>
                  <a:pt x="0" y="0"/>
                </a:moveTo>
                <a:lnTo>
                  <a:pt x="888179" y="0"/>
                </a:lnTo>
                <a:lnTo>
                  <a:pt x="888179" y="449640"/>
                </a:lnTo>
                <a:lnTo>
                  <a:pt x="0" y="449640"/>
                </a:lnTo>
                <a:lnTo>
                  <a:pt x="0" y="0"/>
                </a:lnTo>
                <a:close/>
              </a:path>
            </a:pathLst>
          </a:custGeom>
          <a:blipFill>
            <a:blip r:embed="rId15">
              <a:extLst>
                <a:ext uri="{96DAC541-7B7A-43D3-8B79-37D633B846F1}">
                  <asvg:svgBlip xmlns="" xmlns:asvg="http://schemas.microsoft.com/office/drawing/2016/SVG/main" r:embed="rId16"/>
                </a:ext>
              </a:extLst>
            </a:blip>
            <a:stretch>
              <a:fillRect/>
            </a:stretch>
          </a:blipFill>
        </p:spPr>
      </p:sp>
      <p:sp>
        <p:nvSpPr>
          <p:cNvPr id="68" name="Freeform 56"/>
          <p:cNvSpPr/>
          <p:nvPr/>
        </p:nvSpPr>
        <p:spPr>
          <a:xfrm>
            <a:off x="9409810" y="6124891"/>
            <a:ext cx="968952" cy="490532"/>
          </a:xfrm>
          <a:custGeom>
            <a:avLst/>
            <a:gdLst/>
            <a:ahLst/>
            <a:cxnLst/>
            <a:rect l="l" t="t" r="r" b="b"/>
            <a:pathLst>
              <a:path w="968952" h="490532">
                <a:moveTo>
                  <a:pt x="0" y="0"/>
                </a:moveTo>
                <a:lnTo>
                  <a:pt x="968952" y="0"/>
                </a:lnTo>
                <a:lnTo>
                  <a:pt x="968952" y="490532"/>
                </a:lnTo>
                <a:lnTo>
                  <a:pt x="0" y="490532"/>
                </a:lnTo>
                <a:lnTo>
                  <a:pt x="0" y="0"/>
                </a:lnTo>
                <a:close/>
              </a:path>
            </a:pathLst>
          </a:custGeom>
          <a:blipFill>
            <a:blip r:embed="rId15">
              <a:extLst>
                <a:ext uri="{96DAC541-7B7A-43D3-8B79-37D633B846F1}">
                  <asvg:svgBlip xmlns="" xmlns:asvg="http://schemas.microsoft.com/office/drawing/2016/SVG/main" r:embed="rId16"/>
                </a:ext>
              </a:extLst>
            </a:blip>
            <a:stretch>
              <a:fillRect/>
            </a:stretch>
          </a:blipFill>
        </p:spPr>
      </p:sp>
      <p:sp>
        <p:nvSpPr>
          <p:cNvPr id="70" name="Freeform 58"/>
          <p:cNvSpPr/>
          <p:nvPr/>
        </p:nvSpPr>
        <p:spPr>
          <a:xfrm>
            <a:off x="9450651" y="7772453"/>
            <a:ext cx="887270" cy="449181"/>
          </a:xfrm>
          <a:custGeom>
            <a:avLst/>
            <a:gdLst/>
            <a:ahLst/>
            <a:cxnLst/>
            <a:rect l="l" t="t" r="r" b="b"/>
            <a:pathLst>
              <a:path w="887270" h="449181">
                <a:moveTo>
                  <a:pt x="0" y="0"/>
                </a:moveTo>
                <a:lnTo>
                  <a:pt x="887270" y="0"/>
                </a:lnTo>
                <a:lnTo>
                  <a:pt x="887270" y="449180"/>
                </a:lnTo>
                <a:lnTo>
                  <a:pt x="0" y="449180"/>
                </a:lnTo>
                <a:lnTo>
                  <a:pt x="0" y="0"/>
                </a:lnTo>
                <a:close/>
              </a:path>
            </a:pathLst>
          </a:custGeom>
          <a:blipFill>
            <a:blip r:embed="rId15">
              <a:extLst>
                <a:ext uri="{96DAC541-7B7A-43D3-8B79-37D633B846F1}">
                  <asvg:svgBlip xmlns="" xmlns:asvg="http://schemas.microsoft.com/office/drawing/2016/SVG/main" r:embed="rId16"/>
                </a:ext>
              </a:extLst>
            </a:blip>
            <a:stretch>
              <a:fillRect/>
            </a:stretch>
          </a:blipFill>
        </p:spPr>
      </p:sp>
      <p:sp>
        <p:nvSpPr>
          <p:cNvPr id="71" name="TextBox 59"/>
          <p:cNvSpPr txBox="1"/>
          <p:nvPr/>
        </p:nvSpPr>
        <p:spPr>
          <a:xfrm>
            <a:off x="11713874" y="3340938"/>
            <a:ext cx="4173826" cy="306705"/>
          </a:xfrm>
          <a:prstGeom prst="rect">
            <a:avLst/>
          </a:prstGeom>
        </p:spPr>
        <p:txBody>
          <a:bodyPr lIns="0" tIns="0" rIns="0" bIns="0" rtlCol="0" anchor="t">
            <a:spAutoFit/>
          </a:bodyPr>
          <a:lstStyle/>
          <a:p>
            <a:pPr algn="l">
              <a:lnSpc>
                <a:spcPts val="2520"/>
              </a:lnSpc>
            </a:pPr>
            <a:r>
              <a:rPr lang="en-US" sz="1800">
                <a:solidFill>
                  <a:srgbClr val="000000"/>
                </a:solidFill>
                <a:latin typeface="Proxima Nova"/>
                <a:ea typeface="Proxima Nova"/>
                <a:cs typeface="Proxima Nova"/>
                <a:sym typeface="Proxima Nova"/>
              </a:rPr>
              <a:t>CPU, RAM, Ceph OSD, cluster HA</a:t>
            </a:r>
          </a:p>
        </p:txBody>
      </p:sp>
      <p:sp>
        <p:nvSpPr>
          <p:cNvPr id="72" name="TextBox 60"/>
          <p:cNvSpPr txBox="1"/>
          <p:nvPr/>
        </p:nvSpPr>
        <p:spPr>
          <a:xfrm>
            <a:off x="11713874" y="4813262"/>
            <a:ext cx="4173826" cy="297902"/>
          </a:xfrm>
          <a:prstGeom prst="rect">
            <a:avLst/>
          </a:prstGeom>
        </p:spPr>
        <p:txBody>
          <a:bodyPr lIns="0" tIns="0" rIns="0" bIns="0" rtlCol="0" anchor="t">
            <a:spAutoFit/>
          </a:bodyPr>
          <a:lstStyle/>
          <a:p>
            <a:pPr algn="l">
              <a:lnSpc>
                <a:spcPts val="2480"/>
              </a:lnSpc>
            </a:pPr>
            <a:r>
              <a:rPr lang="en-US" sz="1771">
                <a:solidFill>
                  <a:srgbClr val="000000"/>
                </a:solidFill>
                <a:latin typeface="Proxima Nova"/>
                <a:ea typeface="Proxima Nova"/>
                <a:cs typeface="Proxima Nova"/>
                <a:sym typeface="Proxima Nova"/>
              </a:rPr>
              <a:t>CPU, RAM, disque, load, uptime</a:t>
            </a:r>
          </a:p>
        </p:txBody>
      </p:sp>
      <p:sp>
        <p:nvSpPr>
          <p:cNvPr id="73" name="TextBox 61"/>
          <p:cNvSpPr txBox="1"/>
          <p:nvPr/>
        </p:nvSpPr>
        <p:spPr>
          <a:xfrm>
            <a:off x="11713874" y="2959933"/>
            <a:ext cx="4173826" cy="349250"/>
          </a:xfrm>
          <a:prstGeom prst="rect">
            <a:avLst/>
          </a:prstGeom>
        </p:spPr>
        <p:txBody>
          <a:bodyPr lIns="0" tIns="0" rIns="0" bIns="0" rtlCol="0" anchor="t">
            <a:spAutoFit/>
          </a:bodyPr>
          <a:lstStyle/>
          <a:p>
            <a:pPr algn="l">
              <a:lnSpc>
                <a:spcPts val="2800"/>
              </a:lnSpc>
            </a:pPr>
            <a:r>
              <a:rPr lang="en-US" sz="2000" b="1">
                <a:solidFill>
                  <a:srgbClr val="000000"/>
                </a:solidFill>
                <a:latin typeface="Proxima Nova Bold"/>
                <a:ea typeface="Proxima Nova Bold"/>
                <a:cs typeface="Proxima Nova Bold"/>
                <a:sym typeface="Proxima Nova Bold"/>
              </a:rPr>
              <a:t>server1/2/3 (Proxmox)</a:t>
            </a:r>
          </a:p>
        </p:txBody>
      </p:sp>
      <p:sp>
        <p:nvSpPr>
          <p:cNvPr id="74" name="TextBox 62"/>
          <p:cNvSpPr txBox="1"/>
          <p:nvPr/>
        </p:nvSpPr>
        <p:spPr>
          <a:xfrm>
            <a:off x="11713874" y="4522613"/>
            <a:ext cx="4173826" cy="334161"/>
          </a:xfrm>
          <a:prstGeom prst="rect">
            <a:avLst/>
          </a:prstGeom>
        </p:spPr>
        <p:txBody>
          <a:bodyPr lIns="0" tIns="0" rIns="0" bIns="0" rtlCol="0" anchor="t">
            <a:spAutoFit/>
          </a:bodyPr>
          <a:lstStyle/>
          <a:p>
            <a:pPr marL="0" lvl="0" indent="0" algn="l">
              <a:lnSpc>
                <a:spcPts val="2799"/>
              </a:lnSpc>
              <a:spcBef>
                <a:spcPct val="0"/>
              </a:spcBef>
            </a:pPr>
            <a:r>
              <a:rPr lang="en-US" sz="1999" b="1" u="none" strike="noStrike">
                <a:solidFill>
                  <a:srgbClr val="000000"/>
                </a:solidFill>
                <a:latin typeface="Proxima Nova Bold"/>
                <a:ea typeface="Proxima Nova Bold"/>
                <a:cs typeface="Proxima Nova Bold"/>
                <a:sym typeface="Proxima Nova Bold"/>
              </a:rPr>
              <a:t>Toutes VMs applicatives</a:t>
            </a:r>
          </a:p>
        </p:txBody>
      </p:sp>
      <p:sp>
        <p:nvSpPr>
          <p:cNvPr id="75" name="TextBox 63"/>
          <p:cNvSpPr txBox="1"/>
          <p:nvPr/>
        </p:nvSpPr>
        <p:spPr>
          <a:xfrm>
            <a:off x="11713874" y="6276061"/>
            <a:ext cx="4173826" cy="297902"/>
          </a:xfrm>
          <a:prstGeom prst="rect">
            <a:avLst/>
          </a:prstGeom>
        </p:spPr>
        <p:txBody>
          <a:bodyPr lIns="0" tIns="0" rIns="0" bIns="0" rtlCol="0" anchor="t">
            <a:spAutoFit/>
          </a:bodyPr>
          <a:lstStyle/>
          <a:p>
            <a:pPr algn="l">
              <a:lnSpc>
                <a:spcPts val="2480"/>
              </a:lnSpc>
            </a:pPr>
            <a:r>
              <a:rPr lang="en-US" sz="1771">
                <a:solidFill>
                  <a:srgbClr val="000000"/>
                </a:solidFill>
                <a:latin typeface="Proxima Nova"/>
                <a:ea typeface="Proxima Nova"/>
                <a:cs typeface="Proxima Nova"/>
                <a:sym typeface="Proxima Nova"/>
              </a:rPr>
              <a:t>Espace PBS, jobs backup</a:t>
            </a:r>
          </a:p>
        </p:txBody>
      </p:sp>
      <p:sp>
        <p:nvSpPr>
          <p:cNvPr id="76" name="TextBox 64"/>
          <p:cNvSpPr txBox="1"/>
          <p:nvPr/>
        </p:nvSpPr>
        <p:spPr>
          <a:xfrm>
            <a:off x="11713874" y="5895056"/>
            <a:ext cx="4173826" cy="334161"/>
          </a:xfrm>
          <a:prstGeom prst="rect">
            <a:avLst/>
          </a:prstGeom>
        </p:spPr>
        <p:txBody>
          <a:bodyPr lIns="0" tIns="0" rIns="0" bIns="0" rtlCol="0" anchor="t">
            <a:spAutoFit/>
          </a:bodyPr>
          <a:lstStyle/>
          <a:p>
            <a:pPr marL="0" lvl="0" indent="0" algn="l">
              <a:lnSpc>
                <a:spcPts val="2799"/>
              </a:lnSpc>
              <a:spcBef>
                <a:spcPct val="0"/>
              </a:spcBef>
            </a:pPr>
            <a:r>
              <a:rPr lang="en-US" sz="1999" b="1" u="none" strike="noStrike">
                <a:solidFill>
                  <a:srgbClr val="000000"/>
                </a:solidFill>
                <a:latin typeface="Proxima Nova Bold"/>
                <a:ea typeface="Proxima Nova Bold"/>
                <a:cs typeface="Proxima Nova Bold"/>
                <a:sym typeface="Proxima Nova Bold"/>
              </a:rPr>
              <a:t>Proxmox Backup Server</a:t>
            </a:r>
          </a:p>
        </p:txBody>
      </p:sp>
      <p:sp>
        <p:nvSpPr>
          <p:cNvPr id="83" name="TextBox 67"/>
          <p:cNvSpPr txBox="1"/>
          <p:nvPr/>
        </p:nvSpPr>
        <p:spPr>
          <a:xfrm>
            <a:off x="11713874" y="7970496"/>
            <a:ext cx="4173826" cy="297902"/>
          </a:xfrm>
          <a:prstGeom prst="rect">
            <a:avLst/>
          </a:prstGeom>
        </p:spPr>
        <p:txBody>
          <a:bodyPr lIns="0" tIns="0" rIns="0" bIns="0" rtlCol="0" anchor="t">
            <a:spAutoFit/>
          </a:bodyPr>
          <a:lstStyle/>
          <a:p>
            <a:pPr algn="l">
              <a:lnSpc>
                <a:spcPts val="2480"/>
              </a:lnSpc>
            </a:pPr>
            <a:r>
              <a:rPr lang="en-US" sz="1771">
                <a:solidFill>
                  <a:srgbClr val="000000"/>
                </a:solidFill>
                <a:latin typeface="Proxima Nova"/>
                <a:ea typeface="Proxima Nova"/>
                <a:cs typeface="Proxima Nova"/>
                <a:sym typeface="Proxima Nova"/>
              </a:rPr>
              <a:t>Alertes actives, silences, routage</a:t>
            </a:r>
          </a:p>
        </p:txBody>
      </p:sp>
      <p:sp>
        <p:nvSpPr>
          <p:cNvPr id="86" name="TextBox 68"/>
          <p:cNvSpPr txBox="1"/>
          <p:nvPr/>
        </p:nvSpPr>
        <p:spPr>
          <a:xfrm>
            <a:off x="11713874" y="7589491"/>
            <a:ext cx="4173826" cy="334161"/>
          </a:xfrm>
          <a:prstGeom prst="rect">
            <a:avLst/>
          </a:prstGeom>
        </p:spPr>
        <p:txBody>
          <a:bodyPr lIns="0" tIns="0" rIns="0" bIns="0" rtlCol="0" anchor="t">
            <a:spAutoFit/>
          </a:bodyPr>
          <a:lstStyle/>
          <a:p>
            <a:pPr marL="0" lvl="0" indent="0" algn="l">
              <a:lnSpc>
                <a:spcPts val="2799"/>
              </a:lnSpc>
              <a:spcBef>
                <a:spcPct val="0"/>
              </a:spcBef>
            </a:pPr>
            <a:r>
              <a:rPr lang="en-US" sz="1999" b="1" u="none" strike="noStrike">
                <a:solidFill>
                  <a:srgbClr val="000000"/>
                </a:solidFill>
                <a:latin typeface="Proxima Nova Bold"/>
                <a:ea typeface="Proxima Nova Bold"/>
                <a:cs typeface="Proxima Nova Bold"/>
                <a:sym typeface="Proxima Nova Bold"/>
              </a:rPr>
              <a:t>Alertmanager</a:t>
            </a:r>
          </a:p>
        </p:txBody>
      </p:sp>
      <p:sp>
        <p:nvSpPr>
          <p:cNvPr id="87" name="Text 14"/>
          <p:cNvSpPr/>
          <p:nvPr/>
        </p:nvSpPr>
        <p:spPr>
          <a:xfrm>
            <a:off x="5785354" y="1469714"/>
            <a:ext cx="6717292" cy="862614"/>
          </a:xfrm>
          <a:prstGeom prst="rect">
            <a:avLst/>
          </a:prstGeom>
          <a:noFill/>
          <a:ln/>
        </p:spPr>
        <p:txBody>
          <a:bodyPr wrap="square" lIns="0" tIns="0" rIns="0" bIns="0" rtlCol="0" anchor="ctr"/>
          <a:lstStyle/>
          <a:p>
            <a:r>
              <a:rPr lang="fr-FR" sz="3600" dirty="0"/>
              <a:t>Supervision : </a:t>
            </a:r>
            <a:r>
              <a:rPr lang="fr-FR" sz="3600" dirty="0" err="1"/>
              <a:t>Prometheus</a:t>
            </a:r>
            <a:r>
              <a:rPr lang="fr-FR" sz="3600" dirty="0"/>
              <a:t> + </a:t>
            </a:r>
            <a:r>
              <a:rPr lang="fr-FR" sz="3600" dirty="0" err="1"/>
              <a:t>Grafana</a:t>
            </a:r>
            <a:endParaRPr lang="en-US" sz="3600" dirty="0"/>
          </a:p>
        </p:txBody>
      </p:sp>
    </p:spTree>
    <p:extLst>
      <p:ext uri="{BB962C8B-B14F-4D97-AF65-F5344CB8AC3E}">
        <p14:creationId xmlns:p14="http://schemas.microsoft.com/office/powerpoint/2010/main" val="20504147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barn(inVertic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barn(inVertical)">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46"/>
                                        </p:tgtEl>
                                        <p:attrNameLst>
                                          <p:attrName>style.visibility</p:attrName>
                                        </p:attrNameLst>
                                      </p:cBhvr>
                                      <p:to>
                                        <p:strVal val="visible"/>
                                      </p:to>
                                    </p:set>
                                    <p:animEffect transition="in" filter="fade">
                                      <p:cBhvr>
                                        <p:cTn id="17" dur="1000"/>
                                        <p:tgtEl>
                                          <p:spTgt spid="46"/>
                                        </p:tgtEl>
                                      </p:cBhvr>
                                    </p:animEffect>
                                    <p:anim calcmode="lin" valueType="num">
                                      <p:cBhvr>
                                        <p:cTn id="18" dur="1000" fill="hold"/>
                                        <p:tgtEl>
                                          <p:spTgt spid="46"/>
                                        </p:tgtEl>
                                        <p:attrNameLst>
                                          <p:attrName>ppt_x</p:attrName>
                                        </p:attrNameLst>
                                      </p:cBhvr>
                                      <p:tavLst>
                                        <p:tav tm="0">
                                          <p:val>
                                            <p:strVal val="#ppt_x"/>
                                          </p:val>
                                        </p:tav>
                                        <p:tav tm="100000">
                                          <p:val>
                                            <p:strVal val="#ppt_x"/>
                                          </p:val>
                                        </p:tav>
                                      </p:tavLst>
                                    </p:anim>
                                    <p:anim calcmode="lin" valueType="num">
                                      <p:cBhvr>
                                        <p:cTn id="19" dur="1000" fill="hold"/>
                                        <p:tgtEl>
                                          <p:spTgt spid="46"/>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60"/>
                                        </p:tgtEl>
                                        <p:attrNameLst>
                                          <p:attrName>style.visibility</p:attrName>
                                        </p:attrNameLst>
                                      </p:cBhvr>
                                      <p:to>
                                        <p:strVal val="visible"/>
                                      </p:to>
                                    </p:set>
                                    <p:animEffect transition="in" filter="fade">
                                      <p:cBhvr>
                                        <p:cTn id="22" dur="1000"/>
                                        <p:tgtEl>
                                          <p:spTgt spid="60"/>
                                        </p:tgtEl>
                                      </p:cBhvr>
                                    </p:animEffect>
                                    <p:anim calcmode="lin" valueType="num">
                                      <p:cBhvr>
                                        <p:cTn id="23" dur="1000" fill="hold"/>
                                        <p:tgtEl>
                                          <p:spTgt spid="60"/>
                                        </p:tgtEl>
                                        <p:attrNameLst>
                                          <p:attrName>ppt_x</p:attrName>
                                        </p:attrNameLst>
                                      </p:cBhvr>
                                      <p:tavLst>
                                        <p:tav tm="0">
                                          <p:val>
                                            <p:strVal val="#ppt_x"/>
                                          </p:val>
                                        </p:tav>
                                        <p:tav tm="100000">
                                          <p:val>
                                            <p:strVal val="#ppt_x"/>
                                          </p:val>
                                        </p:tav>
                                      </p:tavLst>
                                    </p:anim>
                                    <p:anim calcmode="lin" valueType="num">
                                      <p:cBhvr>
                                        <p:cTn id="24" dur="1000" fill="hold"/>
                                        <p:tgtEl>
                                          <p:spTgt spid="60"/>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66"/>
                                        </p:tgtEl>
                                        <p:attrNameLst>
                                          <p:attrName>style.visibility</p:attrName>
                                        </p:attrNameLst>
                                      </p:cBhvr>
                                      <p:to>
                                        <p:strVal val="visible"/>
                                      </p:to>
                                    </p:set>
                                    <p:animEffect transition="in" filter="fade">
                                      <p:cBhvr>
                                        <p:cTn id="27" dur="1000"/>
                                        <p:tgtEl>
                                          <p:spTgt spid="66"/>
                                        </p:tgtEl>
                                      </p:cBhvr>
                                    </p:animEffect>
                                    <p:anim calcmode="lin" valueType="num">
                                      <p:cBhvr>
                                        <p:cTn id="28" dur="1000" fill="hold"/>
                                        <p:tgtEl>
                                          <p:spTgt spid="66"/>
                                        </p:tgtEl>
                                        <p:attrNameLst>
                                          <p:attrName>ppt_x</p:attrName>
                                        </p:attrNameLst>
                                      </p:cBhvr>
                                      <p:tavLst>
                                        <p:tav tm="0">
                                          <p:val>
                                            <p:strVal val="#ppt_x"/>
                                          </p:val>
                                        </p:tav>
                                        <p:tav tm="100000">
                                          <p:val>
                                            <p:strVal val="#ppt_x"/>
                                          </p:val>
                                        </p:tav>
                                      </p:tavLst>
                                    </p:anim>
                                    <p:anim calcmode="lin" valueType="num">
                                      <p:cBhvr>
                                        <p:cTn id="29" dur="1000" fill="hold"/>
                                        <p:tgtEl>
                                          <p:spTgt spid="66"/>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71"/>
                                        </p:tgtEl>
                                        <p:attrNameLst>
                                          <p:attrName>style.visibility</p:attrName>
                                        </p:attrNameLst>
                                      </p:cBhvr>
                                      <p:to>
                                        <p:strVal val="visible"/>
                                      </p:to>
                                    </p:set>
                                    <p:animEffect transition="in" filter="fade">
                                      <p:cBhvr>
                                        <p:cTn id="32" dur="1000"/>
                                        <p:tgtEl>
                                          <p:spTgt spid="71"/>
                                        </p:tgtEl>
                                      </p:cBhvr>
                                    </p:animEffect>
                                    <p:anim calcmode="lin" valueType="num">
                                      <p:cBhvr>
                                        <p:cTn id="33" dur="1000" fill="hold"/>
                                        <p:tgtEl>
                                          <p:spTgt spid="71"/>
                                        </p:tgtEl>
                                        <p:attrNameLst>
                                          <p:attrName>ppt_x</p:attrName>
                                        </p:attrNameLst>
                                      </p:cBhvr>
                                      <p:tavLst>
                                        <p:tav tm="0">
                                          <p:val>
                                            <p:strVal val="#ppt_x"/>
                                          </p:val>
                                        </p:tav>
                                        <p:tav tm="100000">
                                          <p:val>
                                            <p:strVal val="#ppt_x"/>
                                          </p:val>
                                        </p:tav>
                                      </p:tavLst>
                                    </p:anim>
                                    <p:anim calcmode="lin" valueType="num">
                                      <p:cBhvr>
                                        <p:cTn id="34" dur="1000" fill="hold"/>
                                        <p:tgtEl>
                                          <p:spTgt spid="71"/>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1000"/>
                                        <p:tgtEl>
                                          <p:spTgt spid="73"/>
                                        </p:tgtEl>
                                      </p:cBhvr>
                                    </p:animEffect>
                                    <p:anim calcmode="lin" valueType="num">
                                      <p:cBhvr>
                                        <p:cTn id="38" dur="1000" fill="hold"/>
                                        <p:tgtEl>
                                          <p:spTgt spid="73"/>
                                        </p:tgtEl>
                                        <p:attrNameLst>
                                          <p:attrName>ppt_x</p:attrName>
                                        </p:attrNameLst>
                                      </p:cBhvr>
                                      <p:tavLst>
                                        <p:tav tm="0">
                                          <p:val>
                                            <p:strVal val="#ppt_x"/>
                                          </p:val>
                                        </p:tav>
                                        <p:tav tm="100000">
                                          <p:val>
                                            <p:strVal val="#ppt_x"/>
                                          </p:val>
                                        </p:tav>
                                      </p:tavLst>
                                    </p:anim>
                                    <p:anim calcmode="lin" valueType="num">
                                      <p:cBhvr>
                                        <p:cTn id="39" dur="1000" fill="hold"/>
                                        <p:tgtEl>
                                          <p:spTgt spid="73"/>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1000"/>
                                        <p:tgtEl>
                                          <p:spTgt spid="47"/>
                                        </p:tgtEl>
                                      </p:cBhvr>
                                    </p:animEffect>
                                    <p:anim calcmode="lin" valueType="num">
                                      <p:cBhvr>
                                        <p:cTn id="45" dur="1000" fill="hold"/>
                                        <p:tgtEl>
                                          <p:spTgt spid="47"/>
                                        </p:tgtEl>
                                        <p:attrNameLst>
                                          <p:attrName>ppt_x</p:attrName>
                                        </p:attrNameLst>
                                      </p:cBhvr>
                                      <p:tavLst>
                                        <p:tav tm="0">
                                          <p:val>
                                            <p:strVal val="#ppt_x"/>
                                          </p:val>
                                        </p:tav>
                                        <p:tav tm="100000">
                                          <p:val>
                                            <p:strVal val="#ppt_x"/>
                                          </p:val>
                                        </p:tav>
                                      </p:tavLst>
                                    </p:anim>
                                    <p:anim calcmode="lin" valueType="num">
                                      <p:cBhvr>
                                        <p:cTn id="46" dur="1000" fill="hold"/>
                                        <p:tgtEl>
                                          <p:spTgt spid="47"/>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1000"/>
                                        <p:tgtEl>
                                          <p:spTgt spid="57"/>
                                        </p:tgtEl>
                                      </p:cBhvr>
                                    </p:animEffect>
                                    <p:anim calcmode="lin" valueType="num">
                                      <p:cBhvr>
                                        <p:cTn id="50" dur="1000" fill="hold"/>
                                        <p:tgtEl>
                                          <p:spTgt spid="57"/>
                                        </p:tgtEl>
                                        <p:attrNameLst>
                                          <p:attrName>ppt_x</p:attrName>
                                        </p:attrNameLst>
                                      </p:cBhvr>
                                      <p:tavLst>
                                        <p:tav tm="0">
                                          <p:val>
                                            <p:strVal val="#ppt_x"/>
                                          </p:val>
                                        </p:tav>
                                        <p:tav tm="100000">
                                          <p:val>
                                            <p:strVal val="#ppt_x"/>
                                          </p:val>
                                        </p:tav>
                                      </p:tavLst>
                                    </p:anim>
                                    <p:anim calcmode="lin" valueType="num">
                                      <p:cBhvr>
                                        <p:cTn id="51" dur="1000" fill="hold"/>
                                        <p:tgtEl>
                                          <p:spTgt spid="57"/>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67"/>
                                        </p:tgtEl>
                                        <p:attrNameLst>
                                          <p:attrName>style.visibility</p:attrName>
                                        </p:attrNameLst>
                                      </p:cBhvr>
                                      <p:to>
                                        <p:strVal val="visible"/>
                                      </p:to>
                                    </p:set>
                                    <p:animEffect transition="in" filter="fade">
                                      <p:cBhvr>
                                        <p:cTn id="54" dur="1000"/>
                                        <p:tgtEl>
                                          <p:spTgt spid="67"/>
                                        </p:tgtEl>
                                      </p:cBhvr>
                                    </p:animEffect>
                                    <p:anim calcmode="lin" valueType="num">
                                      <p:cBhvr>
                                        <p:cTn id="55" dur="1000" fill="hold"/>
                                        <p:tgtEl>
                                          <p:spTgt spid="67"/>
                                        </p:tgtEl>
                                        <p:attrNameLst>
                                          <p:attrName>ppt_x</p:attrName>
                                        </p:attrNameLst>
                                      </p:cBhvr>
                                      <p:tavLst>
                                        <p:tav tm="0">
                                          <p:val>
                                            <p:strVal val="#ppt_x"/>
                                          </p:val>
                                        </p:tav>
                                        <p:tav tm="100000">
                                          <p:val>
                                            <p:strVal val="#ppt_x"/>
                                          </p:val>
                                        </p:tav>
                                      </p:tavLst>
                                    </p:anim>
                                    <p:anim calcmode="lin" valueType="num">
                                      <p:cBhvr>
                                        <p:cTn id="56" dur="1000" fill="hold"/>
                                        <p:tgtEl>
                                          <p:spTgt spid="67"/>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72"/>
                                        </p:tgtEl>
                                        <p:attrNameLst>
                                          <p:attrName>style.visibility</p:attrName>
                                        </p:attrNameLst>
                                      </p:cBhvr>
                                      <p:to>
                                        <p:strVal val="visible"/>
                                      </p:to>
                                    </p:set>
                                    <p:animEffect transition="in" filter="fade">
                                      <p:cBhvr>
                                        <p:cTn id="59" dur="1000"/>
                                        <p:tgtEl>
                                          <p:spTgt spid="72"/>
                                        </p:tgtEl>
                                      </p:cBhvr>
                                    </p:animEffect>
                                    <p:anim calcmode="lin" valueType="num">
                                      <p:cBhvr>
                                        <p:cTn id="60" dur="1000" fill="hold"/>
                                        <p:tgtEl>
                                          <p:spTgt spid="72"/>
                                        </p:tgtEl>
                                        <p:attrNameLst>
                                          <p:attrName>ppt_x</p:attrName>
                                        </p:attrNameLst>
                                      </p:cBhvr>
                                      <p:tavLst>
                                        <p:tav tm="0">
                                          <p:val>
                                            <p:strVal val="#ppt_x"/>
                                          </p:val>
                                        </p:tav>
                                        <p:tav tm="100000">
                                          <p:val>
                                            <p:strVal val="#ppt_x"/>
                                          </p:val>
                                        </p:tav>
                                      </p:tavLst>
                                    </p:anim>
                                    <p:anim calcmode="lin" valueType="num">
                                      <p:cBhvr>
                                        <p:cTn id="61" dur="1000" fill="hold"/>
                                        <p:tgtEl>
                                          <p:spTgt spid="72"/>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74"/>
                                        </p:tgtEl>
                                        <p:attrNameLst>
                                          <p:attrName>style.visibility</p:attrName>
                                        </p:attrNameLst>
                                      </p:cBhvr>
                                      <p:to>
                                        <p:strVal val="visible"/>
                                      </p:to>
                                    </p:set>
                                    <p:animEffect transition="in" filter="fade">
                                      <p:cBhvr>
                                        <p:cTn id="64" dur="1000"/>
                                        <p:tgtEl>
                                          <p:spTgt spid="74"/>
                                        </p:tgtEl>
                                      </p:cBhvr>
                                    </p:animEffect>
                                    <p:anim calcmode="lin" valueType="num">
                                      <p:cBhvr>
                                        <p:cTn id="65" dur="1000" fill="hold"/>
                                        <p:tgtEl>
                                          <p:spTgt spid="74"/>
                                        </p:tgtEl>
                                        <p:attrNameLst>
                                          <p:attrName>ppt_x</p:attrName>
                                        </p:attrNameLst>
                                      </p:cBhvr>
                                      <p:tavLst>
                                        <p:tav tm="0">
                                          <p:val>
                                            <p:strVal val="#ppt_x"/>
                                          </p:val>
                                        </p:tav>
                                        <p:tav tm="100000">
                                          <p:val>
                                            <p:strVal val="#ppt_x"/>
                                          </p:val>
                                        </p:tav>
                                      </p:tavLst>
                                    </p:anim>
                                    <p:anim calcmode="lin" valueType="num">
                                      <p:cBhvr>
                                        <p:cTn id="66" dur="10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nodeType="clickEffect">
                                  <p:stCondLst>
                                    <p:cond delay="0"/>
                                  </p:stCondLst>
                                  <p:childTnLst>
                                    <p:set>
                                      <p:cBhvr>
                                        <p:cTn id="70" dur="1" fill="hold">
                                          <p:stCondLst>
                                            <p:cond delay="0"/>
                                          </p:stCondLst>
                                        </p:cTn>
                                        <p:tgtEl>
                                          <p:spTgt spid="48"/>
                                        </p:tgtEl>
                                        <p:attrNameLst>
                                          <p:attrName>style.visibility</p:attrName>
                                        </p:attrNameLst>
                                      </p:cBhvr>
                                      <p:to>
                                        <p:strVal val="visible"/>
                                      </p:to>
                                    </p:set>
                                    <p:animEffect transition="in" filter="fade">
                                      <p:cBhvr>
                                        <p:cTn id="71" dur="1000"/>
                                        <p:tgtEl>
                                          <p:spTgt spid="48"/>
                                        </p:tgtEl>
                                      </p:cBhvr>
                                    </p:animEffect>
                                    <p:anim calcmode="lin" valueType="num">
                                      <p:cBhvr>
                                        <p:cTn id="72" dur="1000" fill="hold"/>
                                        <p:tgtEl>
                                          <p:spTgt spid="48"/>
                                        </p:tgtEl>
                                        <p:attrNameLst>
                                          <p:attrName>ppt_x</p:attrName>
                                        </p:attrNameLst>
                                      </p:cBhvr>
                                      <p:tavLst>
                                        <p:tav tm="0">
                                          <p:val>
                                            <p:strVal val="#ppt_x"/>
                                          </p:val>
                                        </p:tav>
                                        <p:tav tm="100000">
                                          <p:val>
                                            <p:strVal val="#ppt_x"/>
                                          </p:val>
                                        </p:tav>
                                      </p:tavLst>
                                    </p:anim>
                                    <p:anim calcmode="lin" valueType="num">
                                      <p:cBhvr>
                                        <p:cTn id="73" dur="1000" fill="hold"/>
                                        <p:tgtEl>
                                          <p:spTgt spid="48"/>
                                        </p:tgtEl>
                                        <p:attrNameLst>
                                          <p:attrName>ppt_y</p:attrName>
                                        </p:attrNameLst>
                                      </p:cBhvr>
                                      <p:tavLst>
                                        <p:tav tm="0">
                                          <p:val>
                                            <p:strVal val="#ppt_y+.1"/>
                                          </p:val>
                                        </p:tav>
                                        <p:tav tm="100000">
                                          <p:val>
                                            <p:strVal val="#ppt_y"/>
                                          </p:val>
                                        </p:tav>
                                      </p:tavLst>
                                    </p:anim>
                                  </p:childTnLst>
                                </p:cTn>
                              </p:par>
                              <p:par>
                                <p:cTn id="74" presetID="42" presetClass="entr" presetSubtype="0" fill="hold" nodeType="withEffect">
                                  <p:stCondLst>
                                    <p:cond delay="0"/>
                                  </p:stCondLst>
                                  <p:childTnLst>
                                    <p:set>
                                      <p:cBhvr>
                                        <p:cTn id="75" dur="1" fill="hold">
                                          <p:stCondLst>
                                            <p:cond delay="0"/>
                                          </p:stCondLst>
                                        </p:cTn>
                                        <p:tgtEl>
                                          <p:spTgt spid="51"/>
                                        </p:tgtEl>
                                        <p:attrNameLst>
                                          <p:attrName>style.visibility</p:attrName>
                                        </p:attrNameLst>
                                      </p:cBhvr>
                                      <p:to>
                                        <p:strVal val="visible"/>
                                      </p:to>
                                    </p:set>
                                    <p:animEffect transition="in" filter="fade">
                                      <p:cBhvr>
                                        <p:cTn id="76" dur="1000"/>
                                        <p:tgtEl>
                                          <p:spTgt spid="51"/>
                                        </p:tgtEl>
                                      </p:cBhvr>
                                    </p:animEffect>
                                    <p:anim calcmode="lin" valueType="num">
                                      <p:cBhvr>
                                        <p:cTn id="77" dur="1000" fill="hold"/>
                                        <p:tgtEl>
                                          <p:spTgt spid="51"/>
                                        </p:tgtEl>
                                        <p:attrNameLst>
                                          <p:attrName>ppt_x</p:attrName>
                                        </p:attrNameLst>
                                      </p:cBhvr>
                                      <p:tavLst>
                                        <p:tav tm="0">
                                          <p:val>
                                            <p:strVal val="#ppt_x"/>
                                          </p:val>
                                        </p:tav>
                                        <p:tav tm="100000">
                                          <p:val>
                                            <p:strVal val="#ppt_x"/>
                                          </p:val>
                                        </p:tav>
                                      </p:tavLst>
                                    </p:anim>
                                    <p:anim calcmode="lin" valueType="num">
                                      <p:cBhvr>
                                        <p:cTn id="78" dur="1000" fill="hold"/>
                                        <p:tgtEl>
                                          <p:spTgt spid="51"/>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68"/>
                                        </p:tgtEl>
                                        <p:attrNameLst>
                                          <p:attrName>style.visibility</p:attrName>
                                        </p:attrNameLst>
                                      </p:cBhvr>
                                      <p:to>
                                        <p:strVal val="visible"/>
                                      </p:to>
                                    </p:set>
                                    <p:animEffect transition="in" filter="fade">
                                      <p:cBhvr>
                                        <p:cTn id="81" dur="1000"/>
                                        <p:tgtEl>
                                          <p:spTgt spid="68"/>
                                        </p:tgtEl>
                                      </p:cBhvr>
                                    </p:animEffect>
                                    <p:anim calcmode="lin" valueType="num">
                                      <p:cBhvr>
                                        <p:cTn id="82" dur="1000" fill="hold"/>
                                        <p:tgtEl>
                                          <p:spTgt spid="68"/>
                                        </p:tgtEl>
                                        <p:attrNameLst>
                                          <p:attrName>ppt_x</p:attrName>
                                        </p:attrNameLst>
                                      </p:cBhvr>
                                      <p:tavLst>
                                        <p:tav tm="0">
                                          <p:val>
                                            <p:strVal val="#ppt_x"/>
                                          </p:val>
                                        </p:tav>
                                        <p:tav tm="100000">
                                          <p:val>
                                            <p:strVal val="#ppt_x"/>
                                          </p:val>
                                        </p:tav>
                                      </p:tavLst>
                                    </p:anim>
                                    <p:anim calcmode="lin" valueType="num">
                                      <p:cBhvr>
                                        <p:cTn id="83" dur="1000" fill="hold"/>
                                        <p:tgtEl>
                                          <p:spTgt spid="68"/>
                                        </p:tgtEl>
                                        <p:attrNameLst>
                                          <p:attrName>ppt_y</p:attrName>
                                        </p:attrNameLst>
                                      </p:cBhvr>
                                      <p:tavLst>
                                        <p:tav tm="0">
                                          <p:val>
                                            <p:strVal val="#ppt_y+.1"/>
                                          </p:val>
                                        </p:tav>
                                        <p:tav tm="100000">
                                          <p:val>
                                            <p:strVal val="#ppt_y"/>
                                          </p:val>
                                        </p:tav>
                                      </p:tavLst>
                                    </p:anim>
                                  </p:childTnLst>
                                </p:cTn>
                              </p:par>
                              <p:par>
                                <p:cTn id="84" presetID="42"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1000"/>
                                        <p:tgtEl>
                                          <p:spTgt spid="75"/>
                                        </p:tgtEl>
                                      </p:cBhvr>
                                    </p:animEffect>
                                    <p:anim calcmode="lin" valueType="num">
                                      <p:cBhvr>
                                        <p:cTn id="87" dur="1000" fill="hold"/>
                                        <p:tgtEl>
                                          <p:spTgt spid="75"/>
                                        </p:tgtEl>
                                        <p:attrNameLst>
                                          <p:attrName>ppt_x</p:attrName>
                                        </p:attrNameLst>
                                      </p:cBhvr>
                                      <p:tavLst>
                                        <p:tav tm="0">
                                          <p:val>
                                            <p:strVal val="#ppt_x"/>
                                          </p:val>
                                        </p:tav>
                                        <p:tav tm="100000">
                                          <p:val>
                                            <p:strVal val="#ppt_x"/>
                                          </p:val>
                                        </p:tav>
                                      </p:tavLst>
                                    </p:anim>
                                    <p:anim calcmode="lin" valueType="num">
                                      <p:cBhvr>
                                        <p:cTn id="88" dur="1000" fill="hold"/>
                                        <p:tgtEl>
                                          <p:spTgt spid="75"/>
                                        </p:tgtEl>
                                        <p:attrNameLst>
                                          <p:attrName>ppt_y</p:attrName>
                                        </p:attrNameLst>
                                      </p:cBhvr>
                                      <p:tavLst>
                                        <p:tav tm="0">
                                          <p:val>
                                            <p:strVal val="#ppt_y+.1"/>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76"/>
                                        </p:tgtEl>
                                        <p:attrNameLst>
                                          <p:attrName>style.visibility</p:attrName>
                                        </p:attrNameLst>
                                      </p:cBhvr>
                                      <p:to>
                                        <p:strVal val="visible"/>
                                      </p:to>
                                    </p:set>
                                    <p:animEffect transition="in" filter="fade">
                                      <p:cBhvr>
                                        <p:cTn id="91" dur="1000"/>
                                        <p:tgtEl>
                                          <p:spTgt spid="76"/>
                                        </p:tgtEl>
                                      </p:cBhvr>
                                    </p:animEffect>
                                    <p:anim calcmode="lin" valueType="num">
                                      <p:cBhvr>
                                        <p:cTn id="92" dur="1000" fill="hold"/>
                                        <p:tgtEl>
                                          <p:spTgt spid="76"/>
                                        </p:tgtEl>
                                        <p:attrNameLst>
                                          <p:attrName>ppt_x</p:attrName>
                                        </p:attrNameLst>
                                      </p:cBhvr>
                                      <p:tavLst>
                                        <p:tav tm="0">
                                          <p:val>
                                            <p:strVal val="#ppt_x"/>
                                          </p:val>
                                        </p:tav>
                                        <p:tav tm="100000">
                                          <p:val>
                                            <p:strVal val="#ppt_x"/>
                                          </p:val>
                                        </p:tav>
                                      </p:tavLst>
                                    </p:anim>
                                    <p:anim calcmode="lin" valueType="num">
                                      <p:cBhvr>
                                        <p:cTn id="93" dur="10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4"/>
                                        </p:tgtEl>
                                        <p:attrNameLst>
                                          <p:attrName>style.visibility</p:attrName>
                                        </p:attrNameLst>
                                      </p:cBhvr>
                                      <p:to>
                                        <p:strVal val="visible"/>
                                      </p:to>
                                    </p:set>
                                    <p:animEffect transition="in" filter="fade">
                                      <p:cBhvr>
                                        <p:cTn id="98" dur="1000"/>
                                        <p:tgtEl>
                                          <p:spTgt spid="4"/>
                                        </p:tgtEl>
                                      </p:cBhvr>
                                    </p:animEffect>
                                    <p:anim calcmode="lin" valueType="num">
                                      <p:cBhvr>
                                        <p:cTn id="99" dur="1000" fill="hold"/>
                                        <p:tgtEl>
                                          <p:spTgt spid="4"/>
                                        </p:tgtEl>
                                        <p:attrNameLst>
                                          <p:attrName>ppt_x</p:attrName>
                                        </p:attrNameLst>
                                      </p:cBhvr>
                                      <p:tavLst>
                                        <p:tav tm="0">
                                          <p:val>
                                            <p:strVal val="#ppt_x"/>
                                          </p:val>
                                        </p:tav>
                                        <p:tav tm="100000">
                                          <p:val>
                                            <p:strVal val="#ppt_x"/>
                                          </p:val>
                                        </p:tav>
                                      </p:tavLst>
                                    </p:anim>
                                    <p:anim calcmode="lin" valueType="num">
                                      <p:cBhvr>
                                        <p:cTn id="100" dur="1000" fill="hold"/>
                                        <p:tgtEl>
                                          <p:spTgt spid="4"/>
                                        </p:tgtEl>
                                        <p:attrNameLst>
                                          <p:attrName>ppt_y</p:attrName>
                                        </p:attrNameLst>
                                      </p:cBhvr>
                                      <p:tavLst>
                                        <p:tav tm="0">
                                          <p:val>
                                            <p:strVal val="#ppt_y+.1"/>
                                          </p:val>
                                        </p:tav>
                                        <p:tav tm="100000">
                                          <p:val>
                                            <p:strVal val="#ppt_y"/>
                                          </p:val>
                                        </p:tav>
                                      </p:tavLst>
                                    </p:anim>
                                  </p:childTnLst>
                                </p:cTn>
                              </p:par>
                              <p:par>
                                <p:cTn id="101" presetID="42" presetClass="entr" presetSubtype="0"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1000"/>
                                        <p:tgtEl>
                                          <p:spTgt spid="50"/>
                                        </p:tgtEl>
                                      </p:cBhvr>
                                    </p:animEffect>
                                    <p:anim calcmode="lin" valueType="num">
                                      <p:cBhvr>
                                        <p:cTn id="104" dur="1000" fill="hold"/>
                                        <p:tgtEl>
                                          <p:spTgt spid="50"/>
                                        </p:tgtEl>
                                        <p:attrNameLst>
                                          <p:attrName>ppt_x</p:attrName>
                                        </p:attrNameLst>
                                      </p:cBhvr>
                                      <p:tavLst>
                                        <p:tav tm="0">
                                          <p:val>
                                            <p:strVal val="#ppt_x"/>
                                          </p:val>
                                        </p:tav>
                                        <p:tav tm="100000">
                                          <p:val>
                                            <p:strVal val="#ppt_x"/>
                                          </p:val>
                                        </p:tav>
                                      </p:tavLst>
                                    </p:anim>
                                    <p:anim calcmode="lin" valueType="num">
                                      <p:cBhvr>
                                        <p:cTn id="105" dur="1000" fill="hold"/>
                                        <p:tgtEl>
                                          <p:spTgt spid="50"/>
                                        </p:tgtEl>
                                        <p:attrNameLst>
                                          <p:attrName>ppt_y</p:attrName>
                                        </p:attrNameLst>
                                      </p:cBhvr>
                                      <p:tavLst>
                                        <p:tav tm="0">
                                          <p:val>
                                            <p:strVal val="#ppt_y+.1"/>
                                          </p:val>
                                        </p:tav>
                                        <p:tav tm="100000">
                                          <p:val>
                                            <p:strVal val="#ppt_y"/>
                                          </p:val>
                                        </p:tav>
                                      </p:tavLst>
                                    </p:anim>
                                  </p:childTnLst>
                                </p:cTn>
                              </p:par>
                              <p:par>
                                <p:cTn id="106" presetID="42" presetClass="entr" presetSubtype="0" fill="hold" nodeType="withEffect">
                                  <p:stCondLst>
                                    <p:cond delay="0"/>
                                  </p:stCondLst>
                                  <p:childTnLst>
                                    <p:set>
                                      <p:cBhvr>
                                        <p:cTn id="107" dur="1" fill="hold">
                                          <p:stCondLst>
                                            <p:cond delay="0"/>
                                          </p:stCondLst>
                                        </p:cTn>
                                        <p:tgtEl>
                                          <p:spTgt spid="63"/>
                                        </p:tgtEl>
                                        <p:attrNameLst>
                                          <p:attrName>style.visibility</p:attrName>
                                        </p:attrNameLst>
                                      </p:cBhvr>
                                      <p:to>
                                        <p:strVal val="visible"/>
                                      </p:to>
                                    </p:set>
                                    <p:animEffect transition="in" filter="fade">
                                      <p:cBhvr>
                                        <p:cTn id="108" dur="1000"/>
                                        <p:tgtEl>
                                          <p:spTgt spid="63"/>
                                        </p:tgtEl>
                                      </p:cBhvr>
                                    </p:animEffect>
                                    <p:anim calcmode="lin" valueType="num">
                                      <p:cBhvr>
                                        <p:cTn id="109" dur="1000" fill="hold"/>
                                        <p:tgtEl>
                                          <p:spTgt spid="63"/>
                                        </p:tgtEl>
                                        <p:attrNameLst>
                                          <p:attrName>ppt_x</p:attrName>
                                        </p:attrNameLst>
                                      </p:cBhvr>
                                      <p:tavLst>
                                        <p:tav tm="0">
                                          <p:val>
                                            <p:strVal val="#ppt_x"/>
                                          </p:val>
                                        </p:tav>
                                        <p:tav tm="100000">
                                          <p:val>
                                            <p:strVal val="#ppt_x"/>
                                          </p:val>
                                        </p:tav>
                                      </p:tavLst>
                                    </p:anim>
                                    <p:anim calcmode="lin" valueType="num">
                                      <p:cBhvr>
                                        <p:cTn id="110" dur="1000" fill="hold"/>
                                        <p:tgtEl>
                                          <p:spTgt spid="63"/>
                                        </p:tgtEl>
                                        <p:attrNameLst>
                                          <p:attrName>ppt_y</p:attrName>
                                        </p:attrNameLst>
                                      </p:cBhvr>
                                      <p:tavLst>
                                        <p:tav tm="0">
                                          <p:val>
                                            <p:strVal val="#ppt_y+.1"/>
                                          </p:val>
                                        </p:tav>
                                        <p:tav tm="100000">
                                          <p:val>
                                            <p:strVal val="#ppt_y"/>
                                          </p:val>
                                        </p:tav>
                                      </p:tavLst>
                                    </p:anim>
                                  </p:childTnLst>
                                </p:cTn>
                              </p:par>
                              <p:par>
                                <p:cTn id="111" presetID="42" presetClass="entr" presetSubtype="0" fill="hold" nodeType="withEffect">
                                  <p:stCondLst>
                                    <p:cond delay="0"/>
                                  </p:stCondLst>
                                  <p:childTnLst>
                                    <p:set>
                                      <p:cBhvr>
                                        <p:cTn id="112" dur="1" fill="hold">
                                          <p:stCondLst>
                                            <p:cond delay="0"/>
                                          </p:stCondLst>
                                        </p:cTn>
                                        <p:tgtEl>
                                          <p:spTgt spid="70"/>
                                        </p:tgtEl>
                                        <p:attrNameLst>
                                          <p:attrName>style.visibility</p:attrName>
                                        </p:attrNameLst>
                                      </p:cBhvr>
                                      <p:to>
                                        <p:strVal val="visible"/>
                                      </p:to>
                                    </p:set>
                                    <p:animEffect transition="in" filter="fade">
                                      <p:cBhvr>
                                        <p:cTn id="113" dur="1000"/>
                                        <p:tgtEl>
                                          <p:spTgt spid="70"/>
                                        </p:tgtEl>
                                      </p:cBhvr>
                                    </p:animEffect>
                                    <p:anim calcmode="lin" valueType="num">
                                      <p:cBhvr>
                                        <p:cTn id="114" dur="1000" fill="hold"/>
                                        <p:tgtEl>
                                          <p:spTgt spid="70"/>
                                        </p:tgtEl>
                                        <p:attrNameLst>
                                          <p:attrName>ppt_x</p:attrName>
                                        </p:attrNameLst>
                                      </p:cBhvr>
                                      <p:tavLst>
                                        <p:tav tm="0">
                                          <p:val>
                                            <p:strVal val="#ppt_x"/>
                                          </p:val>
                                        </p:tav>
                                        <p:tav tm="100000">
                                          <p:val>
                                            <p:strVal val="#ppt_x"/>
                                          </p:val>
                                        </p:tav>
                                      </p:tavLst>
                                    </p:anim>
                                    <p:anim calcmode="lin" valueType="num">
                                      <p:cBhvr>
                                        <p:cTn id="115" dur="1000" fill="hold"/>
                                        <p:tgtEl>
                                          <p:spTgt spid="70"/>
                                        </p:tgtEl>
                                        <p:attrNameLst>
                                          <p:attrName>ppt_y</p:attrName>
                                        </p:attrNameLst>
                                      </p:cBhvr>
                                      <p:tavLst>
                                        <p:tav tm="0">
                                          <p:val>
                                            <p:strVal val="#ppt_y+.1"/>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83"/>
                                        </p:tgtEl>
                                        <p:attrNameLst>
                                          <p:attrName>style.visibility</p:attrName>
                                        </p:attrNameLst>
                                      </p:cBhvr>
                                      <p:to>
                                        <p:strVal val="visible"/>
                                      </p:to>
                                    </p:set>
                                    <p:animEffect transition="in" filter="fade">
                                      <p:cBhvr>
                                        <p:cTn id="118" dur="1000"/>
                                        <p:tgtEl>
                                          <p:spTgt spid="83"/>
                                        </p:tgtEl>
                                      </p:cBhvr>
                                    </p:animEffect>
                                    <p:anim calcmode="lin" valueType="num">
                                      <p:cBhvr>
                                        <p:cTn id="119" dur="1000" fill="hold"/>
                                        <p:tgtEl>
                                          <p:spTgt spid="83"/>
                                        </p:tgtEl>
                                        <p:attrNameLst>
                                          <p:attrName>ppt_x</p:attrName>
                                        </p:attrNameLst>
                                      </p:cBhvr>
                                      <p:tavLst>
                                        <p:tav tm="0">
                                          <p:val>
                                            <p:strVal val="#ppt_x"/>
                                          </p:val>
                                        </p:tav>
                                        <p:tav tm="100000">
                                          <p:val>
                                            <p:strVal val="#ppt_x"/>
                                          </p:val>
                                        </p:tav>
                                      </p:tavLst>
                                    </p:anim>
                                    <p:anim calcmode="lin" valueType="num">
                                      <p:cBhvr>
                                        <p:cTn id="120" dur="1000" fill="hold"/>
                                        <p:tgtEl>
                                          <p:spTgt spid="83"/>
                                        </p:tgtEl>
                                        <p:attrNameLst>
                                          <p:attrName>ppt_y</p:attrName>
                                        </p:attrNameLst>
                                      </p:cBhvr>
                                      <p:tavLst>
                                        <p:tav tm="0">
                                          <p:val>
                                            <p:strVal val="#ppt_y+.1"/>
                                          </p:val>
                                        </p:tav>
                                        <p:tav tm="100000">
                                          <p:val>
                                            <p:strVal val="#ppt_y"/>
                                          </p:val>
                                        </p:tav>
                                      </p:tavLst>
                                    </p:anim>
                                  </p:childTnLst>
                                </p:cTn>
                              </p:par>
                              <p:par>
                                <p:cTn id="121" presetID="42" presetClass="entr" presetSubtype="0" fill="hold" grpId="0" nodeType="withEffect">
                                  <p:stCondLst>
                                    <p:cond delay="0"/>
                                  </p:stCondLst>
                                  <p:childTnLst>
                                    <p:set>
                                      <p:cBhvr>
                                        <p:cTn id="122" dur="1" fill="hold">
                                          <p:stCondLst>
                                            <p:cond delay="0"/>
                                          </p:stCondLst>
                                        </p:cTn>
                                        <p:tgtEl>
                                          <p:spTgt spid="86"/>
                                        </p:tgtEl>
                                        <p:attrNameLst>
                                          <p:attrName>style.visibility</p:attrName>
                                        </p:attrNameLst>
                                      </p:cBhvr>
                                      <p:to>
                                        <p:strVal val="visible"/>
                                      </p:to>
                                    </p:set>
                                    <p:animEffect transition="in" filter="fade">
                                      <p:cBhvr>
                                        <p:cTn id="123" dur="1000"/>
                                        <p:tgtEl>
                                          <p:spTgt spid="86"/>
                                        </p:tgtEl>
                                      </p:cBhvr>
                                    </p:animEffect>
                                    <p:anim calcmode="lin" valueType="num">
                                      <p:cBhvr>
                                        <p:cTn id="124" dur="1000" fill="hold"/>
                                        <p:tgtEl>
                                          <p:spTgt spid="86"/>
                                        </p:tgtEl>
                                        <p:attrNameLst>
                                          <p:attrName>ppt_x</p:attrName>
                                        </p:attrNameLst>
                                      </p:cBhvr>
                                      <p:tavLst>
                                        <p:tav tm="0">
                                          <p:val>
                                            <p:strVal val="#ppt_x"/>
                                          </p:val>
                                        </p:tav>
                                        <p:tav tm="100000">
                                          <p:val>
                                            <p:strVal val="#ppt_x"/>
                                          </p:val>
                                        </p:tav>
                                      </p:tavLst>
                                    </p:anim>
                                    <p:anim calcmode="lin" valueType="num">
                                      <p:cBhvr>
                                        <p:cTn id="125" dur="1000" fill="hold"/>
                                        <p:tgtEl>
                                          <p:spTgt spid="8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1" grpId="0"/>
      <p:bldP spid="72" grpId="0"/>
      <p:bldP spid="73" grpId="0"/>
      <p:bldP spid="74" grpId="0"/>
      <p:bldP spid="75" grpId="0"/>
      <p:bldP spid="76" grpId="0"/>
      <p:bldP spid="83" grpId="0"/>
      <p:bldP spid="8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213844"/>
            <a:ext cx="18288000" cy="10126662"/>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solidFill>
                <a:sym typeface="TT Fors Bold"/>
              </a:rPr>
              <a:t>Supervision</a:t>
            </a:r>
            <a:r>
              <a:rPr lang="en-US" sz="2400" b="1" dirty="0">
                <a:solidFill>
                  <a:schemeClr val="bg1">
                    <a:lumMod val="50000"/>
                  </a:schemeClr>
                </a:solidFill>
                <a:sym typeface="TT Fors Bold"/>
              </a:rPr>
              <a:t> </a:t>
            </a:r>
            <a:r>
              <a:rPr lang="en-US" sz="2400" b="1" dirty="0">
                <a:solidFill>
                  <a:schemeClr val="bg1"/>
                </a:solidFill>
                <a:sym typeface="TT Fors Bold"/>
              </a:rPr>
              <a:t>&amp;</a:t>
            </a:r>
            <a:r>
              <a:rPr lang="en-US" sz="2400" b="1" dirty="0">
                <a:solidFill>
                  <a:schemeClr val="bg1">
                    <a:lumMod val="50000"/>
                  </a:schemeClr>
                </a:solidFill>
                <a:sym typeface="TT Fors Bold"/>
              </a:rPr>
              <a:t> </a:t>
            </a:r>
            <a:r>
              <a:rPr lang="en-US" sz="2400" b="1" dirty="0" err="1">
                <a:solidFill>
                  <a:schemeClr val="bg1"/>
                </a:solidFill>
                <a:sym typeface="TT Fors Bold"/>
              </a:rPr>
              <a:t>Résultats</a:t>
            </a:r>
            <a:endParaRPr lang="fr-FR" sz="2400" b="1" dirty="0">
              <a:solidFill>
                <a:schemeClr val="bg1"/>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159974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z="2400" b="1" smtClean="0"/>
              <a:pPr/>
              <a:t>26</a:t>
            </a:fld>
            <a:endParaRPr lang="en-US" sz="2400" b="1" dirty="0"/>
          </a:p>
        </p:txBody>
      </p:sp>
      <p:sp>
        <p:nvSpPr>
          <p:cNvPr id="13" name="Text 14"/>
          <p:cNvSpPr/>
          <p:nvPr/>
        </p:nvSpPr>
        <p:spPr>
          <a:xfrm>
            <a:off x="365760" y="658368"/>
            <a:ext cx="8412480" cy="502920"/>
          </a:xfrm>
          <a:prstGeom prst="rect">
            <a:avLst/>
          </a:prstGeom>
          <a:noFill/>
          <a:ln/>
        </p:spPr>
        <p:txBody>
          <a:bodyPr wrap="square" lIns="0" tIns="0" rIns="0" bIns="0" rtlCol="0" anchor="ctr"/>
          <a:lstStyle/>
          <a:p>
            <a:pPr marL="0" indent="0">
              <a:buNone/>
            </a:pPr>
            <a:r>
              <a:rPr lang="en-US" sz="2200" b="1" dirty="0">
                <a:solidFill>
                  <a:srgbClr val="132A56"/>
                </a:solidFill>
                <a:latin typeface="Calibri" pitchFamily="34" charset="0"/>
                <a:ea typeface="Calibri" pitchFamily="34" charset="-122"/>
                <a:cs typeface="Calibri" pitchFamily="34" charset="-120"/>
              </a:rPr>
              <a:t>Disaster Recovery — Résultats RTO / RPO Mesurés</a:t>
            </a:r>
            <a:endParaRPr lang="en-US" sz="2200" dirty="0"/>
          </a:p>
        </p:txBody>
      </p:sp>
      <p:sp>
        <p:nvSpPr>
          <p:cNvPr id="14" name="AutoShape 2"/>
          <p:cNvSpPr/>
          <p:nvPr/>
        </p:nvSpPr>
        <p:spPr>
          <a:xfrm flipV="1">
            <a:off x="12509569" y="4801974"/>
            <a:ext cx="0" cy="406213"/>
          </a:xfrm>
          <a:prstGeom prst="line">
            <a:avLst/>
          </a:prstGeom>
          <a:ln w="9525" cap="flat">
            <a:solidFill>
              <a:srgbClr val="737373"/>
            </a:solidFill>
            <a:prstDash val="solid"/>
            <a:headEnd type="none" w="sm" len="sm"/>
            <a:tailEnd type="none" w="sm" len="sm"/>
          </a:ln>
        </p:spPr>
      </p:sp>
      <p:sp>
        <p:nvSpPr>
          <p:cNvPr id="15" name="Freeform 3"/>
          <p:cNvSpPr/>
          <p:nvPr/>
        </p:nvSpPr>
        <p:spPr>
          <a:xfrm flipV="1">
            <a:off x="10910349" y="3792538"/>
            <a:ext cx="2939498" cy="1212543"/>
          </a:xfrm>
          <a:custGeom>
            <a:avLst/>
            <a:gdLst/>
            <a:ahLst/>
            <a:cxnLst/>
            <a:rect l="l" t="t" r="r" b="b"/>
            <a:pathLst>
              <a:path w="2939498" h="1212543">
                <a:moveTo>
                  <a:pt x="0" y="1212543"/>
                </a:moveTo>
                <a:lnTo>
                  <a:pt x="2939498" y="1212543"/>
                </a:lnTo>
                <a:lnTo>
                  <a:pt x="2939498" y="0"/>
                </a:lnTo>
                <a:lnTo>
                  <a:pt x="0" y="0"/>
                </a:lnTo>
                <a:lnTo>
                  <a:pt x="0" y="1212543"/>
                </a:lnTo>
                <a:close/>
              </a:path>
            </a:pathLst>
          </a:custGeom>
          <a:blipFill>
            <a:blip r:embed="rId4">
              <a:extLst>
                <a:ext uri="{96DAC541-7B7A-43D3-8B79-37D633B846F1}">
                  <asvg:svgBlip xmlns="" xmlns:asvg="http://schemas.microsoft.com/office/drawing/2016/SVG/main" r:embed="rId5"/>
                </a:ext>
              </a:extLst>
            </a:blip>
            <a:stretch>
              <a:fillRect/>
            </a:stretch>
          </a:blipFill>
        </p:spPr>
      </p:sp>
      <p:sp>
        <p:nvSpPr>
          <p:cNvPr id="16" name="AutoShape 4"/>
          <p:cNvSpPr/>
          <p:nvPr/>
        </p:nvSpPr>
        <p:spPr>
          <a:xfrm flipV="1">
            <a:off x="10617786" y="3577307"/>
            <a:ext cx="0" cy="406213"/>
          </a:xfrm>
          <a:prstGeom prst="line">
            <a:avLst/>
          </a:prstGeom>
          <a:ln w="9525" cap="flat">
            <a:solidFill>
              <a:srgbClr val="3B95FD"/>
            </a:solidFill>
            <a:prstDash val="solid"/>
            <a:headEnd type="none" w="sm" len="sm"/>
            <a:tailEnd type="none" w="sm" len="sm"/>
          </a:ln>
        </p:spPr>
      </p:sp>
      <p:sp>
        <p:nvSpPr>
          <p:cNvPr id="17" name="Freeform 5"/>
          <p:cNvSpPr/>
          <p:nvPr/>
        </p:nvSpPr>
        <p:spPr>
          <a:xfrm flipV="1">
            <a:off x="9036211" y="3792538"/>
            <a:ext cx="2939498" cy="1212543"/>
          </a:xfrm>
          <a:custGeom>
            <a:avLst/>
            <a:gdLst/>
            <a:ahLst/>
            <a:cxnLst/>
            <a:rect l="l" t="t" r="r" b="b"/>
            <a:pathLst>
              <a:path w="2939498" h="1212543">
                <a:moveTo>
                  <a:pt x="0" y="1212543"/>
                </a:moveTo>
                <a:lnTo>
                  <a:pt x="2939498" y="1212543"/>
                </a:lnTo>
                <a:lnTo>
                  <a:pt x="2939498" y="0"/>
                </a:lnTo>
                <a:lnTo>
                  <a:pt x="0" y="0"/>
                </a:lnTo>
                <a:lnTo>
                  <a:pt x="0" y="1212543"/>
                </a:lnTo>
                <a:close/>
              </a:path>
            </a:pathLst>
          </a:custGeom>
          <a:blipFill>
            <a:blip r:embed="rId6">
              <a:extLst>
                <a:ext uri="{96DAC541-7B7A-43D3-8B79-37D633B846F1}">
                  <asvg:svgBlip xmlns="" xmlns:asvg="http://schemas.microsoft.com/office/drawing/2016/SVG/main" r:embed="rId7"/>
                </a:ext>
              </a:extLst>
            </a:blip>
            <a:stretch>
              <a:fillRect/>
            </a:stretch>
          </a:blipFill>
        </p:spPr>
      </p:sp>
      <p:sp>
        <p:nvSpPr>
          <p:cNvPr id="18" name="AutoShape 6"/>
          <p:cNvSpPr/>
          <p:nvPr/>
        </p:nvSpPr>
        <p:spPr>
          <a:xfrm flipH="1" flipV="1">
            <a:off x="8725490" y="4806503"/>
            <a:ext cx="0" cy="406213"/>
          </a:xfrm>
          <a:prstGeom prst="line">
            <a:avLst/>
          </a:prstGeom>
          <a:ln w="9525" cap="flat">
            <a:solidFill>
              <a:srgbClr val="345CA4"/>
            </a:solidFill>
            <a:prstDash val="solid"/>
            <a:headEnd type="none" w="sm" len="sm"/>
            <a:tailEnd type="none" w="sm" len="sm"/>
          </a:ln>
        </p:spPr>
      </p:sp>
      <p:sp>
        <p:nvSpPr>
          <p:cNvPr id="19" name="Freeform 7"/>
          <p:cNvSpPr/>
          <p:nvPr/>
        </p:nvSpPr>
        <p:spPr>
          <a:xfrm flipV="1">
            <a:off x="7162073" y="3792538"/>
            <a:ext cx="2939498" cy="1212543"/>
          </a:xfrm>
          <a:custGeom>
            <a:avLst/>
            <a:gdLst/>
            <a:ahLst/>
            <a:cxnLst/>
            <a:rect l="l" t="t" r="r" b="b"/>
            <a:pathLst>
              <a:path w="2939498" h="1212543">
                <a:moveTo>
                  <a:pt x="0" y="1212543"/>
                </a:moveTo>
                <a:lnTo>
                  <a:pt x="2939498" y="1212543"/>
                </a:lnTo>
                <a:lnTo>
                  <a:pt x="2939498" y="0"/>
                </a:lnTo>
                <a:lnTo>
                  <a:pt x="0" y="0"/>
                </a:lnTo>
                <a:lnTo>
                  <a:pt x="0" y="1212543"/>
                </a:lnTo>
                <a:close/>
              </a:path>
            </a:pathLst>
          </a:custGeom>
          <a:blipFill>
            <a:blip r:embed="rId8">
              <a:extLst>
                <a:ext uri="{96DAC541-7B7A-43D3-8B79-37D633B846F1}">
                  <asvg:svgBlip xmlns="" xmlns:asvg="http://schemas.microsoft.com/office/drawing/2016/SVG/main" r:embed="rId9"/>
                </a:ext>
              </a:extLst>
            </a:blip>
            <a:stretch>
              <a:fillRect/>
            </a:stretch>
          </a:blipFill>
        </p:spPr>
      </p:sp>
      <p:sp>
        <p:nvSpPr>
          <p:cNvPr id="20" name="Freeform 8"/>
          <p:cNvSpPr/>
          <p:nvPr/>
        </p:nvSpPr>
        <p:spPr>
          <a:xfrm flipV="1">
            <a:off x="5287935" y="3792538"/>
            <a:ext cx="2939498" cy="1212543"/>
          </a:xfrm>
          <a:custGeom>
            <a:avLst/>
            <a:gdLst/>
            <a:ahLst/>
            <a:cxnLst/>
            <a:rect l="l" t="t" r="r" b="b"/>
            <a:pathLst>
              <a:path w="2939498" h="1212543">
                <a:moveTo>
                  <a:pt x="0" y="1212543"/>
                </a:moveTo>
                <a:lnTo>
                  <a:pt x="2939498" y="1212543"/>
                </a:lnTo>
                <a:lnTo>
                  <a:pt x="2939498" y="0"/>
                </a:lnTo>
                <a:lnTo>
                  <a:pt x="0" y="0"/>
                </a:lnTo>
                <a:lnTo>
                  <a:pt x="0" y="1212543"/>
                </a:lnTo>
                <a:close/>
              </a:path>
            </a:pathLst>
          </a:custGeom>
          <a:blipFill>
            <a:blip r:embed="rId10">
              <a:extLst>
                <a:ext uri="{96DAC541-7B7A-43D3-8B79-37D633B846F1}">
                  <asvg:svgBlip xmlns="" xmlns:asvg="http://schemas.microsoft.com/office/drawing/2016/SVG/main" r:embed="rId11"/>
                </a:ext>
              </a:extLst>
            </a:blip>
            <a:stretch>
              <a:fillRect/>
            </a:stretch>
          </a:blipFill>
        </p:spPr>
      </p:sp>
      <p:sp>
        <p:nvSpPr>
          <p:cNvPr id="21" name="Freeform 9"/>
          <p:cNvSpPr/>
          <p:nvPr/>
        </p:nvSpPr>
        <p:spPr>
          <a:xfrm flipV="1">
            <a:off x="3413797" y="3792538"/>
            <a:ext cx="2939498" cy="1212543"/>
          </a:xfrm>
          <a:custGeom>
            <a:avLst/>
            <a:gdLst/>
            <a:ahLst/>
            <a:cxnLst/>
            <a:rect l="l" t="t" r="r" b="b"/>
            <a:pathLst>
              <a:path w="2939498" h="1212543">
                <a:moveTo>
                  <a:pt x="0" y="1212543"/>
                </a:moveTo>
                <a:lnTo>
                  <a:pt x="2939498" y="1212543"/>
                </a:lnTo>
                <a:lnTo>
                  <a:pt x="2939498" y="0"/>
                </a:lnTo>
                <a:lnTo>
                  <a:pt x="0" y="0"/>
                </a:lnTo>
                <a:lnTo>
                  <a:pt x="0" y="1212543"/>
                </a:lnTo>
                <a:close/>
              </a:path>
            </a:pathLst>
          </a:custGeom>
          <a:blipFill>
            <a:blip r:embed="rId12">
              <a:extLst>
                <a:ext uri="{96DAC541-7B7A-43D3-8B79-37D633B846F1}">
                  <asvg:svgBlip xmlns="" xmlns:asvg="http://schemas.microsoft.com/office/drawing/2016/SVG/main" r:embed="rId13"/>
                </a:ext>
              </a:extLst>
            </a:blip>
            <a:stretch>
              <a:fillRect/>
            </a:stretch>
          </a:blipFill>
        </p:spPr>
      </p:sp>
      <p:sp>
        <p:nvSpPr>
          <p:cNvPr id="22" name="Freeform 10"/>
          <p:cNvSpPr/>
          <p:nvPr/>
        </p:nvSpPr>
        <p:spPr>
          <a:xfrm rot="10800000">
            <a:off x="4119404" y="5169925"/>
            <a:ext cx="1642986" cy="1421374"/>
          </a:xfrm>
          <a:custGeom>
            <a:avLst/>
            <a:gdLst/>
            <a:ahLst/>
            <a:cxnLst/>
            <a:rect l="l" t="t" r="r" b="b"/>
            <a:pathLst>
              <a:path w="1642986" h="1421374">
                <a:moveTo>
                  <a:pt x="0" y="0"/>
                </a:moveTo>
                <a:lnTo>
                  <a:pt x="1642986" y="0"/>
                </a:lnTo>
                <a:lnTo>
                  <a:pt x="1642986" y="1421375"/>
                </a:lnTo>
                <a:lnTo>
                  <a:pt x="0" y="1421375"/>
                </a:lnTo>
                <a:lnTo>
                  <a:pt x="0" y="0"/>
                </a:lnTo>
                <a:close/>
              </a:path>
            </a:pathLst>
          </a:custGeom>
          <a:blipFill>
            <a:blip r:embed="rId14">
              <a:extLst>
                <a:ext uri="{96DAC541-7B7A-43D3-8B79-37D633B846F1}">
                  <asvg:svgBlip xmlns="" xmlns:asvg="http://schemas.microsoft.com/office/drawing/2016/SVG/main" r:embed="rId15"/>
                </a:ext>
              </a:extLst>
            </a:blip>
            <a:stretch>
              <a:fillRect b="-44715"/>
            </a:stretch>
          </a:blipFill>
        </p:spPr>
      </p:sp>
      <p:sp>
        <p:nvSpPr>
          <p:cNvPr id="23" name="Freeform 11"/>
          <p:cNvSpPr/>
          <p:nvPr/>
        </p:nvSpPr>
        <p:spPr>
          <a:xfrm rot="10800000">
            <a:off x="11688590" y="5169925"/>
            <a:ext cx="1642986" cy="1421374"/>
          </a:xfrm>
          <a:custGeom>
            <a:avLst/>
            <a:gdLst/>
            <a:ahLst/>
            <a:cxnLst/>
            <a:rect l="l" t="t" r="r" b="b"/>
            <a:pathLst>
              <a:path w="1642986" h="1421374">
                <a:moveTo>
                  <a:pt x="0" y="0"/>
                </a:moveTo>
                <a:lnTo>
                  <a:pt x="1642986" y="0"/>
                </a:lnTo>
                <a:lnTo>
                  <a:pt x="1642986" y="1421375"/>
                </a:lnTo>
                <a:lnTo>
                  <a:pt x="0" y="1421375"/>
                </a:lnTo>
                <a:lnTo>
                  <a:pt x="0" y="0"/>
                </a:lnTo>
                <a:close/>
              </a:path>
            </a:pathLst>
          </a:custGeom>
          <a:blipFill>
            <a:blip r:embed="rId16">
              <a:extLst>
                <a:ext uri="{96DAC541-7B7A-43D3-8B79-37D633B846F1}">
                  <asvg:svgBlip xmlns="" xmlns:asvg="http://schemas.microsoft.com/office/drawing/2016/SVG/main" r:embed="rId17"/>
                </a:ext>
              </a:extLst>
            </a:blip>
            <a:stretch>
              <a:fillRect b="-44715"/>
            </a:stretch>
          </a:blipFill>
        </p:spPr>
      </p:sp>
      <p:sp>
        <p:nvSpPr>
          <p:cNvPr id="24" name="Freeform 12"/>
          <p:cNvSpPr/>
          <p:nvPr/>
        </p:nvSpPr>
        <p:spPr>
          <a:xfrm rot="10800000">
            <a:off x="7903997" y="5169925"/>
            <a:ext cx="1642986" cy="1421374"/>
          </a:xfrm>
          <a:custGeom>
            <a:avLst/>
            <a:gdLst/>
            <a:ahLst/>
            <a:cxnLst/>
            <a:rect l="l" t="t" r="r" b="b"/>
            <a:pathLst>
              <a:path w="1642986" h="1421374">
                <a:moveTo>
                  <a:pt x="0" y="0"/>
                </a:moveTo>
                <a:lnTo>
                  <a:pt x="1642986" y="0"/>
                </a:lnTo>
                <a:lnTo>
                  <a:pt x="1642986" y="1421375"/>
                </a:lnTo>
                <a:lnTo>
                  <a:pt x="0" y="1421375"/>
                </a:lnTo>
                <a:lnTo>
                  <a:pt x="0" y="0"/>
                </a:lnTo>
                <a:close/>
              </a:path>
            </a:pathLst>
          </a:custGeom>
          <a:blipFill>
            <a:blip r:embed="rId18">
              <a:extLst>
                <a:ext uri="{96DAC541-7B7A-43D3-8B79-37D633B846F1}">
                  <asvg:svgBlip xmlns="" xmlns:asvg="http://schemas.microsoft.com/office/drawing/2016/SVG/main" r:embed="rId19"/>
                </a:ext>
              </a:extLst>
            </a:blip>
            <a:stretch>
              <a:fillRect b="-44715"/>
            </a:stretch>
          </a:blipFill>
        </p:spPr>
      </p:sp>
      <p:sp>
        <p:nvSpPr>
          <p:cNvPr id="25" name="Freeform 13"/>
          <p:cNvSpPr/>
          <p:nvPr/>
        </p:nvSpPr>
        <p:spPr>
          <a:xfrm>
            <a:off x="9796293" y="2205007"/>
            <a:ext cx="1642986" cy="1421374"/>
          </a:xfrm>
          <a:custGeom>
            <a:avLst/>
            <a:gdLst/>
            <a:ahLst/>
            <a:cxnLst/>
            <a:rect l="l" t="t" r="r" b="b"/>
            <a:pathLst>
              <a:path w="1642986" h="1421374">
                <a:moveTo>
                  <a:pt x="0" y="0"/>
                </a:moveTo>
                <a:lnTo>
                  <a:pt x="1642986" y="0"/>
                </a:lnTo>
                <a:lnTo>
                  <a:pt x="1642986" y="1421375"/>
                </a:lnTo>
                <a:lnTo>
                  <a:pt x="0" y="1421375"/>
                </a:lnTo>
                <a:lnTo>
                  <a:pt x="0" y="0"/>
                </a:lnTo>
                <a:close/>
              </a:path>
            </a:pathLst>
          </a:custGeom>
          <a:blipFill>
            <a:blip r:embed="rId20">
              <a:extLst>
                <a:ext uri="{96DAC541-7B7A-43D3-8B79-37D633B846F1}">
                  <asvg:svgBlip xmlns="" xmlns:asvg="http://schemas.microsoft.com/office/drawing/2016/SVG/main" r:embed="rId21"/>
                </a:ext>
              </a:extLst>
            </a:blip>
            <a:stretch>
              <a:fillRect b="-44715"/>
            </a:stretch>
          </a:blipFill>
        </p:spPr>
      </p:sp>
      <p:sp>
        <p:nvSpPr>
          <p:cNvPr id="26" name="AutoShape 14"/>
          <p:cNvSpPr/>
          <p:nvPr/>
        </p:nvSpPr>
        <p:spPr>
          <a:xfrm flipV="1">
            <a:off x="6833193" y="3579024"/>
            <a:ext cx="0" cy="404495"/>
          </a:xfrm>
          <a:prstGeom prst="line">
            <a:avLst/>
          </a:prstGeom>
          <a:ln w="9525" cap="flat">
            <a:solidFill>
              <a:srgbClr val="FF8D36"/>
            </a:solidFill>
            <a:prstDash val="solid"/>
            <a:headEnd type="none" w="sm" len="sm"/>
            <a:tailEnd type="none" w="sm" len="sm"/>
          </a:ln>
        </p:spPr>
      </p:sp>
      <p:sp>
        <p:nvSpPr>
          <p:cNvPr id="27" name="Freeform 15"/>
          <p:cNvSpPr/>
          <p:nvPr/>
        </p:nvSpPr>
        <p:spPr>
          <a:xfrm>
            <a:off x="6011700" y="2205007"/>
            <a:ext cx="1642986" cy="1421374"/>
          </a:xfrm>
          <a:custGeom>
            <a:avLst/>
            <a:gdLst/>
            <a:ahLst/>
            <a:cxnLst/>
            <a:rect l="l" t="t" r="r" b="b"/>
            <a:pathLst>
              <a:path w="1642986" h="1421374">
                <a:moveTo>
                  <a:pt x="0" y="0"/>
                </a:moveTo>
                <a:lnTo>
                  <a:pt x="1642986" y="0"/>
                </a:lnTo>
                <a:lnTo>
                  <a:pt x="1642986" y="1421375"/>
                </a:lnTo>
                <a:lnTo>
                  <a:pt x="0" y="1421375"/>
                </a:lnTo>
                <a:lnTo>
                  <a:pt x="0" y="0"/>
                </a:lnTo>
                <a:close/>
              </a:path>
            </a:pathLst>
          </a:custGeom>
          <a:blipFill>
            <a:blip r:embed="rId22">
              <a:extLst>
                <a:ext uri="{96DAC541-7B7A-43D3-8B79-37D633B846F1}">
                  <asvg:svgBlip xmlns="" xmlns:asvg="http://schemas.microsoft.com/office/drawing/2016/SVG/main" r:embed="rId23"/>
                </a:ext>
              </a:extLst>
            </a:blip>
            <a:stretch>
              <a:fillRect b="-44715"/>
            </a:stretch>
          </a:blipFill>
        </p:spPr>
      </p:sp>
      <p:sp>
        <p:nvSpPr>
          <p:cNvPr id="28" name="AutoShape 16"/>
          <p:cNvSpPr/>
          <p:nvPr/>
        </p:nvSpPr>
        <p:spPr>
          <a:xfrm flipV="1">
            <a:off x="4940897" y="4806503"/>
            <a:ext cx="0" cy="363422"/>
          </a:xfrm>
          <a:prstGeom prst="line">
            <a:avLst/>
          </a:prstGeom>
          <a:ln w="9525" cap="flat">
            <a:solidFill>
              <a:srgbClr val="7BBFFF"/>
            </a:solidFill>
            <a:prstDash val="solid"/>
            <a:headEnd type="none" w="sm" len="sm"/>
            <a:tailEnd type="none" w="sm" len="sm"/>
          </a:ln>
        </p:spPr>
      </p:sp>
      <p:sp>
        <p:nvSpPr>
          <p:cNvPr id="29" name="Freeform 17"/>
          <p:cNvSpPr/>
          <p:nvPr/>
        </p:nvSpPr>
        <p:spPr>
          <a:xfrm>
            <a:off x="4675158" y="5783471"/>
            <a:ext cx="542789" cy="542789"/>
          </a:xfrm>
          <a:custGeom>
            <a:avLst/>
            <a:gdLst/>
            <a:ahLst/>
            <a:cxnLst/>
            <a:rect l="l" t="t" r="r" b="b"/>
            <a:pathLst>
              <a:path w="542789" h="542789">
                <a:moveTo>
                  <a:pt x="0" y="0"/>
                </a:moveTo>
                <a:lnTo>
                  <a:pt x="542789" y="0"/>
                </a:lnTo>
                <a:lnTo>
                  <a:pt x="542789" y="542789"/>
                </a:lnTo>
                <a:lnTo>
                  <a:pt x="0" y="542789"/>
                </a:lnTo>
                <a:lnTo>
                  <a:pt x="0" y="0"/>
                </a:lnTo>
                <a:close/>
              </a:path>
            </a:pathLst>
          </a:custGeom>
          <a:blipFill>
            <a:blip r:embed="rId24">
              <a:extLst>
                <a:ext uri="{96DAC541-7B7A-43D3-8B79-37D633B846F1}">
                  <asvg:svgBlip xmlns="" xmlns:asvg="http://schemas.microsoft.com/office/drawing/2016/SVG/main" r:embed="rId25"/>
                </a:ext>
              </a:extLst>
            </a:blip>
            <a:stretch>
              <a:fillRect/>
            </a:stretch>
          </a:blipFill>
        </p:spPr>
      </p:sp>
      <p:sp>
        <p:nvSpPr>
          <p:cNvPr id="30" name="Freeform 18"/>
          <p:cNvSpPr/>
          <p:nvPr/>
        </p:nvSpPr>
        <p:spPr>
          <a:xfrm>
            <a:off x="6573688" y="2453488"/>
            <a:ext cx="519011" cy="519011"/>
          </a:xfrm>
          <a:custGeom>
            <a:avLst/>
            <a:gdLst/>
            <a:ahLst/>
            <a:cxnLst/>
            <a:rect l="l" t="t" r="r" b="b"/>
            <a:pathLst>
              <a:path w="519011" h="519011">
                <a:moveTo>
                  <a:pt x="0" y="0"/>
                </a:moveTo>
                <a:lnTo>
                  <a:pt x="519011" y="0"/>
                </a:lnTo>
                <a:lnTo>
                  <a:pt x="519011" y="519012"/>
                </a:lnTo>
                <a:lnTo>
                  <a:pt x="0" y="519012"/>
                </a:lnTo>
                <a:lnTo>
                  <a:pt x="0" y="0"/>
                </a:lnTo>
                <a:close/>
              </a:path>
            </a:pathLst>
          </a:custGeom>
          <a:blipFill>
            <a:blip r:embed="rId26"/>
            <a:stretch>
              <a:fillRect/>
            </a:stretch>
          </a:blipFill>
        </p:spPr>
      </p:sp>
      <p:sp>
        <p:nvSpPr>
          <p:cNvPr id="31" name="Freeform 19"/>
          <p:cNvSpPr/>
          <p:nvPr/>
        </p:nvSpPr>
        <p:spPr>
          <a:xfrm>
            <a:off x="8460222" y="5783471"/>
            <a:ext cx="575989" cy="542789"/>
          </a:xfrm>
          <a:custGeom>
            <a:avLst/>
            <a:gdLst/>
            <a:ahLst/>
            <a:cxnLst/>
            <a:rect l="l" t="t" r="r" b="b"/>
            <a:pathLst>
              <a:path w="575989" h="542789">
                <a:moveTo>
                  <a:pt x="0" y="0"/>
                </a:moveTo>
                <a:lnTo>
                  <a:pt x="575989" y="0"/>
                </a:lnTo>
                <a:lnTo>
                  <a:pt x="575989" y="542789"/>
                </a:lnTo>
                <a:lnTo>
                  <a:pt x="0" y="542789"/>
                </a:lnTo>
                <a:lnTo>
                  <a:pt x="0" y="0"/>
                </a:lnTo>
                <a:close/>
              </a:path>
            </a:pathLst>
          </a:custGeom>
          <a:blipFill>
            <a:blip r:embed="rId27"/>
            <a:stretch>
              <a:fillRect r="-461489"/>
            </a:stretch>
          </a:blipFill>
        </p:spPr>
      </p:sp>
      <p:sp>
        <p:nvSpPr>
          <p:cNvPr id="32" name="Freeform 20"/>
          <p:cNvSpPr/>
          <p:nvPr/>
        </p:nvSpPr>
        <p:spPr>
          <a:xfrm>
            <a:off x="10342762" y="2453488"/>
            <a:ext cx="550049" cy="522846"/>
          </a:xfrm>
          <a:custGeom>
            <a:avLst/>
            <a:gdLst/>
            <a:ahLst/>
            <a:cxnLst/>
            <a:rect l="l" t="t" r="r" b="b"/>
            <a:pathLst>
              <a:path w="550049" h="522846">
                <a:moveTo>
                  <a:pt x="0" y="0"/>
                </a:moveTo>
                <a:lnTo>
                  <a:pt x="550049" y="0"/>
                </a:lnTo>
                <a:lnTo>
                  <a:pt x="550049" y="522847"/>
                </a:lnTo>
                <a:lnTo>
                  <a:pt x="0" y="522847"/>
                </a:lnTo>
                <a:lnTo>
                  <a:pt x="0" y="0"/>
                </a:lnTo>
                <a:close/>
              </a:path>
            </a:pathLst>
          </a:custGeom>
          <a:blipFill>
            <a:blip r:embed="rId28"/>
            <a:stretch>
              <a:fillRect l="-313326" t="-17854" r="-15831" b="-14204"/>
            </a:stretch>
          </a:blipFill>
        </p:spPr>
      </p:sp>
      <p:sp>
        <p:nvSpPr>
          <p:cNvPr id="34" name="Freeform 21"/>
          <p:cNvSpPr/>
          <p:nvPr/>
        </p:nvSpPr>
        <p:spPr>
          <a:xfrm>
            <a:off x="12219566" y="5842438"/>
            <a:ext cx="580007" cy="424855"/>
          </a:xfrm>
          <a:custGeom>
            <a:avLst/>
            <a:gdLst/>
            <a:ahLst/>
            <a:cxnLst/>
            <a:rect l="l" t="t" r="r" b="b"/>
            <a:pathLst>
              <a:path w="580007" h="424855">
                <a:moveTo>
                  <a:pt x="0" y="0"/>
                </a:moveTo>
                <a:lnTo>
                  <a:pt x="580007" y="0"/>
                </a:lnTo>
                <a:lnTo>
                  <a:pt x="580007" y="424855"/>
                </a:lnTo>
                <a:lnTo>
                  <a:pt x="0" y="424855"/>
                </a:lnTo>
                <a:lnTo>
                  <a:pt x="0" y="0"/>
                </a:lnTo>
                <a:close/>
              </a:path>
            </a:pathLst>
          </a:custGeom>
          <a:blipFill>
            <a:blip r:embed="rId29">
              <a:extLst>
                <a:ext uri="{96DAC541-7B7A-43D3-8B79-37D633B846F1}">
                  <asvg:svgBlip xmlns="" xmlns:asvg="http://schemas.microsoft.com/office/drawing/2016/SVG/main" r:embed="rId30"/>
                </a:ext>
              </a:extLst>
            </a:blip>
            <a:stretch>
              <a:fillRect/>
            </a:stretch>
          </a:blipFill>
        </p:spPr>
      </p:sp>
      <p:sp>
        <p:nvSpPr>
          <p:cNvPr id="35" name="TextBox 22"/>
          <p:cNvSpPr txBox="1"/>
          <p:nvPr/>
        </p:nvSpPr>
        <p:spPr>
          <a:xfrm>
            <a:off x="3799136" y="3142547"/>
            <a:ext cx="1848146" cy="807070"/>
          </a:xfrm>
          <a:prstGeom prst="rect">
            <a:avLst/>
          </a:prstGeom>
        </p:spPr>
        <p:txBody>
          <a:bodyPr lIns="0" tIns="0" rIns="0" bIns="0" rtlCol="0" anchor="t">
            <a:spAutoFit/>
          </a:bodyPr>
          <a:lstStyle/>
          <a:p>
            <a:pPr marL="0" lvl="0" indent="0" algn="ctr">
              <a:lnSpc>
                <a:spcPts val="2149"/>
              </a:lnSpc>
              <a:spcBef>
                <a:spcPct val="0"/>
              </a:spcBef>
            </a:pPr>
            <a:r>
              <a:rPr lang="en-US" sz="1535" dirty="0">
                <a:solidFill>
                  <a:srgbClr val="000000"/>
                </a:solidFill>
                <a:latin typeface="Arial Nova"/>
                <a:ea typeface="Arial Nova"/>
                <a:cs typeface="Arial Nova"/>
                <a:sym typeface="Arial Nova"/>
              </a:rPr>
              <a:t>I</a:t>
            </a:r>
            <a:r>
              <a:rPr lang="en-US" sz="1535" dirty="0" smtClean="0">
                <a:solidFill>
                  <a:srgbClr val="000000"/>
                </a:solidFill>
                <a:latin typeface="Arial Nova"/>
                <a:ea typeface="Arial Nova"/>
                <a:cs typeface="Arial Nova"/>
                <a:sym typeface="Arial Nova"/>
              </a:rPr>
              <a:t>nfrastructure </a:t>
            </a:r>
            <a:r>
              <a:rPr lang="en-US" sz="1535" dirty="0">
                <a:solidFill>
                  <a:srgbClr val="000000"/>
                </a:solidFill>
                <a:latin typeface="Arial Nova"/>
                <a:ea typeface="Arial Nova"/>
                <a:cs typeface="Arial Nova"/>
                <a:sym typeface="Arial Nova"/>
              </a:rPr>
              <a:t>(</a:t>
            </a:r>
            <a:r>
              <a:rPr lang="en-US" sz="1535" dirty="0" err="1">
                <a:solidFill>
                  <a:srgbClr val="000000"/>
                </a:solidFill>
                <a:latin typeface="Arial Nova"/>
                <a:ea typeface="Arial Nova"/>
                <a:cs typeface="Arial Nova"/>
                <a:sym typeface="Arial Nova"/>
              </a:rPr>
              <a:t>Serveurs</a:t>
            </a:r>
            <a:r>
              <a:rPr lang="en-US" sz="1535" dirty="0">
                <a:solidFill>
                  <a:srgbClr val="000000"/>
                </a:solidFill>
                <a:latin typeface="Arial Nova"/>
                <a:ea typeface="Arial Nova"/>
                <a:cs typeface="Arial Nova"/>
                <a:sym typeface="Arial Nova"/>
              </a:rPr>
              <a:t>, VMs, Services)</a:t>
            </a:r>
          </a:p>
        </p:txBody>
      </p:sp>
      <p:sp>
        <p:nvSpPr>
          <p:cNvPr id="36" name="TextBox 23"/>
          <p:cNvSpPr txBox="1"/>
          <p:nvPr/>
        </p:nvSpPr>
        <p:spPr>
          <a:xfrm>
            <a:off x="11718421" y="3344807"/>
            <a:ext cx="1377409" cy="534574"/>
          </a:xfrm>
          <a:prstGeom prst="rect">
            <a:avLst/>
          </a:prstGeom>
        </p:spPr>
        <p:txBody>
          <a:bodyPr lIns="0" tIns="0" rIns="0" bIns="0" rtlCol="0" anchor="t">
            <a:spAutoFit/>
          </a:bodyPr>
          <a:lstStyle/>
          <a:p>
            <a:pPr marL="0" lvl="0" indent="0" algn="ctr">
              <a:lnSpc>
                <a:spcPts val="2149"/>
              </a:lnSpc>
              <a:spcBef>
                <a:spcPct val="0"/>
              </a:spcBef>
            </a:pPr>
            <a:r>
              <a:rPr lang="en-US" sz="1535">
                <a:solidFill>
                  <a:srgbClr val="000000"/>
                </a:solidFill>
                <a:latin typeface="Arial Nova"/>
                <a:ea typeface="Arial Nova"/>
                <a:cs typeface="Arial Nova"/>
                <a:sym typeface="Arial Nova"/>
              </a:rPr>
              <a:t>Notification Gmail</a:t>
            </a:r>
          </a:p>
        </p:txBody>
      </p:sp>
      <p:sp>
        <p:nvSpPr>
          <p:cNvPr id="37" name="TextBox 24"/>
          <p:cNvSpPr txBox="1"/>
          <p:nvPr/>
        </p:nvSpPr>
        <p:spPr>
          <a:xfrm>
            <a:off x="5909120" y="5250783"/>
            <a:ext cx="1848146" cy="262079"/>
          </a:xfrm>
          <a:prstGeom prst="rect">
            <a:avLst/>
          </a:prstGeom>
        </p:spPr>
        <p:txBody>
          <a:bodyPr lIns="0" tIns="0" rIns="0" bIns="0" rtlCol="0" anchor="t">
            <a:spAutoFit/>
          </a:bodyPr>
          <a:lstStyle/>
          <a:p>
            <a:pPr marL="0" lvl="0" indent="0" algn="ctr">
              <a:lnSpc>
                <a:spcPts val="2149"/>
              </a:lnSpc>
              <a:spcBef>
                <a:spcPct val="0"/>
              </a:spcBef>
            </a:pPr>
            <a:r>
              <a:rPr lang="en-US" sz="1535">
                <a:solidFill>
                  <a:srgbClr val="000000"/>
                </a:solidFill>
                <a:latin typeface="Arial Nova"/>
                <a:ea typeface="Arial Nova"/>
                <a:cs typeface="Arial Nova"/>
                <a:sym typeface="Arial Nova"/>
              </a:rPr>
              <a:t>Prometheus</a:t>
            </a:r>
          </a:p>
        </p:txBody>
      </p:sp>
      <p:sp>
        <p:nvSpPr>
          <p:cNvPr id="38" name="TextBox 25"/>
          <p:cNvSpPr txBox="1"/>
          <p:nvPr/>
        </p:nvSpPr>
        <p:spPr>
          <a:xfrm>
            <a:off x="7933703" y="3597807"/>
            <a:ext cx="1583574" cy="262079"/>
          </a:xfrm>
          <a:prstGeom prst="rect">
            <a:avLst/>
          </a:prstGeom>
        </p:spPr>
        <p:txBody>
          <a:bodyPr lIns="0" tIns="0" rIns="0" bIns="0" rtlCol="0" anchor="t">
            <a:spAutoFit/>
          </a:bodyPr>
          <a:lstStyle/>
          <a:p>
            <a:pPr marL="0" lvl="0" indent="0" algn="ctr">
              <a:lnSpc>
                <a:spcPts val="2149"/>
              </a:lnSpc>
              <a:spcBef>
                <a:spcPct val="0"/>
              </a:spcBef>
            </a:pPr>
            <a:r>
              <a:rPr lang="en-US" sz="1535">
                <a:solidFill>
                  <a:srgbClr val="000000"/>
                </a:solidFill>
                <a:latin typeface="Arial Nova"/>
                <a:ea typeface="Arial Nova"/>
                <a:cs typeface="Arial Nova"/>
                <a:sym typeface="Arial Nova"/>
              </a:rPr>
              <a:t>Grafana</a:t>
            </a:r>
          </a:p>
        </p:txBody>
      </p:sp>
      <p:sp>
        <p:nvSpPr>
          <p:cNvPr id="39" name="TextBox 26"/>
          <p:cNvSpPr txBox="1"/>
          <p:nvPr/>
        </p:nvSpPr>
        <p:spPr>
          <a:xfrm>
            <a:off x="9650076" y="5250783"/>
            <a:ext cx="1935420" cy="262079"/>
          </a:xfrm>
          <a:prstGeom prst="rect">
            <a:avLst/>
          </a:prstGeom>
        </p:spPr>
        <p:txBody>
          <a:bodyPr lIns="0" tIns="0" rIns="0" bIns="0" rtlCol="0" anchor="t">
            <a:spAutoFit/>
          </a:bodyPr>
          <a:lstStyle/>
          <a:p>
            <a:pPr marL="0" lvl="0" indent="0" algn="ctr">
              <a:lnSpc>
                <a:spcPts val="2149"/>
              </a:lnSpc>
              <a:spcBef>
                <a:spcPct val="0"/>
              </a:spcBef>
            </a:pPr>
            <a:r>
              <a:rPr lang="en-US" sz="1535">
                <a:solidFill>
                  <a:srgbClr val="000000"/>
                </a:solidFill>
                <a:latin typeface="Arial Nova"/>
                <a:ea typeface="Arial Nova"/>
                <a:cs typeface="Arial Nova"/>
                <a:sym typeface="Arial Nova"/>
              </a:rPr>
              <a:t>Alertmanager</a:t>
            </a:r>
          </a:p>
        </p:txBody>
      </p:sp>
      <p:sp>
        <p:nvSpPr>
          <p:cNvPr id="40" name="TextBox 27"/>
          <p:cNvSpPr txBox="1"/>
          <p:nvPr/>
        </p:nvSpPr>
        <p:spPr>
          <a:xfrm>
            <a:off x="4596997" y="4055217"/>
            <a:ext cx="687800" cy="619199"/>
          </a:xfrm>
          <a:prstGeom prst="rect">
            <a:avLst/>
          </a:prstGeom>
        </p:spPr>
        <p:txBody>
          <a:bodyPr lIns="0" tIns="0" rIns="0" bIns="0" rtlCol="0" anchor="t">
            <a:spAutoFit/>
          </a:bodyPr>
          <a:lstStyle/>
          <a:p>
            <a:pPr marL="0" lvl="0" indent="0" algn="ctr">
              <a:lnSpc>
                <a:spcPts val="5079"/>
              </a:lnSpc>
              <a:spcBef>
                <a:spcPct val="0"/>
              </a:spcBef>
            </a:pPr>
            <a:r>
              <a:rPr lang="en-US" sz="3628" b="1" dirty="0">
                <a:solidFill>
                  <a:srgbClr val="FFFFFF"/>
                </a:solidFill>
                <a:latin typeface="Arial Nova Bold"/>
                <a:ea typeface="Arial Nova Bold"/>
                <a:cs typeface="Arial Nova Bold"/>
                <a:sym typeface="Arial Nova Bold"/>
              </a:rPr>
              <a:t>01</a:t>
            </a:r>
          </a:p>
        </p:txBody>
      </p:sp>
      <p:sp>
        <p:nvSpPr>
          <p:cNvPr id="41" name="TextBox 28"/>
          <p:cNvSpPr txBox="1"/>
          <p:nvPr/>
        </p:nvSpPr>
        <p:spPr>
          <a:xfrm>
            <a:off x="12166183" y="4055217"/>
            <a:ext cx="687800" cy="619199"/>
          </a:xfrm>
          <a:prstGeom prst="rect">
            <a:avLst/>
          </a:prstGeom>
        </p:spPr>
        <p:txBody>
          <a:bodyPr lIns="0" tIns="0" rIns="0" bIns="0" rtlCol="0" anchor="t">
            <a:spAutoFit/>
          </a:bodyPr>
          <a:lstStyle/>
          <a:p>
            <a:pPr marL="0" lvl="0" indent="0" algn="ctr">
              <a:lnSpc>
                <a:spcPts val="5079"/>
              </a:lnSpc>
              <a:spcBef>
                <a:spcPct val="0"/>
              </a:spcBef>
            </a:pPr>
            <a:r>
              <a:rPr lang="en-US" sz="3628" b="1">
                <a:solidFill>
                  <a:srgbClr val="000000"/>
                </a:solidFill>
                <a:latin typeface="Arial Nova Bold"/>
                <a:ea typeface="Arial Nova Bold"/>
                <a:cs typeface="Arial Nova Bold"/>
                <a:sym typeface="Arial Nova Bold"/>
              </a:rPr>
              <a:t>05</a:t>
            </a:r>
          </a:p>
        </p:txBody>
      </p:sp>
      <p:sp>
        <p:nvSpPr>
          <p:cNvPr id="42" name="TextBox 29"/>
          <p:cNvSpPr txBox="1"/>
          <p:nvPr/>
        </p:nvSpPr>
        <p:spPr>
          <a:xfrm>
            <a:off x="6489294" y="4055217"/>
            <a:ext cx="687800" cy="619199"/>
          </a:xfrm>
          <a:prstGeom prst="rect">
            <a:avLst/>
          </a:prstGeom>
        </p:spPr>
        <p:txBody>
          <a:bodyPr lIns="0" tIns="0" rIns="0" bIns="0" rtlCol="0" anchor="t">
            <a:spAutoFit/>
          </a:bodyPr>
          <a:lstStyle/>
          <a:p>
            <a:pPr marL="0" lvl="0" indent="0" algn="ctr">
              <a:lnSpc>
                <a:spcPts val="5079"/>
              </a:lnSpc>
              <a:spcBef>
                <a:spcPct val="0"/>
              </a:spcBef>
            </a:pPr>
            <a:r>
              <a:rPr lang="en-US" sz="3628" b="1">
                <a:solidFill>
                  <a:srgbClr val="FFFFFF"/>
                </a:solidFill>
                <a:latin typeface="Arial Nova Bold"/>
                <a:ea typeface="Arial Nova Bold"/>
                <a:cs typeface="Arial Nova Bold"/>
                <a:sym typeface="Arial Nova Bold"/>
              </a:rPr>
              <a:t>02</a:t>
            </a:r>
          </a:p>
        </p:txBody>
      </p:sp>
      <p:sp>
        <p:nvSpPr>
          <p:cNvPr id="43" name="TextBox 30"/>
          <p:cNvSpPr txBox="1"/>
          <p:nvPr/>
        </p:nvSpPr>
        <p:spPr>
          <a:xfrm>
            <a:off x="8381590" y="4055217"/>
            <a:ext cx="687800" cy="619199"/>
          </a:xfrm>
          <a:prstGeom prst="rect">
            <a:avLst/>
          </a:prstGeom>
        </p:spPr>
        <p:txBody>
          <a:bodyPr lIns="0" tIns="0" rIns="0" bIns="0" rtlCol="0" anchor="t">
            <a:spAutoFit/>
          </a:bodyPr>
          <a:lstStyle/>
          <a:p>
            <a:pPr marL="0" lvl="0" indent="0" algn="ctr">
              <a:lnSpc>
                <a:spcPts val="5079"/>
              </a:lnSpc>
              <a:spcBef>
                <a:spcPct val="0"/>
              </a:spcBef>
            </a:pPr>
            <a:r>
              <a:rPr lang="en-US" sz="3628" b="1">
                <a:solidFill>
                  <a:srgbClr val="000000"/>
                </a:solidFill>
                <a:latin typeface="Arial Nova Bold"/>
                <a:ea typeface="Arial Nova Bold"/>
                <a:cs typeface="Arial Nova Bold"/>
                <a:sym typeface="Arial Nova Bold"/>
              </a:rPr>
              <a:t>03</a:t>
            </a:r>
          </a:p>
        </p:txBody>
      </p:sp>
      <p:sp>
        <p:nvSpPr>
          <p:cNvPr id="44" name="TextBox 31"/>
          <p:cNvSpPr txBox="1"/>
          <p:nvPr/>
        </p:nvSpPr>
        <p:spPr>
          <a:xfrm>
            <a:off x="10273886" y="4055217"/>
            <a:ext cx="687800" cy="619199"/>
          </a:xfrm>
          <a:prstGeom prst="rect">
            <a:avLst/>
          </a:prstGeom>
        </p:spPr>
        <p:txBody>
          <a:bodyPr lIns="0" tIns="0" rIns="0" bIns="0" rtlCol="0" anchor="t">
            <a:spAutoFit/>
          </a:bodyPr>
          <a:lstStyle/>
          <a:p>
            <a:pPr marL="0" lvl="0" indent="0" algn="ctr">
              <a:lnSpc>
                <a:spcPts val="5079"/>
              </a:lnSpc>
              <a:spcBef>
                <a:spcPct val="0"/>
              </a:spcBef>
            </a:pPr>
            <a:r>
              <a:rPr lang="en-US" sz="3628" b="1">
                <a:solidFill>
                  <a:srgbClr val="FFFFFF"/>
                </a:solidFill>
                <a:latin typeface="Arial Nova Bold"/>
                <a:ea typeface="Arial Nova Bold"/>
                <a:cs typeface="Arial Nova Bold"/>
                <a:sym typeface="Arial Nova Bold"/>
              </a:rPr>
              <a:t>04</a:t>
            </a:r>
          </a:p>
        </p:txBody>
      </p:sp>
      <p:grpSp>
        <p:nvGrpSpPr>
          <p:cNvPr id="45" name="Group 5"/>
          <p:cNvGrpSpPr/>
          <p:nvPr/>
        </p:nvGrpSpPr>
        <p:grpSpPr>
          <a:xfrm>
            <a:off x="9372600" y="6819900"/>
            <a:ext cx="7113924" cy="3071016"/>
            <a:chOff x="0" y="0"/>
            <a:chExt cx="2008094" cy="1581675"/>
          </a:xfrm>
        </p:grpSpPr>
        <p:sp>
          <p:nvSpPr>
            <p:cNvPr id="46" name="Freeform 6"/>
            <p:cNvSpPr/>
            <p:nvPr/>
          </p:nvSpPr>
          <p:spPr>
            <a:xfrm>
              <a:off x="0" y="0"/>
              <a:ext cx="2008094" cy="1581674"/>
            </a:xfrm>
            <a:custGeom>
              <a:avLst/>
              <a:gdLst/>
              <a:ahLst/>
              <a:cxnLst/>
              <a:rect l="l" t="t" r="r" b="b"/>
              <a:pathLst>
                <a:path w="2008094" h="1581674">
                  <a:moveTo>
                    <a:pt x="41705" y="0"/>
                  </a:moveTo>
                  <a:lnTo>
                    <a:pt x="1966389" y="0"/>
                  </a:lnTo>
                  <a:cubicBezTo>
                    <a:pt x="1989422" y="0"/>
                    <a:pt x="2008094" y="18672"/>
                    <a:pt x="2008094" y="41705"/>
                  </a:cubicBezTo>
                  <a:lnTo>
                    <a:pt x="2008094" y="1539969"/>
                  </a:lnTo>
                  <a:cubicBezTo>
                    <a:pt x="2008094" y="1563002"/>
                    <a:pt x="1989422" y="1581674"/>
                    <a:pt x="1966389" y="1581674"/>
                  </a:cubicBezTo>
                  <a:lnTo>
                    <a:pt x="41705" y="1581674"/>
                  </a:lnTo>
                  <a:cubicBezTo>
                    <a:pt x="18672" y="1581674"/>
                    <a:pt x="0" y="1563002"/>
                    <a:pt x="0" y="1539969"/>
                  </a:cubicBezTo>
                  <a:lnTo>
                    <a:pt x="0" y="41705"/>
                  </a:lnTo>
                  <a:cubicBezTo>
                    <a:pt x="0" y="18672"/>
                    <a:pt x="18672" y="0"/>
                    <a:pt x="41705" y="0"/>
                  </a:cubicBezTo>
                  <a:close/>
                </a:path>
              </a:pathLst>
            </a:custGeom>
          </p:spPr>
          <p:style>
            <a:lnRef idx="1">
              <a:schemeClr val="dk1"/>
            </a:lnRef>
            <a:fillRef idx="2">
              <a:schemeClr val="dk1"/>
            </a:fillRef>
            <a:effectRef idx="1">
              <a:schemeClr val="dk1"/>
            </a:effectRef>
            <a:fontRef idx="minor">
              <a:schemeClr val="dk1"/>
            </a:fontRef>
          </p:style>
        </p:sp>
        <p:sp>
          <p:nvSpPr>
            <p:cNvPr id="47" name="TextBox 7"/>
            <p:cNvSpPr txBox="1"/>
            <p:nvPr/>
          </p:nvSpPr>
          <p:spPr>
            <a:xfrm>
              <a:off x="0" y="-47625"/>
              <a:ext cx="2008094" cy="1629300"/>
            </a:xfrm>
            <a:prstGeom prst="rect">
              <a:avLst/>
            </a:prstGeom>
          </p:spPr>
          <p:style>
            <a:lnRef idx="1">
              <a:schemeClr val="dk1"/>
            </a:lnRef>
            <a:fillRef idx="2">
              <a:schemeClr val="dk1"/>
            </a:fillRef>
            <a:effectRef idx="1">
              <a:schemeClr val="dk1"/>
            </a:effectRef>
            <a:fontRef idx="minor">
              <a:schemeClr val="dk1"/>
            </a:fontRef>
          </p:style>
          <p:txBody>
            <a:bodyPr lIns="50800" tIns="50800" rIns="50800" bIns="50800" rtlCol="0" anchor="ctr"/>
            <a:lstStyle/>
            <a:p>
              <a:pPr algn="ctr">
                <a:lnSpc>
                  <a:spcPts val="3254"/>
                </a:lnSpc>
              </a:pPr>
              <a:endParaRPr/>
            </a:p>
          </p:txBody>
        </p:sp>
      </p:grpSp>
      <p:grpSp>
        <p:nvGrpSpPr>
          <p:cNvPr id="48" name="Group 13"/>
          <p:cNvGrpSpPr/>
          <p:nvPr/>
        </p:nvGrpSpPr>
        <p:grpSpPr>
          <a:xfrm>
            <a:off x="2438400" y="6756411"/>
            <a:ext cx="4738694" cy="3187689"/>
            <a:chOff x="0" y="0"/>
            <a:chExt cx="2008094" cy="1177255"/>
          </a:xfrm>
        </p:grpSpPr>
        <p:sp>
          <p:nvSpPr>
            <p:cNvPr id="49" name="Freeform 14"/>
            <p:cNvSpPr/>
            <p:nvPr/>
          </p:nvSpPr>
          <p:spPr>
            <a:xfrm>
              <a:off x="0" y="0"/>
              <a:ext cx="2008094" cy="1177255"/>
            </a:xfrm>
            <a:custGeom>
              <a:avLst/>
              <a:gdLst/>
              <a:ahLst/>
              <a:cxnLst/>
              <a:rect l="l" t="t" r="r" b="b"/>
              <a:pathLst>
                <a:path w="2008094" h="1177255">
                  <a:moveTo>
                    <a:pt x="41705" y="0"/>
                  </a:moveTo>
                  <a:lnTo>
                    <a:pt x="1966389" y="0"/>
                  </a:lnTo>
                  <a:cubicBezTo>
                    <a:pt x="1989422" y="0"/>
                    <a:pt x="2008094" y="18672"/>
                    <a:pt x="2008094" y="41705"/>
                  </a:cubicBezTo>
                  <a:lnTo>
                    <a:pt x="2008094" y="1135550"/>
                  </a:lnTo>
                  <a:cubicBezTo>
                    <a:pt x="2008094" y="1158583"/>
                    <a:pt x="1989422" y="1177255"/>
                    <a:pt x="1966389" y="1177255"/>
                  </a:cubicBezTo>
                  <a:lnTo>
                    <a:pt x="41705" y="1177255"/>
                  </a:lnTo>
                  <a:cubicBezTo>
                    <a:pt x="18672" y="1177255"/>
                    <a:pt x="0" y="1158583"/>
                    <a:pt x="0" y="1135550"/>
                  </a:cubicBezTo>
                  <a:lnTo>
                    <a:pt x="0" y="41705"/>
                  </a:lnTo>
                  <a:cubicBezTo>
                    <a:pt x="0" y="18672"/>
                    <a:pt x="18672" y="0"/>
                    <a:pt x="41705" y="0"/>
                  </a:cubicBezTo>
                  <a:close/>
                </a:path>
              </a:pathLst>
            </a:custGeom>
          </p:spPr>
          <p:style>
            <a:lnRef idx="1">
              <a:schemeClr val="dk1"/>
            </a:lnRef>
            <a:fillRef idx="2">
              <a:schemeClr val="dk1"/>
            </a:fillRef>
            <a:effectRef idx="1">
              <a:schemeClr val="dk1"/>
            </a:effectRef>
            <a:fontRef idx="minor">
              <a:schemeClr val="dk1"/>
            </a:fontRef>
          </p:style>
        </p:sp>
        <p:sp>
          <p:nvSpPr>
            <p:cNvPr id="50" name="TextBox 15"/>
            <p:cNvSpPr txBox="1"/>
            <p:nvPr/>
          </p:nvSpPr>
          <p:spPr>
            <a:xfrm>
              <a:off x="0" y="-47625"/>
              <a:ext cx="2008094" cy="1224880"/>
            </a:xfrm>
            <a:prstGeom prst="rect">
              <a:avLst/>
            </a:prstGeom>
          </p:spPr>
          <p:style>
            <a:lnRef idx="1">
              <a:schemeClr val="dk1"/>
            </a:lnRef>
            <a:fillRef idx="2">
              <a:schemeClr val="dk1"/>
            </a:fillRef>
            <a:effectRef idx="1">
              <a:schemeClr val="dk1"/>
            </a:effectRef>
            <a:fontRef idx="minor">
              <a:schemeClr val="dk1"/>
            </a:fontRef>
          </p:style>
          <p:txBody>
            <a:bodyPr lIns="50800" tIns="50800" rIns="50800" bIns="50800" rtlCol="0" anchor="ctr"/>
            <a:lstStyle/>
            <a:p>
              <a:pPr algn="ctr">
                <a:lnSpc>
                  <a:spcPts val="3254"/>
                </a:lnSpc>
              </a:pPr>
              <a:endParaRPr/>
            </a:p>
          </p:txBody>
        </p:sp>
      </p:grpSp>
      <p:sp>
        <p:nvSpPr>
          <p:cNvPr id="5" name="AutoShape 6" descr="blob:https://web.whatsapp.com/290d0670-5a43-4222-94cf-f4c2608f9a90"/>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6" name="Image 5"/>
          <p:cNvPicPr>
            <a:picLocks noChangeAspect="1"/>
          </p:cNvPicPr>
          <p:nvPr/>
        </p:nvPicPr>
        <p:blipFill>
          <a:blip r:embed="rId31"/>
          <a:stretch>
            <a:fillRect/>
          </a:stretch>
        </p:blipFill>
        <p:spPr>
          <a:xfrm>
            <a:off x="2667000" y="6717509"/>
            <a:ext cx="4383806" cy="3087597"/>
          </a:xfrm>
          <a:prstGeom prst="rect">
            <a:avLst/>
          </a:prstGeom>
        </p:spPr>
      </p:pic>
      <p:pic>
        <p:nvPicPr>
          <p:cNvPr id="7" name="Image 6"/>
          <p:cNvPicPr>
            <a:picLocks noChangeAspect="1"/>
          </p:cNvPicPr>
          <p:nvPr/>
        </p:nvPicPr>
        <p:blipFill>
          <a:blip r:embed="rId32"/>
          <a:stretch>
            <a:fillRect/>
          </a:stretch>
        </p:blipFill>
        <p:spPr>
          <a:xfrm>
            <a:off x="9588346" y="6875109"/>
            <a:ext cx="6708744" cy="2728981"/>
          </a:xfrm>
          <a:prstGeom prst="rect">
            <a:avLst/>
          </a:prstGeom>
        </p:spPr>
      </p:pic>
      <p:sp>
        <p:nvSpPr>
          <p:cNvPr id="53" name="Text 14"/>
          <p:cNvSpPr/>
          <p:nvPr/>
        </p:nvSpPr>
        <p:spPr>
          <a:xfrm>
            <a:off x="1769688" y="1216404"/>
            <a:ext cx="16053210" cy="862614"/>
          </a:xfrm>
          <a:prstGeom prst="rect">
            <a:avLst/>
          </a:prstGeom>
          <a:noFill/>
          <a:ln/>
        </p:spPr>
        <p:txBody>
          <a:bodyPr wrap="square" lIns="0" tIns="0" rIns="0" bIns="0" rtlCol="0" anchor="ctr"/>
          <a:lstStyle/>
          <a:p>
            <a:r>
              <a:rPr lang="fr-FR" sz="3600" dirty="0"/>
              <a:t>Architecture de supervision (flux </a:t>
            </a:r>
            <a:r>
              <a:rPr lang="fr-FR" sz="3600" dirty="0" err="1"/>
              <a:t>Prometheus</a:t>
            </a:r>
            <a:r>
              <a:rPr lang="fr-FR" sz="3600" dirty="0"/>
              <a:t> </a:t>
            </a:r>
            <a:r>
              <a:rPr lang="fr-FR" sz="3600" dirty="0" smtClean="0"/>
              <a:t>- </a:t>
            </a:r>
            <a:r>
              <a:rPr lang="fr-FR" sz="3600" dirty="0" err="1"/>
              <a:t>Alertmanager</a:t>
            </a:r>
            <a:r>
              <a:rPr lang="fr-FR" sz="3600" dirty="0"/>
              <a:t> </a:t>
            </a:r>
            <a:r>
              <a:rPr lang="fr-FR" sz="3600" dirty="0" smtClean="0"/>
              <a:t>- </a:t>
            </a:r>
            <a:r>
              <a:rPr lang="fr-FR" sz="3600" dirty="0"/>
              <a:t>Gmail)</a:t>
            </a:r>
            <a:endParaRPr lang="en-US" sz="3600" dirty="0"/>
          </a:p>
        </p:txBody>
      </p:sp>
    </p:spTree>
    <p:extLst>
      <p:ext uri="{BB962C8B-B14F-4D97-AF65-F5344CB8AC3E}">
        <p14:creationId xmlns:p14="http://schemas.microsoft.com/office/powerpoint/2010/main" val="39058816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advClick="0">
        <p159:morph option="byObject"/>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500" fill="hold"/>
                                        <p:tgtEl>
                                          <p:spTgt spid="29"/>
                                        </p:tgtEl>
                                        <p:attrNameLst>
                                          <p:attrName>ppt_x</p:attrName>
                                        </p:attrNameLst>
                                      </p:cBhvr>
                                      <p:tavLst>
                                        <p:tav tm="0">
                                          <p:val>
                                            <p:strVal val="0-#ppt_w/2"/>
                                          </p:val>
                                        </p:tav>
                                        <p:tav tm="100000">
                                          <p:val>
                                            <p:strVal val="#ppt_x"/>
                                          </p:val>
                                        </p:tav>
                                      </p:tavLst>
                                    </p:anim>
                                    <p:anim calcmode="lin" valueType="num">
                                      <p:cBhvr additive="base">
                                        <p:cTn id="8" dur="500" fill="hold"/>
                                        <p:tgtEl>
                                          <p:spTgt spid="29"/>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0-#ppt_w/2"/>
                                          </p:val>
                                        </p:tav>
                                        <p:tav tm="100000">
                                          <p:val>
                                            <p:strVal val="#ppt_x"/>
                                          </p:val>
                                        </p:tav>
                                      </p:tavLst>
                                    </p:anim>
                                    <p:anim calcmode="lin" valueType="num">
                                      <p:cBhvr additive="base">
                                        <p:cTn id="12" dur="500" fill="hold"/>
                                        <p:tgtEl>
                                          <p:spTgt spid="22"/>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8"/>
                                        </p:tgtEl>
                                        <p:attrNameLst>
                                          <p:attrName>style.visibility</p:attrName>
                                        </p:attrNameLst>
                                      </p:cBhvr>
                                      <p:to>
                                        <p:strVal val="visible"/>
                                      </p:to>
                                    </p:set>
                                    <p:anim calcmode="lin" valueType="num">
                                      <p:cBhvr additive="base">
                                        <p:cTn id="15" dur="500" fill="hold"/>
                                        <p:tgtEl>
                                          <p:spTgt spid="28"/>
                                        </p:tgtEl>
                                        <p:attrNameLst>
                                          <p:attrName>ppt_x</p:attrName>
                                        </p:attrNameLst>
                                      </p:cBhvr>
                                      <p:tavLst>
                                        <p:tav tm="0">
                                          <p:val>
                                            <p:strVal val="0-#ppt_w/2"/>
                                          </p:val>
                                        </p:tav>
                                        <p:tav tm="100000">
                                          <p:val>
                                            <p:strVal val="#ppt_x"/>
                                          </p:val>
                                        </p:tav>
                                      </p:tavLst>
                                    </p:anim>
                                    <p:anim calcmode="lin" valueType="num">
                                      <p:cBhvr additive="base">
                                        <p:cTn id="16" dur="500" fill="hold"/>
                                        <p:tgtEl>
                                          <p:spTgt spid="2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0"/>
                                        </p:tgtEl>
                                        <p:attrNameLst>
                                          <p:attrName>style.visibility</p:attrName>
                                        </p:attrNameLst>
                                      </p:cBhvr>
                                      <p:to>
                                        <p:strVal val="visible"/>
                                      </p:to>
                                    </p:set>
                                    <p:anim calcmode="lin" valueType="num">
                                      <p:cBhvr additive="base">
                                        <p:cTn id="19" dur="500" fill="hold"/>
                                        <p:tgtEl>
                                          <p:spTgt spid="40"/>
                                        </p:tgtEl>
                                        <p:attrNameLst>
                                          <p:attrName>ppt_x</p:attrName>
                                        </p:attrNameLst>
                                      </p:cBhvr>
                                      <p:tavLst>
                                        <p:tav tm="0">
                                          <p:val>
                                            <p:strVal val="0-#ppt_w/2"/>
                                          </p:val>
                                        </p:tav>
                                        <p:tav tm="100000">
                                          <p:val>
                                            <p:strVal val="#ppt_x"/>
                                          </p:val>
                                        </p:tav>
                                      </p:tavLst>
                                    </p:anim>
                                    <p:anim calcmode="lin" valueType="num">
                                      <p:cBhvr additive="base">
                                        <p:cTn id="20" dur="500" fill="hold"/>
                                        <p:tgtEl>
                                          <p:spTgt spid="40"/>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anim calcmode="lin" valueType="num">
                                      <p:cBhvr additive="base">
                                        <p:cTn id="23" dur="500" fill="hold"/>
                                        <p:tgtEl>
                                          <p:spTgt spid="21"/>
                                        </p:tgtEl>
                                        <p:attrNameLst>
                                          <p:attrName>ppt_x</p:attrName>
                                        </p:attrNameLst>
                                      </p:cBhvr>
                                      <p:tavLst>
                                        <p:tav tm="0">
                                          <p:val>
                                            <p:strVal val="0-#ppt_w/2"/>
                                          </p:val>
                                        </p:tav>
                                        <p:tav tm="100000">
                                          <p:val>
                                            <p:strVal val="#ppt_x"/>
                                          </p:val>
                                        </p:tav>
                                      </p:tavLst>
                                    </p:anim>
                                    <p:anim calcmode="lin" valueType="num">
                                      <p:cBhvr additive="base">
                                        <p:cTn id="24" dur="500" fill="hold"/>
                                        <p:tgtEl>
                                          <p:spTgt spid="21"/>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35"/>
                                        </p:tgtEl>
                                        <p:attrNameLst>
                                          <p:attrName>style.visibility</p:attrName>
                                        </p:attrNameLst>
                                      </p:cBhvr>
                                      <p:to>
                                        <p:strVal val="visible"/>
                                      </p:to>
                                    </p:set>
                                    <p:anim calcmode="lin" valueType="num">
                                      <p:cBhvr additive="base">
                                        <p:cTn id="27" dur="500" fill="hold"/>
                                        <p:tgtEl>
                                          <p:spTgt spid="35"/>
                                        </p:tgtEl>
                                        <p:attrNameLst>
                                          <p:attrName>ppt_x</p:attrName>
                                        </p:attrNameLst>
                                      </p:cBhvr>
                                      <p:tavLst>
                                        <p:tav tm="0">
                                          <p:val>
                                            <p:strVal val="0-#ppt_w/2"/>
                                          </p:val>
                                        </p:tav>
                                        <p:tav tm="100000">
                                          <p:val>
                                            <p:strVal val="#ppt_x"/>
                                          </p:val>
                                        </p:tav>
                                      </p:tavLst>
                                    </p:anim>
                                    <p:anim calcmode="lin" valueType="num">
                                      <p:cBhvr additive="base">
                                        <p:cTn id="28" dur="500" fill="hold"/>
                                        <p:tgtEl>
                                          <p:spTgt spid="35"/>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8" fill="hold" nodeType="clickEffect">
                                  <p:stCondLst>
                                    <p:cond delay="0"/>
                                  </p:stCondLst>
                                  <p:childTnLst>
                                    <p:set>
                                      <p:cBhvr>
                                        <p:cTn id="32" dur="1" fill="hold">
                                          <p:stCondLst>
                                            <p:cond delay="0"/>
                                          </p:stCondLst>
                                        </p:cTn>
                                        <p:tgtEl>
                                          <p:spTgt spid="26"/>
                                        </p:tgtEl>
                                        <p:attrNameLst>
                                          <p:attrName>style.visibility</p:attrName>
                                        </p:attrNameLst>
                                      </p:cBhvr>
                                      <p:to>
                                        <p:strVal val="visible"/>
                                      </p:to>
                                    </p:set>
                                    <p:anim calcmode="lin" valueType="num">
                                      <p:cBhvr additive="base">
                                        <p:cTn id="33" dur="500" fill="hold"/>
                                        <p:tgtEl>
                                          <p:spTgt spid="26"/>
                                        </p:tgtEl>
                                        <p:attrNameLst>
                                          <p:attrName>ppt_x</p:attrName>
                                        </p:attrNameLst>
                                      </p:cBhvr>
                                      <p:tavLst>
                                        <p:tav tm="0">
                                          <p:val>
                                            <p:strVal val="0-#ppt_w/2"/>
                                          </p:val>
                                        </p:tav>
                                        <p:tav tm="100000">
                                          <p:val>
                                            <p:strVal val="#ppt_x"/>
                                          </p:val>
                                        </p:tav>
                                      </p:tavLst>
                                    </p:anim>
                                    <p:anim calcmode="lin" valueType="num">
                                      <p:cBhvr additive="base">
                                        <p:cTn id="34" dur="500" fill="hold"/>
                                        <p:tgtEl>
                                          <p:spTgt spid="26"/>
                                        </p:tgtEl>
                                        <p:attrNameLst>
                                          <p:attrName>ppt_y</p:attrName>
                                        </p:attrNameLst>
                                      </p:cBhvr>
                                      <p:tavLst>
                                        <p:tav tm="0">
                                          <p:val>
                                            <p:strVal val="#ppt_y"/>
                                          </p:val>
                                        </p:tav>
                                        <p:tav tm="100000">
                                          <p:val>
                                            <p:strVal val="#ppt_y"/>
                                          </p:val>
                                        </p:tav>
                                      </p:tavLst>
                                    </p:anim>
                                  </p:childTnLst>
                                </p:cTn>
                              </p:par>
                              <p:par>
                                <p:cTn id="35" presetID="2" presetClass="entr" presetSubtype="8" fill="hold" nodeType="withEffect">
                                  <p:stCondLst>
                                    <p:cond delay="0"/>
                                  </p:stCondLst>
                                  <p:childTnLst>
                                    <p:set>
                                      <p:cBhvr>
                                        <p:cTn id="36" dur="1" fill="hold">
                                          <p:stCondLst>
                                            <p:cond delay="0"/>
                                          </p:stCondLst>
                                        </p:cTn>
                                        <p:tgtEl>
                                          <p:spTgt spid="30"/>
                                        </p:tgtEl>
                                        <p:attrNameLst>
                                          <p:attrName>style.visibility</p:attrName>
                                        </p:attrNameLst>
                                      </p:cBhvr>
                                      <p:to>
                                        <p:strVal val="visible"/>
                                      </p:to>
                                    </p:set>
                                    <p:anim calcmode="lin" valueType="num">
                                      <p:cBhvr additive="base">
                                        <p:cTn id="37" dur="500" fill="hold"/>
                                        <p:tgtEl>
                                          <p:spTgt spid="30"/>
                                        </p:tgtEl>
                                        <p:attrNameLst>
                                          <p:attrName>ppt_x</p:attrName>
                                        </p:attrNameLst>
                                      </p:cBhvr>
                                      <p:tavLst>
                                        <p:tav tm="0">
                                          <p:val>
                                            <p:strVal val="0-#ppt_w/2"/>
                                          </p:val>
                                        </p:tav>
                                        <p:tav tm="100000">
                                          <p:val>
                                            <p:strVal val="#ppt_x"/>
                                          </p:val>
                                        </p:tav>
                                      </p:tavLst>
                                    </p:anim>
                                    <p:anim calcmode="lin" valueType="num">
                                      <p:cBhvr additive="base">
                                        <p:cTn id="38" dur="500" fill="hold"/>
                                        <p:tgtEl>
                                          <p:spTgt spid="30"/>
                                        </p:tgtEl>
                                        <p:attrNameLst>
                                          <p:attrName>ppt_y</p:attrName>
                                        </p:attrNameLst>
                                      </p:cBhvr>
                                      <p:tavLst>
                                        <p:tav tm="0">
                                          <p:val>
                                            <p:strVal val="#ppt_y"/>
                                          </p:val>
                                        </p:tav>
                                        <p:tav tm="100000">
                                          <p:val>
                                            <p:strVal val="#ppt_y"/>
                                          </p:val>
                                        </p:tav>
                                      </p:tavLst>
                                    </p:anim>
                                  </p:childTnLst>
                                </p:cTn>
                              </p:par>
                              <p:par>
                                <p:cTn id="39" presetID="2" presetClass="entr" presetSubtype="8"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anim calcmode="lin" valueType="num">
                                      <p:cBhvr additive="base">
                                        <p:cTn id="41" dur="500" fill="hold"/>
                                        <p:tgtEl>
                                          <p:spTgt spid="20"/>
                                        </p:tgtEl>
                                        <p:attrNameLst>
                                          <p:attrName>ppt_x</p:attrName>
                                        </p:attrNameLst>
                                      </p:cBhvr>
                                      <p:tavLst>
                                        <p:tav tm="0">
                                          <p:val>
                                            <p:strVal val="0-#ppt_w/2"/>
                                          </p:val>
                                        </p:tav>
                                        <p:tav tm="100000">
                                          <p:val>
                                            <p:strVal val="#ppt_x"/>
                                          </p:val>
                                        </p:tav>
                                      </p:tavLst>
                                    </p:anim>
                                    <p:anim calcmode="lin" valueType="num">
                                      <p:cBhvr additive="base">
                                        <p:cTn id="42" dur="500" fill="hold"/>
                                        <p:tgtEl>
                                          <p:spTgt spid="20"/>
                                        </p:tgtEl>
                                        <p:attrNameLst>
                                          <p:attrName>ppt_y</p:attrName>
                                        </p:attrNameLst>
                                      </p:cBhvr>
                                      <p:tavLst>
                                        <p:tav tm="0">
                                          <p:val>
                                            <p:strVal val="#ppt_y"/>
                                          </p:val>
                                        </p:tav>
                                        <p:tav tm="100000">
                                          <p:val>
                                            <p:strVal val="#ppt_y"/>
                                          </p:val>
                                        </p:tav>
                                      </p:tavLst>
                                    </p:anim>
                                  </p:childTnLst>
                                </p:cTn>
                              </p:par>
                              <p:par>
                                <p:cTn id="43" presetID="2" presetClass="entr" presetSubtype="8"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anim calcmode="lin" valueType="num">
                                      <p:cBhvr additive="base">
                                        <p:cTn id="45" dur="500" fill="hold"/>
                                        <p:tgtEl>
                                          <p:spTgt spid="27"/>
                                        </p:tgtEl>
                                        <p:attrNameLst>
                                          <p:attrName>ppt_x</p:attrName>
                                        </p:attrNameLst>
                                      </p:cBhvr>
                                      <p:tavLst>
                                        <p:tav tm="0">
                                          <p:val>
                                            <p:strVal val="0-#ppt_w/2"/>
                                          </p:val>
                                        </p:tav>
                                        <p:tav tm="100000">
                                          <p:val>
                                            <p:strVal val="#ppt_x"/>
                                          </p:val>
                                        </p:tav>
                                      </p:tavLst>
                                    </p:anim>
                                    <p:anim calcmode="lin" valueType="num">
                                      <p:cBhvr additive="base">
                                        <p:cTn id="46" dur="500" fill="hold"/>
                                        <p:tgtEl>
                                          <p:spTgt spid="27"/>
                                        </p:tgtEl>
                                        <p:attrNameLst>
                                          <p:attrName>ppt_y</p:attrName>
                                        </p:attrNameLst>
                                      </p:cBhvr>
                                      <p:tavLst>
                                        <p:tav tm="0">
                                          <p:val>
                                            <p:strVal val="#ppt_y"/>
                                          </p:val>
                                        </p:tav>
                                        <p:tav tm="100000">
                                          <p:val>
                                            <p:strVal val="#ppt_y"/>
                                          </p:val>
                                        </p:tav>
                                      </p:tavLst>
                                    </p:anim>
                                  </p:childTnLst>
                                </p:cTn>
                              </p:par>
                              <p:par>
                                <p:cTn id="47" presetID="2" presetClass="entr" presetSubtype="8" fill="hold" grpId="0" nodeType="withEffect">
                                  <p:stCondLst>
                                    <p:cond delay="0"/>
                                  </p:stCondLst>
                                  <p:childTnLst>
                                    <p:set>
                                      <p:cBhvr>
                                        <p:cTn id="48" dur="1" fill="hold">
                                          <p:stCondLst>
                                            <p:cond delay="0"/>
                                          </p:stCondLst>
                                        </p:cTn>
                                        <p:tgtEl>
                                          <p:spTgt spid="42"/>
                                        </p:tgtEl>
                                        <p:attrNameLst>
                                          <p:attrName>style.visibility</p:attrName>
                                        </p:attrNameLst>
                                      </p:cBhvr>
                                      <p:to>
                                        <p:strVal val="visible"/>
                                      </p:to>
                                    </p:set>
                                    <p:anim calcmode="lin" valueType="num">
                                      <p:cBhvr additive="base">
                                        <p:cTn id="49" dur="500" fill="hold"/>
                                        <p:tgtEl>
                                          <p:spTgt spid="42"/>
                                        </p:tgtEl>
                                        <p:attrNameLst>
                                          <p:attrName>ppt_x</p:attrName>
                                        </p:attrNameLst>
                                      </p:cBhvr>
                                      <p:tavLst>
                                        <p:tav tm="0">
                                          <p:val>
                                            <p:strVal val="0-#ppt_w/2"/>
                                          </p:val>
                                        </p:tav>
                                        <p:tav tm="100000">
                                          <p:val>
                                            <p:strVal val="#ppt_x"/>
                                          </p:val>
                                        </p:tav>
                                      </p:tavLst>
                                    </p:anim>
                                    <p:anim calcmode="lin" valueType="num">
                                      <p:cBhvr additive="base">
                                        <p:cTn id="50" dur="500" fill="hold"/>
                                        <p:tgtEl>
                                          <p:spTgt spid="42"/>
                                        </p:tgtEl>
                                        <p:attrNameLst>
                                          <p:attrName>ppt_y</p:attrName>
                                        </p:attrNameLst>
                                      </p:cBhvr>
                                      <p:tavLst>
                                        <p:tav tm="0">
                                          <p:val>
                                            <p:strVal val="#ppt_y"/>
                                          </p:val>
                                        </p:tav>
                                        <p:tav tm="100000">
                                          <p:val>
                                            <p:strVal val="#ppt_y"/>
                                          </p:val>
                                        </p:tav>
                                      </p:tavLst>
                                    </p:anim>
                                  </p:childTnLst>
                                </p:cTn>
                              </p:par>
                              <p:par>
                                <p:cTn id="51" presetID="2" presetClass="entr" presetSubtype="8" fill="hold" grpId="0" nodeType="withEffect">
                                  <p:stCondLst>
                                    <p:cond delay="0"/>
                                  </p:stCondLst>
                                  <p:childTnLst>
                                    <p:set>
                                      <p:cBhvr>
                                        <p:cTn id="52" dur="1" fill="hold">
                                          <p:stCondLst>
                                            <p:cond delay="0"/>
                                          </p:stCondLst>
                                        </p:cTn>
                                        <p:tgtEl>
                                          <p:spTgt spid="37"/>
                                        </p:tgtEl>
                                        <p:attrNameLst>
                                          <p:attrName>style.visibility</p:attrName>
                                        </p:attrNameLst>
                                      </p:cBhvr>
                                      <p:to>
                                        <p:strVal val="visible"/>
                                      </p:to>
                                    </p:set>
                                    <p:anim calcmode="lin" valueType="num">
                                      <p:cBhvr additive="base">
                                        <p:cTn id="53" dur="500" fill="hold"/>
                                        <p:tgtEl>
                                          <p:spTgt spid="37"/>
                                        </p:tgtEl>
                                        <p:attrNameLst>
                                          <p:attrName>ppt_x</p:attrName>
                                        </p:attrNameLst>
                                      </p:cBhvr>
                                      <p:tavLst>
                                        <p:tav tm="0">
                                          <p:val>
                                            <p:strVal val="0-#ppt_w/2"/>
                                          </p:val>
                                        </p:tav>
                                        <p:tav tm="100000">
                                          <p:val>
                                            <p:strVal val="#ppt_x"/>
                                          </p:val>
                                        </p:tav>
                                      </p:tavLst>
                                    </p:anim>
                                    <p:anim calcmode="lin" valueType="num">
                                      <p:cBhvr additive="base">
                                        <p:cTn id="54"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8" fill="hold" nodeType="clickEffect">
                                  <p:stCondLst>
                                    <p:cond delay="0"/>
                                  </p:stCondLst>
                                  <p:childTnLst>
                                    <p:set>
                                      <p:cBhvr>
                                        <p:cTn id="58" dur="1" fill="hold">
                                          <p:stCondLst>
                                            <p:cond delay="0"/>
                                          </p:stCondLst>
                                        </p:cTn>
                                        <p:tgtEl>
                                          <p:spTgt spid="31"/>
                                        </p:tgtEl>
                                        <p:attrNameLst>
                                          <p:attrName>style.visibility</p:attrName>
                                        </p:attrNameLst>
                                      </p:cBhvr>
                                      <p:to>
                                        <p:strVal val="visible"/>
                                      </p:to>
                                    </p:set>
                                    <p:anim calcmode="lin" valueType="num">
                                      <p:cBhvr additive="base">
                                        <p:cTn id="59" dur="500" fill="hold"/>
                                        <p:tgtEl>
                                          <p:spTgt spid="31"/>
                                        </p:tgtEl>
                                        <p:attrNameLst>
                                          <p:attrName>ppt_x</p:attrName>
                                        </p:attrNameLst>
                                      </p:cBhvr>
                                      <p:tavLst>
                                        <p:tav tm="0">
                                          <p:val>
                                            <p:strVal val="0-#ppt_w/2"/>
                                          </p:val>
                                        </p:tav>
                                        <p:tav tm="100000">
                                          <p:val>
                                            <p:strVal val="#ppt_x"/>
                                          </p:val>
                                        </p:tav>
                                      </p:tavLst>
                                    </p:anim>
                                    <p:anim calcmode="lin" valueType="num">
                                      <p:cBhvr additive="base">
                                        <p:cTn id="60" dur="500" fill="hold"/>
                                        <p:tgtEl>
                                          <p:spTgt spid="31"/>
                                        </p:tgtEl>
                                        <p:attrNameLst>
                                          <p:attrName>ppt_y</p:attrName>
                                        </p:attrNameLst>
                                      </p:cBhvr>
                                      <p:tavLst>
                                        <p:tav tm="0">
                                          <p:val>
                                            <p:strVal val="#ppt_y"/>
                                          </p:val>
                                        </p:tav>
                                        <p:tav tm="100000">
                                          <p:val>
                                            <p:strVal val="#ppt_y"/>
                                          </p:val>
                                        </p:tav>
                                      </p:tavLst>
                                    </p:anim>
                                  </p:childTnLst>
                                </p:cTn>
                              </p:par>
                              <p:par>
                                <p:cTn id="61" presetID="2" presetClass="entr" presetSubtype="8" fill="hold" nodeType="withEffect">
                                  <p:stCondLst>
                                    <p:cond delay="0"/>
                                  </p:stCondLst>
                                  <p:childTnLst>
                                    <p:set>
                                      <p:cBhvr>
                                        <p:cTn id="62" dur="1" fill="hold">
                                          <p:stCondLst>
                                            <p:cond delay="0"/>
                                          </p:stCondLst>
                                        </p:cTn>
                                        <p:tgtEl>
                                          <p:spTgt spid="24"/>
                                        </p:tgtEl>
                                        <p:attrNameLst>
                                          <p:attrName>style.visibility</p:attrName>
                                        </p:attrNameLst>
                                      </p:cBhvr>
                                      <p:to>
                                        <p:strVal val="visible"/>
                                      </p:to>
                                    </p:set>
                                    <p:anim calcmode="lin" valueType="num">
                                      <p:cBhvr additive="base">
                                        <p:cTn id="63" dur="500" fill="hold"/>
                                        <p:tgtEl>
                                          <p:spTgt spid="24"/>
                                        </p:tgtEl>
                                        <p:attrNameLst>
                                          <p:attrName>ppt_x</p:attrName>
                                        </p:attrNameLst>
                                      </p:cBhvr>
                                      <p:tavLst>
                                        <p:tav tm="0">
                                          <p:val>
                                            <p:strVal val="0-#ppt_w/2"/>
                                          </p:val>
                                        </p:tav>
                                        <p:tav tm="100000">
                                          <p:val>
                                            <p:strVal val="#ppt_x"/>
                                          </p:val>
                                        </p:tav>
                                      </p:tavLst>
                                    </p:anim>
                                    <p:anim calcmode="lin" valueType="num">
                                      <p:cBhvr additive="base">
                                        <p:cTn id="64" dur="500" fill="hold"/>
                                        <p:tgtEl>
                                          <p:spTgt spid="24"/>
                                        </p:tgtEl>
                                        <p:attrNameLst>
                                          <p:attrName>ppt_y</p:attrName>
                                        </p:attrNameLst>
                                      </p:cBhvr>
                                      <p:tavLst>
                                        <p:tav tm="0">
                                          <p:val>
                                            <p:strVal val="#ppt_y"/>
                                          </p:val>
                                        </p:tav>
                                        <p:tav tm="100000">
                                          <p:val>
                                            <p:strVal val="#ppt_y"/>
                                          </p:val>
                                        </p:tav>
                                      </p:tavLst>
                                    </p:anim>
                                  </p:childTnLst>
                                </p:cTn>
                              </p:par>
                              <p:par>
                                <p:cTn id="65" presetID="2" presetClass="entr" presetSubtype="8" fill="hold" nodeType="withEffect">
                                  <p:stCondLst>
                                    <p:cond delay="0"/>
                                  </p:stCondLst>
                                  <p:childTnLst>
                                    <p:set>
                                      <p:cBhvr>
                                        <p:cTn id="66" dur="1" fill="hold">
                                          <p:stCondLst>
                                            <p:cond delay="0"/>
                                          </p:stCondLst>
                                        </p:cTn>
                                        <p:tgtEl>
                                          <p:spTgt spid="19"/>
                                        </p:tgtEl>
                                        <p:attrNameLst>
                                          <p:attrName>style.visibility</p:attrName>
                                        </p:attrNameLst>
                                      </p:cBhvr>
                                      <p:to>
                                        <p:strVal val="visible"/>
                                      </p:to>
                                    </p:set>
                                    <p:anim calcmode="lin" valueType="num">
                                      <p:cBhvr additive="base">
                                        <p:cTn id="67" dur="500" fill="hold"/>
                                        <p:tgtEl>
                                          <p:spTgt spid="19"/>
                                        </p:tgtEl>
                                        <p:attrNameLst>
                                          <p:attrName>ppt_x</p:attrName>
                                        </p:attrNameLst>
                                      </p:cBhvr>
                                      <p:tavLst>
                                        <p:tav tm="0">
                                          <p:val>
                                            <p:strVal val="0-#ppt_w/2"/>
                                          </p:val>
                                        </p:tav>
                                        <p:tav tm="100000">
                                          <p:val>
                                            <p:strVal val="#ppt_x"/>
                                          </p:val>
                                        </p:tav>
                                      </p:tavLst>
                                    </p:anim>
                                    <p:anim calcmode="lin" valueType="num">
                                      <p:cBhvr additive="base">
                                        <p:cTn id="68" dur="500" fill="hold"/>
                                        <p:tgtEl>
                                          <p:spTgt spid="19"/>
                                        </p:tgtEl>
                                        <p:attrNameLst>
                                          <p:attrName>ppt_y</p:attrName>
                                        </p:attrNameLst>
                                      </p:cBhvr>
                                      <p:tavLst>
                                        <p:tav tm="0">
                                          <p:val>
                                            <p:strVal val="#ppt_y"/>
                                          </p:val>
                                        </p:tav>
                                        <p:tav tm="100000">
                                          <p:val>
                                            <p:strVal val="#ppt_y"/>
                                          </p:val>
                                        </p:tav>
                                      </p:tavLst>
                                    </p:anim>
                                  </p:childTnLst>
                                </p:cTn>
                              </p:par>
                              <p:par>
                                <p:cTn id="69" presetID="2" presetClass="entr" presetSubtype="8"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 calcmode="lin" valueType="num">
                                      <p:cBhvr additive="base">
                                        <p:cTn id="71" dur="500" fill="hold"/>
                                        <p:tgtEl>
                                          <p:spTgt spid="18"/>
                                        </p:tgtEl>
                                        <p:attrNameLst>
                                          <p:attrName>ppt_x</p:attrName>
                                        </p:attrNameLst>
                                      </p:cBhvr>
                                      <p:tavLst>
                                        <p:tav tm="0">
                                          <p:val>
                                            <p:strVal val="0-#ppt_w/2"/>
                                          </p:val>
                                        </p:tav>
                                        <p:tav tm="100000">
                                          <p:val>
                                            <p:strVal val="#ppt_x"/>
                                          </p:val>
                                        </p:tav>
                                      </p:tavLst>
                                    </p:anim>
                                    <p:anim calcmode="lin" valueType="num">
                                      <p:cBhvr additive="base">
                                        <p:cTn id="72" dur="500" fill="hold"/>
                                        <p:tgtEl>
                                          <p:spTgt spid="18"/>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 calcmode="lin" valueType="num">
                                      <p:cBhvr additive="base">
                                        <p:cTn id="75" dur="500" fill="hold"/>
                                        <p:tgtEl>
                                          <p:spTgt spid="43"/>
                                        </p:tgtEl>
                                        <p:attrNameLst>
                                          <p:attrName>ppt_x</p:attrName>
                                        </p:attrNameLst>
                                      </p:cBhvr>
                                      <p:tavLst>
                                        <p:tav tm="0">
                                          <p:val>
                                            <p:strVal val="0-#ppt_w/2"/>
                                          </p:val>
                                        </p:tav>
                                        <p:tav tm="100000">
                                          <p:val>
                                            <p:strVal val="#ppt_x"/>
                                          </p:val>
                                        </p:tav>
                                      </p:tavLst>
                                    </p:anim>
                                    <p:anim calcmode="lin" valueType="num">
                                      <p:cBhvr additive="base">
                                        <p:cTn id="76" dur="500" fill="hold"/>
                                        <p:tgtEl>
                                          <p:spTgt spid="43"/>
                                        </p:tgtEl>
                                        <p:attrNameLst>
                                          <p:attrName>ppt_y</p:attrName>
                                        </p:attrNameLst>
                                      </p:cBhvr>
                                      <p:tavLst>
                                        <p:tav tm="0">
                                          <p:val>
                                            <p:strVal val="#ppt_y"/>
                                          </p:val>
                                        </p:tav>
                                        <p:tav tm="100000">
                                          <p:val>
                                            <p:strVal val="#ppt_y"/>
                                          </p:val>
                                        </p:tav>
                                      </p:tavLst>
                                    </p:anim>
                                  </p:childTnLst>
                                </p:cTn>
                              </p:par>
                              <p:par>
                                <p:cTn id="77" presetID="2" presetClass="entr" presetSubtype="8"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 calcmode="lin" valueType="num">
                                      <p:cBhvr additive="base">
                                        <p:cTn id="79" dur="500" fill="hold"/>
                                        <p:tgtEl>
                                          <p:spTgt spid="38"/>
                                        </p:tgtEl>
                                        <p:attrNameLst>
                                          <p:attrName>ppt_x</p:attrName>
                                        </p:attrNameLst>
                                      </p:cBhvr>
                                      <p:tavLst>
                                        <p:tav tm="0">
                                          <p:val>
                                            <p:strVal val="0-#ppt_w/2"/>
                                          </p:val>
                                        </p:tav>
                                        <p:tav tm="100000">
                                          <p:val>
                                            <p:strVal val="#ppt_x"/>
                                          </p:val>
                                        </p:tav>
                                      </p:tavLst>
                                    </p:anim>
                                    <p:anim calcmode="lin" valueType="num">
                                      <p:cBhvr additive="base">
                                        <p:cTn id="80" dur="500" fill="hold"/>
                                        <p:tgtEl>
                                          <p:spTgt spid="38"/>
                                        </p:tgtEl>
                                        <p:attrNameLst>
                                          <p:attrName>ppt_y</p:attrName>
                                        </p:attrNameLst>
                                      </p:cBhvr>
                                      <p:tavLst>
                                        <p:tav tm="0">
                                          <p:val>
                                            <p:strVal val="#ppt_y"/>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2" presetClass="entr" presetSubtype="8" fill="hold" grpId="0" nodeType="clickEffect">
                                  <p:stCondLst>
                                    <p:cond delay="0"/>
                                  </p:stCondLst>
                                  <p:childTnLst>
                                    <p:set>
                                      <p:cBhvr>
                                        <p:cTn id="84" dur="1" fill="hold">
                                          <p:stCondLst>
                                            <p:cond delay="0"/>
                                          </p:stCondLst>
                                        </p:cTn>
                                        <p:tgtEl>
                                          <p:spTgt spid="39"/>
                                        </p:tgtEl>
                                        <p:attrNameLst>
                                          <p:attrName>style.visibility</p:attrName>
                                        </p:attrNameLst>
                                      </p:cBhvr>
                                      <p:to>
                                        <p:strVal val="visible"/>
                                      </p:to>
                                    </p:set>
                                    <p:anim calcmode="lin" valueType="num">
                                      <p:cBhvr additive="base">
                                        <p:cTn id="85" dur="500" fill="hold"/>
                                        <p:tgtEl>
                                          <p:spTgt spid="39"/>
                                        </p:tgtEl>
                                        <p:attrNameLst>
                                          <p:attrName>ppt_x</p:attrName>
                                        </p:attrNameLst>
                                      </p:cBhvr>
                                      <p:tavLst>
                                        <p:tav tm="0">
                                          <p:val>
                                            <p:strVal val="0-#ppt_w/2"/>
                                          </p:val>
                                        </p:tav>
                                        <p:tav tm="100000">
                                          <p:val>
                                            <p:strVal val="#ppt_x"/>
                                          </p:val>
                                        </p:tav>
                                      </p:tavLst>
                                    </p:anim>
                                    <p:anim calcmode="lin" valueType="num">
                                      <p:cBhvr additive="base">
                                        <p:cTn id="86" dur="500" fill="hold"/>
                                        <p:tgtEl>
                                          <p:spTgt spid="39"/>
                                        </p:tgtEl>
                                        <p:attrNameLst>
                                          <p:attrName>ppt_y</p:attrName>
                                        </p:attrNameLst>
                                      </p:cBhvr>
                                      <p:tavLst>
                                        <p:tav tm="0">
                                          <p:val>
                                            <p:strVal val="#ppt_y"/>
                                          </p:val>
                                        </p:tav>
                                        <p:tav tm="100000">
                                          <p:val>
                                            <p:strVal val="#ppt_y"/>
                                          </p:val>
                                        </p:tav>
                                      </p:tavLst>
                                    </p:anim>
                                  </p:childTnLst>
                                </p:cTn>
                              </p:par>
                              <p:par>
                                <p:cTn id="87" presetID="2" presetClass="entr" presetSubtype="8" fill="hold" grpId="0" nodeType="withEffect">
                                  <p:stCondLst>
                                    <p:cond delay="0"/>
                                  </p:stCondLst>
                                  <p:childTnLst>
                                    <p:set>
                                      <p:cBhvr>
                                        <p:cTn id="88" dur="1" fill="hold">
                                          <p:stCondLst>
                                            <p:cond delay="0"/>
                                          </p:stCondLst>
                                        </p:cTn>
                                        <p:tgtEl>
                                          <p:spTgt spid="44"/>
                                        </p:tgtEl>
                                        <p:attrNameLst>
                                          <p:attrName>style.visibility</p:attrName>
                                        </p:attrNameLst>
                                      </p:cBhvr>
                                      <p:to>
                                        <p:strVal val="visible"/>
                                      </p:to>
                                    </p:set>
                                    <p:anim calcmode="lin" valueType="num">
                                      <p:cBhvr additive="base">
                                        <p:cTn id="89" dur="500" fill="hold"/>
                                        <p:tgtEl>
                                          <p:spTgt spid="44"/>
                                        </p:tgtEl>
                                        <p:attrNameLst>
                                          <p:attrName>ppt_x</p:attrName>
                                        </p:attrNameLst>
                                      </p:cBhvr>
                                      <p:tavLst>
                                        <p:tav tm="0">
                                          <p:val>
                                            <p:strVal val="0-#ppt_w/2"/>
                                          </p:val>
                                        </p:tav>
                                        <p:tav tm="100000">
                                          <p:val>
                                            <p:strVal val="#ppt_x"/>
                                          </p:val>
                                        </p:tav>
                                      </p:tavLst>
                                    </p:anim>
                                    <p:anim calcmode="lin" valueType="num">
                                      <p:cBhvr additive="base">
                                        <p:cTn id="90" dur="500" fill="hold"/>
                                        <p:tgtEl>
                                          <p:spTgt spid="44"/>
                                        </p:tgtEl>
                                        <p:attrNameLst>
                                          <p:attrName>ppt_y</p:attrName>
                                        </p:attrNameLst>
                                      </p:cBhvr>
                                      <p:tavLst>
                                        <p:tav tm="0">
                                          <p:val>
                                            <p:strVal val="#ppt_y"/>
                                          </p:val>
                                        </p:tav>
                                        <p:tav tm="100000">
                                          <p:val>
                                            <p:strVal val="#ppt_y"/>
                                          </p:val>
                                        </p:tav>
                                      </p:tavLst>
                                    </p:anim>
                                  </p:childTnLst>
                                </p:cTn>
                              </p:par>
                              <p:par>
                                <p:cTn id="91" presetID="2" presetClass="entr" presetSubtype="8" fill="hold" nodeType="withEffect">
                                  <p:stCondLst>
                                    <p:cond delay="0"/>
                                  </p:stCondLst>
                                  <p:childTnLst>
                                    <p:set>
                                      <p:cBhvr>
                                        <p:cTn id="92" dur="1" fill="hold">
                                          <p:stCondLst>
                                            <p:cond delay="0"/>
                                          </p:stCondLst>
                                        </p:cTn>
                                        <p:tgtEl>
                                          <p:spTgt spid="17"/>
                                        </p:tgtEl>
                                        <p:attrNameLst>
                                          <p:attrName>style.visibility</p:attrName>
                                        </p:attrNameLst>
                                      </p:cBhvr>
                                      <p:to>
                                        <p:strVal val="visible"/>
                                      </p:to>
                                    </p:set>
                                    <p:anim calcmode="lin" valueType="num">
                                      <p:cBhvr additive="base">
                                        <p:cTn id="93" dur="500" fill="hold"/>
                                        <p:tgtEl>
                                          <p:spTgt spid="17"/>
                                        </p:tgtEl>
                                        <p:attrNameLst>
                                          <p:attrName>ppt_x</p:attrName>
                                        </p:attrNameLst>
                                      </p:cBhvr>
                                      <p:tavLst>
                                        <p:tav tm="0">
                                          <p:val>
                                            <p:strVal val="0-#ppt_w/2"/>
                                          </p:val>
                                        </p:tav>
                                        <p:tav tm="100000">
                                          <p:val>
                                            <p:strVal val="#ppt_x"/>
                                          </p:val>
                                        </p:tav>
                                      </p:tavLst>
                                    </p:anim>
                                    <p:anim calcmode="lin" valueType="num">
                                      <p:cBhvr additive="base">
                                        <p:cTn id="94" dur="500" fill="hold"/>
                                        <p:tgtEl>
                                          <p:spTgt spid="17"/>
                                        </p:tgtEl>
                                        <p:attrNameLst>
                                          <p:attrName>ppt_y</p:attrName>
                                        </p:attrNameLst>
                                      </p:cBhvr>
                                      <p:tavLst>
                                        <p:tav tm="0">
                                          <p:val>
                                            <p:strVal val="#ppt_y"/>
                                          </p:val>
                                        </p:tav>
                                        <p:tav tm="100000">
                                          <p:val>
                                            <p:strVal val="#ppt_y"/>
                                          </p:val>
                                        </p:tav>
                                      </p:tavLst>
                                    </p:anim>
                                  </p:childTnLst>
                                </p:cTn>
                              </p:par>
                              <p:par>
                                <p:cTn id="95" presetID="2" presetClass="entr" presetSubtype="8" fill="hold" nodeType="withEffect">
                                  <p:stCondLst>
                                    <p:cond delay="0"/>
                                  </p:stCondLst>
                                  <p:childTnLst>
                                    <p:set>
                                      <p:cBhvr>
                                        <p:cTn id="96" dur="1" fill="hold">
                                          <p:stCondLst>
                                            <p:cond delay="0"/>
                                          </p:stCondLst>
                                        </p:cTn>
                                        <p:tgtEl>
                                          <p:spTgt spid="16"/>
                                        </p:tgtEl>
                                        <p:attrNameLst>
                                          <p:attrName>style.visibility</p:attrName>
                                        </p:attrNameLst>
                                      </p:cBhvr>
                                      <p:to>
                                        <p:strVal val="visible"/>
                                      </p:to>
                                    </p:set>
                                    <p:anim calcmode="lin" valueType="num">
                                      <p:cBhvr additive="base">
                                        <p:cTn id="97" dur="500" fill="hold"/>
                                        <p:tgtEl>
                                          <p:spTgt spid="16"/>
                                        </p:tgtEl>
                                        <p:attrNameLst>
                                          <p:attrName>ppt_x</p:attrName>
                                        </p:attrNameLst>
                                      </p:cBhvr>
                                      <p:tavLst>
                                        <p:tav tm="0">
                                          <p:val>
                                            <p:strVal val="0-#ppt_w/2"/>
                                          </p:val>
                                        </p:tav>
                                        <p:tav tm="100000">
                                          <p:val>
                                            <p:strVal val="#ppt_x"/>
                                          </p:val>
                                        </p:tav>
                                      </p:tavLst>
                                    </p:anim>
                                    <p:anim calcmode="lin" valueType="num">
                                      <p:cBhvr additive="base">
                                        <p:cTn id="98" dur="500" fill="hold"/>
                                        <p:tgtEl>
                                          <p:spTgt spid="16"/>
                                        </p:tgtEl>
                                        <p:attrNameLst>
                                          <p:attrName>ppt_y</p:attrName>
                                        </p:attrNameLst>
                                      </p:cBhvr>
                                      <p:tavLst>
                                        <p:tav tm="0">
                                          <p:val>
                                            <p:strVal val="#ppt_y"/>
                                          </p:val>
                                        </p:tav>
                                        <p:tav tm="100000">
                                          <p:val>
                                            <p:strVal val="#ppt_y"/>
                                          </p:val>
                                        </p:tav>
                                      </p:tavLst>
                                    </p:anim>
                                  </p:childTnLst>
                                </p:cTn>
                              </p:par>
                              <p:par>
                                <p:cTn id="99" presetID="2" presetClass="entr" presetSubtype="8" fill="hold" nodeType="withEffect">
                                  <p:stCondLst>
                                    <p:cond delay="0"/>
                                  </p:stCondLst>
                                  <p:childTnLst>
                                    <p:set>
                                      <p:cBhvr>
                                        <p:cTn id="100" dur="1" fill="hold">
                                          <p:stCondLst>
                                            <p:cond delay="0"/>
                                          </p:stCondLst>
                                        </p:cTn>
                                        <p:tgtEl>
                                          <p:spTgt spid="32"/>
                                        </p:tgtEl>
                                        <p:attrNameLst>
                                          <p:attrName>style.visibility</p:attrName>
                                        </p:attrNameLst>
                                      </p:cBhvr>
                                      <p:to>
                                        <p:strVal val="visible"/>
                                      </p:to>
                                    </p:set>
                                    <p:anim calcmode="lin" valueType="num">
                                      <p:cBhvr additive="base">
                                        <p:cTn id="101" dur="500" fill="hold"/>
                                        <p:tgtEl>
                                          <p:spTgt spid="32"/>
                                        </p:tgtEl>
                                        <p:attrNameLst>
                                          <p:attrName>ppt_x</p:attrName>
                                        </p:attrNameLst>
                                      </p:cBhvr>
                                      <p:tavLst>
                                        <p:tav tm="0">
                                          <p:val>
                                            <p:strVal val="0-#ppt_w/2"/>
                                          </p:val>
                                        </p:tav>
                                        <p:tav tm="100000">
                                          <p:val>
                                            <p:strVal val="#ppt_x"/>
                                          </p:val>
                                        </p:tav>
                                      </p:tavLst>
                                    </p:anim>
                                    <p:anim calcmode="lin" valueType="num">
                                      <p:cBhvr additive="base">
                                        <p:cTn id="102" dur="500" fill="hold"/>
                                        <p:tgtEl>
                                          <p:spTgt spid="32"/>
                                        </p:tgtEl>
                                        <p:attrNameLst>
                                          <p:attrName>ppt_y</p:attrName>
                                        </p:attrNameLst>
                                      </p:cBhvr>
                                      <p:tavLst>
                                        <p:tav tm="0">
                                          <p:val>
                                            <p:strVal val="#ppt_y"/>
                                          </p:val>
                                        </p:tav>
                                        <p:tav tm="100000">
                                          <p:val>
                                            <p:strVal val="#ppt_y"/>
                                          </p:val>
                                        </p:tav>
                                      </p:tavLst>
                                    </p:anim>
                                  </p:childTnLst>
                                </p:cTn>
                              </p:par>
                              <p:par>
                                <p:cTn id="103" presetID="2" presetClass="entr" presetSubtype="8"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 calcmode="lin" valueType="num">
                                      <p:cBhvr additive="base">
                                        <p:cTn id="105" dur="500" fill="hold"/>
                                        <p:tgtEl>
                                          <p:spTgt spid="25"/>
                                        </p:tgtEl>
                                        <p:attrNameLst>
                                          <p:attrName>ppt_x</p:attrName>
                                        </p:attrNameLst>
                                      </p:cBhvr>
                                      <p:tavLst>
                                        <p:tav tm="0">
                                          <p:val>
                                            <p:strVal val="0-#ppt_w/2"/>
                                          </p:val>
                                        </p:tav>
                                        <p:tav tm="100000">
                                          <p:val>
                                            <p:strVal val="#ppt_x"/>
                                          </p:val>
                                        </p:tav>
                                      </p:tavLst>
                                    </p:anim>
                                    <p:anim calcmode="lin" valueType="num">
                                      <p:cBhvr additive="base">
                                        <p:cTn id="106" dur="5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16" presetClass="entr" presetSubtype="21" fill="hold" grpId="0" nodeType="clickEffect">
                                  <p:stCondLst>
                                    <p:cond delay="0"/>
                                  </p:stCondLst>
                                  <p:childTnLst>
                                    <p:set>
                                      <p:cBhvr>
                                        <p:cTn id="110" dur="1" fill="hold">
                                          <p:stCondLst>
                                            <p:cond delay="0"/>
                                          </p:stCondLst>
                                        </p:cTn>
                                        <p:tgtEl>
                                          <p:spTgt spid="41"/>
                                        </p:tgtEl>
                                        <p:attrNameLst>
                                          <p:attrName>style.visibility</p:attrName>
                                        </p:attrNameLst>
                                      </p:cBhvr>
                                      <p:to>
                                        <p:strVal val="visible"/>
                                      </p:to>
                                    </p:set>
                                    <p:animEffect transition="in" filter="barn(inVertical)">
                                      <p:cBhvr>
                                        <p:cTn id="111" dur="500"/>
                                        <p:tgtEl>
                                          <p:spTgt spid="41"/>
                                        </p:tgtEl>
                                      </p:cBhvr>
                                    </p:animEffect>
                                  </p:childTnLst>
                                </p:cTn>
                              </p:par>
                              <p:par>
                                <p:cTn id="112" presetID="16" presetClass="entr" presetSubtype="21" fill="hold" nodeType="withEffect">
                                  <p:stCondLst>
                                    <p:cond delay="0"/>
                                  </p:stCondLst>
                                  <p:childTnLst>
                                    <p:set>
                                      <p:cBhvr>
                                        <p:cTn id="113" dur="1" fill="hold">
                                          <p:stCondLst>
                                            <p:cond delay="0"/>
                                          </p:stCondLst>
                                        </p:cTn>
                                        <p:tgtEl>
                                          <p:spTgt spid="14"/>
                                        </p:tgtEl>
                                        <p:attrNameLst>
                                          <p:attrName>style.visibility</p:attrName>
                                        </p:attrNameLst>
                                      </p:cBhvr>
                                      <p:to>
                                        <p:strVal val="visible"/>
                                      </p:to>
                                    </p:set>
                                    <p:animEffect transition="in" filter="barn(inVertical)">
                                      <p:cBhvr>
                                        <p:cTn id="114" dur="500"/>
                                        <p:tgtEl>
                                          <p:spTgt spid="14"/>
                                        </p:tgtEl>
                                      </p:cBhvr>
                                    </p:animEffect>
                                  </p:childTnLst>
                                </p:cTn>
                              </p:par>
                              <p:par>
                                <p:cTn id="115" presetID="16" presetClass="entr" presetSubtype="21" fill="hold" nodeType="withEffect">
                                  <p:stCondLst>
                                    <p:cond delay="0"/>
                                  </p:stCondLst>
                                  <p:childTnLst>
                                    <p:set>
                                      <p:cBhvr>
                                        <p:cTn id="116" dur="1" fill="hold">
                                          <p:stCondLst>
                                            <p:cond delay="0"/>
                                          </p:stCondLst>
                                        </p:cTn>
                                        <p:tgtEl>
                                          <p:spTgt spid="23"/>
                                        </p:tgtEl>
                                        <p:attrNameLst>
                                          <p:attrName>style.visibility</p:attrName>
                                        </p:attrNameLst>
                                      </p:cBhvr>
                                      <p:to>
                                        <p:strVal val="visible"/>
                                      </p:to>
                                    </p:set>
                                    <p:animEffect transition="in" filter="barn(inVertical)">
                                      <p:cBhvr>
                                        <p:cTn id="117" dur="500"/>
                                        <p:tgtEl>
                                          <p:spTgt spid="23"/>
                                        </p:tgtEl>
                                      </p:cBhvr>
                                    </p:animEffect>
                                  </p:childTnLst>
                                </p:cTn>
                              </p:par>
                              <p:par>
                                <p:cTn id="118" presetID="16" presetClass="entr" presetSubtype="21"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barn(inVertical)">
                                      <p:cBhvr>
                                        <p:cTn id="120" dur="500"/>
                                        <p:tgtEl>
                                          <p:spTgt spid="36"/>
                                        </p:tgtEl>
                                      </p:cBhvr>
                                    </p:animEffect>
                                  </p:childTnLst>
                                </p:cTn>
                              </p:par>
                              <p:par>
                                <p:cTn id="121" presetID="16" presetClass="entr" presetSubtype="21" fill="hold" nodeType="withEffect">
                                  <p:stCondLst>
                                    <p:cond delay="0"/>
                                  </p:stCondLst>
                                  <p:childTnLst>
                                    <p:set>
                                      <p:cBhvr>
                                        <p:cTn id="122" dur="1" fill="hold">
                                          <p:stCondLst>
                                            <p:cond delay="0"/>
                                          </p:stCondLst>
                                        </p:cTn>
                                        <p:tgtEl>
                                          <p:spTgt spid="15"/>
                                        </p:tgtEl>
                                        <p:attrNameLst>
                                          <p:attrName>style.visibility</p:attrName>
                                        </p:attrNameLst>
                                      </p:cBhvr>
                                      <p:to>
                                        <p:strVal val="visible"/>
                                      </p:to>
                                    </p:set>
                                    <p:animEffect transition="in" filter="barn(inVertical)">
                                      <p:cBhvr>
                                        <p:cTn id="123" dur="500"/>
                                        <p:tgtEl>
                                          <p:spTgt spid="15"/>
                                        </p:tgtEl>
                                      </p:cBhvr>
                                    </p:animEffect>
                                  </p:childTnLst>
                                </p:cTn>
                              </p:par>
                            </p:childTnLst>
                          </p:cTn>
                        </p:par>
                      </p:childTnLst>
                    </p:cTn>
                  </p:par>
                  <p:par>
                    <p:cTn id="124" fill="hold">
                      <p:stCondLst>
                        <p:cond delay="indefinite"/>
                      </p:stCondLst>
                      <p:childTnLst>
                        <p:par>
                          <p:cTn id="125" fill="hold">
                            <p:stCondLst>
                              <p:cond delay="0"/>
                            </p:stCondLst>
                            <p:childTnLst>
                              <p:par>
                                <p:cTn id="126" presetID="22" presetClass="entr" presetSubtype="4" fill="hold" nodeType="clickEffect">
                                  <p:stCondLst>
                                    <p:cond delay="0"/>
                                  </p:stCondLst>
                                  <p:childTnLst>
                                    <p:set>
                                      <p:cBhvr>
                                        <p:cTn id="127" dur="1" fill="hold">
                                          <p:stCondLst>
                                            <p:cond delay="0"/>
                                          </p:stCondLst>
                                        </p:cTn>
                                        <p:tgtEl>
                                          <p:spTgt spid="48"/>
                                        </p:tgtEl>
                                        <p:attrNameLst>
                                          <p:attrName>style.visibility</p:attrName>
                                        </p:attrNameLst>
                                      </p:cBhvr>
                                      <p:to>
                                        <p:strVal val="visible"/>
                                      </p:to>
                                    </p:set>
                                    <p:animEffect transition="in" filter="wipe(down)">
                                      <p:cBhvr>
                                        <p:cTn id="128" dur="500"/>
                                        <p:tgtEl>
                                          <p:spTgt spid="48"/>
                                        </p:tgtEl>
                                      </p:cBhvr>
                                    </p:animEffect>
                                  </p:childTnLst>
                                </p:cTn>
                              </p:par>
                              <p:par>
                                <p:cTn id="129" presetID="22" presetClass="entr" presetSubtype="4" fill="hold" nodeType="withEffect">
                                  <p:stCondLst>
                                    <p:cond delay="0"/>
                                  </p:stCondLst>
                                  <p:childTnLst>
                                    <p:set>
                                      <p:cBhvr>
                                        <p:cTn id="130" dur="1" fill="hold">
                                          <p:stCondLst>
                                            <p:cond delay="0"/>
                                          </p:stCondLst>
                                        </p:cTn>
                                        <p:tgtEl>
                                          <p:spTgt spid="6"/>
                                        </p:tgtEl>
                                        <p:attrNameLst>
                                          <p:attrName>style.visibility</p:attrName>
                                        </p:attrNameLst>
                                      </p:cBhvr>
                                      <p:to>
                                        <p:strVal val="visible"/>
                                      </p:to>
                                    </p:set>
                                    <p:animEffect transition="in" filter="wipe(down)">
                                      <p:cBhvr>
                                        <p:cTn id="131" dur="500"/>
                                        <p:tgtEl>
                                          <p:spTgt spid="6"/>
                                        </p:tgtEl>
                                      </p:cBhvr>
                                    </p:animEffect>
                                  </p:childTnLst>
                                </p:cTn>
                              </p:par>
                              <p:par>
                                <p:cTn id="132" presetID="22" presetClass="entr" presetSubtype="4" fill="hold" nodeType="withEffect">
                                  <p:stCondLst>
                                    <p:cond delay="0"/>
                                  </p:stCondLst>
                                  <p:childTnLst>
                                    <p:set>
                                      <p:cBhvr>
                                        <p:cTn id="133" dur="1" fill="hold">
                                          <p:stCondLst>
                                            <p:cond delay="0"/>
                                          </p:stCondLst>
                                        </p:cTn>
                                        <p:tgtEl>
                                          <p:spTgt spid="7"/>
                                        </p:tgtEl>
                                        <p:attrNameLst>
                                          <p:attrName>style.visibility</p:attrName>
                                        </p:attrNameLst>
                                      </p:cBhvr>
                                      <p:to>
                                        <p:strVal val="visible"/>
                                      </p:to>
                                    </p:set>
                                    <p:animEffect transition="in" filter="wipe(down)">
                                      <p:cBhvr>
                                        <p:cTn id="134" dur="500"/>
                                        <p:tgtEl>
                                          <p:spTgt spid="7"/>
                                        </p:tgtEl>
                                      </p:cBhvr>
                                    </p:animEffect>
                                  </p:childTnLst>
                                </p:cTn>
                              </p:par>
                              <p:par>
                                <p:cTn id="135" presetID="22" presetClass="entr" presetSubtype="4" fill="hold" nodeType="with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down)">
                                      <p:cBhvr>
                                        <p:cTn id="137"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P spid="38" grpId="0"/>
      <p:bldP spid="39" grpId="0"/>
      <p:bldP spid="40" grpId="0"/>
      <p:bldP spid="41" grpId="0"/>
      <p:bldP spid="42" grpId="0"/>
      <p:bldP spid="43" grpId="0"/>
      <p:bldP spid="4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l="-13281" r="-13281"/>
              </a:stretch>
            </a:blipFill>
          </p:spPr>
        </p:sp>
      </p:grpSp>
      <p:sp>
        <p:nvSpPr>
          <p:cNvPr id="38" name="Freeform 3"/>
          <p:cNvSpPr/>
          <p:nvPr/>
        </p:nvSpPr>
        <p:spPr>
          <a:xfrm>
            <a:off x="16673738" y="811134"/>
            <a:ext cx="585562" cy="482914"/>
          </a:xfrm>
          <a:custGeom>
            <a:avLst/>
            <a:gdLst/>
            <a:ahLst/>
            <a:cxnLst/>
            <a:rect l="l" t="t" r="r" b="b"/>
            <a:pathLst>
              <a:path w="585562" h="482914">
                <a:moveTo>
                  <a:pt x="0" y="0"/>
                </a:moveTo>
                <a:lnTo>
                  <a:pt x="585562" y="0"/>
                </a:lnTo>
                <a:lnTo>
                  <a:pt x="585562" y="482913"/>
                </a:lnTo>
                <a:lnTo>
                  <a:pt x="0" y="482913"/>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39" name="Group 4"/>
          <p:cNvGrpSpPr/>
          <p:nvPr/>
        </p:nvGrpSpPr>
        <p:grpSpPr>
          <a:xfrm>
            <a:off x="152401" y="1956313"/>
            <a:ext cx="5257800" cy="1510787"/>
            <a:chOff x="0" y="0"/>
            <a:chExt cx="1782491" cy="406400"/>
          </a:xfrm>
        </p:grpSpPr>
        <p:sp>
          <p:nvSpPr>
            <p:cNvPr id="40" name="Freeform 5"/>
            <p:cNvSpPr/>
            <p:nvPr/>
          </p:nvSpPr>
          <p:spPr>
            <a:xfrm>
              <a:off x="0" y="0"/>
              <a:ext cx="1782491" cy="406400"/>
            </a:xfrm>
            <a:custGeom>
              <a:avLst/>
              <a:gdLst/>
              <a:ahLst/>
              <a:cxnLst/>
              <a:rect l="l" t="t" r="r" b="b"/>
              <a:pathLst>
                <a:path w="1782491" h="406400">
                  <a:moveTo>
                    <a:pt x="1579291" y="0"/>
                  </a:moveTo>
                  <a:cubicBezTo>
                    <a:pt x="1691515" y="0"/>
                    <a:pt x="1782491" y="90976"/>
                    <a:pt x="1782491" y="203200"/>
                  </a:cubicBezTo>
                  <a:cubicBezTo>
                    <a:pt x="1782491" y="315424"/>
                    <a:pt x="1691515" y="406400"/>
                    <a:pt x="1579291" y="406400"/>
                  </a:cubicBezTo>
                  <a:lnTo>
                    <a:pt x="203200" y="406400"/>
                  </a:lnTo>
                  <a:cubicBezTo>
                    <a:pt x="90976" y="406400"/>
                    <a:pt x="0" y="315424"/>
                    <a:pt x="0" y="203200"/>
                  </a:cubicBezTo>
                  <a:cubicBezTo>
                    <a:pt x="0" y="90976"/>
                    <a:pt x="90976" y="0"/>
                    <a:pt x="203200" y="0"/>
                  </a:cubicBezTo>
                  <a:close/>
                </a:path>
              </a:pathLst>
            </a:custGeom>
            <a:solidFill>
              <a:srgbClr val="FFFFFF"/>
            </a:solidFill>
          </p:spPr>
        </p:sp>
        <p:sp>
          <p:nvSpPr>
            <p:cNvPr id="41" name="TextBox 6"/>
            <p:cNvSpPr txBox="1"/>
            <p:nvPr/>
          </p:nvSpPr>
          <p:spPr>
            <a:xfrm>
              <a:off x="0" y="-47625"/>
              <a:ext cx="1782491" cy="454025"/>
            </a:xfrm>
            <a:prstGeom prst="rect">
              <a:avLst/>
            </a:prstGeom>
          </p:spPr>
          <p:txBody>
            <a:bodyPr lIns="50800" tIns="50800" rIns="50800" bIns="50800" rtlCol="0" anchor="ctr"/>
            <a:lstStyle/>
            <a:p>
              <a:pPr algn="ctr">
                <a:lnSpc>
                  <a:spcPts val="3254"/>
                </a:lnSpc>
              </a:pPr>
              <a:endParaRPr/>
            </a:p>
          </p:txBody>
        </p:sp>
      </p:grpSp>
      <p:grpSp>
        <p:nvGrpSpPr>
          <p:cNvPr id="47" name="Group 12"/>
          <p:cNvGrpSpPr/>
          <p:nvPr/>
        </p:nvGrpSpPr>
        <p:grpSpPr>
          <a:xfrm>
            <a:off x="819761" y="705768"/>
            <a:ext cx="16648478" cy="645864"/>
            <a:chOff x="0" y="0"/>
            <a:chExt cx="10475806" cy="406400"/>
          </a:xfrm>
        </p:grpSpPr>
        <p:sp>
          <p:nvSpPr>
            <p:cNvPr id="48" name="Freeform 13"/>
            <p:cNvSpPr/>
            <p:nvPr/>
          </p:nvSpPr>
          <p:spPr>
            <a:xfrm>
              <a:off x="0" y="0"/>
              <a:ext cx="10475806" cy="406400"/>
            </a:xfrm>
            <a:custGeom>
              <a:avLst/>
              <a:gdLst/>
              <a:ahLst/>
              <a:cxnLst/>
              <a:rect l="l" t="t" r="r" b="b"/>
              <a:pathLst>
                <a:path w="10475806" h="406400">
                  <a:moveTo>
                    <a:pt x="10272606" y="0"/>
                  </a:moveTo>
                  <a:cubicBezTo>
                    <a:pt x="10384830" y="0"/>
                    <a:pt x="10475806" y="90976"/>
                    <a:pt x="10475806" y="203200"/>
                  </a:cubicBezTo>
                  <a:cubicBezTo>
                    <a:pt x="10475806" y="315424"/>
                    <a:pt x="10384830" y="406400"/>
                    <a:pt x="10272606" y="406400"/>
                  </a:cubicBezTo>
                  <a:lnTo>
                    <a:pt x="203200" y="406400"/>
                  </a:lnTo>
                  <a:cubicBezTo>
                    <a:pt x="90976" y="406400"/>
                    <a:pt x="0" y="315424"/>
                    <a:pt x="0" y="203200"/>
                  </a:cubicBezTo>
                  <a:cubicBezTo>
                    <a:pt x="0" y="90976"/>
                    <a:pt x="90976" y="0"/>
                    <a:pt x="203200" y="0"/>
                  </a:cubicBezTo>
                  <a:close/>
                </a:path>
              </a:pathLst>
            </a:custGeom>
            <a:solidFill>
              <a:srgbClr val="DDDEE4"/>
            </a:solidFill>
          </p:spPr>
        </p:sp>
        <p:sp>
          <p:nvSpPr>
            <p:cNvPr id="49" name="TextBox 14"/>
            <p:cNvSpPr txBox="1"/>
            <p:nvPr/>
          </p:nvSpPr>
          <p:spPr>
            <a:xfrm>
              <a:off x="0" y="-47625"/>
              <a:ext cx="10475806" cy="454025"/>
            </a:xfrm>
            <a:prstGeom prst="rect">
              <a:avLst/>
            </a:prstGeom>
          </p:spPr>
          <p:txBody>
            <a:bodyPr lIns="50800" tIns="50800" rIns="50800" bIns="50800" rtlCol="0" anchor="ctr"/>
            <a:lstStyle/>
            <a:p>
              <a:pPr algn="ctr">
                <a:lnSpc>
                  <a:spcPts val="3254"/>
                </a:lnSpc>
              </a:pPr>
              <a:endParaRPr/>
            </a:p>
          </p:txBody>
        </p:sp>
      </p:grpSp>
      <p:sp>
        <p:nvSpPr>
          <p:cNvPr id="50" name="Freeform 15"/>
          <p:cNvSpPr/>
          <p:nvPr/>
        </p:nvSpPr>
        <p:spPr>
          <a:xfrm>
            <a:off x="15224988" y="773112"/>
            <a:ext cx="2119267" cy="509838"/>
          </a:xfrm>
          <a:custGeom>
            <a:avLst/>
            <a:gdLst/>
            <a:ahLst/>
            <a:cxnLst/>
            <a:rect l="l" t="t" r="r" b="b"/>
            <a:pathLst>
              <a:path w="2119267" h="509838">
                <a:moveTo>
                  <a:pt x="0" y="0"/>
                </a:moveTo>
                <a:lnTo>
                  <a:pt x="2119266" y="0"/>
                </a:lnTo>
                <a:lnTo>
                  <a:pt x="2119266" y="509839"/>
                </a:lnTo>
                <a:lnTo>
                  <a:pt x="0" y="509839"/>
                </a:lnTo>
                <a:lnTo>
                  <a:pt x="0" y="0"/>
                </a:lnTo>
                <a:close/>
              </a:path>
            </a:pathLst>
          </a:custGeom>
          <a:blipFill>
            <a:blip r:embed="rId6"/>
            <a:stretch>
              <a:fillRect l="-3802" t="-174633" r="-3802" b="-172651"/>
            </a:stretch>
          </a:blipFill>
        </p:spPr>
      </p:sp>
      <p:sp>
        <p:nvSpPr>
          <p:cNvPr id="52" name="TextBox 17"/>
          <p:cNvSpPr txBox="1"/>
          <p:nvPr/>
        </p:nvSpPr>
        <p:spPr>
          <a:xfrm>
            <a:off x="272422" y="2148579"/>
            <a:ext cx="5061231" cy="936154"/>
          </a:xfrm>
          <a:prstGeom prst="rect">
            <a:avLst/>
          </a:prstGeom>
        </p:spPr>
        <p:txBody>
          <a:bodyPr wrap="square" lIns="0" tIns="0" rIns="0" bIns="0" rtlCol="0" anchor="t">
            <a:spAutoFit/>
          </a:bodyPr>
          <a:lstStyle/>
          <a:p>
            <a:pPr algn="ctr">
              <a:lnSpc>
                <a:spcPts val="7324"/>
              </a:lnSpc>
            </a:pPr>
            <a:r>
              <a:rPr lang="en-US" sz="6719" dirty="0">
                <a:solidFill>
                  <a:srgbClr val="000000"/>
                </a:solidFill>
                <a:latin typeface="Codec Pro"/>
                <a:ea typeface="Codec Pro"/>
                <a:cs typeface="Codec Pro"/>
                <a:sym typeface="Codec Pro"/>
              </a:rPr>
              <a:t>conclusion</a:t>
            </a:r>
          </a:p>
        </p:txBody>
      </p:sp>
      <p:sp>
        <p:nvSpPr>
          <p:cNvPr id="53" name="TextBox 18"/>
          <p:cNvSpPr txBox="1"/>
          <p:nvPr/>
        </p:nvSpPr>
        <p:spPr>
          <a:xfrm>
            <a:off x="1224394" y="812833"/>
            <a:ext cx="6841683" cy="470118"/>
          </a:xfrm>
          <a:prstGeom prst="rect">
            <a:avLst/>
          </a:prstGeom>
        </p:spPr>
        <p:txBody>
          <a:bodyPr lIns="0" tIns="0" rIns="0" bIns="0" rtlCol="0" anchor="t">
            <a:spAutoFit/>
          </a:bodyPr>
          <a:lstStyle/>
          <a:p>
            <a:pPr algn="l">
              <a:lnSpc>
                <a:spcPts val="3231"/>
              </a:lnSpc>
            </a:pPr>
            <a:r>
              <a:rPr lang="en-US" sz="2964" dirty="0" err="1">
                <a:solidFill>
                  <a:srgbClr val="000000"/>
                </a:solidFill>
                <a:latin typeface="Codec Pro"/>
                <a:ea typeface="Codec Pro"/>
                <a:cs typeface="Codec Pro"/>
                <a:sym typeface="Codec Pro"/>
              </a:rPr>
              <a:t>Tanger</a:t>
            </a:r>
            <a:r>
              <a:rPr lang="en-US" sz="2964" dirty="0">
                <a:solidFill>
                  <a:srgbClr val="000000"/>
                </a:solidFill>
                <a:latin typeface="Codec Pro"/>
                <a:ea typeface="Codec Pro"/>
                <a:cs typeface="Codec Pro"/>
                <a:sym typeface="Codec Pro"/>
              </a:rPr>
              <a:t> Med Port Authority (TMPA )</a:t>
            </a:r>
          </a:p>
        </p:txBody>
      </p:sp>
      <p:sp>
        <p:nvSpPr>
          <p:cNvPr id="6" name="Espace réservé du numéro de diapositive 5"/>
          <p:cNvSpPr>
            <a:spLocks noGrp="1"/>
          </p:cNvSpPr>
          <p:nvPr>
            <p:ph type="sldNum" sz="quarter" idx="12"/>
          </p:nvPr>
        </p:nvSpPr>
        <p:spPr/>
        <p:txBody>
          <a:bodyPr/>
          <a:lstStyle/>
          <a:p>
            <a:fld id="{B6F15528-21DE-4FAA-801E-634DDDAF4B2B}" type="slidenum">
              <a:rPr lang="en-US" sz="2400" b="1" smtClean="0"/>
              <a:pPr/>
              <a:t>27</a:t>
            </a:fld>
            <a:endParaRPr lang="en-US" b="1" dirty="0"/>
          </a:p>
        </p:txBody>
      </p:sp>
      <p:grpSp>
        <p:nvGrpSpPr>
          <p:cNvPr id="23" name="Group 7"/>
          <p:cNvGrpSpPr/>
          <p:nvPr/>
        </p:nvGrpSpPr>
        <p:grpSpPr>
          <a:xfrm rot="-476095">
            <a:off x="-458635" y="8163912"/>
            <a:ext cx="3277622" cy="3000117"/>
            <a:chOff x="0" y="0"/>
            <a:chExt cx="863242" cy="790154"/>
          </a:xfrm>
        </p:grpSpPr>
        <p:sp>
          <p:nvSpPr>
            <p:cNvPr id="24" name="Freeform 8"/>
            <p:cNvSpPr/>
            <p:nvPr/>
          </p:nvSpPr>
          <p:spPr>
            <a:xfrm>
              <a:off x="0" y="0"/>
              <a:ext cx="863242" cy="790154"/>
            </a:xfrm>
            <a:custGeom>
              <a:avLst/>
              <a:gdLst/>
              <a:ahLst/>
              <a:cxnLst/>
              <a:rect l="l" t="t" r="r" b="b"/>
              <a:pathLst>
                <a:path w="863242" h="790154">
                  <a:moveTo>
                    <a:pt x="61413" y="0"/>
                  </a:moveTo>
                  <a:lnTo>
                    <a:pt x="801829" y="0"/>
                  </a:lnTo>
                  <a:cubicBezTo>
                    <a:pt x="818117" y="0"/>
                    <a:pt x="833737" y="6470"/>
                    <a:pt x="845255" y="17988"/>
                  </a:cubicBezTo>
                  <a:cubicBezTo>
                    <a:pt x="856772" y="29505"/>
                    <a:pt x="863242" y="45126"/>
                    <a:pt x="863242" y="61413"/>
                  </a:cubicBezTo>
                  <a:lnTo>
                    <a:pt x="863242" y="728741"/>
                  </a:lnTo>
                  <a:cubicBezTo>
                    <a:pt x="863242" y="745029"/>
                    <a:pt x="856772" y="760650"/>
                    <a:pt x="845255" y="772167"/>
                  </a:cubicBezTo>
                  <a:cubicBezTo>
                    <a:pt x="833737" y="783684"/>
                    <a:pt x="818117" y="790154"/>
                    <a:pt x="801829" y="790154"/>
                  </a:cubicBezTo>
                  <a:lnTo>
                    <a:pt x="61413" y="790154"/>
                  </a:lnTo>
                  <a:cubicBezTo>
                    <a:pt x="45126" y="790154"/>
                    <a:pt x="29505" y="783684"/>
                    <a:pt x="17988" y="772167"/>
                  </a:cubicBezTo>
                  <a:cubicBezTo>
                    <a:pt x="6470" y="760650"/>
                    <a:pt x="0" y="745029"/>
                    <a:pt x="0" y="728741"/>
                  </a:cubicBezTo>
                  <a:lnTo>
                    <a:pt x="0" y="61413"/>
                  </a:lnTo>
                  <a:cubicBezTo>
                    <a:pt x="0" y="45126"/>
                    <a:pt x="6470" y="29505"/>
                    <a:pt x="17988" y="17988"/>
                  </a:cubicBezTo>
                  <a:cubicBezTo>
                    <a:pt x="29505" y="6470"/>
                    <a:pt x="45126" y="0"/>
                    <a:pt x="61413" y="0"/>
                  </a:cubicBezTo>
                  <a:close/>
                </a:path>
              </a:pathLst>
            </a:custGeom>
            <a:solidFill>
              <a:srgbClr val="345CA4"/>
            </a:solidFill>
          </p:spPr>
        </p:sp>
        <p:sp>
          <p:nvSpPr>
            <p:cNvPr id="25" name="TextBox 9"/>
            <p:cNvSpPr txBox="1"/>
            <p:nvPr/>
          </p:nvSpPr>
          <p:spPr>
            <a:xfrm>
              <a:off x="0" y="-47625"/>
              <a:ext cx="863242" cy="837779"/>
            </a:xfrm>
            <a:prstGeom prst="rect">
              <a:avLst/>
            </a:prstGeom>
          </p:spPr>
          <p:txBody>
            <a:bodyPr lIns="50800" tIns="50800" rIns="50800" bIns="50800" rtlCol="0" anchor="ctr"/>
            <a:lstStyle/>
            <a:p>
              <a:pPr algn="ctr">
                <a:lnSpc>
                  <a:spcPts val="3254"/>
                </a:lnSpc>
              </a:pPr>
              <a:endParaRPr/>
            </a:p>
          </p:txBody>
        </p:sp>
      </p:grpSp>
      <p:grpSp>
        <p:nvGrpSpPr>
          <p:cNvPr id="26" name="Group 10"/>
          <p:cNvGrpSpPr/>
          <p:nvPr/>
        </p:nvGrpSpPr>
        <p:grpSpPr>
          <a:xfrm rot="185766">
            <a:off x="1278969" y="5782813"/>
            <a:ext cx="3759861" cy="3759861"/>
            <a:chOff x="0" y="0"/>
            <a:chExt cx="812800" cy="812800"/>
          </a:xfrm>
        </p:grpSpPr>
        <p:sp>
          <p:nvSpPr>
            <p:cNvPr id="27" name="Freeform 11"/>
            <p:cNvSpPr/>
            <p:nvPr/>
          </p:nvSpPr>
          <p:spPr>
            <a:xfrm>
              <a:off x="0" y="0"/>
              <a:ext cx="812800" cy="812800"/>
            </a:xfrm>
            <a:custGeom>
              <a:avLst/>
              <a:gdLst/>
              <a:ahLst/>
              <a:cxnLst/>
              <a:rect l="l" t="t" r="r" b="b"/>
              <a:pathLst>
                <a:path w="812800" h="812800">
                  <a:moveTo>
                    <a:pt x="43241" y="0"/>
                  </a:moveTo>
                  <a:lnTo>
                    <a:pt x="769559" y="0"/>
                  </a:lnTo>
                  <a:cubicBezTo>
                    <a:pt x="781027" y="0"/>
                    <a:pt x="792026" y="4556"/>
                    <a:pt x="800135" y="12665"/>
                  </a:cubicBezTo>
                  <a:cubicBezTo>
                    <a:pt x="808244" y="20774"/>
                    <a:pt x="812800" y="31773"/>
                    <a:pt x="812800" y="43241"/>
                  </a:cubicBezTo>
                  <a:lnTo>
                    <a:pt x="812800" y="769559"/>
                  </a:lnTo>
                  <a:cubicBezTo>
                    <a:pt x="812800" y="781027"/>
                    <a:pt x="808244" y="792026"/>
                    <a:pt x="800135" y="800135"/>
                  </a:cubicBezTo>
                  <a:cubicBezTo>
                    <a:pt x="792026" y="808244"/>
                    <a:pt x="781027" y="812800"/>
                    <a:pt x="769559" y="812800"/>
                  </a:cubicBezTo>
                  <a:lnTo>
                    <a:pt x="43241" y="812800"/>
                  </a:lnTo>
                  <a:cubicBezTo>
                    <a:pt x="31773" y="812800"/>
                    <a:pt x="20774" y="808244"/>
                    <a:pt x="12665" y="800135"/>
                  </a:cubicBezTo>
                  <a:cubicBezTo>
                    <a:pt x="4556" y="792026"/>
                    <a:pt x="0" y="781027"/>
                    <a:pt x="0" y="769559"/>
                  </a:cubicBezTo>
                  <a:lnTo>
                    <a:pt x="0" y="43241"/>
                  </a:lnTo>
                  <a:cubicBezTo>
                    <a:pt x="0" y="31773"/>
                    <a:pt x="4556" y="20774"/>
                    <a:pt x="12665" y="12665"/>
                  </a:cubicBezTo>
                  <a:cubicBezTo>
                    <a:pt x="20774" y="4556"/>
                    <a:pt x="31773" y="0"/>
                    <a:pt x="43241" y="0"/>
                  </a:cubicBezTo>
                  <a:close/>
                </a:path>
              </a:pathLst>
            </a:custGeom>
            <a:blipFill>
              <a:blip r:embed="rId7"/>
              <a:stretch>
                <a:fillRect/>
              </a:stretch>
            </a:blipFill>
          </p:spPr>
        </p:sp>
      </p:grpSp>
      <p:sp>
        <p:nvSpPr>
          <p:cNvPr id="28" name="Freeform 18"/>
          <p:cNvSpPr/>
          <p:nvPr/>
        </p:nvSpPr>
        <p:spPr>
          <a:xfrm>
            <a:off x="6259225" y="2451039"/>
            <a:ext cx="4904952" cy="1284206"/>
          </a:xfrm>
          <a:custGeom>
            <a:avLst/>
            <a:gdLst/>
            <a:ahLst/>
            <a:cxnLst/>
            <a:rect l="l" t="t" r="r" b="b"/>
            <a:pathLst>
              <a:path w="4904952" h="1284206">
                <a:moveTo>
                  <a:pt x="0" y="0"/>
                </a:moveTo>
                <a:lnTo>
                  <a:pt x="4904951" y="0"/>
                </a:lnTo>
                <a:lnTo>
                  <a:pt x="4904951" y="1284205"/>
                </a:lnTo>
                <a:lnTo>
                  <a:pt x="0" y="1284205"/>
                </a:lnTo>
                <a:lnTo>
                  <a:pt x="0" y="0"/>
                </a:lnTo>
                <a:close/>
              </a:path>
            </a:pathLst>
          </a:custGeom>
          <a:blipFill>
            <a:blip r:embed="rId8"/>
            <a:stretch>
              <a:fillRect/>
            </a:stretch>
          </a:blipFill>
        </p:spPr>
      </p:sp>
      <p:grpSp>
        <p:nvGrpSpPr>
          <p:cNvPr id="29" name="Group 19"/>
          <p:cNvGrpSpPr/>
          <p:nvPr/>
        </p:nvGrpSpPr>
        <p:grpSpPr>
          <a:xfrm>
            <a:off x="6126959" y="2149655"/>
            <a:ext cx="5037218" cy="1297356"/>
            <a:chOff x="0" y="0"/>
            <a:chExt cx="1683883" cy="433691"/>
          </a:xfrm>
        </p:grpSpPr>
        <p:sp>
          <p:nvSpPr>
            <p:cNvPr id="30" name="Freeform 20"/>
            <p:cNvSpPr/>
            <p:nvPr/>
          </p:nvSpPr>
          <p:spPr>
            <a:xfrm>
              <a:off x="0" y="0"/>
              <a:ext cx="1683883" cy="433691"/>
            </a:xfrm>
            <a:custGeom>
              <a:avLst/>
              <a:gdLst/>
              <a:ahLst/>
              <a:cxnLst/>
              <a:rect l="l" t="t" r="r" b="b"/>
              <a:pathLst>
                <a:path w="1683883" h="433691">
                  <a:moveTo>
                    <a:pt x="46108" y="0"/>
                  </a:moveTo>
                  <a:lnTo>
                    <a:pt x="1637775" y="0"/>
                  </a:lnTo>
                  <a:cubicBezTo>
                    <a:pt x="1663240" y="0"/>
                    <a:pt x="1683883" y="20643"/>
                    <a:pt x="1683883" y="46108"/>
                  </a:cubicBezTo>
                  <a:lnTo>
                    <a:pt x="1683883" y="387583"/>
                  </a:lnTo>
                  <a:cubicBezTo>
                    <a:pt x="1683883" y="413047"/>
                    <a:pt x="1663240" y="433691"/>
                    <a:pt x="1637775" y="433691"/>
                  </a:cubicBezTo>
                  <a:lnTo>
                    <a:pt x="46108" y="433691"/>
                  </a:lnTo>
                  <a:cubicBezTo>
                    <a:pt x="20643" y="433691"/>
                    <a:pt x="0" y="413047"/>
                    <a:pt x="0" y="387583"/>
                  </a:cubicBezTo>
                  <a:lnTo>
                    <a:pt x="0" y="46108"/>
                  </a:lnTo>
                  <a:cubicBezTo>
                    <a:pt x="0" y="20643"/>
                    <a:pt x="20643" y="0"/>
                    <a:pt x="46108" y="0"/>
                  </a:cubicBezTo>
                  <a:close/>
                </a:path>
              </a:pathLst>
            </a:custGeom>
            <a:solidFill>
              <a:srgbClr val="FFFFFF"/>
            </a:solidFill>
          </p:spPr>
        </p:sp>
        <p:sp>
          <p:nvSpPr>
            <p:cNvPr id="31" name="TextBox 21"/>
            <p:cNvSpPr txBox="1"/>
            <p:nvPr/>
          </p:nvSpPr>
          <p:spPr>
            <a:xfrm>
              <a:off x="0" y="-38100"/>
              <a:ext cx="1683883" cy="471791"/>
            </a:xfrm>
            <a:prstGeom prst="rect">
              <a:avLst/>
            </a:prstGeom>
          </p:spPr>
          <p:txBody>
            <a:bodyPr lIns="50800" tIns="50800" rIns="50800" bIns="50800" rtlCol="0" anchor="ctr"/>
            <a:lstStyle/>
            <a:p>
              <a:pPr algn="ctr">
                <a:lnSpc>
                  <a:spcPts val="2520"/>
                </a:lnSpc>
              </a:pPr>
              <a:endParaRPr/>
            </a:p>
          </p:txBody>
        </p:sp>
      </p:grpSp>
      <p:grpSp>
        <p:nvGrpSpPr>
          <p:cNvPr id="32" name="Group 22"/>
          <p:cNvGrpSpPr/>
          <p:nvPr/>
        </p:nvGrpSpPr>
        <p:grpSpPr>
          <a:xfrm rot="5400000">
            <a:off x="7129376" y="2356307"/>
            <a:ext cx="860215" cy="884052"/>
            <a:chOff x="0" y="0"/>
            <a:chExt cx="660400" cy="678700"/>
          </a:xfrm>
        </p:grpSpPr>
        <p:sp>
          <p:nvSpPr>
            <p:cNvPr id="33" name="Freeform 23"/>
            <p:cNvSpPr/>
            <p:nvPr/>
          </p:nvSpPr>
          <p:spPr>
            <a:xfrm>
              <a:off x="0" y="0"/>
              <a:ext cx="660400" cy="678700"/>
            </a:xfrm>
            <a:custGeom>
              <a:avLst/>
              <a:gdLst/>
              <a:ahLst/>
              <a:cxnLst/>
              <a:rect l="l" t="t" r="r" b="b"/>
              <a:pathLst>
                <a:path w="660400" h="6787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5523"/>
                  </a:cubicBezTo>
                  <a:lnTo>
                    <a:pt x="660400" y="678700"/>
                  </a:lnTo>
                  <a:lnTo>
                    <a:pt x="0" y="678700"/>
                  </a:lnTo>
                  <a:lnTo>
                    <a:pt x="0" y="325785"/>
                  </a:lnTo>
                  <a:cubicBezTo>
                    <a:pt x="1782" y="185660"/>
                    <a:pt x="93019" y="64045"/>
                    <a:pt x="220252" y="19070"/>
                  </a:cubicBezTo>
                  <a:close/>
                </a:path>
              </a:pathLst>
            </a:custGeom>
            <a:solidFill>
              <a:srgbClr val="122359"/>
            </a:solidFill>
          </p:spPr>
        </p:sp>
        <p:sp>
          <p:nvSpPr>
            <p:cNvPr id="34" name="TextBox 24"/>
            <p:cNvSpPr txBox="1"/>
            <p:nvPr/>
          </p:nvSpPr>
          <p:spPr>
            <a:xfrm>
              <a:off x="0" y="88900"/>
              <a:ext cx="660400" cy="5898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35" name="Freeform 25"/>
          <p:cNvSpPr/>
          <p:nvPr/>
        </p:nvSpPr>
        <p:spPr>
          <a:xfrm>
            <a:off x="8001510" y="3936663"/>
            <a:ext cx="4904952" cy="1284206"/>
          </a:xfrm>
          <a:custGeom>
            <a:avLst/>
            <a:gdLst/>
            <a:ahLst/>
            <a:cxnLst/>
            <a:rect l="l" t="t" r="r" b="b"/>
            <a:pathLst>
              <a:path w="4904952" h="1284206">
                <a:moveTo>
                  <a:pt x="0" y="0"/>
                </a:moveTo>
                <a:lnTo>
                  <a:pt x="4904952" y="0"/>
                </a:lnTo>
                <a:lnTo>
                  <a:pt x="4904952" y="1284206"/>
                </a:lnTo>
                <a:lnTo>
                  <a:pt x="0" y="1284206"/>
                </a:lnTo>
                <a:lnTo>
                  <a:pt x="0" y="0"/>
                </a:lnTo>
                <a:close/>
              </a:path>
            </a:pathLst>
          </a:custGeom>
          <a:blipFill>
            <a:blip r:embed="rId8"/>
            <a:stretch>
              <a:fillRect/>
            </a:stretch>
          </a:blipFill>
        </p:spPr>
      </p:sp>
      <p:sp>
        <p:nvSpPr>
          <p:cNvPr id="36" name="Freeform 26"/>
          <p:cNvSpPr/>
          <p:nvPr/>
        </p:nvSpPr>
        <p:spPr>
          <a:xfrm>
            <a:off x="9740496" y="5392345"/>
            <a:ext cx="4904952" cy="1284206"/>
          </a:xfrm>
          <a:custGeom>
            <a:avLst/>
            <a:gdLst/>
            <a:ahLst/>
            <a:cxnLst/>
            <a:rect l="l" t="t" r="r" b="b"/>
            <a:pathLst>
              <a:path w="4904952" h="1284206">
                <a:moveTo>
                  <a:pt x="0" y="0"/>
                </a:moveTo>
                <a:lnTo>
                  <a:pt x="4904952" y="0"/>
                </a:lnTo>
                <a:lnTo>
                  <a:pt x="4904952" y="1284205"/>
                </a:lnTo>
                <a:lnTo>
                  <a:pt x="0" y="1284205"/>
                </a:lnTo>
                <a:lnTo>
                  <a:pt x="0" y="0"/>
                </a:lnTo>
                <a:close/>
              </a:path>
            </a:pathLst>
          </a:custGeom>
          <a:blipFill>
            <a:blip r:embed="rId8"/>
            <a:stretch>
              <a:fillRect/>
            </a:stretch>
          </a:blipFill>
        </p:spPr>
      </p:sp>
      <p:sp>
        <p:nvSpPr>
          <p:cNvPr id="37" name="Freeform 27"/>
          <p:cNvSpPr/>
          <p:nvPr/>
        </p:nvSpPr>
        <p:spPr>
          <a:xfrm>
            <a:off x="11486080" y="6934016"/>
            <a:ext cx="4904952" cy="1284206"/>
          </a:xfrm>
          <a:custGeom>
            <a:avLst/>
            <a:gdLst/>
            <a:ahLst/>
            <a:cxnLst/>
            <a:rect l="l" t="t" r="r" b="b"/>
            <a:pathLst>
              <a:path w="4904952" h="1284206">
                <a:moveTo>
                  <a:pt x="0" y="0"/>
                </a:moveTo>
                <a:lnTo>
                  <a:pt x="4904952" y="0"/>
                </a:lnTo>
                <a:lnTo>
                  <a:pt x="4904952" y="1284205"/>
                </a:lnTo>
                <a:lnTo>
                  <a:pt x="0" y="1284205"/>
                </a:lnTo>
                <a:lnTo>
                  <a:pt x="0" y="0"/>
                </a:lnTo>
                <a:close/>
              </a:path>
            </a:pathLst>
          </a:custGeom>
          <a:blipFill>
            <a:blip r:embed="rId8"/>
            <a:stretch>
              <a:fillRect/>
            </a:stretch>
          </a:blipFill>
        </p:spPr>
      </p:sp>
      <p:sp>
        <p:nvSpPr>
          <p:cNvPr id="51" name="Freeform 28"/>
          <p:cNvSpPr/>
          <p:nvPr/>
        </p:nvSpPr>
        <p:spPr>
          <a:xfrm>
            <a:off x="13230648" y="8345608"/>
            <a:ext cx="4904952" cy="1284206"/>
          </a:xfrm>
          <a:custGeom>
            <a:avLst/>
            <a:gdLst/>
            <a:ahLst/>
            <a:cxnLst/>
            <a:rect l="l" t="t" r="r" b="b"/>
            <a:pathLst>
              <a:path w="4904952" h="1284206">
                <a:moveTo>
                  <a:pt x="0" y="0"/>
                </a:moveTo>
                <a:lnTo>
                  <a:pt x="4904952" y="0"/>
                </a:lnTo>
                <a:lnTo>
                  <a:pt x="4904952" y="1284205"/>
                </a:lnTo>
                <a:lnTo>
                  <a:pt x="0" y="1284205"/>
                </a:lnTo>
                <a:lnTo>
                  <a:pt x="0" y="0"/>
                </a:lnTo>
                <a:close/>
              </a:path>
            </a:pathLst>
          </a:custGeom>
          <a:blipFill>
            <a:blip r:embed="rId8"/>
            <a:stretch>
              <a:fillRect/>
            </a:stretch>
          </a:blipFill>
        </p:spPr>
      </p:sp>
      <p:sp>
        <p:nvSpPr>
          <p:cNvPr id="57" name="Freeform 53"/>
          <p:cNvSpPr/>
          <p:nvPr/>
        </p:nvSpPr>
        <p:spPr>
          <a:xfrm rot="16200000" flipH="1">
            <a:off x="11449360" y="2491347"/>
            <a:ext cx="953722" cy="1524088"/>
          </a:xfrm>
          <a:custGeom>
            <a:avLst/>
            <a:gdLst/>
            <a:ahLst/>
            <a:cxnLst/>
            <a:rect l="l" t="t" r="r" b="b"/>
            <a:pathLst>
              <a:path w="766298" h="804556">
                <a:moveTo>
                  <a:pt x="0" y="0"/>
                </a:moveTo>
                <a:lnTo>
                  <a:pt x="0" y="202253"/>
                </a:lnTo>
                <a:cubicBezTo>
                  <a:pt x="0" y="312724"/>
                  <a:pt x="89554" y="402278"/>
                  <a:pt x="200025" y="402278"/>
                </a:cubicBezTo>
                <a:lnTo>
                  <a:pt x="566273" y="402278"/>
                </a:lnTo>
                <a:cubicBezTo>
                  <a:pt x="676744" y="402278"/>
                  <a:pt x="766298" y="491832"/>
                  <a:pt x="766298" y="602303"/>
                </a:cubicBezTo>
                <a:lnTo>
                  <a:pt x="766298" y="804556"/>
                </a:lnTo>
              </a:path>
            </a:pathLst>
          </a:custGeom>
          <a:ln>
            <a:headEnd type="none" w="sm" len="sm"/>
            <a:tailEnd type="none" w="sm" len="sm"/>
          </a:ln>
        </p:spPr>
        <p:style>
          <a:lnRef idx="1">
            <a:schemeClr val="dk1"/>
          </a:lnRef>
          <a:fillRef idx="0">
            <a:schemeClr val="dk1"/>
          </a:fillRef>
          <a:effectRef idx="0">
            <a:schemeClr val="dk1"/>
          </a:effectRef>
          <a:fontRef idx="minor">
            <a:schemeClr val="tx1"/>
          </a:fontRef>
        </p:style>
      </p:sp>
      <p:sp>
        <p:nvSpPr>
          <p:cNvPr id="58" name="Freeform 54"/>
          <p:cNvSpPr/>
          <p:nvPr/>
        </p:nvSpPr>
        <p:spPr>
          <a:xfrm rot="16200000" flipH="1">
            <a:off x="13201633" y="3929510"/>
            <a:ext cx="939097" cy="1643619"/>
          </a:xfrm>
          <a:custGeom>
            <a:avLst/>
            <a:gdLst/>
            <a:ahLst/>
            <a:cxnLst/>
            <a:rect l="l" t="t" r="r" b="b"/>
            <a:pathLst>
              <a:path w="745023" h="806271">
                <a:moveTo>
                  <a:pt x="0" y="0"/>
                </a:moveTo>
                <a:lnTo>
                  <a:pt x="0" y="203110"/>
                </a:lnTo>
                <a:cubicBezTo>
                  <a:pt x="0" y="256160"/>
                  <a:pt x="21074" y="307037"/>
                  <a:pt x="58586" y="344549"/>
                </a:cubicBezTo>
                <a:cubicBezTo>
                  <a:pt x="96098" y="382061"/>
                  <a:pt x="146974" y="403135"/>
                  <a:pt x="200025" y="403135"/>
                </a:cubicBezTo>
                <a:lnTo>
                  <a:pt x="544997" y="403135"/>
                </a:lnTo>
                <a:cubicBezTo>
                  <a:pt x="598047" y="403135"/>
                  <a:pt x="648924" y="424209"/>
                  <a:pt x="686437" y="461721"/>
                </a:cubicBezTo>
                <a:cubicBezTo>
                  <a:pt x="723949" y="499233"/>
                  <a:pt x="745022" y="550110"/>
                  <a:pt x="745022" y="603160"/>
                </a:cubicBezTo>
                <a:lnTo>
                  <a:pt x="745022" y="806270"/>
                </a:lnTo>
              </a:path>
            </a:pathLst>
          </a:custGeom>
          <a:ln>
            <a:headEnd type="none" w="sm" len="sm"/>
            <a:tailEnd type="none" w="sm" len="sm"/>
          </a:ln>
        </p:spPr>
        <p:style>
          <a:lnRef idx="1">
            <a:schemeClr val="accent1"/>
          </a:lnRef>
          <a:fillRef idx="0">
            <a:schemeClr val="accent1"/>
          </a:fillRef>
          <a:effectRef idx="0">
            <a:schemeClr val="accent1"/>
          </a:effectRef>
          <a:fontRef idx="minor">
            <a:schemeClr val="tx1"/>
          </a:fontRef>
        </p:style>
      </p:sp>
      <p:sp>
        <p:nvSpPr>
          <p:cNvPr id="59" name="Freeform 56"/>
          <p:cNvSpPr/>
          <p:nvPr/>
        </p:nvSpPr>
        <p:spPr>
          <a:xfrm rot="10800000">
            <a:off x="16392649" y="7121587"/>
            <a:ext cx="1608503" cy="920318"/>
          </a:xfrm>
          <a:custGeom>
            <a:avLst/>
            <a:gdLst/>
            <a:ahLst/>
            <a:cxnLst/>
            <a:rect l="l" t="t" r="r" b="b"/>
            <a:pathLst>
              <a:path w="822634" h="780593">
                <a:moveTo>
                  <a:pt x="0" y="0"/>
                </a:moveTo>
                <a:lnTo>
                  <a:pt x="211291" y="0"/>
                </a:lnTo>
                <a:cubicBezTo>
                  <a:pt x="264340" y="0"/>
                  <a:pt x="315218" y="21074"/>
                  <a:pt x="352730" y="58587"/>
                </a:cubicBezTo>
                <a:cubicBezTo>
                  <a:pt x="390243" y="96098"/>
                  <a:pt x="411316" y="146975"/>
                  <a:pt x="411316" y="200025"/>
                </a:cubicBezTo>
                <a:lnTo>
                  <a:pt x="411316" y="580568"/>
                </a:lnTo>
                <a:cubicBezTo>
                  <a:pt x="411316" y="633618"/>
                  <a:pt x="432390" y="684495"/>
                  <a:pt x="469901" y="722007"/>
                </a:cubicBezTo>
                <a:cubicBezTo>
                  <a:pt x="507414" y="759519"/>
                  <a:pt x="558291" y="780593"/>
                  <a:pt x="611341" y="780593"/>
                </a:cubicBezTo>
                <a:lnTo>
                  <a:pt x="822633" y="780593"/>
                </a:lnTo>
              </a:path>
            </a:pathLst>
          </a:custGeom>
          <a:ln w="28575" cap="flat">
            <a:solidFill>
              <a:srgbClr val="4DA6FF"/>
            </a:solidFill>
            <a:prstDash val="solid"/>
            <a:headEnd type="none" w="sm" len="sm"/>
            <a:tailEnd type="none" w="sm" len="sm"/>
          </a:ln>
        </p:spPr>
      </p:sp>
      <p:grpSp>
        <p:nvGrpSpPr>
          <p:cNvPr id="60" name="Group 57"/>
          <p:cNvGrpSpPr/>
          <p:nvPr/>
        </p:nvGrpSpPr>
        <p:grpSpPr>
          <a:xfrm>
            <a:off x="11832307" y="3054996"/>
            <a:ext cx="198222" cy="173445"/>
            <a:chOff x="0" y="0"/>
            <a:chExt cx="812800" cy="711200"/>
          </a:xfrm>
        </p:grpSpPr>
        <p:sp>
          <p:nvSpPr>
            <p:cNvPr id="61" name="Freeform 58"/>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solidFill>
              <a:srgbClr val="122359"/>
            </a:solidFill>
          </p:spPr>
        </p:sp>
        <p:sp>
          <p:nvSpPr>
            <p:cNvPr id="62" name="TextBox 59"/>
            <p:cNvSpPr txBox="1"/>
            <p:nvPr/>
          </p:nvSpPr>
          <p:spPr>
            <a:xfrm>
              <a:off x="127000" y="12700"/>
              <a:ext cx="558800" cy="368300"/>
            </a:xfrm>
            <a:prstGeom prst="rect">
              <a:avLst/>
            </a:prstGeom>
          </p:spPr>
          <p:txBody>
            <a:bodyPr lIns="50800" tIns="50800" rIns="50800" bIns="50800" rtlCol="0" anchor="ctr"/>
            <a:lstStyle/>
            <a:p>
              <a:pPr algn="ctr">
                <a:lnSpc>
                  <a:spcPts val="2520"/>
                </a:lnSpc>
              </a:pPr>
              <a:endParaRPr/>
            </a:p>
          </p:txBody>
        </p:sp>
      </p:grpSp>
      <p:grpSp>
        <p:nvGrpSpPr>
          <p:cNvPr id="63" name="Group 60"/>
          <p:cNvGrpSpPr/>
          <p:nvPr/>
        </p:nvGrpSpPr>
        <p:grpSpPr>
          <a:xfrm>
            <a:off x="13558152" y="4578766"/>
            <a:ext cx="198222" cy="173445"/>
            <a:chOff x="0" y="0"/>
            <a:chExt cx="812800" cy="711200"/>
          </a:xfrm>
        </p:grpSpPr>
        <p:sp>
          <p:nvSpPr>
            <p:cNvPr id="64" name="Freeform 61"/>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solidFill>
              <a:srgbClr val="3D6298"/>
            </a:solidFill>
          </p:spPr>
        </p:sp>
        <p:sp>
          <p:nvSpPr>
            <p:cNvPr id="65" name="TextBox 62"/>
            <p:cNvSpPr txBox="1"/>
            <p:nvPr/>
          </p:nvSpPr>
          <p:spPr>
            <a:xfrm>
              <a:off x="127000" y="12700"/>
              <a:ext cx="558800" cy="3683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66" name="Group 63"/>
          <p:cNvGrpSpPr/>
          <p:nvPr/>
        </p:nvGrpSpPr>
        <p:grpSpPr>
          <a:xfrm>
            <a:off x="15309315" y="6034447"/>
            <a:ext cx="198222" cy="173445"/>
            <a:chOff x="0" y="0"/>
            <a:chExt cx="812800" cy="711200"/>
          </a:xfrm>
        </p:grpSpPr>
        <p:sp>
          <p:nvSpPr>
            <p:cNvPr id="67" name="Freeform 64"/>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solidFill>
              <a:srgbClr val="BEC8DA"/>
            </a:solidFill>
          </p:spPr>
        </p:sp>
        <p:sp>
          <p:nvSpPr>
            <p:cNvPr id="68" name="TextBox 65"/>
            <p:cNvSpPr txBox="1"/>
            <p:nvPr/>
          </p:nvSpPr>
          <p:spPr>
            <a:xfrm>
              <a:off x="127000" y="12700"/>
              <a:ext cx="558800" cy="3683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69" name="Group 66"/>
          <p:cNvGrpSpPr/>
          <p:nvPr/>
        </p:nvGrpSpPr>
        <p:grpSpPr>
          <a:xfrm>
            <a:off x="17116174" y="7489396"/>
            <a:ext cx="198222" cy="173445"/>
            <a:chOff x="0" y="0"/>
            <a:chExt cx="812800" cy="711200"/>
          </a:xfrm>
        </p:grpSpPr>
        <p:sp>
          <p:nvSpPr>
            <p:cNvPr id="70" name="Freeform 67"/>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solidFill>
              <a:srgbClr val="7BBFFF"/>
            </a:solidFill>
          </p:spPr>
        </p:sp>
        <p:sp>
          <p:nvSpPr>
            <p:cNvPr id="71" name="TextBox 68"/>
            <p:cNvSpPr txBox="1"/>
            <p:nvPr/>
          </p:nvSpPr>
          <p:spPr>
            <a:xfrm>
              <a:off x="127000" y="12700"/>
              <a:ext cx="558800" cy="3683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72" name="Freeform 69"/>
          <p:cNvSpPr/>
          <p:nvPr/>
        </p:nvSpPr>
        <p:spPr>
          <a:xfrm>
            <a:off x="6407110" y="2545513"/>
            <a:ext cx="505641" cy="505641"/>
          </a:xfrm>
          <a:custGeom>
            <a:avLst/>
            <a:gdLst/>
            <a:ahLst/>
            <a:cxnLst/>
            <a:rect l="l" t="t" r="r" b="b"/>
            <a:pathLst>
              <a:path w="505641" h="505641">
                <a:moveTo>
                  <a:pt x="0" y="0"/>
                </a:moveTo>
                <a:lnTo>
                  <a:pt x="505641" y="0"/>
                </a:lnTo>
                <a:lnTo>
                  <a:pt x="505641" y="505641"/>
                </a:lnTo>
                <a:lnTo>
                  <a:pt x="0" y="505641"/>
                </a:lnTo>
                <a:lnTo>
                  <a:pt x="0" y="0"/>
                </a:lnTo>
                <a:close/>
              </a:path>
            </a:pathLst>
          </a:custGeom>
          <a:blipFill>
            <a:blip r:embed="rId9">
              <a:extLst>
                <a:ext uri="{96DAC541-7B7A-43D3-8B79-37D633B846F1}">
                  <asvg:svgBlip xmlns="" xmlns:asvg="http://schemas.microsoft.com/office/drawing/2016/SVG/main" r:embed="rId10"/>
                </a:ext>
              </a:extLst>
            </a:blip>
            <a:stretch>
              <a:fillRect/>
            </a:stretch>
          </a:blipFill>
        </p:spPr>
      </p:sp>
      <p:sp>
        <p:nvSpPr>
          <p:cNvPr id="73" name="TextBox 73"/>
          <p:cNvSpPr txBox="1"/>
          <p:nvPr/>
        </p:nvSpPr>
        <p:spPr>
          <a:xfrm>
            <a:off x="7117458" y="2571385"/>
            <a:ext cx="884052" cy="406270"/>
          </a:xfrm>
          <a:prstGeom prst="rect">
            <a:avLst/>
          </a:prstGeom>
        </p:spPr>
        <p:txBody>
          <a:bodyPr lIns="0" tIns="0" rIns="0" bIns="0" rtlCol="0" anchor="t">
            <a:spAutoFit/>
          </a:bodyPr>
          <a:lstStyle/>
          <a:p>
            <a:pPr algn="ctr">
              <a:lnSpc>
                <a:spcPts val="3337"/>
              </a:lnSpc>
            </a:pPr>
            <a:r>
              <a:rPr lang="en-US" sz="2384" b="1">
                <a:solidFill>
                  <a:srgbClr val="FFFFFF"/>
                </a:solidFill>
                <a:latin typeface="Proxima Nova Bold"/>
                <a:ea typeface="Proxima Nova Bold"/>
                <a:cs typeface="Proxima Nova Bold"/>
                <a:sym typeface="Proxima Nova Bold"/>
              </a:rPr>
              <a:t>01</a:t>
            </a:r>
          </a:p>
        </p:txBody>
      </p:sp>
      <p:sp>
        <p:nvSpPr>
          <p:cNvPr id="74" name="TextBox 74"/>
          <p:cNvSpPr txBox="1"/>
          <p:nvPr/>
        </p:nvSpPr>
        <p:spPr>
          <a:xfrm>
            <a:off x="8249156" y="2578120"/>
            <a:ext cx="2759265" cy="800100"/>
          </a:xfrm>
          <a:prstGeom prst="rect">
            <a:avLst/>
          </a:prstGeom>
        </p:spPr>
        <p:txBody>
          <a:bodyPr lIns="0" tIns="0" rIns="0" bIns="0" rtlCol="0" anchor="t">
            <a:spAutoFit/>
          </a:bodyPr>
          <a:lstStyle/>
          <a:p>
            <a:pPr algn="l">
              <a:lnSpc>
                <a:spcPts val="2100"/>
              </a:lnSpc>
            </a:pPr>
            <a:r>
              <a:rPr lang="en-US" sz="1500">
                <a:solidFill>
                  <a:srgbClr val="000000"/>
                </a:solidFill>
                <a:latin typeface="Proxima Nova"/>
                <a:ea typeface="Proxima Nova"/>
                <a:cs typeface="Proxima Nova"/>
                <a:sym typeface="Proxima Nova"/>
              </a:rPr>
              <a:t>Cluster 3 nœuds · Ceph ×3 · 12 VMs déployées · Tests résilience validés</a:t>
            </a:r>
          </a:p>
        </p:txBody>
      </p:sp>
      <p:sp>
        <p:nvSpPr>
          <p:cNvPr id="75" name="TextBox 87"/>
          <p:cNvSpPr txBox="1"/>
          <p:nvPr/>
        </p:nvSpPr>
        <p:spPr>
          <a:xfrm>
            <a:off x="8246750" y="2320296"/>
            <a:ext cx="2759265" cy="232877"/>
          </a:xfrm>
          <a:prstGeom prst="rect">
            <a:avLst/>
          </a:prstGeom>
        </p:spPr>
        <p:txBody>
          <a:bodyPr lIns="0" tIns="0" rIns="0" bIns="0" rtlCol="0" anchor="t">
            <a:spAutoFit/>
          </a:bodyPr>
          <a:lstStyle/>
          <a:p>
            <a:pPr algn="l">
              <a:lnSpc>
                <a:spcPts val="1942"/>
              </a:lnSpc>
            </a:pPr>
            <a:r>
              <a:rPr lang="en-US" sz="1387" b="1">
                <a:solidFill>
                  <a:srgbClr val="000000"/>
                </a:solidFill>
                <a:latin typeface="Proxima Nova Bold"/>
                <a:ea typeface="Proxima Nova Bold"/>
                <a:cs typeface="Proxima Nova Bold"/>
                <a:sym typeface="Proxima Nova Bold"/>
              </a:rPr>
              <a:t>Infrastructure 100% opérationnelle</a:t>
            </a:r>
          </a:p>
        </p:txBody>
      </p:sp>
      <p:grpSp>
        <p:nvGrpSpPr>
          <p:cNvPr id="76" name="Group 29"/>
          <p:cNvGrpSpPr/>
          <p:nvPr/>
        </p:nvGrpSpPr>
        <p:grpSpPr>
          <a:xfrm>
            <a:off x="7869244" y="3602889"/>
            <a:ext cx="5041769" cy="1297356"/>
            <a:chOff x="0" y="0"/>
            <a:chExt cx="1685404" cy="433691"/>
          </a:xfrm>
        </p:grpSpPr>
        <p:sp>
          <p:nvSpPr>
            <p:cNvPr id="77" name="Freeform 30"/>
            <p:cNvSpPr/>
            <p:nvPr/>
          </p:nvSpPr>
          <p:spPr>
            <a:xfrm>
              <a:off x="0" y="0"/>
              <a:ext cx="1685404" cy="433691"/>
            </a:xfrm>
            <a:custGeom>
              <a:avLst/>
              <a:gdLst/>
              <a:ahLst/>
              <a:cxnLst/>
              <a:rect l="l" t="t" r="r" b="b"/>
              <a:pathLst>
                <a:path w="1685404" h="433691">
                  <a:moveTo>
                    <a:pt x="46067" y="0"/>
                  </a:moveTo>
                  <a:lnTo>
                    <a:pt x="1639338" y="0"/>
                  </a:lnTo>
                  <a:cubicBezTo>
                    <a:pt x="1664780" y="0"/>
                    <a:pt x="1685404" y="20625"/>
                    <a:pt x="1685404" y="46067"/>
                  </a:cubicBezTo>
                  <a:lnTo>
                    <a:pt x="1685404" y="387624"/>
                  </a:lnTo>
                  <a:cubicBezTo>
                    <a:pt x="1685404" y="399842"/>
                    <a:pt x="1680551" y="411559"/>
                    <a:pt x="1671912" y="420198"/>
                  </a:cubicBezTo>
                  <a:cubicBezTo>
                    <a:pt x="1663273" y="428837"/>
                    <a:pt x="1651555" y="433691"/>
                    <a:pt x="1639338" y="433691"/>
                  </a:cubicBezTo>
                  <a:lnTo>
                    <a:pt x="46067" y="433691"/>
                  </a:lnTo>
                  <a:cubicBezTo>
                    <a:pt x="20625" y="433691"/>
                    <a:pt x="0" y="413066"/>
                    <a:pt x="0" y="387624"/>
                  </a:cubicBezTo>
                  <a:lnTo>
                    <a:pt x="0" y="46067"/>
                  </a:lnTo>
                  <a:cubicBezTo>
                    <a:pt x="0" y="20625"/>
                    <a:pt x="20625" y="0"/>
                    <a:pt x="46067" y="0"/>
                  </a:cubicBezTo>
                  <a:close/>
                </a:path>
              </a:pathLst>
            </a:custGeom>
            <a:solidFill>
              <a:srgbClr val="FFFFFF"/>
            </a:solidFill>
          </p:spPr>
        </p:sp>
        <p:sp>
          <p:nvSpPr>
            <p:cNvPr id="78" name="TextBox 31"/>
            <p:cNvSpPr txBox="1"/>
            <p:nvPr/>
          </p:nvSpPr>
          <p:spPr>
            <a:xfrm>
              <a:off x="0" y="-38100"/>
              <a:ext cx="1685404" cy="471791"/>
            </a:xfrm>
            <a:prstGeom prst="rect">
              <a:avLst/>
            </a:prstGeom>
          </p:spPr>
          <p:txBody>
            <a:bodyPr lIns="50800" tIns="50800" rIns="50800" bIns="50800" rtlCol="0" anchor="ctr"/>
            <a:lstStyle/>
            <a:p>
              <a:pPr algn="ctr">
                <a:lnSpc>
                  <a:spcPts val="2520"/>
                </a:lnSpc>
              </a:pPr>
              <a:endParaRPr/>
            </a:p>
          </p:txBody>
        </p:sp>
      </p:grpSp>
      <p:grpSp>
        <p:nvGrpSpPr>
          <p:cNvPr id="79" name="Group 32"/>
          <p:cNvGrpSpPr/>
          <p:nvPr/>
        </p:nvGrpSpPr>
        <p:grpSpPr>
          <a:xfrm rot="5400000">
            <a:off x="8871662" y="3809541"/>
            <a:ext cx="860215" cy="884052"/>
            <a:chOff x="0" y="0"/>
            <a:chExt cx="660400" cy="678700"/>
          </a:xfrm>
        </p:grpSpPr>
        <p:sp>
          <p:nvSpPr>
            <p:cNvPr id="80" name="Freeform 33"/>
            <p:cNvSpPr/>
            <p:nvPr/>
          </p:nvSpPr>
          <p:spPr>
            <a:xfrm>
              <a:off x="0" y="0"/>
              <a:ext cx="660400" cy="678700"/>
            </a:xfrm>
            <a:custGeom>
              <a:avLst/>
              <a:gdLst/>
              <a:ahLst/>
              <a:cxnLst/>
              <a:rect l="l" t="t" r="r" b="b"/>
              <a:pathLst>
                <a:path w="660400" h="6787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5523"/>
                  </a:cubicBezTo>
                  <a:lnTo>
                    <a:pt x="660400" y="678700"/>
                  </a:lnTo>
                  <a:lnTo>
                    <a:pt x="0" y="678700"/>
                  </a:lnTo>
                  <a:lnTo>
                    <a:pt x="0" y="325785"/>
                  </a:lnTo>
                  <a:cubicBezTo>
                    <a:pt x="1782" y="185660"/>
                    <a:pt x="93019" y="64045"/>
                    <a:pt x="220252" y="19070"/>
                  </a:cubicBezTo>
                  <a:close/>
                </a:path>
              </a:pathLst>
            </a:custGeom>
            <a:solidFill>
              <a:srgbClr val="3D6298"/>
            </a:solidFill>
          </p:spPr>
        </p:sp>
        <p:sp>
          <p:nvSpPr>
            <p:cNvPr id="81" name="TextBox 34"/>
            <p:cNvSpPr txBox="1"/>
            <p:nvPr/>
          </p:nvSpPr>
          <p:spPr>
            <a:xfrm>
              <a:off x="0" y="88900"/>
              <a:ext cx="660400" cy="5898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82" name="Freeform 70"/>
          <p:cNvSpPr/>
          <p:nvPr/>
        </p:nvSpPr>
        <p:spPr>
          <a:xfrm>
            <a:off x="8135698" y="4017983"/>
            <a:ext cx="509870" cy="467168"/>
          </a:xfrm>
          <a:custGeom>
            <a:avLst/>
            <a:gdLst/>
            <a:ahLst/>
            <a:cxnLst/>
            <a:rect l="l" t="t" r="r" b="b"/>
            <a:pathLst>
              <a:path w="509870" h="467168">
                <a:moveTo>
                  <a:pt x="0" y="0"/>
                </a:moveTo>
                <a:lnTo>
                  <a:pt x="509870" y="0"/>
                </a:lnTo>
                <a:lnTo>
                  <a:pt x="509870" y="467168"/>
                </a:lnTo>
                <a:lnTo>
                  <a:pt x="0" y="467168"/>
                </a:lnTo>
                <a:lnTo>
                  <a:pt x="0" y="0"/>
                </a:lnTo>
                <a:close/>
              </a:path>
            </a:pathLst>
          </a:custGeom>
          <a:blipFill>
            <a:blip r:embed="rId11">
              <a:extLst>
                <a:ext uri="{96DAC541-7B7A-43D3-8B79-37D633B846F1}">
                  <asvg:svgBlip xmlns="" xmlns:asvg="http://schemas.microsoft.com/office/drawing/2016/SVG/main" r:embed="rId12"/>
                </a:ext>
              </a:extLst>
            </a:blip>
            <a:stretch>
              <a:fillRect/>
            </a:stretch>
          </a:blipFill>
          <a:ln cap="sq">
            <a:noFill/>
            <a:prstDash val="solid"/>
            <a:miter/>
          </a:ln>
        </p:spPr>
      </p:sp>
      <p:sp>
        <p:nvSpPr>
          <p:cNvPr id="83" name="TextBox 75"/>
          <p:cNvSpPr txBox="1"/>
          <p:nvPr/>
        </p:nvSpPr>
        <p:spPr>
          <a:xfrm>
            <a:off x="8859743" y="4024619"/>
            <a:ext cx="884052" cy="406287"/>
          </a:xfrm>
          <a:prstGeom prst="rect">
            <a:avLst/>
          </a:prstGeom>
        </p:spPr>
        <p:txBody>
          <a:bodyPr lIns="0" tIns="0" rIns="0" bIns="0" rtlCol="0" anchor="t">
            <a:spAutoFit/>
          </a:bodyPr>
          <a:lstStyle/>
          <a:p>
            <a:pPr algn="ctr">
              <a:lnSpc>
                <a:spcPts val="3337"/>
              </a:lnSpc>
            </a:pPr>
            <a:r>
              <a:rPr lang="en-US" sz="2384" b="1">
                <a:solidFill>
                  <a:srgbClr val="FFFFFF"/>
                </a:solidFill>
                <a:latin typeface="Proxima Nova Bold"/>
                <a:ea typeface="Proxima Nova Bold"/>
                <a:cs typeface="Proxima Nova Bold"/>
                <a:sym typeface="Proxima Nova Bold"/>
              </a:rPr>
              <a:t>02</a:t>
            </a:r>
          </a:p>
        </p:txBody>
      </p:sp>
      <p:sp>
        <p:nvSpPr>
          <p:cNvPr id="84" name="TextBox 76"/>
          <p:cNvSpPr txBox="1"/>
          <p:nvPr/>
        </p:nvSpPr>
        <p:spPr>
          <a:xfrm>
            <a:off x="9991441" y="4040878"/>
            <a:ext cx="2759265" cy="711968"/>
          </a:xfrm>
          <a:prstGeom prst="rect">
            <a:avLst/>
          </a:prstGeom>
        </p:spPr>
        <p:txBody>
          <a:bodyPr lIns="0" tIns="0" rIns="0" bIns="0" rtlCol="0" anchor="t">
            <a:spAutoFit/>
          </a:bodyPr>
          <a:lstStyle/>
          <a:p>
            <a:pPr algn="l">
              <a:lnSpc>
                <a:spcPts val="1942"/>
              </a:lnSpc>
            </a:pPr>
            <a:r>
              <a:rPr lang="en-US" sz="1387" dirty="0">
                <a:solidFill>
                  <a:srgbClr val="000000"/>
                </a:solidFill>
                <a:latin typeface="Proxima Nova"/>
                <a:ea typeface="Proxima Nova"/>
                <a:cs typeface="Proxima Nova"/>
                <a:sym typeface="Proxima Nova"/>
              </a:rPr>
              <a:t>Failover </a:t>
            </a:r>
            <a:r>
              <a:rPr lang="en-US" sz="1387" dirty="0" err="1">
                <a:solidFill>
                  <a:srgbClr val="000000"/>
                </a:solidFill>
                <a:latin typeface="Proxima Nova"/>
                <a:ea typeface="Proxima Nova"/>
                <a:cs typeface="Proxima Nova"/>
                <a:sym typeface="Proxima Nova"/>
              </a:rPr>
              <a:t>Corosync</a:t>
            </a:r>
            <a:r>
              <a:rPr lang="en-US" sz="1387" dirty="0">
                <a:solidFill>
                  <a:srgbClr val="000000"/>
                </a:solidFill>
                <a:latin typeface="Proxima Nova"/>
                <a:ea typeface="Proxima Nova"/>
                <a:cs typeface="Proxima Nova"/>
                <a:sym typeface="Proxima Nova"/>
              </a:rPr>
              <a:t> </a:t>
            </a:r>
            <a:r>
              <a:rPr lang="en-US" sz="1387" dirty="0" err="1">
                <a:solidFill>
                  <a:srgbClr val="000000"/>
                </a:solidFill>
                <a:latin typeface="Proxima Nova"/>
                <a:ea typeface="Proxima Nova"/>
                <a:cs typeface="Proxima Nova"/>
                <a:sym typeface="Proxima Nova"/>
              </a:rPr>
              <a:t>en</a:t>
            </a:r>
            <a:r>
              <a:rPr lang="en-US" sz="1387" dirty="0">
                <a:solidFill>
                  <a:srgbClr val="000000"/>
                </a:solidFill>
                <a:latin typeface="Proxima Nova"/>
                <a:ea typeface="Proxima Nova"/>
                <a:cs typeface="Proxima Nova"/>
                <a:sym typeface="Proxima Nova"/>
              </a:rPr>
              <a:t> ~45s · </a:t>
            </a:r>
            <a:r>
              <a:rPr lang="en-US" sz="1387" dirty="0" err="1">
                <a:solidFill>
                  <a:srgbClr val="000000"/>
                </a:solidFill>
                <a:latin typeface="Proxima Nova"/>
                <a:ea typeface="Proxima Nova"/>
                <a:cs typeface="Proxima Nova"/>
                <a:sym typeface="Proxima Nova"/>
              </a:rPr>
              <a:t>Réplication</a:t>
            </a:r>
            <a:r>
              <a:rPr lang="en-US" sz="1387" dirty="0">
                <a:solidFill>
                  <a:srgbClr val="000000"/>
                </a:solidFill>
                <a:latin typeface="Proxima Nova"/>
                <a:ea typeface="Proxima Nova"/>
                <a:cs typeface="Proxima Nova"/>
                <a:sym typeface="Proxima Nova"/>
              </a:rPr>
              <a:t> </a:t>
            </a:r>
            <a:r>
              <a:rPr lang="en-US" sz="1387" dirty="0" err="1">
                <a:solidFill>
                  <a:srgbClr val="000000"/>
                </a:solidFill>
                <a:latin typeface="Proxima Nova"/>
                <a:ea typeface="Proxima Nova"/>
                <a:cs typeface="Proxima Nova"/>
                <a:sym typeface="Proxima Nova"/>
              </a:rPr>
              <a:t>synchrone</a:t>
            </a:r>
            <a:r>
              <a:rPr lang="en-US" sz="1387" dirty="0">
                <a:solidFill>
                  <a:srgbClr val="000000"/>
                </a:solidFill>
                <a:latin typeface="Proxima Nova"/>
                <a:ea typeface="Proxima Nova"/>
                <a:cs typeface="Proxima Nova"/>
                <a:sym typeface="Proxima Nova"/>
              </a:rPr>
              <a:t> </a:t>
            </a:r>
            <a:r>
              <a:rPr lang="en-US" sz="1387" dirty="0" err="1">
                <a:solidFill>
                  <a:srgbClr val="000000"/>
                </a:solidFill>
                <a:latin typeface="Proxima Nova"/>
                <a:ea typeface="Proxima Nova"/>
                <a:cs typeface="Proxima Nova"/>
                <a:sym typeface="Proxima Nova"/>
              </a:rPr>
              <a:t>Ceph</a:t>
            </a:r>
            <a:r>
              <a:rPr lang="en-US" sz="1387" dirty="0">
                <a:solidFill>
                  <a:srgbClr val="000000"/>
                </a:solidFill>
                <a:latin typeface="Proxima Nova"/>
                <a:ea typeface="Proxima Nova"/>
                <a:cs typeface="Proxima Nova"/>
                <a:sym typeface="Proxima Nova"/>
              </a:rPr>
              <a:t> sans </a:t>
            </a:r>
            <a:r>
              <a:rPr lang="en-US" sz="1387" dirty="0" err="1">
                <a:solidFill>
                  <a:srgbClr val="000000"/>
                </a:solidFill>
                <a:latin typeface="Proxima Nova"/>
                <a:ea typeface="Proxima Nova"/>
                <a:cs typeface="Proxima Nova"/>
                <a:sym typeface="Proxima Nova"/>
              </a:rPr>
              <a:t>perte</a:t>
            </a:r>
            <a:r>
              <a:rPr lang="en-US" sz="1387" dirty="0">
                <a:solidFill>
                  <a:srgbClr val="000000"/>
                </a:solidFill>
                <a:latin typeface="Proxima Nova"/>
                <a:ea typeface="Proxima Nova"/>
                <a:cs typeface="Proxima Nova"/>
                <a:sym typeface="Proxima Nova"/>
              </a:rPr>
              <a:t> de </a:t>
            </a:r>
            <a:r>
              <a:rPr lang="en-US" sz="1387" dirty="0" err="1">
                <a:solidFill>
                  <a:srgbClr val="000000"/>
                </a:solidFill>
                <a:latin typeface="Proxima Nova"/>
                <a:ea typeface="Proxima Nova"/>
                <a:cs typeface="Proxima Nova"/>
                <a:sym typeface="Proxima Nova"/>
              </a:rPr>
              <a:t>données</a:t>
            </a:r>
            <a:endParaRPr lang="en-US" sz="1387" dirty="0">
              <a:solidFill>
                <a:srgbClr val="000000"/>
              </a:solidFill>
              <a:latin typeface="Proxima Nova"/>
              <a:ea typeface="Proxima Nova"/>
              <a:cs typeface="Proxima Nova"/>
              <a:sym typeface="Proxima Nova"/>
            </a:endParaRPr>
          </a:p>
        </p:txBody>
      </p:sp>
      <p:sp>
        <p:nvSpPr>
          <p:cNvPr id="85" name="TextBox 77"/>
          <p:cNvSpPr txBox="1"/>
          <p:nvPr/>
        </p:nvSpPr>
        <p:spPr>
          <a:xfrm>
            <a:off x="9991441" y="3804068"/>
            <a:ext cx="2759265" cy="223266"/>
          </a:xfrm>
          <a:prstGeom prst="rect">
            <a:avLst/>
          </a:prstGeom>
        </p:spPr>
        <p:txBody>
          <a:bodyPr lIns="0" tIns="0" rIns="0" bIns="0" rtlCol="0" anchor="t">
            <a:spAutoFit/>
          </a:bodyPr>
          <a:lstStyle/>
          <a:p>
            <a:pPr algn="l">
              <a:lnSpc>
                <a:spcPts val="1942"/>
              </a:lnSpc>
            </a:pPr>
            <a:r>
              <a:rPr lang="en-US" sz="1387" b="1" dirty="0" smtClean="0">
                <a:solidFill>
                  <a:srgbClr val="000000"/>
                </a:solidFill>
                <a:latin typeface="Proxima Nova Bold"/>
                <a:ea typeface="Proxima Nova Bold"/>
                <a:cs typeface="Proxima Nova Bold"/>
                <a:sym typeface="Proxima Nova Bold"/>
              </a:rPr>
              <a:t>DR</a:t>
            </a:r>
            <a:endParaRPr lang="en-US" sz="1387" b="1" dirty="0">
              <a:solidFill>
                <a:srgbClr val="000000"/>
              </a:solidFill>
              <a:latin typeface="Proxima Nova Bold"/>
              <a:ea typeface="Proxima Nova Bold"/>
              <a:cs typeface="Proxima Nova Bold"/>
              <a:sym typeface="Proxima Nova Bold"/>
            </a:endParaRPr>
          </a:p>
        </p:txBody>
      </p:sp>
      <p:grpSp>
        <p:nvGrpSpPr>
          <p:cNvPr id="103" name="Group 47"/>
          <p:cNvGrpSpPr/>
          <p:nvPr/>
        </p:nvGrpSpPr>
        <p:grpSpPr>
          <a:xfrm>
            <a:off x="13096202" y="7942057"/>
            <a:ext cx="5039398" cy="1297356"/>
            <a:chOff x="0" y="0"/>
            <a:chExt cx="1684612" cy="433691"/>
          </a:xfrm>
        </p:grpSpPr>
        <p:sp>
          <p:nvSpPr>
            <p:cNvPr id="104" name="Freeform 48"/>
            <p:cNvSpPr/>
            <p:nvPr/>
          </p:nvSpPr>
          <p:spPr>
            <a:xfrm>
              <a:off x="0" y="0"/>
              <a:ext cx="1684612" cy="433691"/>
            </a:xfrm>
            <a:custGeom>
              <a:avLst/>
              <a:gdLst/>
              <a:ahLst/>
              <a:cxnLst/>
              <a:rect l="l" t="t" r="r" b="b"/>
              <a:pathLst>
                <a:path w="1684612" h="433691">
                  <a:moveTo>
                    <a:pt x="46088" y="0"/>
                  </a:moveTo>
                  <a:lnTo>
                    <a:pt x="1638523" y="0"/>
                  </a:lnTo>
                  <a:cubicBezTo>
                    <a:pt x="1650747" y="0"/>
                    <a:pt x="1662469" y="4856"/>
                    <a:pt x="1671113" y="13499"/>
                  </a:cubicBezTo>
                  <a:cubicBezTo>
                    <a:pt x="1679756" y="22142"/>
                    <a:pt x="1684612" y="33865"/>
                    <a:pt x="1684612" y="46088"/>
                  </a:cubicBezTo>
                  <a:lnTo>
                    <a:pt x="1684612" y="387602"/>
                  </a:lnTo>
                  <a:cubicBezTo>
                    <a:pt x="1684612" y="413056"/>
                    <a:pt x="1663977" y="433691"/>
                    <a:pt x="1638523" y="433691"/>
                  </a:cubicBezTo>
                  <a:lnTo>
                    <a:pt x="46088" y="433691"/>
                  </a:lnTo>
                  <a:cubicBezTo>
                    <a:pt x="33865" y="433691"/>
                    <a:pt x="22142" y="428835"/>
                    <a:pt x="13499" y="420192"/>
                  </a:cubicBezTo>
                  <a:cubicBezTo>
                    <a:pt x="4856" y="411549"/>
                    <a:pt x="0" y="399826"/>
                    <a:pt x="0" y="387602"/>
                  </a:cubicBezTo>
                  <a:lnTo>
                    <a:pt x="0" y="46088"/>
                  </a:lnTo>
                  <a:cubicBezTo>
                    <a:pt x="0" y="33865"/>
                    <a:pt x="4856" y="22142"/>
                    <a:pt x="13499" y="13499"/>
                  </a:cubicBezTo>
                  <a:cubicBezTo>
                    <a:pt x="22142" y="4856"/>
                    <a:pt x="33865" y="0"/>
                    <a:pt x="46088" y="0"/>
                  </a:cubicBezTo>
                  <a:close/>
                </a:path>
              </a:pathLst>
            </a:custGeom>
            <a:solidFill>
              <a:srgbClr val="FFFFFF"/>
            </a:solidFill>
          </p:spPr>
        </p:sp>
        <p:sp>
          <p:nvSpPr>
            <p:cNvPr id="105" name="TextBox 49"/>
            <p:cNvSpPr txBox="1"/>
            <p:nvPr/>
          </p:nvSpPr>
          <p:spPr>
            <a:xfrm>
              <a:off x="0" y="-38100"/>
              <a:ext cx="1684612" cy="471791"/>
            </a:xfrm>
            <a:prstGeom prst="rect">
              <a:avLst/>
            </a:prstGeom>
          </p:spPr>
          <p:txBody>
            <a:bodyPr lIns="50800" tIns="50800" rIns="50800" bIns="50800" rtlCol="0" anchor="ctr"/>
            <a:lstStyle/>
            <a:p>
              <a:pPr algn="ctr">
                <a:lnSpc>
                  <a:spcPts val="2520"/>
                </a:lnSpc>
              </a:pPr>
              <a:endParaRPr/>
            </a:p>
          </p:txBody>
        </p:sp>
      </p:grpSp>
      <p:grpSp>
        <p:nvGrpSpPr>
          <p:cNvPr id="106" name="Group 50"/>
          <p:cNvGrpSpPr/>
          <p:nvPr/>
        </p:nvGrpSpPr>
        <p:grpSpPr>
          <a:xfrm rot="5400000">
            <a:off x="14098517" y="8148709"/>
            <a:ext cx="860215" cy="884052"/>
            <a:chOff x="0" y="0"/>
            <a:chExt cx="660400" cy="678700"/>
          </a:xfrm>
        </p:grpSpPr>
        <p:sp>
          <p:nvSpPr>
            <p:cNvPr id="107" name="Freeform 51"/>
            <p:cNvSpPr/>
            <p:nvPr/>
          </p:nvSpPr>
          <p:spPr>
            <a:xfrm>
              <a:off x="0" y="0"/>
              <a:ext cx="660400" cy="678700"/>
            </a:xfrm>
            <a:custGeom>
              <a:avLst/>
              <a:gdLst/>
              <a:ahLst/>
              <a:cxnLst/>
              <a:rect l="l" t="t" r="r" b="b"/>
              <a:pathLst>
                <a:path w="660400" h="6787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5523"/>
                  </a:cubicBezTo>
                  <a:lnTo>
                    <a:pt x="660400" y="678700"/>
                  </a:lnTo>
                  <a:lnTo>
                    <a:pt x="0" y="678700"/>
                  </a:lnTo>
                  <a:lnTo>
                    <a:pt x="0" y="325785"/>
                  </a:lnTo>
                  <a:cubicBezTo>
                    <a:pt x="1782" y="185660"/>
                    <a:pt x="93019" y="64045"/>
                    <a:pt x="220252" y="19070"/>
                  </a:cubicBezTo>
                  <a:close/>
                </a:path>
              </a:pathLst>
            </a:custGeom>
            <a:solidFill>
              <a:srgbClr val="345CA4"/>
            </a:solidFill>
          </p:spPr>
        </p:sp>
        <p:sp>
          <p:nvSpPr>
            <p:cNvPr id="108" name="TextBox 52"/>
            <p:cNvSpPr txBox="1"/>
            <p:nvPr/>
          </p:nvSpPr>
          <p:spPr>
            <a:xfrm>
              <a:off x="0" y="88900"/>
              <a:ext cx="660400" cy="5898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09" name="Freeform 55"/>
          <p:cNvSpPr/>
          <p:nvPr/>
        </p:nvSpPr>
        <p:spPr>
          <a:xfrm rot="5400000" flipH="1">
            <a:off x="14927656" y="5406346"/>
            <a:ext cx="958657" cy="1656580"/>
          </a:xfrm>
          <a:custGeom>
            <a:avLst/>
            <a:gdLst/>
            <a:ahLst/>
            <a:cxnLst/>
            <a:rect l="l" t="t" r="r" b="b"/>
            <a:pathLst>
              <a:path w="753001" h="806271">
                <a:moveTo>
                  <a:pt x="0" y="0"/>
                </a:moveTo>
                <a:lnTo>
                  <a:pt x="0" y="203111"/>
                </a:lnTo>
                <a:cubicBezTo>
                  <a:pt x="0" y="313581"/>
                  <a:pt x="89554" y="403136"/>
                  <a:pt x="200025" y="403136"/>
                </a:cubicBezTo>
                <a:lnTo>
                  <a:pt x="552975" y="403136"/>
                </a:lnTo>
                <a:cubicBezTo>
                  <a:pt x="606025" y="403136"/>
                  <a:pt x="656902" y="424210"/>
                  <a:pt x="694415" y="461722"/>
                </a:cubicBezTo>
                <a:cubicBezTo>
                  <a:pt x="731926" y="499234"/>
                  <a:pt x="753000" y="550111"/>
                  <a:pt x="753000" y="603161"/>
                </a:cubicBezTo>
                <a:lnTo>
                  <a:pt x="753000" y="806271"/>
                </a:lnTo>
              </a:path>
            </a:pathLst>
          </a:custGeom>
          <a:ln w="28575" cap="flat">
            <a:solidFill>
              <a:srgbClr val="BEC8DA"/>
            </a:solidFill>
            <a:prstDash val="solid"/>
            <a:headEnd type="none" w="sm" len="sm"/>
            <a:tailEnd type="none" w="sm" len="sm"/>
          </a:ln>
        </p:spPr>
      </p:sp>
      <p:sp>
        <p:nvSpPr>
          <p:cNvPr id="110" name="Freeform 72"/>
          <p:cNvSpPr/>
          <p:nvPr/>
        </p:nvSpPr>
        <p:spPr>
          <a:xfrm>
            <a:off x="13447177" y="8323272"/>
            <a:ext cx="401195" cy="534927"/>
          </a:xfrm>
          <a:custGeom>
            <a:avLst/>
            <a:gdLst/>
            <a:ahLst/>
            <a:cxnLst/>
            <a:rect l="l" t="t" r="r" b="b"/>
            <a:pathLst>
              <a:path w="401195" h="534927">
                <a:moveTo>
                  <a:pt x="0" y="0"/>
                </a:moveTo>
                <a:lnTo>
                  <a:pt x="401195" y="0"/>
                </a:lnTo>
                <a:lnTo>
                  <a:pt x="401195" y="534927"/>
                </a:lnTo>
                <a:lnTo>
                  <a:pt x="0" y="534927"/>
                </a:lnTo>
                <a:lnTo>
                  <a:pt x="0" y="0"/>
                </a:lnTo>
                <a:close/>
              </a:path>
            </a:pathLst>
          </a:custGeom>
          <a:blipFill>
            <a:blip r:embed="rId13">
              <a:extLst>
                <a:ext uri="{96DAC541-7B7A-43D3-8B79-37D633B846F1}">
                  <asvg:svgBlip xmlns="" xmlns:asvg="http://schemas.microsoft.com/office/drawing/2016/SVG/main" r:embed="rId15"/>
                </a:ext>
              </a:extLst>
            </a:blip>
            <a:stretch>
              <a:fillRect/>
            </a:stretch>
          </a:blipFill>
          <a:ln cap="sq">
            <a:noFill/>
            <a:prstDash val="solid"/>
            <a:miter/>
          </a:ln>
        </p:spPr>
      </p:sp>
      <p:sp>
        <p:nvSpPr>
          <p:cNvPr id="111" name="TextBox 84"/>
          <p:cNvSpPr txBox="1"/>
          <p:nvPr/>
        </p:nvSpPr>
        <p:spPr>
          <a:xfrm>
            <a:off x="14086599" y="8363788"/>
            <a:ext cx="884052" cy="406287"/>
          </a:xfrm>
          <a:prstGeom prst="rect">
            <a:avLst/>
          </a:prstGeom>
        </p:spPr>
        <p:txBody>
          <a:bodyPr lIns="0" tIns="0" rIns="0" bIns="0" rtlCol="0" anchor="t">
            <a:spAutoFit/>
          </a:bodyPr>
          <a:lstStyle/>
          <a:p>
            <a:pPr algn="ctr">
              <a:lnSpc>
                <a:spcPts val="3337"/>
              </a:lnSpc>
            </a:pPr>
            <a:r>
              <a:rPr lang="en-US" sz="2384" b="1">
                <a:solidFill>
                  <a:srgbClr val="122359"/>
                </a:solidFill>
                <a:latin typeface="Proxima Nova Bold"/>
                <a:ea typeface="Proxima Nova Bold"/>
                <a:cs typeface="Proxima Nova Bold"/>
                <a:sym typeface="Proxima Nova Bold"/>
              </a:rPr>
              <a:t>05</a:t>
            </a:r>
          </a:p>
        </p:txBody>
      </p:sp>
      <p:sp>
        <p:nvSpPr>
          <p:cNvPr id="112" name="TextBox 85"/>
          <p:cNvSpPr txBox="1"/>
          <p:nvPr/>
        </p:nvSpPr>
        <p:spPr>
          <a:xfrm>
            <a:off x="15218297" y="8380047"/>
            <a:ext cx="2759265" cy="487313"/>
          </a:xfrm>
          <a:prstGeom prst="rect">
            <a:avLst/>
          </a:prstGeom>
        </p:spPr>
        <p:txBody>
          <a:bodyPr lIns="0" tIns="0" rIns="0" bIns="0" rtlCol="0" anchor="t">
            <a:spAutoFit/>
          </a:bodyPr>
          <a:lstStyle/>
          <a:p>
            <a:pPr algn="l">
              <a:lnSpc>
                <a:spcPts val="1942"/>
              </a:lnSpc>
            </a:pPr>
            <a:r>
              <a:rPr lang="en-US" sz="1387" dirty="0">
                <a:solidFill>
                  <a:srgbClr val="000000"/>
                </a:solidFill>
                <a:latin typeface="Proxima Nova"/>
                <a:ea typeface="Proxima Nova"/>
                <a:cs typeface="Proxima Nova"/>
                <a:sym typeface="Proxima Nova"/>
              </a:rPr>
              <a:t>Prometheus scrape 15s · </a:t>
            </a:r>
            <a:r>
              <a:rPr lang="en-US" sz="1387" dirty="0" err="1">
                <a:solidFill>
                  <a:srgbClr val="000000"/>
                </a:solidFill>
                <a:latin typeface="Proxima Nova"/>
                <a:ea typeface="Proxima Nova"/>
                <a:cs typeface="Proxima Nova"/>
                <a:sym typeface="Proxima Nova"/>
              </a:rPr>
              <a:t>Alertes</a:t>
            </a:r>
            <a:r>
              <a:rPr lang="en-US" sz="1387" dirty="0">
                <a:solidFill>
                  <a:srgbClr val="000000"/>
                </a:solidFill>
                <a:latin typeface="Proxima Nova"/>
                <a:ea typeface="Proxima Nova"/>
                <a:cs typeface="Proxima Nova"/>
                <a:sym typeface="Proxima Nova"/>
              </a:rPr>
              <a:t> &lt; 2 min </a:t>
            </a:r>
            <a:r>
              <a:rPr lang="en-US" sz="1387" dirty="0" smtClean="0">
                <a:solidFill>
                  <a:srgbClr val="000000"/>
                </a:solidFill>
                <a:latin typeface="Proxima Nova"/>
                <a:ea typeface="Proxima Nova"/>
                <a:cs typeface="Proxima Nova"/>
                <a:sym typeface="Proxima Nova"/>
              </a:rPr>
              <a:t>· </a:t>
            </a:r>
            <a:r>
              <a:rPr lang="en-US" sz="1387" dirty="0">
                <a:solidFill>
                  <a:srgbClr val="000000"/>
                </a:solidFill>
                <a:latin typeface="Proxima Nova"/>
                <a:ea typeface="Proxima Nova"/>
                <a:cs typeface="Proxima Nova"/>
                <a:sym typeface="Proxima Nova"/>
              </a:rPr>
              <a:t>7 backups OK</a:t>
            </a:r>
          </a:p>
        </p:txBody>
      </p:sp>
      <p:sp>
        <p:nvSpPr>
          <p:cNvPr id="113" name="TextBox 86"/>
          <p:cNvSpPr txBox="1"/>
          <p:nvPr/>
        </p:nvSpPr>
        <p:spPr>
          <a:xfrm>
            <a:off x="15218297" y="8143236"/>
            <a:ext cx="2759265" cy="214183"/>
          </a:xfrm>
          <a:prstGeom prst="rect">
            <a:avLst/>
          </a:prstGeom>
        </p:spPr>
        <p:txBody>
          <a:bodyPr lIns="0" tIns="0" rIns="0" bIns="0" rtlCol="0" anchor="t">
            <a:spAutoFit/>
          </a:bodyPr>
          <a:lstStyle/>
          <a:p>
            <a:pPr algn="l">
              <a:lnSpc>
                <a:spcPts val="1764"/>
              </a:lnSpc>
            </a:pPr>
            <a:r>
              <a:rPr lang="en-US" sz="1260" b="1">
                <a:solidFill>
                  <a:srgbClr val="000000"/>
                </a:solidFill>
                <a:latin typeface="Proxima Nova Bold"/>
                <a:ea typeface="Proxima Nova Bold"/>
                <a:cs typeface="Proxima Nova Bold"/>
                <a:sym typeface="Proxima Nova Bold"/>
              </a:rPr>
              <a:t>Observabilité complète</a:t>
            </a:r>
          </a:p>
        </p:txBody>
      </p:sp>
      <p:grpSp>
        <p:nvGrpSpPr>
          <p:cNvPr id="86" name="Group 41"/>
          <p:cNvGrpSpPr/>
          <p:nvPr/>
        </p:nvGrpSpPr>
        <p:grpSpPr>
          <a:xfrm>
            <a:off x="11353917" y="6512786"/>
            <a:ext cx="5039398" cy="1297356"/>
            <a:chOff x="0" y="0"/>
            <a:chExt cx="1684612" cy="433691"/>
          </a:xfrm>
        </p:grpSpPr>
        <p:sp>
          <p:nvSpPr>
            <p:cNvPr id="87" name="Freeform 42"/>
            <p:cNvSpPr/>
            <p:nvPr/>
          </p:nvSpPr>
          <p:spPr>
            <a:xfrm>
              <a:off x="0" y="0"/>
              <a:ext cx="1684612" cy="433691"/>
            </a:xfrm>
            <a:custGeom>
              <a:avLst/>
              <a:gdLst/>
              <a:ahLst/>
              <a:cxnLst/>
              <a:rect l="l" t="t" r="r" b="b"/>
              <a:pathLst>
                <a:path w="1684612" h="433691">
                  <a:moveTo>
                    <a:pt x="46088" y="0"/>
                  </a:moveTo>
                  <a:lnTo>
                    <a:pt x="1638523" y="0"/>
                  </a:lnTo>
                  <a:cubicBezTo>
                    <a:pt x="1650747" y="0"/>
                    <a:pt x="1662469" y="4856"/>
                    <a:pt x="1671113" y="13499"/>
                  </a:cubicBezTo>
                  <a:cubicBezTo>
                    <a:pt x="1679756" y="22142"/>
                    <a:pt x="1684612" y="33865"/>
                    <a:pt x="1684612" y="46088"/>
                  </a:cubicBezTo>
                  <a:lnTo>
                    <a:pt x="1684612" y="387602"/>
                  </a:lnTo>
                  <a:cubicBezTo>
                    <a:pt x="1684612" y="413056"/>
                    <a:pt x="1663977" y="433691"/>
                    <a:pt x="1638523" y="433691"/>
                  </a:cubicBezTo>
                  <a:lnTo>
                    <a:pt x="46088" y="433691"/>
                  </a:lnTo>
                  <a:cubicBezTo>
                    <a:pt x="33865" y="433691"/>
                    <a:pt x="22142" y="428835"/>
                    <a:pt x="13499" y="420192"/>
                  </a:cubicBezTo>
                  <a:cubicBezTo>
                    <a:pt x="4856" y="411549"/>
                    <a:pt x="0" y="399826"/>
                    <a:pt x="0" y="387602"/>
                  </a:cubicBezTo>
                  <a:lnTo>
                    <a:pt x="0" y="46088"/>
                  </a:lnTo>
                  <a:cubicBezTo>
                    <a:pt x="0" y="33865"/>
                    <a:pt x="4856" y="22142"/>
                    <a:pt x="13499" y="13499"/>
                  </a:cubicBezTo>
                  <a:cubicBezTo>
                    <a:pt x="22142" y="4856"/>
                    <a:pt x="33865" y="0"/>
                    <a:pt x="46088" y="0"/>
                  </a:cubicBezTo>
                  <a:close/>
                </a:path>
              </a:pathLst>
            </a:custGeom>
            <a:solidFill>
              <a:srgbClr val="FFFFFF"/>
            </a:solidFill>
          </p:spPr>
        </p:sp>
        <p:sp>
          <p:nvSpPr>
            <p:cNvPr id="88" name="TextBox 43"/>
            <p:cNvSpPr txBox="1"/>
            <p:nvPr/>
          </p:nvSpPr>
          <p:spPr>
            <a:xfrm>
              <a:off x="0" y="-38100"/>
              <a:ext cx="1684612" cy="471791"/>
            </a:xfrm>
            <a:prstGeom prst="rect">
              <a:avLst/>
            </a:prstGeom>
          </p:spPr>
          <p:txBody>
            <a:bodyPr lIns="50800" tIns="50800" rIns="50800" bIns="50800" rtlCol="0" anchor="ctr"/>
            <a:lstStyle/>
            <a:p>
              <a:pPr algn="ctr">
                <a:lnSpc>
                  <a:spcPts val="2520"/>
                </a:lnSpc>
              </a:pPr>
              <a:endParaRPr/>
            </a:p>
          </p:txBody>
        </p:sp>
      </p:grpSp>
      <p:sp>
        <p:nvSpPr>
          <p:cNvPr id="89" name="TextBox 81"/>
          <p:cNvSpPr txBox="1"/>
          <p:nvPr/>
        </p:nvSpPr>
        <p:spPr>
          <a:xfrm>
            <a:off x="12344313" y="6934516"/>
            <a:ext cx="884052" cy="406287"/>
          </a:xfrm>
          <a:prstGeom prst="rect">
            <a:avLst/>
          </a:prstGeom>
        </p:spPr>
        <p:txBody>
          <a:bodyPr lIns="0" tIns="0" rIns="0" bIns="0" rtlCol="0" anchor="t">
            <a:spAutoFit/>
          </a:bodyPr>
          <a:lstStyle/>
          <a:p>
            <a:pPr algn="ctr">
              <a:lnSpc>
                <a:spcPts val="3337"/>
              </a:lnSpc>
            </a:pPr>
            <a:r>
              <a:rPr lang="en-US" sz="2384" b="1" dirty="0">
                <a:solidFill>
                  <a:srgbClr val="122359"/>
                </a:solidFill>
                <a:latin typeface="Proxima Nova Bold"/>
                <a:ea typeface="Proxima Nova Bold"/>
                <a:cs typeface="Proxima Nova Bold"/>
                <a:sym typeface="Proxima Nova Bold"/>
              </a:rPr>
              <a:t>04</a:t>
            </a:r>
          </a:p>
        </p:txBody>
      </p:sp>
      <p:sp>
        <p:nvSpPr>
          <p:cNvPr id="90" name="TextBox 82"/>
          <p:cNvSpPr txBox="1"/>
          <p:nvPr/>
        </p:nvSpPr>
        <p:spPr>
          <a:xfrm>
            <a:off x="13476011" y="6950775"/>
            <a:ext cx="2759265" cy="710579"/>
          </a:xfrm>
          <a:prstGeom prst="rect">
            <a:avLst/>
          </a:prstGeom>
        </p:spPr>
        <p:txBody>
          <a:bodyPr lIns="0" tIns="0" rIns="0" bIns="0" rtlCol="0" anchor="t">
            <a:spAutoFit/>
          </a:bodyPr>
          <a:lstStyle/>
          <a:p>
            <a:pPr algn="l">
              <a:lnSpc>
                <a:spcPts val="1942"/>
              </a:lnSpc>
            </a:pPr>
            <a:r>
              <a:rPr lang="en-US" sz="1387" dirty="0">
                <a:solidFill>
                  <a:srgbClr val="000000"/>
                </a:solidFill>
                <a:latin typeface="Proxima Nova"/>
                <a:ea typeface="Proxima Nova"/>
                <a:cs typeface="Proxima Nova"/>
                <a:sym typeface="Proxima Nova"/>
              </a:rPr>
              <a:t>Terraform · </a:t>
            </a:r>
            <a:r>
              <a:rPr lang="en-US" sz="1387" dirty="0" err="1">
                <a:solidFill>
                  <a:srgbClr val="000000"/>
                </a:solidFill>
                <a:latin typeface="Proxima Nova"/>
                <a:ea typeface="Proxima Nova"/>
                <a:cs typeface="Proxima Nova"/>
                <a:sym typeface="Proxima Nova"/>
              </a:rPr>
              <a:t>Ansible</a:t>
            </a:r>
            <a:r>
              <a:rPr lang="en-US" sz="1387" dirty="0">
                <a:solidFill>
                  <a:srgbClr val="000000"/>
                </a:solidFill>
                <a:latin typeface="Proxima Nova"/>
                <a:ea typeface="Proxima Nova"/>
                <a:cs typeface="Proxima Nova"/>
                <a:sym typeface="Proxima Nova"/>
              </a:rPr>
              <a:t> </a:t>
            </a:r>
            <a:r>
              <a:rPr lang="en-US" sz="1387" dirty="0" smtClean="0">
                <a:solidFill>
                  <a:srgbClr val="000000"/>
                </a:solidFill>
                <a:latin typeface="Proxima Nova"/>
                <a:ea typeface="Proxima Nova"/>
                <a:cs typeface="Proxima Nova"/>
                <a:sym typeface="Proxima Nova"/>
              </a:rPr>
              <a:t>·</a:t>
            </a:r>
          </a:p>
          <a:p>
            <a:pPr algn="l">
              <a:lnSpc>
                <a:spcPts val="1942"/>
              </a:lnSpc>
            </a:pPr>
            <a:r>
              <a:rPr lang="en-US" sz="1387" dirty="0" smtClean="0">
                <a:solidFill>
                  <a:srgbClr val="000000"/>
                </a:solidFill>
                <a:latin typeface="Proxima Nova"/>
                <a:ea typeface="Proxima Nova"/>
                <a:cs typeface="Proxima Nova"/>
                <a:sym typeface="Proxima Nova"/>
              </a:rPr>
              <a:t>· </a:t>
            </a:r>
            <a:r>
              <a:rPr lang="en-US" sz="1387" dirty="0">
                <a:solidFill>
                  <a:srgbClr val="000000"/>
                </a:solidFill>
                <a:latin typeface="Proxima Nova"/>
                <a:ea typeface="Proxima Nova"/>
                <a:cs typeface="Proxima Nova"/>
                <a:sym typeface="Proxima Nova"/>
              </a:rPr>
              <a:t>VM </a:t>
            </a:r>
            <a:r>
              <a:rPr lang="en-US" sz="1387" dirty="0" err="1">
                <a:solidFill>
                  <a:srgbClr val="000000"/>
                </a:solidFill>
                <a:latin typeface="Proxima Nova"/>
                <a:ea typeface="Proxima Nova"/>
                <a:cs typeface="Proxima Nova"/>
                <a:sym typeface="Proxima Nova"/>
              </a:rPr>
              <a:t>déployée</a:t>
            </a:r>
            <a:r>
              <a:rPr lang="en-US" sz="1387" dirty="0">
                <a:solidFill>
                  <a:srgbClr val="000000"/>
                </a:solidFill>
                <a:latin typeface="Proxima Nova"/>
                <a:ea typeface="Proxima Nova"/>
                <a:cs typeface="Proxima Nova"/>
                <a:sym typeface="Proxima Nova"/>
              </a:rPr>
              <a:t> </a:t>
            </a:r>
            <a:r>
              <a:rPr lang="en-US" sz="1387" dirty="0" err="1">
                <a:solidFill>
                  <a:srgbClr val="000000"/>
                </a:solidFill>
                <a:latin typeface="Proxima Nova"/>
                <a:ea typeface="Proxima Nova"/>
                <a:cs typeface="Proxima Nova"/>
                <a:sym typeface="Proxima Nova"/>
              </a:rPr>
              <a:t>en</a:t>
            </a:r>
            <a:r>
              <a:rPr lang="en-US" sz="1387" dirty="0">
                <a:solidFill>
                  <a:srgbClr val="000000"/>
                </a:solidFill>
                <a:latin typeface="Proxima Nova"/>
                <a:ea typeface="Proxima Nova"/>
                <a:cs typeface="Proxima Nova"/>
                <a:sym typeface="Proxima Nova"/>
              </a:rPr>
              <a:t> 20 min </a:t>
            </a:r>
            <a:r>
              <a:rPr lang="en-US" sz="1387" dirty="0" err="1">
                <a:solidFill>
                  <a:srgbClr val="000000"/>
                </a:solidFill>
                <a:latin typeface="Proxima Nova"/>
                <a:ea typeface="Proxima Nova"/>
                <a:cs typeface="Proxima Nova"/>
                <a:sym typeface="Proxima Nova"/>
              </a:rPr>
              <a:t>automatiquement</a:t>
            </a:r>
            <a:endParaRPr lang="en-US" sz="1387" dirty="0">
              <a:solidFill>
                <a:srgbClr val="000000"/>
              </a:solidFill>
              <a:latin typeface="Proxima Nova"/>
              <a:ea typeface="Proxima Nova"/>
              <a:cs typeface="Proxima Nova"/>
              <a:sym typeface="Proxima Nova"/>
            </a:endParaRPr>
          </a:p>
        </p:txBody>
      </p:sp>
      <p:sp>
        <p:nvSpPr>
          <p:cNvPr id="91" name="TextBox 83"/>
          <p:cNvSpPr txBox="1"/>
          <p:nvPr/>
        </p:nvSpPr>
        <p:spPr>
          <a:xfrm>
            <a:off x="13476011" y="6713965"/>
            <a:ext cx="2759265" cy="232877"/>
          </a:xfrm>
          <a:prstGeom prst="rect">
            <a:avLst/>
          </a:prstGeom>
        </p:spPr>
        <p:txBody>
          <a:bodyPr lIns="0" tIns="0" rIns="0" bIns="0" rtlCol="0" anchor="t">
            <a:spAutoFit/>
          </a:bodyPr>
          <a:lstStyle/>
          <a:p>
            <a:pPr algn="l">
              <a:lnSpc>
                <a:spcPts val="1942"/>
              </a:lnSpc>
            </a:pPr>
            <a:r>
              <a:rPr lang="en-US" sz="1387" b="1">
                <a:solidFill>
                  <a:srgbClr val="000000"/>
                </a:solidFill>
                <a:latin typeface="Proxima Nova Bold"/>
                <a:ea typeface="Proxima Nova Bold"/>
                <a:cs typeface="Proxima Nova Bold"/>
                <a:sym typeface="Proxima Nova Bold"/>
              </a:rPr>
              <a:t>100% Infrastructure as Code</a:t>
            </a:r>
          </a:p>
        </p:txBody>
      </p:sp>
      <p:sp>
        <p:nvSpPr>
          <p:cNvPr id="92" name="Freeform 88"/>
          <p:cNvSpPr/>
          <p:nvPr/>
        </p:nvSpPr>
        <p:spPr>
          <a:xfrm>
            <a:off x="11661985" y="6934016"/>
            <a:ext cx="454897" cy="454897"/>
          </a:xfrm>
          <a:custGeom>
            <a:avLst/>
            <a:gdLst/>
            <a:ahLst/>
            <a:cxnLst/>
            <a:rect l="l" t="t" r="r" b="b"/>
            <a:pathLst>
              <a:path w="454897" h="454897">
                <a:moveTo>
                  <a:pt x="0" y="0"/>
                </a:moveTo>
                <a:lnTo>
                  <a:pt x="454897" y="0"/>
                </a:lnTo>
                <a:lnTo>
                  <a:pt x="454897" y="454897"/>
                </a:lnTo>
                <a:lnTo>
                  <a:pt x="0" y="454897"/>
                </a:lnTo>
                <a:lnTo>
                  <a:pt x="0" y="0"/>
                </a:lnTo>
                <a:close/>
              </a:path>
            </a:pathLst>
          </a:custGeom>
          <a:blipFill>
            <a:blip r:embed="rId16">
              <a:extLst>
                <a:ext uri="{96DAC541-7B7A-43D3-8B79-37D633B846F1}">
                  <asvg:svgBlip xmlns="" xmlns:asvg="http://schemas.microsoft.com/office/drawing/2016/SVG/main" r:embed="rId17"/>
                </a:ext>
              </a:extLst>
            </a:blip>
            <a:stretch>
              <a:fillRect/>
            </a:stretch>
          </a:blipFill>
        </p:spPr>
      </p:sp>
      <p:grpSp>
        <p:nvGrpSpPr>
          <p:cNvPr id="54" name="Group 44"/>
          <p:cNvGrpSpPr/>
          <p:nvPr/>
        </p:nvGrpSpPr>
        <p:grpSpPr>
          <a:xfrm rot="5400000">
            <a:off x="12356232" y="6719438"/>
            <a:ext cx="860215" cy="884052"/>
            <a:chOff x="0" y="0"/>
            <a:chExt cx="660400" cy="678700"/>
          </a:xfrm>
        </p:grpSpPr>
        <p:sp>
          <p:nvSpPr>
            <p:cNvPr id="55" name="Freeform 45"/>
            <p:cNvSpPr/>
            <p:nvPr/>
          </p:nvSpPr>
          <p:spPr>
            <a:xfrm>
              <a:off x="0" y="0"/>
              <a:ext cx="660400" cy="678700"/>
            </a:xfrm>
            <a:custGeom>
              <a:avLst/>
              <a:gdLst/>
              <a:ahLst/>
              <a:cxnLst/>
              <a:rect l="l" t="t" r="r" b="b"/>
              <a:pathLst>
                <a:path w="660400" h="6787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5523"/>
                  </a:cubicBezTo>
                  <a:lnTo>
                    <a:pt x="660400" y="678700"/>
                  </a:lnTo>
                  <a:lnTo>
                    <a:pt x="0" y="678700"/>
                  </a:lnTo>
                  <a:lnTo>
                    <a:pt x="0" y="325785"/>
                  </a:lnTo>
                  <a:cubicBezTo>
                    <a:pt x="1782" y="185660"/>
                    <a:pt x="93019" y="64045"/>
                    <a:pt x="220252" y="19070"/>
                  </a:cubicBezTo>
                  <a:close/>
                </a:path>
              </a:pathLst>
            </a:custGeom>
            <a:solidFill>
              <a:srgbClr val="7BBFFF"/>
            </a:solidFill>
          </p:spPr>
        </p:sp>
        <p:sp>
          <p:nvSpPr>
            <p:cNvPr id="56" name="TextBox 46"/>
            <p:cNvSpPr txBox="1"/>
            <p:nvPr/>
          </p:nvSpPr>
          <p:spPr>
            <a:xfrm>
              <a:off x="0" y="88900"/>
              <a:ext cx="660400" cy="589800"/>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93" name="Group 35"/>
          <p:cNvGrpSpPr/>
          <p:nvPr/>
        </p:nvGrpSpPr>
        <p:grpSpPr>
          <a:xfrm>
            <a:off x="9612441" y="5057838"/>
            <a:ext cx="5041909" cy="1297356"/>
            <a:chOff x="0" y="0"/>
            <a:chExt cx="1685451" cy="433691"/>
          </a:xfrm>
        </p:grpSpPr>
        <p:sp>
          <p:nvSpPr>
            <p:cNvPr id="94" name="Freeform 36"/>
            <p:cNvSpPr/>
            <p:nvPr/>
          </p:nvSpPr>
          <p:spPr>
            <a:xfrm>
              <a:off x="0" y="0"/>
              <a:ext cx="1685451" cy="433691"/>
            </a:xfrm>
            <a:custGeom>
              <a:avLst/>
              <a:gdLst/>
              <a:ahLst/>
              <a:cxnLst/>
              <a:rect l="l" t="t" r="r" b="b"/>
              <a:pathLst>
                <a:path w="1685451" h="433691">
                  <a:moveTo>
                    <a:pt x="46065" y="0"/>
                  </a:moveTo>
                  <a:lnTo>
                    <a:pt x="1639386" y="0"/>
                  </a:lnTo>
                  <a:cubicBezTo>
                    <a:pt x="1651603" y="0"/>
                    <a:pt x="1663320" y="4853"/>
                    <a:pt x="1671959" y="13492"/>
                  </a:cubicBezTo>
                  <a:cubicBezTo>
                    <a:pt x="1680598" y="22131"/>
                    <a:pt x="1685451" y="33848"/>
                    <a:pt x="1685451" y="46065"/>
                  </a:cubicBezTo>
                  <a:lnTo>
                    <a:pt x="1685451" y="387625"/>
                  </a:lnTo>
                  <a:cubicBezTo>
                    <a:pt x="1685451" y="399843"/>
                    <a:pt x="1680598" y="411560"/>
                    <a:pt x="1671959" y="420199"/>
                  </a:cubicBezTo>
                  <a:cubicBezTo>
                    <a:pt x="1663320" y="428838"/>
                    <a:pt x="1651603" y="433691"/>
                    <a:pt x="1639386" y="433691"/>
                  </a:cubicBezTo>
                  <a:lnTo>
                    <a:pt x="46065" y="433691"/>
                  </a:lnTo>
                  <a:cubicBezTo>
                    <a:pt x="33848" y="433691"/>
                    <a:pt x="22131" y="428838"/>
                    <a:pt x="13492" y="420199"/>
                  </a:cubicBezTo>
                  <a:cubicBezTo>
                    <a:pt x="4853" y="411560"/>
                    <a:pt x="0" y="399843"/>
                    <a:pt x="0" y="387625"/>
                  </a:cubicBezTo>
                  <a:lnTo>
                    <a:pt x="0" y="46065"/>
                  </a:lnTo>
                  <a:cubicBezTo>
                    <a:pt x="0" y="33848"/>
                    <a:pt x="4853" y="22131"/>
                    <a:pt x="13492" y="13492"/>
                  </a:cubicBezTo>
                  <a:cubicBezTo>
                    <a:pt x="22131" y="4853"/>
                    <a:pt x="33848" y="0"/>
                    <a:pt x="46065" y="0"/>
                  </a:cubicBezTo>
                  <a:close/>
                </a:path>
              </a:pathLst>
            </a:custGeom>
            <a:solidFill>
              <a:srgbClr val="FFFFFF"/>
            </a:solidFill>
          </p:spPr>
        </p:sp>
        <p:sp>
          <p:nvSpPr>
            <p:cNvPr id="95" name="TextBox 37"/>
            <p:cNvSpPr txBox="1"/>
            <p:nvPr/>
          </p:nvSpPr>
          <p:spPr>
            <a:xfrm>
              <a:off x="0" y="-38100"/>
              <a:ext cx="1685451" cy="471791"/>
            </a:xfrm>
            <a:prstGeom prst="rect">
              <a:avLst/>
            </a:prstGeom>
          </p:spPr>
          <p:txBody>
            <a:bodyPr lIns="50800" tIns="50800" rIns="50800" bIns="50800" rtlCol="0" anchor="ctr"/>
            <a:lstStyle/>
            <a:p>
              <a:pPr algn="ctr">
                <a:lnSpc>
                  <a:spcPts val="2520"/>
                </a:lnSpc>
              </a:pPr>
              <a:endParaRPr/>
            </a:p>
          </p:txBody>
        </p:sp>
      </p:grpSp>
      <p:grpSp>
        <p:nvGrpSpPr>
          <p:cNvPr id="96" name="Group 38"/>
          <p:cNvGrpSpPr/>
          <p:nvPr/>
        </p:nvGrpSpPr>
        <p:grpSpPr>
          <a:xfrm rot="5400000">
            <a:off x="10613947" y="5264489"/>
            <a:ext cx="860215" cy="884052"/>
            <a:chOff x="0" y="0"/>
            <a:chExt cx="660400" cy="678700"/>
          </a:xfrm>
        </p:grpSpPr>
        <p:sp>
          <p:nvSpPr>
            <p:cNvPr id="97" name="Freeform 39"/>
            <p:cNvSpPr/>
            <p:nvPr/>
          </p:nvSpPr>
          <p:spPr>
            <a:xfrm>
              <a:off x="0" y="0"/>
              <a:ext cx="660400" cy="678700"/>
            </a:xfrm>
            <a:custGeom>
              <a:avLst/>
              <a:gdLst/>
              <a:ahLst/>
              <a:cxnLst/>
              <a:rect l="l" t="t" r="r" b="b"/>
              <a:pathLst>
                <a:path w="660400" h="6787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5523"/>
                  </a:cubicBezTo>
                  <a:lnTo>
                    <a:pt x="660400" y="678700"/>
                  </a:lnTo>
                  <a:lnTo>
                    <a:pt x="0" y="678700"/>
                  </a:lnTo>
                  <a:lnTo>
                    <a:pt x="0" y="325785"/>
                  </a:lnTo>
                  <a:cubicBezTo>
                    <a:pt x="1782" y="185660"/>
                    <a:pt x="93019" y="64045"/>
                    <a:pt x="220252" y="19070"/>
                  </a:cubicBezTo>
                  <a:close/>
                </a:path>
              </a:pathLst>
            </a:custGeom>
            <a:solidFill>
              <a:srgbClr val="BEC8DA"/>
            </a:solidFill>
          </p:spPr>
        </p:sp>
        <p:sp>
          <p:nvSpPr>
            <p:cNvPr id="98" name="TextBox 40"/>
            <p:cNvSpPr txBox="1"/>
            <p:nvPr/>
          </p:nvSpPr>
          <p:spPr>
            <a:xfrm>
              <a:off x="0" y="88900"/>
              <a:ext cx="660400" cy="589800"/>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99" name="Freeform 71"/>
          <p:cNvSpPr/>
          <p:nvPr/>
        </p:nvSpPr>
        <p:spPr>
          <a:xfrm>
            <a:off x="9870828" y="5446865"/>
            <a:ext cx="519300" cy="519300"/>
          </a:xfrm>
          <a:custGeom>
            <a:avLst/>
            <a:gdLst/>
            <a:ahLst/>
            <a:cxnLst/>
            <a:rect l="l" t="t" r="r" b="b"/>
            <a:pathLst>
              <a:path w="519300" h="519300">
                <a:moveTo>
                  <a:pt x="0" y="0"/>
                </a:moveTo>
                <a:lnTo>
                  <a:pt x="519300" y="0"/>
                </a:lnTo>
                <a:lnTo>
                  <a:pt x="519300" y="519300"/>
                </a:lnTo>
                <a:lnTo>
                  <a:pt x="0" y="519300"/>
                </a:lnTo>
                <a:lnTo>
                  <a:pt x="0" y="0"/>
                </a:lnTo>
                <a:close/>
              </a:path>
            </a:pathLst>
          </a:custGeom>
          <a:blipFill>
            <a:blip r:embed="rId18">
              <a:extLst>
                <a:ext uri="{96DAC541-7B7A-43D3-8B79-37D633B846F1}">
                  <asvg:svgBlip xmlns="" xmlns:asvg="http://schemas.microsoft.com/office/drawing/2016/SVG/main" r:embed="rId19"/>
                </a:ext>
              </a:extLst>
            </a:blip>
            <a:stretch>
              <a:fillRect/>
            </a:stretch>
          </a:blipFill>
          <a:ln cap="sq">
            <a:noFill/>
            <a:prstDash val="solid"/>
            <a:miter/>
          </a:ln>
        </p:spPr>
      </p:sp>
      <p:sp>
        <p:nvSpPr>
          <p:cNvPr id="100" name="TextBox 78"/>
          <p:cNvSpPr txBox="1"/>
          <p:nvPr/>
        </p:nvSpPr>
        <p:spPr>
          <a:xfrm>
            <a:off x="10602028" y="5479568"/>
            <a:ext cx="884052" cy="406287"/>
          </a:xfrm>
          <a:prstGeom prst="rect">
            <a:avLst/>
          </a:prstGeom>
        </p:spPr>
        <p:txBody>
          <a:bodyPr lIns="0" tIns="0" rIns="0" bIns="0" rtlCol="0" anchor="t">
            <a:spAutoFit/>
          </a:bodyPr>
          <a:lstStyle/>
          <a:p>
            <a:pPr algn="ctr">
              <a:lnSpc>
                <a:spcPts val="3337"/>
              </a:lnSpc>
            </a:pPr>
            <a:r>
              <a:rPr lang="en-US" sz="2384" b="1" dirty="0">
                <a:solidFill>
                  <a:srgbClr val="122359"/>
                </a:solidFill>
                <a:latin typeface="Proxima Nova Bold"/>
                <a:ea typeface="Proxima Nova Bold"/>
                <a:cs typeface="Proxima Nova Bold"/>
                <a:sym typeface="Proxima Nova Bold"/>
              </a:rPr>
              <a:t>03</a:t>
            </a:r>
          </a:p>
        </p:txBody>
      </p:sp>
      <p:sp>
        <p:nvSpPr>
          <p:cNvPr id="101" name="TextBox 79"/>
          <p:cNvSpPr txBox="1"/>
          <p:nvPr/>
        </p:nvSpPr>
        <p:spPr>
          <a:xfrm>
            <a:off x="11733726" y="5495827"/>
            <a:ext cx="2759265" cy="711968"/>
          </a:xfrm>
          <a:prstGeom prst="rect">
            <a:avLst/>
          </a:prstGeom>
        </p:spPr>
        <p:txBody>
          <a:bodyPr lIns="0" tIns="0" rIns="0" bIns="0" rtlCol="0" anchor="t">
            <a:spAutoFit/>
          </a:bodyPr>
          <a:lstStyle/>
          <a:p>
            <a:pPr algn="l">
              <a:lnSpc>
                <a:spcPts val="1942"/>
              </a:lnSpc>
            </a:pPr>
            <a:r>
              <a:rPr lang="en-US" sz="1387">
                <a:solidFill>
                  <a:srgbClr val="000000"/>
                </a:solidFill>
                <a:latin typeface="Proxima Nova"/>
                <a:ea typeface="Proxima Nova"/>
                <a:cs typeface="Proxima Nova"/>
                <a:sym typeface="Proxima Nova"/>
              </a:rPr>
              <a:t>pfSense DENY/default · Keycloak 6 realms · Cloudflare tunnels · MFA TOTP</a:t>
            </a:r>
          </a:p>
        </p:txBody>
      </p:sp>
      <p:sp>
        <p:nvSpPr>
          <p:cNvPr id="102" name="TextBox 80"/>
          <p:cNvSpPr txBox="1"/>
          <p:nvPr/>
        </p:nvSpPr>
        <p:spPr>
          <a:xfrm>
            <a:off x="11733726" y="5259016"/>
            <a:ext cx="2759265" cy="232877"/>
          </a:xfrm>
          <a:prstGeom prst="rect">
            <a:avLst/>
          </a:prstGeom>
        </p:spPr>
        <p:txBody>
          <a:bodyPr lIns="0" tIns="0" rIns="0" bIns="0" rtlCol="0" anchor="t">
            <a:spAutoFit/>
          </a:bodyPr>
          <a:lstStyle/>
          <a:p>
            <a:pPr algn="l">
              <a:lnSpc>
                <a:spcPts val="1942"/>
              </a:lnSpc>
            </a:pPr>
            <a:r>
              <a:rPr lang="en-US" sz="1387" b="1">
                <a:solidFill>
                  <a:srgbClr val="000000"/>
                </a:solidFill>
                <a:latin typeface="Proxima Nova Bold"/>
                <a:ea typeface="Proxima Nova Bold"/>
                <a:cs typeface="Proxima Nova Bold"/>
                <a:sym typeface="Proxima Nova Bold"/>
              </a:rPr>
              <a:t>Zero-Trust bout en bout</a:t>
            </a:r>
          </a:p>
        </p:txBody>
      </p:sp>
      <p:sp>
        <p:nvSpPr>
          <p:cNvPr id="114" name="TextBox 78"/>
          <p:cNvSpPr txBox="1"/>
          <p:nvPr/>
        </p:nvSpPr>
        <p:spPr>
          <a:xfrm>
            <a:off x="12305111" y="6926799"/>
            <a:ext cx="884052" cy="386965"/>
          </a:xfrm>
          <a:prstGeom prst="rect">
            <a:avLst/>
          </a:prstGeom>
        </p:spPr>
        <p:txBody>
          <a:bodyPr lIns="0" tIns="0" rIns="0" bIns="0" rtlCol="0" anchor="t">
            <a:spAutoFit/>
          </a:bodyPr>
          <a:lstStyle/>
          <a:p>
            <a:pPr algn="ctr">
              <a:lnSpc>
                <a:spcPts val="3337"/>
              </a:lnSpc>
            </a:pPr>
            <a:r>
              <a:rPr lang="en-US" sz="2384" b="1" dirty="0" smtClean="0">
                <a:solidFill>
                  <a:srgbClr val="122359"/>
                </a:solidFill>
                <a:latin typeface="Proxima Nova Bold"/>
                <a:ea typeface="Proxima Nova Bold"/>
                <a:cs typeface="Proxima Nova Bold"/>
                <a:sym typeface="Proxima Nova Bold"/>
              </a:rPr>
              <a:t>04</a:t>
            </a:r>
            <a:endParaRPr lang="en-US" sz="2384" b="1" dirty="0">
              <a:solidFill>
                <a:srgbClr val="122359"/>
              </a:solidFill>
              <a:latin typeface="Proxima Nova Bold"/>
              <a:ea typeface="Proxima Nova Bold"/>
              <a:cs typeface="Proxima Nova Bold"/>
              <a:sym typeface="Proxima Nova Bold"/>
            </a:endParaRPr>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 calcmode="lin" valueType="num">
                                      <p:cBhvr additive="base">
                                        <p:cTn id="7" dur="500" fill="hold"/>
                                        <p:tgtEl>
                                          <p:spTgt spid="28"/>
                                        </p:tgtEl>
                                        <p:attrNameLst>
                                          <p:attrName>ppt_x</p:attrName>
                                        </p:attrNameLst>
                                      </p:cBhvr>
                                      <p:tavLst>
                                        <p:tav tm="0">
                                          <p:val>
                                            <p:strVal val="#ppt_x"/>
                                          </p:val>
                                        </p:tav>
                                        <p:tav tm="100000">
                                          <p:val>
                                            <p:strVal val="#ppt_x"/>
                                          </p:val>
                                        </p:tav>
                                      </p:tavLst>
                                    </p:anim>
                                    <p:anim calcmode="lin" valueType="num">
                                      <p:cBhvr additive="base">
                                        <p:cTn id="8" dur="500" fill="hold"/>
                                        <p:tgtEl>
                                          <p:spTgt spid="2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2"/>
                                        </p:tgtEl>
                                        <p:attrNameLst>
                                          <p:attrName>style.visibility</p:attrName>
                                        </p:attrNameLst>
                                      </p:cBhvr>
                                      <p:to>
                                        <p:strVal val="visible"/>
                                      </p:to>
                                    </p:set>
                                    <p:anim calcmode="lin" valueType="num">
                                      <p:cBhvr additive="base">
                                        <p:cTn id="11" dur="500" fill="hold"/>
                                        <p:tgtEl>
                                          <p:spTgt spid="72"/>
                                        </p:tgtEl>
                                        <p:attrNameLst>
                                          <p:attrName>ppt_x</p:attrName>
                                        </p:attrNameLst>
                                      </p:cBhvr>
                                      <p:tavLst>
                                        <p:tav tm="0">
                                          <p:val>
                                            <p:strVal val="#ppt_x"/>
                                          </p:val>
                                        </p:tav>
                                        <p:tav tm="100000">
                                          <p:val>
                                            <p:strVal val="#ppt_x"/>
                                          </p:val>
                                        </p:tav>
                                      </p:tavLst>
                                    </p:anim>
                                    <p:anim calcmode="lin" valueType="num">
                                      <p:cBhvr additive="base">
                                        <p:cTn id="12" dur="500" fill="hold"/>
                                        <p:tgtEl>
                                          <p:spTgt spid="7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73"/>
                                        </p:tgtEl>
                                        <p:attrNameLst>
                                          <p:attrName>style.visibility</p:attrName>
                                        </p:attrNameLst>
                                      </p:cBhvr>
                                      <p:to>
                                        <p:strVal val="visible"/>
                                      </p:to>
                                    </p:set>
                                    <p:anim calcmode="lin" valueType="num">
                                      <p:cBhvr additive="base">
                                        <p:cTn id="15" dur="500" fill="hold"/>
                                        <p:tgtEl>
                                          <p:spTgt spid="73"/>
                                        </p:tgtEl>
                                        <p:attrNameLst>
                                          <p:attrName>ppt_x</p:attrName>
                                        </p:attrNameLst>
                                      </p:cBhvr>
                                      <p:tavLst>
                                        <p:tav tm="0">
                                          <p:val>
                                            <p:strVal val="#ppt_x"/>
                                          </p:val>
                                        </p:tav>
                                        <p:tav tm="100000">
                                          <p:val>
                                            <p:strVal val="#ppt_x"/>
                                          </p:val>
                                        </p:tav>
                                      </p:tavLst>
                                    </p:anim>
                                    <p:anim calcmode="lin" valueType="num">
                                      <p:cBhvr additive="base">
                                        <p:cTn id="16" dur="500" fill="hold"/>
                                        <p:tgtEl>
                                          <p:spTgt spid="73"/>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ppt_x"/>
                                          </p:val>
                                        </p:tav>
                                        <p:tav tm="100000">
                                          <p:val>
                                            <p:strVal val="#ppt_x"/>
                                          </p:val>
                                        </p:tav>
                                      </p:tavLst>
                                    </p:anim>
                                    <p:anim calcmode="lin" valueType="num">
                                      <p:cBhvr additive="base">
                                        <p:cTn id="20" dur="500" fill="hold"/>
                                        <p:tgtEl>
                                          <p:spTgt spid="3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74"/>
                                        </p:tgtEl>
                                        <p:attrNameLst>
                                          <p:attrName>style.visibility</p:attrName>
                                        </p:attrNameLst>
                                      </p:cBhvr>
                                      <p:to>
                                        <p:strVal val="visible"/>
                                      </p:to>
                                    </p:set>
                                    <p:anim calcmode="lin" valueType="num">
                                      <p:cBhvr additive="base">
                                        <p:cTn id="23" dur="500" fill="hold"/>
                                        <p:tgtEl>
                                          <p:spTgt spid="74"/>
                                        </p:tgtEl>
                                        <p:attrNameLst>
                                          <p:attrName>ppt_x</p:attrName>
                                        </p:attrNameLst>
                                      </p:cBhvr>
                                      <p:tavLst>
                                        <p:tav tm="0">
                                          <p:val>
                                            <p:strVal val="#ppt_x"/>
                                          </p:val>
                                        </p:tav>
                                        <p:tav tm="100000">
                                          <p:val>
                                            <p:strVal val="#ppt_x"/>
                                          </p:val>
                                        </p:tav>
                                      </p:tavLst>
                                    </p:anim>
                                    <p:anim calcmode="lin" valueType="num">
                                      <p:cBhvr additive="base">
                                        <p:cTn id="24" dur="500" fill="hold"/>
                                        <p:tgtEl>
                                          <p:spTgt spid="74"/>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additive="base">
                                        <p:cTn id="27" dur="500" fill="hold"/>
                                        <p:tgtEl>
                                          <p:spTgt spid="75"/>
                                        </p:tgtEl>
                                        <p:attrNameLst>
                                          <p:attrName>ppt_x</p:attrName>
                                        </p:attrNameLst>
                                      </p:cBhvr>
                                      <p:tavLst>
                                        <p:tav tm="0">
                                          <p:val>
                                            <p:strVal val="#ppt_x"/>
                                          </p:val>
                                        </p:tav>
                                        <p:tav tm="100000">
                                          <p:val>
                                            <p:strVal val="#ppt_x"/>
                                          </p:val>
                                        </p:tav>
                                      </p:tavLst>
                                    </p:anim>
                                    <p:anim calcmode="lin" valueType="num">
                                      <p:cBhvr additive="base">
                                        <p:cTn id="28" dur="500" fill="hold"/>
                                        <p:tgtEl>
                                          <p:spTgt spid="75"/>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500" fill="hold"/>
                                        <p:tgtEl>
                                          <p:spTgt spid="29"/>
                                        </p:tgtEl>
                                        <p:attrNameLst>
                                          <p:attrName>ppt_x</p:attrName>
                                        </p:attrNameLst>
                                      </p:cBhvr>
                                      <p:tavLst>
                                        <p:tav tm="0">
                                          <p:val>
                                            <p:strVal val="#ppt_x"/>
                                          </p:val>
                                        </p:tav>
                                        <p:tav tm="100000">
                                          <p:val>
                                            <p:strVal val="#ppt_x"/>
                                          </p:val>
                                        </p:tav>
                                      </p:tavLst>
                                    </p:anim>
                                    <p:anim calcmode="lin" valueType="num">
                                      <p:cBhvr additive="base">
                                        <p:cTn id="32"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nodeType="click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wipe(down)">
                                      <p:cBhvr>
                                        <p:cTn id="37" dur="500"/>
                                        <p:tgtEl>
                                          <p:spTgt spid="57"/>
                                        </p:tgtEl>
                                      </p:cBhvr>
                                    </p:animEffect>
                                  </p:childTnLst>
                                </p:cTn>
                              </p:par>
                              <p:par>
                                <p:cTn id="38" presetID="22" presetClass="entr" presetSubtype="4"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wipe(down)">
                                      <p:cBhvr>
                                        <p:cTn id="40" dur="500"/>
                                        <p:tgtEl>
                                          <p:spTgt spid="60"/>
                                        </p:tgtEl>
                                      </p:cBhvr>
                                    </p:animEffect>
                                  </p:childTnLst>
                                </p:cTn>
                              </p:par>
                              <p:par>
                                <p:cTn id="41" presetID="22" presetClass="entr" presetSubtype="4"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down)">
                                      <p:cBhvr>
                                        <p:cTn id="43" dur="500"/>
                                        <p:tgtEl>
                                          <p:spTgt spid="35"/>
                                        </p:tgtEl>
                                      </p:cBhvr>
                                    </p:animEffect>
                                  </p:childTnLst>
                                </p:cTn>
                              </p:par>
                              <p:par>
                                <p:cTn id="44" presetID="22" presetClass="entr" presetSubtype="4" fill="hold" nodeType="withEffect">
                                  <p:stCondLst>
                                    <p:cond delay="0"/>
                                  </p:stCondLst>
                                  <p:childTnLst>
                                    <p:set>
                                      <p:cBhvr>
                                        <p:cTn id="45" dur="1" fill="hold">
                                          <p:stCondLst>
                                            <p:cond delay="0"/>
                                          </p:stCondLst>
                                        </p:cTn>
                                        <p:tgtEl>
                                          <p:spTgt spid="82"/>
                                        </p:tgtEl>
                                        <p:attrNameLst>
                                          <p:attrName>style.visibility</p:attrName>
                                        </p:attrNameLst>
                                      </p:cBhvr>
                                      <p:to>
                                        <p:strVal val="visible"/>
                                      </p:to>
                                    </p:set>
                                    <p:animEffect transition="in" filter="wipe(down)">
                                      <p:cBhvr>
                                        <p:cTn id="46" dur="500"/>
                                        <p:tgtEl>
                                          <p:spTgt spid="82"/>
                                        </p:tgtEl>
                                      </p:cBhvr>
                                    </p:animEffect>
                                  </p:childTnLst>
                                </p:cTn>
                              </p:par>
                              <p:par>
                                <p:cTn id="47" presetID="22" presetClass="entr" presetSubtype="4" fill="hold" grpId="0" nodeType="withEffect">
                                  <p:stCondLst>
                                    <p:cond delay="0"/>
                                  </p:stCondLst>
                                  <p:childTnLst>
                                    <p:set>
                                      <p:cBhvr>
                                        <p:cTn id="48" dur="1" fill="hold">
                                          <p:stCondLst>
                                            <p:cond delay="0"/>
                                          </p:stCondLst>
                                        </p:cTn>
                                        <p:tgtEl>
                                          <p:spTgt spid="83"/>
                                        </p:tgtEl>
                                        <p:attrNameLst>
                                          <p:attrName>style.visibility</p:attrName>
                                        </p:attrNameLst>
                                      </p:cBhvr>
                                      <p:to>
                                        <p:strVal val="visible"/>
                                      </p:to>
                                    </p:set>
                                    <p:animEffect transition="in" filter="wipe(down)">
                                      <p:cBhvr>
                                        <p:cTn id="49" dur="500"/>
                                        <p:tgtEl>
                                          <p:spTgt spid="83"/>
                                        </p:tgtEl>
                                      </p:cBhvr>
                                    </p:animEffect>
                                  </p:childTnLst>
                                </p:cTn>
                              </p:par>
                              <p:par>
                                <p:cTn id="50" presetID="22" presetClass="entr" presetSubtype="4" fill="hold" nodeType="withEffect">
                                  <p:stCondLst>
                                    <p:cond delay="0"/>
                                  </p:stCondLst>
                                  <p:childTnLst>
                                    <p:set>
                                      <p:cBhvr>
                                        <p:cTn id="51" dur="1" fill="hold">
                                          <p:stCondLst>
                                            <p:cond delay="0"/>
                                          </p:stCondLst>
                                        </p:cTn>
                                        <p:tgtEl>
                                          <p:spTgt spid="76"/>
                                        </p:tgtEl>
                                        <p:attrNameLst>
                                          <p:attrName>style.visibility</p:attrName>
                                        </p:attrNameLst>
                                      </p:cBhvr>
                                      <p:to>
                                        <p:strVal val="visible"/>
                                      </p:to>
                                    </p:set>
                                    <p:animEffect transition="in" filter="wipe(down)">
                                      <p:cBhvr>
                                        <p:cTn id="52" dur="500"/>
                                        <p:tgtEl>
                                          <p:spTgt spid="76"/>
                                        </p:tgtEl>
                                      </p:cBhvr>
                                    </p:animEffect>
                                  </p:childTnLst>
                                </p:cTn>
                              </p:par>
                              <p:par>
                                <p:cTn id="53" presetID="22" presetClass="entr" presetSubtype="4" fill="hold" nodeType="with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wipe(down)">
                                      <p:cBhvr>
                                        <p:cTn id="55" dur="500"/>
                                        <p:tgtEl>
                                          <p:spTgt spid="79"/>
                                        </p:tgtEl>
                                      </p:cBhvr>
                                    </p:animEffect>
                                  </p:childTnLst>
                                </p:cTn>
                              </p:par>
                              <p:par>
                                <p:cTn id="56" presetID="22" presetClass="entr" presetSubtype="4" fill="hold" grpId="0" nodeType="withEffect">
                                  <p:stCondLst>
                                    <p:cond delay="0"/>
                                  </p:stCondLst>
                                  <p:childTnLst>
                                    <p:set>
                                      <p:cBhvr>
                                        <p:cTn id="57" dur="1" fill="hold">
                                          <p:stCondLst>
                                            <p:cond delay="0"/>
                                          </p:stCondLst>
                                        </p:cTn>
                                        <p:tgtEl>
                                          <p:spTgt spid="85"/>
                                        </p:tgtEl>
                                        <p:attrNameLst>
                                          <p:attrName>style.visibility</p:attrName>
                                        </p:attrNameLst>
                                      </p:cBhvr>
                                      <p:to>
                                        <p:strVal val="visible"/>
                                      </p:to>
                                    </p:set>
                                    <p:animEffect transition="in" filter="wipe(down)">
                                      <p:cBhvr>
                                        <p:cTn id="58" dur="500"/>
                                        <p:tgtEl>
                                          <p:spTgt spid="85"/>
                                        </p:tgtEl>
                                      </p:cBhvr>
                                    </p:animEffect>
                                  </p:childTnLst>
                                </p:cTn>
                              </p:par>
                              <p:par>
                                <p:cTn id="59" presetID="22" presetClass="entr" presetSubtype="4"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animEffect transition="in" filter="wipe(down)">
                                      <p:cBhvr>
                                        <p:cTn id="61" dur="500"/>
                                        <p:tgtEl>
                                          <p:spTgt spid="84"/>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4" fill="hold" grpId="0" nodeType="clickEffect">
                                  <p:stCondLst>
                                    <p:cond delay="0"/>
                                  </p:stCondLst>
                                  <p:childTnLst>
                                    <p:set>
                                      <p:cBhvr>
                                        <p:cTn id="65" dur="1" fill="hold">
                                          <p:stCondLst>
                                            <p:cond delay="0"/>
                                          </p:stCondLst>
                                        </p:cTn>
                                        <p:tgtEl>
                                          <p:spTgt spid="100"/>
                                        </p:tgtEl>
                                        <p:attrNameLst>
                                          <p:attrName>style.visibility</p:attrName>
                                        </p:attrNameLst>
                                      </p:cBhvr>
                                      <p:to>
                                        <p:strVal val="visible"/>
                                      </p:to>
                                    </p:set>
                                    <p:animEffect transition="in" filter="wipe(down)">
                                      <p:cBhvr>
                                        <p:cTn id="66" dur="500"/>
                                        <p:tgtEl>
                                          <p:spTgt spid="100"/>
                                        </p:tgtEl>
                                      </p:cBhvr>
                                    </p:animEffect>
                                  </p:childTnLst>
                                </p:cTn>
                              </p:par>
                              <p:par>
                                <p:cTn id="67" presetID="22" presetClass="entr" presetSubtype="4" fill="hold" nodeType="withEffect">
                                  <p:stCondLst>
                                    <p:cond delay="0"/>
                                  </p:stCondLst>
                                  <p:childTnLst>
                                    <p:set>
                                      <p:cBhvr>
                                        <p:cTn id="68" dur="1" fill="hold">
                                          <p:stCondLst>
                                            <p:cond delay="0"/>
                                          </p:stCondLst>
                                        </p:cTn>
                                        <p:tgtEl>
                                          <p:spTgt spid="96"/>
                                        </p:tgtEl>
                                        <p:attrNameLst>
                                          <p:attrName>style.visibility</p:attrName>
                                        </p:attrNameLst>
                                      </p:cBhvr>
                                      <p:to>
                                        <p:strVal val="visible"/>
                                      </p:to>
                                    </p:set>
                                    <p:animEffect transition="in" filter="wipe(down)">
                                      <p:cBhvr>
                                        <p:cTn id="69" dur="500"/>
                                        <p:tgtEl>
                                          <p:spTgt spid="96"/>
                                        </p:tgtEl>
                                      </p:cBhvr>
                                    </p:animEffect>
                                  </p:childTnLst>
                                </p:cTn>
                              </p:par>
                              <p:par>
                                <p:cTn id="70" presetID="22" presetClass="entr" presetSubtype="4" fill="hold" nodeType="withEffect">
                                  <p:stCondLst>
                                    <p:cond delay="0"/>
                                  </p:stCondLst>
                                  <p:childTnLst>
                                    <p:set>
                                      <p:cBhvr>
                                        <p:cTn id="71" dur="1" fill="hold">
                                          <p:stCondLst>
                                            <p:cond delay="0"/>
                                          </p:stCondLst>
                                        </p:cTn>
                                        <p:tgtEl>
                                          <p:spTgt spid="99"/>
                                        </p:tgtEl>
                                        <p:attrNameLst>
                                          <p:attrName>style.visibility</p:attrName>
                                        </p:attrNameLst>
                                      </p:cBhvr>
                                      <p:to>
                                        <p:strVal val="visible"/>
                                      </p:to>
                                    </p:set>
                                    <p:animEffect transition="in" filter="wipe(down)">
                                      <p:cBhvr>
                                        <p:cTn id="72" dur="500"/>
                                        <p:tgtEl>
                                          <p:spTgt spid="99"/>
                                        </p:tgtEl>
                                      </p:cBhvr>
                                    </p:animEffect>
                                  </p:childTnLst>
                                </p:cTn>
                              </p:par>
                              <p:par>
                                <p:cTn id="73" presetID="22" presetClass="entr" presetSubtype="4" fill="hold" nodeType="withEffect">
                                  <p:stCondLst>
                                    <p:cond delay="0"/>
                                  </p:stCondLst>
                                  <p:childTnLst>
                                    <p:set>
                                      <p:cBhvr>
                                        <p:cTn id="74" dur="1" fill="hold">
                                          <p:stCondLst>
                                            <p:cond delay="0"/>
                                          </p:stCondLst>
                                        </p:cTn>
                                        <p:tgtEl>
                                          <p:spTgt spid="93"/>
                                        </p:tgtEl>
                                        <p:attrNameLst>
                                          <p:attrName>style.visibility</p:attrName>
                                        </p:attrNameLst>
                                      </p:cBhvr>
                                      <p:to>
                                        <p:strVal val="visible"/>
                                      </p:to>
                                    </p:set>
                                    <p:animEffect transition="in" filter="wipe(down)">
                                      <p:cBhvr>
                                        <p:cTn id="75" dur="500"/>
                                        <p:tgtEl>
                                          <p:spTgt spid="93"/>
                                        </p:tgtEl>
                                      </p:cBhvr>
                                    </p:animEffect>
                                  </p:childTnLst>
                                </p:cTn>
                              </p:par>
                              <p:par>
                                <p:cTn id="76" presetID="22" presetClass="entr" presetSubtype="4" fill="hold" grpId="0" nodeType="withEffect">
                                  <p:stCondLst>
                                    <p:cond delay="0"/>
                                  </p:stCondLst>
                                  <p:childTnLst>
                                    <p:set>
                                      <p:cBhvr>
                                        <p:cTn id="77" dur="1" fill="hold">
                                          <p:stCondLst>
                                            <p:cond delay="0"/>
                                          </p:stCondLst>
                                        </p:cTn>
                                        <p:tgtEl>
                                          <p:spTgt spid="102"/>
                                        </p:tgtEl>
                                        <p:attrNameLst>
                                          <p:attrName>style.visibility</p:attrName>
                                        </p:attrNameLst>
                                      </p:cBhvr>
                                      <p:to>
                                        <p:strVal val="visible"/>
                                      </p:to>
                                    </p:set>
                                    <p:animEffect transition="in" filter="wipe(down)">
                                      <p:cBhvr>
                                        <p:cTn id="78" dur="500"/>
                                        <p:tgtEl>
                                          <p:spTgt spid="102"/>
                                        </p:tgtEl>
                                      </p:cBhvr>
                                    </p:animEffect>
                                  </p:childTnLst>
                                </p:cTn>
                              </p:par>
                              <p:par>
                                <p:cTn id="79" presetID="22" presetClass="entr" presetSubtype="4" fill="hold" grpId="0" nodeType="withEffect">
                                  <p:stCondLst>
                                    <p:cond delay="0"/>
                                  </p:stCondLst>
                                  <p:childTnLst>
                                    <p:set>
                                      <p:cBhvr>
                                        <p:cTn id="80" dur="1" fill="hold">
                                          <p:stCondLst>
                                            <p:cond delay="0"/>
                                          </p:stCondLst>
                                        </p:cTn>
                                        <p:tgtEl>
                                          <p:spTgt spid="101"/>
                                        </p:tgtEl>
                                        <p:attrNameLst>
                                          <p:attrName>style.visibility</p:attrName>
                                        </p:attrNameLst>
                                      </p:cBhvr>
                                      <p:to>
                                        <p:strVal val="visible"/>
                                      </p:to>
                                    </p:set>
                                    <p:animEffect transition="in" filter="wipe(down)">
                                      <p:cBhvr>
                                        <p:cTn id="81" dur="500"/>
                                        <p:tgtEl>
                                          <p:spTgt spid="101"/>
                                        </p:tgtEl>
                                      </p:cBhvr>
                                    </p:animEffect>
                                  </p:childTnLst>
                                </p:cTn>
                              </p:par>
                              <p:par>
                                <p:cTn id="82" presetID="22" presetClass="entr" presetSubtype="4" fill="hold" nodeType="withEffect">
                                  <p:stCondLst>
                                    <p:cond delay="0"/>
                                  </p:stCondLst>
                                  <p:childTnLst>
                                    <p:set>
                                      <p:cBhvr>
                                        <p:cTn id="83" dur="1" fill="hold">
                                          <p:stCondLst>
                                            <p:cond delay="0"/>
                                          </p:stCondLst>
                                        </p:cTn>
                                        <p:tgtEl>
                                          <p:spTgt spid="36"/>
                                        </p:tgtEl>
                                        <p:attrNameLst>
                                          <p:attrName>style.visibility</p:attrName>
                                        </p:attrNameLst>
                                      </p:cBhvr>
                                      <p:to>
                                        <p:strVal val="visible"/>
                                      </p:to>
                                    </p:set>
                                    <p:animEffect transition="in" filter="wipe(down)">
                                      <p:cBhvr>
                                        <p:cTn id="84" dur="500"/>
                                        <p:tgtEl>
                                          <p:spTgt spid="3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4" fill="hold" nodeType="clickEffect">
                                  <p:stCondLst>
                                    <p:cond delay="0"/>
                                  </p:stCondLst>
                                  <p:childTnLst>
                                    <p:set>
                                      <p:cBhvr>
                                        <p:cTn id="88" dur="1" fill="hold">
                                          <p:stCondLst>
                                            <p:cond delay="0"/>
                                          </p:stCondLst>
                                        </p:cTn>
                                        <p:tgtEl>
                                          <p:spTgt spid="66"/>
                                        </p:tgtEl>
                                        <p:attrNameLst>
                                          <p:attrName>style.visibility</p:attrName>
                                        </p:attrNameLst>
                                      </p:cBhvr>
                                      <p:to>
                                        <p:strVal val="visible"/>
                                      </p:to>
                                    </p:set>
                                    <p:animEffect transition="in" filter="wipe(down)">
                                      <p:cBhvr>
                                        <p:cTn id="89" dur="500"/>
                                        <p:tgtEl>
                                          <p:spTgt spid="66"/>
                                        </p:tgtEl>
                                      </p:cBhvr>
                                    </p:animEffect>
                                  </p:childTnLst>
                                </p:cTn>
                              </p:par>
                              <p:par>
                                <p:cTn id="90" presetID="22" presetClass="entr" presetSubtype="4" fill="hold" nodeType="withEffect">
                                  <p:stCondLst>
                                    <p:cond delay="0"/>
                                  </p:stCondLst>
                                  <p:childTnLst>
                                    <p:set>
                                      <p:cBhvr>
                                        <p:cTn id="91" dur="1" fill="hold">
                                          <p:stCondLst>
                                            <p:cond delay="0"/>
                                          </p:stCondLst>
                                        </p:cTn>
                                        <p:tgtEl>
                                          <p:spTgt spid="109"/>
                                        </p:tgtEl>
                                        <p:attrNameLst>
                                          <p:attrName>style.visibility</p:attrName>
                                        </p:attrNameLst>
                                      </p:cBhvr>
                                      <p:to>
                                        <p:strVal val="visible"/>
                                      </p:to>
                                    </p:set>
                                    <p:animEffect transition="in" filter="wipe(down)">
                                      <p:cBhvr>
                                        <p:cTn id="92" dur="500"/>
                                        <p:tgtEl>
                                          <p:spTgt spid="109"/>
                                        </p:tgtEl>
                                      </p:cBhvr>
                                    </p:animEffect>
                                  </p:childTnLst>
                                </p:cTn>
                              </p:par>
                              <p:par>
                                <p:cTn id="93" presetID="22" presetClass="entr" presetSubtype="4" fill="hold" grpId="0" nodeType="withEffect">
                                  <p:stCondLst>
                                    <p:cond delay="0"/>
                                  </p:stCondLst>
                                  <p:childTnLst>
                                    <p:set>
                                      <p:cBhvr>
                                        <p:cTn id="94" dur="1" fill="hold">
                                          <p:stCondLst>
                                            <p:cond delay="0"/>
                                          </p:stCondLst>
                                        </p:cTn>
                                        <p:tgtEl>
                                          <p:spTgt spid="91"/>
                                        </p:tgtEl>
                                        <p:attrNameLst>
                                          <p:attrName>style.visibility</p:attrName>
                                        </p:attrNameLst>
                                      </p:cBhvr>
                                      <p:to>
                                        <p:strVal val="visible"/>
                                      </p:to>
                                    </p:set>
                                    <p:animEffect transition="in" filter="wipe(down)">
                                      <p:cBhvr>
                                        <p:cTn id="95" dur="500"/>
                                        <p:tgtEl>
                                          <p:spTgt spid="91"/>
                                        </p:tgtEl>
                                      </p:cBhvr>
                                    </p:animEffect>
                                  </p:childTnLst>
                                </p:cTn>
                              </p:par>
                              <p:par>
                                <p:cTn id="96" presetID="22" presetClass="entr" presetSubtype="4" fill="hold" grpId="0" nodeType="withEffect">
                                  <p:stCondLst>
                                    <p:cond delay="0"/>
                                  </p:stCondLst>
                                  <p:childTnLst>
                                    <p:set>
                                      <p:cBhvr>
                                        <p:cTn id="97" dur="1" fill="hold">
                                          <p:stCondLst>
                                            <p:cond delay="0"/>
                                          </p:stCondLst>
                                        </p:cTn>
                                        <p:tgtEl>
                                          <p:spTgt spid="90"/>
                                        </p:tgtEl>
                                        <p:attrNameLst>
                                          <p:attrName>style.visibility</p:attrName>
                                        </p:attrNameLst>
                                      </p:cBhvr>
                                      <p:to>
                                        <p:strVal val="visible"/>
                                      </p:to>
                                    </p:set>
                                    <p:animEffect transition="in" filter="wipe(down)">
                                      <p:cBhvr>
                                        <p:cTn id="98" dur="500"/>
                                        <p:tgtEl>
                                          <p:spTgt spid="90"/>
                                        </p:tgtEl>
                                      </p:cBhvr>
                                    </p:animEffect>
                                  </p:childTnLst>
                                </p:cTn>
                              </p:par>
                              <p:par>
                                <p:cTn id="99" presetID="22" presetClass="entr" presetSubtype="4" fill="hold" grpId="0" nodeType="withEffect">
                                  <p:stCondLst>
                                    <p:cond delay="0"/>
                                  </p:stCondLst>
                                  <p:childTnLst>
                                    <p:set>
                                      <p:cBhvr>
                                        <p:cTn id="100" dur="1" fill="hold">
                                          <p:stCondLst>
                                            <p:cond delay="0"/>
                                          </p:stCondLst>
                                        </p:cTn>
                                        <p:tgtEl>
                                          <p:spTgt spid="114"/>
                                        </p:tgtEl>
                                        <p:attrNameLst>
                                          <p:attrName>style.visibility</p:attrName>
                                        </p:attrNameLst>
                                      </p:cBhvr>
                                      <p:to>
                                        <p:strVal val="visible"/>
                                      </p:to>
                                    </p:set>
                                    <p:animEffect transition="in" filter="wipe(down)">
                                      <p:cBhvr>
                                        <p:cTn id="101" dur="500"/>
                                        <p:tgtEl>
                                          <p:spTgt spid="114"/>
                                        </p:tgtEl>
                                      </p:cBhvr>
                                    </p:animEffect>
                                  </p:childTnLst>
                                </p:cTn>
                              </p:par>
                              <p:par>
                                <p:cTn id="102" presetID="22" presetClass="entr" presetSubtype="4" fill="hold" nodeType="withEffect">
                                  <p:stCondLst>
                                    <p:cond delay="0"/>
                                  </p:stCondLst>
                                  <p:childTnLst>
                                    <p:set>
                                      <p:cBhvr>
                                        <p:cTn id="103" dur="1" fill="hold">
                                          <p:stCondLst>
                                            <p:cond delay="0"/>
                                          </p:stCondLst>
                                        </p:cTn>
                                        <p:tgtEl>
                                          <p:spTgt spid="54"/>
                                        </p:tgtEl>
                                        <p:attrNameLst>
                                          <p:attrName>style.visibility</p:attrName>
                                        </p:attrNameLst>
                                      </p:cBhvr>
                                      <p:to>
                                        <p:strVal val="visible"/>
                                      </p:to>
                                    </p:set>
                                    <p:animEffect transition="in" filter="wipe(down)">
                                      <p:cBhvr>
                                        <p:cTn id="104" dur="500"/>
                                        <p:tgtEl>
                                          <p:spTgt spid="54"/>
                                        </p:tgtEl>
                                      </p:cBhvr>
                                    </p:animEffect>
                                  </p:childTnLst>
                                </p:cTn>
                              </p:par>
                              <p:par>
                                <p:cTn id="105" presetID="22" presetClass="entr" presetSubtype="4" fill="hold" nodeType="withEffect">
                                  <p:stCondLst>
                                    <p:cond delay="0"/>
                                  </p:stCondLst>
                                  <p:childTnLst>
                                    <p:set>
                                      <p:cBhvr>
                                        <p:cTn id="106" dur="1" fill="hold">
                                          <p:stCondLst>
                                            <p:cond delay="0"/>
                                          </p:stCondLst>
                                        </p:cTn>
                                        <p:tgtEl>
                                          <p:spTgt spid="92"/>
                                        </p:tgtEl>
                                        <p:attrNameLst>
                                          <p:attrName>style.visibility</p:attrName>
                                        </p:attrNameLst>
                                      </p:cBhvr>
                                      <p:to>
                                        <p:strVal val="visible"/>
                                      </p:to>
                                    </p:set>
                                    <p:animEffect transition="in" filter="wipe(down)">
                                      <p:cBhvr>
                                        <p:cTn id="107" dur="500"/>
                                        <p:tgtEl>
                                          <p:spTgt spid="92"/>
                                        </p:tgtEl>
                                      </p:cBhvr>
                                    </p:animEffect>
                                  </p:childTnLst>
                                </p:cTn>
                              </p:par>
                              <p:par>
                                <p:cTn id="108" presetID="22" presetClass="entr" presetSubtype="4" fill="hold" nodeType="with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wipe(down)">
                                      <p:cBhvr>
                                        <p:cTn id="110" dur="500"/>
                                        <p:tgtEl>
                                          <p:spTgt spid="37"/>
                                        </p:tgtEl>
                                      </p:cBhvr>
                                    </p:animEffect>
                                  </p:childTnLst>
                                </p:cTn>
                              </p:par>
                              <p:par>
                                <p:cTn id="111" presetID="22" presetClass="entr" presetSubtype="4" fill="hold" nodeType="withEffect">
                                  <p:stCondLst>
                                    <p:cond delay="0"/>
                                  </p:stCondLst>
                                  <p:childTnLst>
                                    <p:set>
                                      <p:cBhvr>
                                        <p:cTn id="112" dur="1" fill="hold">
                                          <p:stCondLst>
                                            <p:cond delay="0"/>
                                          </p:stCondLst>
                                        </p:cTn>
                                        <p:tgtEl>
                                          <p:spTgt spid="86"/>
                                        </p:tgtEl>
                                        <p:attrNameLst>
                                          <p:attrName>style.visibility</p:attrName>
                                        </p:attrNameLst>
                                      </p:cBhvr>
                                      <p:to>
                                        <p:strVal val="visible"/>
                                      </p:to>
                                    </p:set>
                                    <p:animEffect transition="in" filter="wipe(down)">
                                      <p:cBhvr>
                                        <p:cTn id="113" dur="500"/>
                                        <p:tgtEl>
                                          <p:spTgt spid="86"/>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4" fill="hold" nodeType="clickEffect">
                                  <p:stCondLst>
                                    <p:cond delay="0"/>
                                  </p:stCondLst>
                                  <p:childTnLst>
                                    <p:set>
                                      <p:cBhvr>
                                        <p:cTn id="117" dur="1" fill="hold">
                                          <p:stCondLst>
                                            <p:cond delay="0"/>
                                          </p:stCondLst>
                                        </p:cTn>
                                        <p:tgtEl>
                                          <p:spTgt spid="69"/>
                                        </p:tgtEl>
                                        <p:attrNameLst>
                                          <p:attrName>style.visibility</p:attrName>
                                        </p:attrNameLst>
                                      </p:cBhvr>
                                      <p:to>
                                        <p:strVal val="visible"/>
                                      </p:to>
                                    </p:set>
                                    <p:animEffect transition="in" filter="wipe(down)">
                                      <p:cBhvr>
                                        <p:cTn id="118" dur="500"/>
                                        <p:tgtEl>
                                          <p:spTgt spid="69"/>
                                        </p:tgtEl>
                                      </p:cBhvr>
                                    </p:animEffect>
                                  </p:childTnLst>
                                </p:cTn>
                              </p:par>
                              <p:par>
                                <p:cTn id="119" presetID="22" presetClass="entr" presetSubtype="4" fill="hold" nodeType="withEffect">
                                  <p:stCondLst>
                                    <p:cond delay="0"/>
                                  </p:stCondLst>
                                  <p:childTnLst>
                                    <p:set>
                                      <p:cBhvr>
                                        <p:cTn id="120" dur="1" fill="hold">
                                          <p:stCondLst>
                                            <p:cond delay="0"/>
                                          </p:stCondLst>
                                        </p:cTn>
                                        <p:tgtEl>
                                          <p:spTgt spid="59"/>
                                        </p:tgtEl>
                                        <p:attrNameLst>
                                          <p:attrName>style.visibility</p:attrName>
                                        </p:attrNameLst>
                                      </p:cBhvr>
                                      <p:to>
                                        <p:strVal val="visible"/>
                                      </p:to>
                                    </p:set>
                                    <p:animEffect transition="in" filter="wipe(down)">
                                      <p:cBhvr>
                                        <p:cTn id="121" dur="500"/>
                                        <p:tgtEl>
                                          <p:spTgt spid="59"/>
                                        </p:tgtEl>
                                      </p:cBhvr>
                                    </p:animEffect>
                                  </p:childTnLst>
                                </p:cTn>
                              </p:par>
                              <p:par>
                                <p:cTn id="122" presetID="22" presetClass="entr" presetSubtype="4" fill="hold" grpId="0" nodeType="withEffect">
                                  <p:stCondLst>
                                    <p:cond delay="0"/>
                                  </p:stCondLst>
                                  <p:childTnLst>
                                    <p:set>
                                      <p:cBhvr>
                                        <p:cTn id="123" dur="1" fill="hold">
                                          <p:stCondLst>
                                            <p:cond delay="0"/>
                                          </p:stCondLst>
                                        </p:cTn>
                                        <p:tgtEl>
                                          <p:spTgt spid="113"/>
                                        </p:tgtEl>
                                        <p:attrNameLst>
                                          <p:attrName>style.visibility</p:attrName>
                                        </p:attrNameLst>
                                      </p:cBhvr>
                                      <p:to>
                                        <p:strVal val="visible"/>
                                      </p:to>
                                    </p:set>
                                    <p:animEffect transition="in" filter="wipe(down)">
                                      <p:cBhvr>
                                        <p:cTn id="124" dur="500"/>
                                        <p:tgtEl>
                                          <p:spTgt spid="113"/>
                                        </p:tgtEl>
                                      </p:cBhvr>
                                    </p:animEffect>
                                  </p:childTnLst>
                                </p:cTn>
                              </p:par>
                              <p:par>
                                <p:cTn id="125" presetID="22" presetClass="entr" presetSubtype="4" fill="hold" grpId="0" nodeType="withEffect">
                                  <p:stCondLst>
                                    <p:cond delay="0"/>
                                  </p:stCondLst>
                                  <p:childTnLst>
                                    <p:set>
                                      <p:cBhvr>
                                        <p:cTn id="126" dur="1" fill="hold">
                                          <p:stCondLst>
                                            <p:cond delay="0"/>
                                          </p:stCondLst>
                                        </p:cTn>
                                        <p:tgtEl>
                                          <p:spTgt spid="112"/>
                                        </p:tgtEl>
                                        <p:attrNameLst>
                                          <p:attrName>style.visibility</p:attrName>
                                        </p:attrNameLst>
                                      </p:cBhvr>
                                      <p:to>
                                        <p:strVal val="visible"/>
                                      </p:to>
                                    </p:set>
                                    <p:animEffect transition="in" filter="wipe(down)">
                                      <p:cBhvr>
                                        <p:cTn id="127" dur="500"/>
                                        <p:tgtEl>
                                          <p:spTgt spid="112"/>
                                        </p:tgtEl>
                                      </p:cBhvr>
                                    </p:animEffect>
                                  </p:childTnLst>
                                </p:cTn>
                              </p:par>
                              <p:par>
                                <p:cTn id="128" presetID="22" presetClass="entr" presetSubtype="4" fill="hold" grpId="0" nodeType="withEffect">
                                  <p:stCondLst>
                                    <p:cond delay="0"/>
                                  </p:stCondLst>
                                  <p:childTnLst>
                                    <p:set>
                                      <p:cBhvr>
                                        <p:cTn id="129" dur="1" fill="hold">
                                          <p:stCondLst>
                                            <p:cond delay="0"/>
                                          </p:stCondLst>
                                        </p:cTn>
                                        <p:tgtEl>
                                          <p:spTgt spid="111"/>
                                        </p:tgtEl>
                                        <p:attrNameLst>
                                          <p:attrName>style.visibility</p:attrName>
                                        </p:attrNameLst>
                                      </p:cBhvr>
                                      <p:to>
                                        <p:strVal val="visible"/>
                                      </p:to>
                                    </p:set>
                                    <p:animEffect transition="in" filter="wipe(down)">
                                      <p:cBhvr>
                                        <p:cTn id="130" dur="500"/>
                                        <p:tgtEl>
                                          <p:spTgt spid="111"/>
                                        </p:tgtEl>
                                      </p:cBhvr>
                                    </p:animEffect>
                                  </p:childTnLst>
                                </p:cTn>
                              </p:par>
                              <p:par>
                                <p:cTn id="131" presetID="22" presetClass="entr" presetSubtype="4" fill="hold" nodeType="withEffect">
                                  <p:stCondLst>
                                    <p:cond delay="0"/>
                                  </p:stCondLst>
                                  <p:childTnLst>
                                    <p:set>
                                      <p:cBhvr>
                                        <p:cTn id="132" dur="1" fill="hold">
                                          <p:stCondLst>
                                            <p:cond delay="0"/>
                                          </p:stCondLst>
                                        </p:cTn>
                                        <p:tgtEl>
                                          <p:spTgt spid="103"/>
                                        </p:tgtEl>
                                        <p:attrNameLst>
                                          <p:attrName>style.visibility</p:attrName>
                                        </p:attrNameLst>
                                      </p:cBhvr>
                                      <p:to>
                                        <p:strVal val="visible"/>
                                      </p:to>
                                    </p:set>
                                    <p:animEffect transition="in" filter="wipe(down)">
                                      <p:cBhvr>
                                        <p:cTn id="133" dur="500"/>
                                        <p:tgtEl>
                                          <p:spTgt spid="103"/>
                                        </p:tgtEl>
                                      </p:cBhvr>
                                    </p:animEffect>
                                  </p:childTnLst>
                                </p:cTn>
                              </p:par>
                              <p:par>
                                <p:cTn id="134" presetID="22" presetClass="entr" presetSubtype="4" fill="hold" nodeType="withEffect">
                                  <p:stCondLst>
                                    <p:cond delay="0"/>
                                  </p:stCondLst>
                                  <p:childTnLst>
                                    <p:set>
                                      <p:cBhvr>
                                        <p:cTn id="135" dur="1" fill="hold">
                                          <p:stCondLst>
                                            <p:cond delay="0"/>
                                          </p:stCondLst>
                                        </p:cTn>
                                        <p:tgtEl>
                                          <p:spTgt spid="106"/>
                                        </p:tgtEl>
                                        <p:attrNameLst>
                                          <p:attrName>style.visibility</p:attrName>
                                        </p:attrNameLst>
                                      </p:cBhvr>
                                      <p:to>
                                        <p:strVal val="visible"/>
                                      </p:to>
                                    </p:set>
                                    <p:animEffect transition="in" filter="wipe(down)">
                                      <p:cBhvr>
                                        <p:cTn id="136" dur="500"/>
                                        <p:tgtEl>
                                          <p:spTgt spid="106"/>
                                        </p:tgtEl>
                                      </p:cBhvr>
                                    </p:animEffect>
                                  </p:childTnLst>
                                </p:cTn>
                              </p:par>
                              <p:par>
                                <p:cTn id="137" presetID="22" presetClass="entr" presetSubtype="4" fill="hold" nodeType="withEffect">
                                  <p:stCondLst>
                                    <p:cond delay="0"/>
                                  </p:stCondLst>
                                  <p:childTnLst>
                                    <p:set>
                                      <p:cBhvr>
                                        <p:cTn id="138" dur="1" fill="hold">
                                          <p:stCondLst>
                                            <p:cond delay="0"/>
                                          </p:stCondLst>
                                        </p:cTn>
                                        <p:tgtEl>
                                          <p:spTgt spid="110"/>
                                        </p:tgtEl>
                                        <p:attrNameLst>
                                          <p:attrName>style.visibility</p:attrName>
                                        </p:attrNameLst>
                                      </p:cBhvr>
                                      <p:to>
                                        <p:strVal val="visible"/>
                                      </p:to>
                                    </p:set>
                                    <p:animEffect transition="in" filter="wipe(down)">
                                      <p:cBhvr>
                                        <p:cTn id="139" dur="500"/>
                                        <p:tgtEl>
                                          <p:spTgt spid="110"/>
                                        </p:tgtEl>
                                      </p:cBhvr>
                                    </p:animEffect>
                                  </p:childTnLst>
                                </p:cTn>
                              </p:par>
                              <p:par>
                                <p:cTn id="140" presetID="22" presetClass="entr" presetSubtype="4" fill="hold" nodeType="withEffect">
                                  <p:stCondLst>
                                    <p:cond delay="0"/>
                                  </p:stCondLst>
                                  <p:childTnLst>
                                    <p:set>
                                      <p:cBhvr>
                                        <p:cTn id="141" dur="1" fill="hold">
                                          <p:stCondLst>
                                            <p:cond delay="0"/>
                                          </p:stCondLst>
                                        </p:cTn>
                                        <p:tgtEl>
                                          <p:spTgt spid="51"/>
                                        </p:tgtEl>
                                        <p:attrNameLst>
                                          <p:attrName>style.visibility</p:attrName>
                                        </p:attrNameLst>
                                      </p:cBhvr>
                                      <p:to>
                                        <p:strVal val="visible"/>
                                      </p:to>
                                    </p:set>
                                    <p:animEffect transition="in" filter="wipe(down)">
                                      <p:cBhvr>
                                        <p:cTn id="14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4" grpId="0"/>
      <p:bldP spid="75" grpId="0"/>
      <p:bldP spid="83" grpId="0"/>
      <p:bldP spid="84" grpId="0"/>
      <p:bldP spid="85" grpId="0"/>
      <p:bldP spid="111" grpId="0"/>
      <p:bldP spid="112" grpId="0"/>
      <p:bldP spid="113" grpId="0"/>
      <p:bldP spid="90" grpId="0"/>
      <p:bldP spid="91" grpId="0"/>
      <p:bldP spid="100" grpId="0"/>
      <p:bldP spid="101" grpId="0"/>
      <p:bldP spid="102" grpId="0"/>
      <p:bldP spid="11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l="-13281" r="-13281"/>
              </a:stretch>
            </a:blipFill>
          </p:spPr>
        </p:sp>
      </p:grpSp>
      <p:sp>
        <p:nvSpPr>
          <p:cNvPr id="38" name="Freeform 3"/>
          <p:cNvSpPr/>
          <p:nvPr/>
        </p:nvSpPr>
        <p:spPr>
          <a:xfrm>
            <a:off x="16673738" y="811134"/>
            <a:ext cx="585562" cy="482914"/>
          </a:xfrm>
          <a:custGeom>
            <a:avLst/>
            <a:gdLst/>
            <a:ahLst/>
            <a:cxnLst/>
            <a:rect l="l" t="t" r="r" b="b"/>
            <a:pathLst>
              <a:path w="585562" h="482914">
                <a:moveTo>
                  <a:pt x="0" y="0"/>
                </a:moveTo>
                <a:lnTo>
                  <a:pt x="585562" y="0"/>
                </a:lnTo>
                <a:lnTo>
                  <a:pt x="585562" y="482913"/>
                </a:lnTo>
                <a:lnTo>
                  <a:pt x="0" y="482913"/>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grpSp>
        <p:nvGrpSpPr>
          <p:cNvPr id="47" name="Group 12"/>
          <p:cNvGrpSpPr/>
          <p:nvPr/>
        </p:nvGrpSpPr>
        <p:grpSpPr>
          <a:xfrm>
            <a:off x="819761" y="705768"/>
            <a:ext cx="16648478" cy="645864"/>
            <a:chOff x="0" y="0"/>
            <a:chExt cx="10475806" cy="406400"/>
          </a:xfrm>
        </p:grpSpPr>
        <p:sp>
          <p:nvSpPr>
            <p:cNvPr id="48" name="Freeform 13"/>
            <p:cNvSpPr/>
            <p:nvPr/>
          </p:nvSpPr>
          <p:spPr>
            <a:xfrm>
              <a:off x="0" y="0"/>
              <a:ext cx="10475806" cy="406400"/>
            </a:xfrm>
            <a:custGeom>
              <a:avLst/>
              <a:gdLst/>
              <a:ahLst/>
              <a:cxnLst/>
              <a:rect l="l" t="t" r="r" b="b"/>
              <a:pathLst>
                <a:path w="10475806" h="406400">
                  <a:moveTo>
                    <a:pt x="10272606" y="0"/>
                  </a:moveTo>
                  <a:cubicBezTo>
                    <a:pt x="10384830" y="0"/>
                    <a:pt x="10475806" y="90976"/>
                    <a:pt x="10475806" y="203200"/>
                  </a:cubicBezTo>
                  <a:cubicBezTo>
                    <a:pt x="10475806" y="315424"/>
                    <a:pt x="10384830" y="406400"/>
                    <a:pt x="10272606" y="406400"/>
                  </a:cubicBezTo>
                  <a:lnTo>
                    <a:pt x="203200" y="406400"/>
                  </a:lnTo>
                  <a:cubicBezTo>
                    <a:pt x="90976" y="406400"/>
                    <a:pt x="0" y="315424"/>
                    <a:pt x="0" y="203200"/>
                  </a:cubicBezTo>
                  <a:cubicBezTo>
                    <a:pt x="0" y="90976"/>
                    <a:pt x="90976" y="0"/>
                    <a:pt x="203200" y="0"/>
                  </a:cubicBezTo>
                  <a:close/>
                </a:path>
              </a:pathLst>
            </a:custGeom>
            <a:solidFill>
              <a:srgbClr val="DDDEE4"/>
            </a:solidFill>
          </p:spPr>
        </p:sp>
        <p:sp>
          <p:nvSpPr>
            <p:cNvPr id="49" name="TextBox 14"/>
            <p:cNvSpPr txBox="1"/>
            <p:nvPr/>
          </p:nvSpPr>
          <p:spPr>
            <a:xfrm>
              <a:off x="0" y="-47625"/>
              <a:ext cx="10475806" cy="454025"/>
            </a:xfrm>
            <a:prstGeom prst="rect">
              <a:avLst/>
            </a:prstGeom>
          </p:spPr>
          <p:txBody>
            <a:bodyPr lIns="50800" tIns="50800" rIns="50800" bIns="50800" rtlCol="0" anchor="ctr"/>
            <a:lstStyle/>
            <a:p>
              <a:pPr algn="ctr">
                <a:lnSpc>
                  <a:spcPts val="3254"/>
                </a:lnSpc>
              </a:pPr>
              <a:endParaRPr/>
            </a:p>
          </p:txBody>
        </p:sp>
      </p:grpSp>
      <p:sp>
        <p:nvSpPr>
          <p:cNvPr id="50" name="Freeform 15"/>
          <p:cNvSpPr/>
          <p:nvPr/>
        </p:nvSpPr>
        <p:spPr>
          <a:xfrm>
            <a:off x="15224988" y="773112"/>
            <a:ext cx="2119267" cy="509838"/>
          </a:xfrm>
          <a:custGeom>
            <a:avLst/>
            <a:gdLst/>
            <a:ahLst/>
            <a:cxnLst/>
            <a:rect l="l" t="t" r="r" b="b"/>
            <a:pathLst>
              <a:path w="2119267" h="509838">
                <a:moveTo>
                  <a:pt x="0" y="0"/>
                </a:moveTo>
                <a:lnTo>
                  <a:pt x="2119266" y="0"/>
                </a:lnTo>
                <a:lnTo>
                  <a:pt x="2119266" y="509839"/>
                </a:lnTo>
                <a:lnTo>
                  <a:pt x="0" y="509839"/>
                </a:lnTo>
                <a:lnTo>
                  <a:pt x="0" y="0"/>
                </a:lnTo>
                <a:close/>
              </a:path>
            </a:pathLst>
          </a:custGeom>
          <a:blipFill>
            <a:blip r:embed="rId6"/>
            <a:stretch>
              <a:fillRect l="-3802" t="-174633" r="-3802" b="-172651"/>
            </a:stretch>
          </a:blipFill>
        </p:spPr>
      </p:sp>
      <p:sp>
        <p:nvSpPr>
          <p:cNvPr id="53" name="TextBox 18"/>
          <p:cNvSpPr txBox="1"/>
          <p:nvPr/>
        </p:nvSpPr>
        <p:spPr>
          <a:xfrm>
            <a:off x="1224395" y="812832"/>
            <a:ext cx="5938406" cy="410369"/>
          </a:xfrm>
          <a:prstGeom prst="rect">
            <a:avLst/>
          </a:prstGeom>
        </p:spPr>
        <p:txBody>
          <a:bodyPr wrap="square" lIns="0" tIns="0" rIns="0" bIns="0" rtlCol="0" anchor="t">
            <a:spAutoFit/>
          </a:bodyPr>
          <a:lstStyle/>
          <a:p>
            <a:pPr algn="l">
              <a:lnSpc>
                <a:spcPts val="3231"/>
              </a:lnSpc>
            </a:pPr>
            <a:r>
              <a:rPr lang="en-US" sz="2964" dirty="0" err="1">
                <a:solidFill>
                  <a:srgbClr val="000000"/>
                </a:solidFill>
                <a:latin typeface="Codec Pro"/>
                <a:ea typeface="Codec Pro"/>
                <a:cs typeface="Codec Pro"/>
                <a:sym typeface="Codec Pro"/>
              </a:rPr>
              <a:t>Tanger</a:t>
            </a:r>
            <a:r>
              <a:rPr lang="en-US" sz="2964" dirty="0">
                <a:solidFill>
                  <a:srgbClr val="000000"/>
                </a:solidFill>
                <a:latin typeface="Codec Pro"/>
                <a:ea typeface="Codec Pro"/>
                <a:cs typeface="Codec Pro"/>
                <a:sym typeface="Codec Pro"/>
              </a:rPr>
              <a:t> Med Port Authority (TMPA )</a:t>
            </a:r>
          </a:p>
        </p:txBody>
      </p:sp>
      <p:sp>
        <p:nvSpPr>
          <p:cNvPr id="4" name="Rectangle 3"/>
          <p:cNvSpPr/>
          <p:nvPr/>
        </p:nvSpPr>
        <p:spPr>
          <a:xfrm>
            <a:off x="4267200" y="5311484"/>
            <a:ext cx="9753600" cy="1015663"/>
          </a:xfrm>
          <a:prstGeom prst="rect">
            <a:avLst/>
          </a:prstGeom>
        </p:spPr>
        <p:txBody>
          <a:bodyPr wrap="square">
            <a:spAutoFit/>
          </a:bodyPr>
          <a:lstStyle/>
          <a:p>
            <a:r>
              <a:rPr lang="fr-FR" sz="6000" b="1" dirty="0"/>
              <a:t>Merci pour votre attention</a:t>
            </a:r>
            <a:endParaRPr lang="fr-FR" sz="6000" dirty="0"/>
          </a:p>
        </p:txBody>
      </p:sp>
    </p:spTree>
    <p:extLst>
      <p:ext uri="{BB962C8B-B14F-4D97-AF65-F5344CB8AC3E}">
        <p14:creationId xmlns:p14="http://schemas.microsoft.com/office/powerpoint/2010/main" val="1976815748"/>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Freeform 2">
            <a:extLst>
              <a:ext uri="{FF2B5EF4-FFF2-40B4-BE49-F238E27FC236}">
                <a16:creationId xmlns:a16="http://schemas.microsoft.com/office/drawing/2014/main" id="{EE8E17E2-E0E4-4BBA-A0FB-7F5FFC905C9B}"/>
              </a:ext>
            </a:extLst>
          </p:cNvPr>
          <p:cNvSpPr/>
          <p:nvPr/>
        </p:nvSpPr>
        <p:spPr>
          <a:xfrm>
            <a:off x="0" y="1855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3320" r="-13320"/>
            </a:stretch>
          </a:blipFill>
        </p:spPr>
      </p:sp>
      <p:sp>
        <p:nvSpPr>
          <p:cNvPr id="9" name="Rectangle 8">
            <a:extLst>
              <a:ext uri="{FF2B5EF4-FFF2-40B4-BE49-F238E27FC236}">
                <a16:creationId xmlns:a16="http://schemas.microsoft.com/office/drawing/2014/main" id="{B6B10DFF-4571-40ED-BA1B-948BD58C1326}"/>
              </a:ext>
            </a:extLst>
          </p:cNvPr>
          <p:cNvSpPr/>
          <p:nvPr/>
        </p:nvSpPr>
        <p:spPr>
          <a:xfrm>
            <a:off x="0" y="0"/>
            <a:ext cx="18288000" cy="119847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79" name="TextBox 78">
            <a:extLst>
              <a:ext uri="{FF2B5EF4-FFF2-40B4-BE49-F238E27FC236}">
                <a16:creationId xmlns:a16="http://schemas.microsoft.com/office/drawing/2014/main" id="{B8FAD656-30AE-41AE-8EF4-492EB88904CE}"/>
              </a:ext>
            </a:extLst>
          </p:cNvPr>
          <p:cNvSpPr txBox="1"/>
          <p:nvPr/>
        </p:nvSpPr>
        <p:spPr>
          <a:xfrm>
            <a:off x="6446089" y="79663"/>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Sécurité</a:t>
            </a:r>
            <a:r>
              <a:rPr lang="en-US" sz="2400" b="1" dirty="0">
                <a:solidFill>
                  <a:schemeClr val="bg1">
                    <a:lumMod val="50000"/>
                  </a:schemeClr>
                </a:solidFill>
                <a:sym typeface="TT Fors Bold"/>
              </a:rPr>
              <a:t> Zero-Trust</a:t>
            </a:r>
            <a:endParaRPr lang="fr-FR" sz="2400" b="1" dirty="0">
              <a:solidFill>
                <a:schemeClr val="bg1">
                  <a:lumMod val="50000"/>
                </a:schemeClr>
              </a:solidFill>
            </a:endParaRPr>
          </a:p>
        </p:txBody>
      </p:sp>
      <p:sp>
        <p:nvSpPr>
          <p:cNvPr id="78" name="TextBox 30">
            <a:extLst>
              <a:ext uri="{FF2B5EF4-FFF2-40B4-BE49-F238E27FC236}">
                <a16:creationId xmlns:a16="http://schemas.microsoft.com/office/drawing/2014/main" id="{2C1CA50D-E168-4C7B-BDDB-4189736E827D}"/>
              </a:ext>
            </a:extLst>
          </p:cNvPr>
          <p:cNvSpPr txBox="1"/>
          <p:nvPr/>
        </p:nvSpPr>
        <p:spPr>
          <a:xfrm>
            <a:off x="416754" y="79664"/>
            <a:ext cx="2542650" cy="830997"/>
          </a:xfrm>
          <a:prstGeom prst="rect">
            <a:avLst/>
          </a:prstGeom>
          <a:noFill/>
        </p:spPr>
        <p:txBody>
          <a:bodyPr wrap="square">
            <a:spAutoFit/>
          </a:bodyPr>
          <a:lstStyle>
            <a:defPPr>
              <a:defRPr lang="en-US"/>
            </a:defPPr>
            <a:lvl1pPr>
              <a:defRPr sz="3000" b="1">
                <a:solidFill>
                  <a:schemeClr val="bg1"/>
                </a:solidFill>
              </a:defRPr>
            </a:lvl1pPr>
          </a:lstStyle>
          <a:p>
            <a:r>
              <a:rPr lang="fr-FR" sz="2400" dirty="0">
                <a:solidFill>
                  <a:schemeClr val="bg1">
                    <a:lumMod val="50000"/>
                  </a:schemeClr>
                </a:solidFill>
              </a:rPr>
              <a:t>Contexte</a:t>
            </a:r>
            <a:r>
              <a:rPr lang="fr-FR" sz="2400" dirty="0" smtClean="0"/>
              <a:t> </a:t>
            </a:r>
            <a:r>
              <a:rPr lang="fr-FR" sz="2400" dirty="0">
                <a:solidFill>
                  <a:schemeClr val="bg1">
                    <a:lumMod val="50000"/>
                  </a:schemeClr>
                </a:solidFill>
              </a:rPr>
              <a:t>&amp;</a:t>
            </a:r>
            <a:r>
              <a:rPr lang="fr-FR" sz="2400" dirty="0"/>
              <a:t> </a:t>
            </a:r>
            <a:r>
              <a:rPr lang="fr-FR" sz="2400" dirty="0">
                <a:solidFill>
                  <a:schemeClr val="bg1">
                    <a:lumMod val="50000"/>
                  </a:schemeClr>
                </a:solidFill>
              </a:rPr>
              <a:t>Problématique</a:t>
            </a:r>
            <a:endParaRPr lang="fr-MA" sz="2400" dirty="0">
              <a:solidFill>
                <a:schemeClr val="bg1">
                  <a:lumMod val="50000"/>
                </a:schemeClr>
              </a:solidFill>
            </a:endParaRPr>
          </a:p>
        </p:txBody>
      </p:sp>
      <p:sp>
        <p:nvSpPr>
          <p:cNvPr id="81" name="TextBox 78">
            <a:extLst>
              <a:ext uri="{FF2B5EF4-FFF2-40B4-BE49-F238E27FC236}">
                <a16:creationId xmlns:a16="http://schemas.microsoft.com/office/drawing/2014/main" id="{B8FAD656-30AE-41AE-8EF4-492EB88904CE}"/>
              </a:ext>
            </a:extLst>
          </p:cNvPr>
          <p:cNvSpPr txBox="1"/>
          <p:nvPr/>
        </p:nvSpPr>
        <p:spPr>
          <a:xfrm>
            <a:off x="3360415" y="121503"/>
            <a:ext cx="2094986" cy="830997"/>
          </a:xfrm>
          <a:prstGeom prst="rect">
            <a:avLst/>
          </a:prstGeom>
          <a:noFill/>
        </p:spPr>
        <p:txBody>
          <a:bodyPr wrap="square" rtlCol="0">
            <a:spAutoFit/>
          </a:bodyPr>
          <a:lstStyle/>
          <a:p>
            <a:r>
              <a:rPr lang="en-US" sz="2400" b="1" dirty="0">
                <a:solidFill>
                  <a:schemeClr val="bg1">
                    <a:lumMod val="50000"/>
                  </a:schemeClr>
                </a:solidFill>
                <a:sym typeface="TT Fors Bold"/>
              </a:rPr>
              <a:t>Architecture &amp;</a:t>
            </a:r>
            <a:r>
              <a:rPr lang="en-US" sz="2400" b="1" dirty="0">
                <a:solidFill>
                  <a:schemeClr val="bg1"/>
                </a:solidFill>
                <a:sym typeface="TT Fors Bold"/>
              </a:rPr>
              <a:t> </a:t>
            </a:r>
            <a:r>
              <a:rPr lang="en-US" sz="2400" b="1" dirty="0" err="1">
                <a:solidFill>
                  <a:schemeClr val="bg1">
                    <a:lumMod val="50000"/>
                  </a:schemeClr>
                </a:solidFill>
                <a:sym typeface="TT Fors Bold"/>
              </a:rPr>
              <a:t>Déploiement</a:t>
            </a:r>
            <a:endParaRPr lang="fr-FR" sz="2400" b="1" dirty="0">
              <a:solidFill>
                <a:schemeClr val="bg1">
                  <a:lumMod val="50000"/>
                </a:schemeClr>
              </a:solidFill>
            </a:endParaRPr>
          </a:p>
        </p:txBody>
      </p:sp>
      <p:sp>
        <p:nvSpPr>
          <p:cNvPr id="82" name="TextBox 78">
            <a:extLst>
              <a:ext uri="{FF2B5EF4-FFF2-40B4-BE49-F238E27FC236}">
                <a16:creationId xmlns:a16="http://schemas.microsoft.com/office/drawing/2014/main" id="{B8FAD656-30AE-41AE-8EF4-492EB88904CE}"/>
              </a:ext>
            </a:extLst>
          </p:cNvPr>
          <p:cNvSpPr txBox="1"/>
          <p:nvPr/>
        </p:nvSpPr>
        <p:spPr>
          <a:xfrm>
            <a:off x="9572989" y="86450"/>
            <a:ext cx="2094986" cy="830997"/>
          </a:xfrm>
          <a:prstGeom prst="rect">
            <a:avLst/>
          </a:prstGeom>
          <a:noFill/>
        </p:spPr>
        <p:txBody>
          <a:bodyPr wrap="square" rtlCol="0">
            <a:spAutoFit/>
          </a:bodyPr>
          <a:lstStyle/>
          <a:p>
            <a:r>
              <a:rPr lang="en-US" sz="2400" b="1" dirty="0" err="1">
                <a:solidFill>
                  <a:schemeClr val="bg1">
                    <a:lumMod val="50000"/>
                  </a:schemeClr>
                </a:solidFill>
                <a:sym typeface="TT Fors Bold"/>
              </a:rPr>
              <a:t>Automatisation</a:t>
            </a:r>
            <a:r>
              <a:rPr lang="en-US" sz="2400" b="1" dirty="0">
                <a:solidFill>
                  <a:schemeClr val="bg1">
                    <a:lumMod val="50000"/>
                  </a:schemeClr>
                </a:solidFill>
                <a:sym typeface="TT Fors Bold"/>
              </a:rPr>
              <a:t> </a:t>
            </a:r>
            <a:r>
              <a:rPr lang="en-US" sz="2400" b="1" dirty="0" err="1">
                <a:solidFill>
                  <a:schemeClr val="bg1">
                    <a:lumMod val="50000"/>
                  </a:schemeClr>
                </a:solidFill>
                <a:sym typeface="TT Fors Bold"/>
              </a:rPr>
              <a:t>IaC</a:t>
            </a:r>
            <a:endParaRPr lang="fr-FR" sz="2400" b="1" dirty="0">
              <a:solidFill>
                <a:schemeClr val="bg1">
                  <a:lumMod val="50000"/>
                </a:schemeClr>
              </a:solidFill>
            </a:endParaRPr>
          </a:p>
        </p:txBody>
      </p:sp>
      <p:sp>
        <p:nvSpPr>
          <p:cNvPr id="84" name="TextBox 78">
            <a:extLst>
              <a:ext uri="{FF2B5EF4-FFF2-40B4-BE49-F238E27FC236}">
                <a16:creationId xmlns:a16="http://schemas.microsoft.com/office/drawing/2014/main" id="{B8FAD656-30AE-41AE-8EF4-492EB88904CE}"/>
              </a:ext>
            </a:extLst>
          </p:cNvPr>
          <p:cNvSpPr txBox="1"/>
          <p:nvPr/>
        </p:nvSpPr>
        <p:spPr>
          <a:xfrm>
            <a:off x="15803959" y="121503"/>
            <a:ext cx="2094986" cy="830997"/>
          </a:xfrm>
          <a:prstGeom prst="rect">
            <a:avLst/>
          </a:prstGeom>
          <a:noFill/>
        </p:spPr>
        <p:txBody>
          <a:bodyPr wrap="square" rtlCol="0">
            <a:spAutoFit/>
          </a:bodyPr>
          <a:lstStyle/>
          <a:p>
            <a:r>
              <a:rPr lang="en-US" sz="2400" b="1" dirty="0">
                <a:solidFill>
                  <a:schemeClr val="bg1"/>
                </a:solidFill>
                <a:sym typeface="TT Fors Bold"/>
              </a:rPr>
              <a:t>Supervision</a:t>
            </a:r>
            <a:r>
              <a:rPr lang="en-US" sz="2400" b="1" dirty="0">
                <a:solidFill>
                  <a:schemeClr val="bg1">
                    <a:lumMod val="50000"/>
                  </a:schemeClr>
                </a:solidFill>
                <a:sym typeface="TT Fors Bold"/>
              </a:rPr>
              <a:t> </a:t>
            </a:r>
            <a:r>
              <a:rPr lang="en-US" sz="2400" b="1" dirty="0">
                <a:solidFill>
                  <a:schemeClr val="bg1"/>
                </a:solidFill>
                <a:sym typeface="TT Fors Bold"/>
              </a:rPr>
              <a:t>&amp;</a:t>
            </a:r>
            <a:r>
              <a:rPr lang="en-US" sz="2400" b="1" dirty="0">
                <a:solidFill>
                  <a:schemeClr val="bg1">
                    <a:lumMod val="50000"/>
                  </a:schemeClr>
                </a:solidFill>
                <a:sym typeface="TT Fors Bold"/>
              </a:rPr>
              <a:t> </a:t>
            </a:r>
            <a:r>
              <a:rPr lang="en-US" sz="2400" b="1" dirty="0" err="1">
                <a:solidFill>
                  <a:schemeClr val="bg1"/>
                </a:solidFill>
                <a:sym typeface="TT Fors Bold"/>
              </a:rPr>
              <a:t>Résultats</a:t>
            </a:r>
            <a:endParaRPr lang="fr-FR" sz="2400" b="1" dirty="0">
              <a:solidFill>
                <a:schemeClr val="bg1"/>
              </a:solidFill>
            </a:endParaRPr>
          </a:p>
        </p:txBody>
      </p:sp>
      <p:sp>
        <p:nvSpPr>
          <p:cNvPr id="85" name="TextBox 78">
            <a:extLst>
              <a:ext uri="{FF2B5EF4-FFF2-40B4-BE49-F238E27FC236}">
                <a16:creationId xmlns:a16="http://schemas.microsoft.com/office/drawing/2014/main" id="{B8FAD656-30AE-41AE-8EF4-492EB88904CE}"/>
              </a:ext>
            </a:extLst>
          </p:cNvPr>
          <p:cNvSpPr txBox="1"/>
          <p:nvPr/>
        </p:nvSpPr>
        <p:spPr>
          <a:xfrm>
            <a:off x="12612930" y="121503"/>
            <a:ext cx="2452612" cy="830997"/>
          </a:xfrm>
          <a:prstGeom prst="rect">
            <a:avLst/>
          </a:prstGeom>
          <a:noFill/>
        </p:spPr>
        <p:txBody>
          <a:bodyPr wrap="square" rtlCol="0">
            <a:spAutoFit/>
          </a:bodyPr>
          <a:lstStyle/>
          <a:p>
            <a:r>
              <a:rPr lang="en-US" sz="2400" b="1" dirty="0">
                <a:solidFill>
                  <a:schemeClr val="bg1">
                    <a:lumMod val="50000"/>
                  </a:schemeClr>
                </a:solidFill>
                <a:sym typeface="TT Fors Bold"/>
              </a:rPr>
              <a:t>Backup &amp; Disaster Recovery</a:t>
            </a:r>
            <a:endParaRPr lang="fr-FR" sz="2400" b="1" dirty="0">
              <a:solidFill>
                <a:schemeClr val="bg1">
                  <a:lumMod val="50000"/>
                </a:schemeClr>
              </a:solidFill>
            </a:endParaRPr>
          </a:p>
        </p:txBody>
      </p:sp>
      <p:sp>
        <p:nvSpPr>
          <p:cNvPr id="99" name="Isosceles Triangle 9">
            <a:extLst>
              <a:ext uri="{FF2B5EF4-FFF2-40B4-BE49-F238E27FC236}">
                <a16:creationId xmlns:a16="http://schemas.microsoft.com/office/drawing/2014/main" id="{709D209E-827B-4D05-AF40-9CDA368833AE}"/>
              </a:ext>
            </a:extLst>
          </p:cNvPr>
          <p:cNvSpPr/>
          <p:nvPr/>
        </p:nvSpPr>
        <p:spPr>
          <a:xfrm>
            <a:off x="19092144" y="921367"/>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12" name="Isosceles Triangle 9">
            <a:extLst>
              <a:ext uri="{FF2B5EF4-FFF2-40B4-BE49-F238E27FC236}">
                <a16:creationId xmlns:a16="http://schemas.microsoft.com/office/drawing/2014/main" id="{709D209E-827B-4D05-AF40-9CDA368833AE}"/>
              </a:ext>
            </a:extLst>
          </p:cNvPr>
          <p:cNvSpPr/>
          <p:nvPr/>
        </p:nvSpPr>
        <p:spPr>
          <a:xfrm>
            <a:off x="15997404" y="913324"/>
            <a:ext cx="1757196" cy="280475"/>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700"/>
          </a:p>
        </p:txBody>
      </p:sp>
      <p:sp>
        <p:nvSpPr>
          <p:cNvPr id="4" name="Espace réservé du numéro de diapositive 3"/>
          <p:cNvSpPr>
            <a:spLocks noGrp="1"/>
          </p:cNvSpPr>
          <p:nvPr>
            <p:ph type="sldNum" sz="quarter" idx="12"/>
          </p:nvPr>
        </p:nvSpPr>
        <p:spPr/>
        <p:txBody>
          <a:bodyPr/>
          <a:lstStyle/>
          <a:p>
            <a:fld id="{B6F15528-21DE-4FAA-801E-634DDDAF4B2B}" type="slidenum">
              <a:rPr lang="en-US" smtClean="0"/>
              <a:pPr/>
              <a:t>29</a:t>
            </a:fld>
            <a:endParaRPr lang="en-US"/>
          </a:p>
        </p:txBody>
      </p:sp>
      <p:sp>
        <p:nvSpPr>
          <p:cNvPr id="13" name="Rounded Rectangle 12"/>
          <p:cNvSpPr/>
          <p:nvPr/>
        </p:nvSpPr>
        <p:spPr>
          <a:xfrm>
            <a:off x="533399" y="5218933"/>
            <a:ext cx="17284373" cy="1031030"/>
          </a:xfrm>
          <a:prstGeom prst="roundRect">
            <a:avLst/>
          </a:prstGeom>
          <a:solidFill>
            <a:srgbClr val="EBF8FF"/>
          </a:solidFill>
          <a:ln w="38100">
            <a:solidFill>
              <a:srgbClr val="3182CE"/>
            </a:solidFill>
          </a:ln>
        </p:spPr>
        <p:style>
          <a:lnRef idx="1">
            <a:schemeClr val="accent1"/>
          </a:lnRef>
          <a:fillRef idx="3">
            <a:schemeClr val="accent1"/>
          </a:fillRef>
          <a:effectRef idx="2">
            <a:schemeClr val="accent1"/>
          </a:effectRef>
          <a:fontRef idx="minor">
            <a:schemeClr val="lt1"/>
          </a:fontRef>
        </p:style>
        <p:txBody>
          <a:bodyPr wrap="square" lIns="101600" tIns="101600" rIns="101600" bIns="101600" rtlCol="0" anchor="ctr"/>
          <a:lstStyle/>
          <a:p>
            <a:pPr algn="ctr"/>
            <a:r>
              <a:rPr lang="fr-FR" sz="3200" b="1" dirty="0">
                <a:solidFill>
                  <a:schemeClr val="tx1"/>
                </a:solidFill>
                <a:latin typeface="Calibri" pitchFamily="34" charset="0"/>
                <a:ea typeface="Calibri" pitchFamily="34" charset="-122"/>
                <a:cs typeface="Calibri" pitchFamily="34" charset="-120"/>
              </a:rPr>
              <a:t>Validation</a:t>
            </a:r>
            <a:r>
              <a:rPr lang="fr-FR" sz="3200" b="1" dirty="0">
                <a:solidFill>
                  <a:schemeClr val="tx1"/>
                </a:solidFill>
                <a:latin typeface="Calibri"/>
              </a:rPr>
              <a:t> </a:t>
            </a:r>
            <a:r>
              <a:rPr lang="fr-FR" sz="3200" b="1" dirty="0">
                <a:solidFill>
                  <a:schemeClr val="tx1"/>
                </a:solidFill>
                <a:latin typeface="Calibri" pitchFamily="34" charset="0"/>
                <a:ea typeface="Calibri" pitchFamily="34" charset="-122"/>
                <a:cs typeface="Calibri" pitchFamily="34" charset="-120"/>
              </a:rPr>
              <a:t>du</a:t>
            </a:r>
            <a:r>
              <a:rPr lang="fr-FR" sz="3200" b="1" dirty="0">
                <a:solidFill>
                  <a:schemeClr val="tx1"/>
                </a:solidFill>
                <a:latin typeface="Calibri"/>
              </a:rPr>
              <a:t> </a:t>
            </a:r>
            <a:r>
              <a:rPr lang="fr-FR" sz="3200" b="1" dirty="0">
                <a:solidFill>
                  <a:schemeClr val="tx1"/>
                </a:solidFill>
                <a:latin typeface="Calibri" pitchFamily="34" charset="0"/>
                <a:ea typeface="Calibri" pitchFamily="34" charset="-122"/>
                <a:cs typeface="Calibri" pitchFamily="34" charset="-120"/>
              </a:rPr>
              <a:t>projet</a:t>
            </a:r>
            <a:r>
              <a:rPr lang="fr-FR" sz="3200" b="1" dirty="0">
                <a:solidFill>
                  <a:schemeClr val="tx1"/>
                </a:solidFill>
                <a:latin typeface="Calibri"/>
              </a:rPr>
              <a:t> : </a:t>
            </a:r>
            <a:r>
              <a:rPr lang="fr-FR" sz="3200" b="1" dirty="0">
                <a:solidFill>
                  <a:schemeClr val="tx1"/>
                </a:solidFill>
                <a:latin typeface="Calibri" pitchFamily="34" charset="0"/>
                <a:ea typeface="Calibri" pitchFamily="34" charset="-122"/>
                <a:cs typeface="Calibri" pitchFamily="34" charset="-120"/>
              </a:rPr>
              <a:t>Validation</a:t>
            </a:r>
            <a:r>
              <a:rPr lang="fr-FR" sz="3200" b="1" dirty="0">
                <a:solidFill>
                  <a:schemeClr val="tx1"/>
                </a:solidFill>
                <a:latin typeface="Calibri"/>
              </a:rPr>
              <a:t> </a:t>
            </a:r>
            <a:r>
              <a:rPr lang="fr-FR" sz="3200" b="1" dirty="0">
                <a:solidFill>
                  <a:schemeClr val="tx1"/>
                </a:solidFill>
                <a:latin typeface="Calibri" pitchFamily="34" charset="0"/>
                <a:ea typeface="Calibri" pitchFamily="34" charset="-122"/>
                <a:cs typeface="Calibri" pitchFamily="34" charset="-120"/>
              </a:rPr>
              <a:t>officielle</a:t>
            </a:r>
            <a:r>
              <a:rPr lang="fr-FR" sz="3200" b="1" dirty="0">
                <a:solidFill>
                  <a:schemeClr val="tx1"/>
                </a:solidFill>
                <a:latin typeface="Calibri"/>
              </a:rPr>
              <a:t> par le </a:t>
            </a:r>
            <a:r>
              <a:rPr lang="fr-FR" sz="3200" b="1" dirty="0">
                <a:solidFill>
                  <a:schemeClr val="tx1"/>
                </a:solidFill>
                <a:latin typeface="Calibri" pitchFamily="34" charset="0"/>
                <a:ea typeface="Calibri" pitchFamily="34" charset="-122"/>
                <a:cs typeface="Calibri" pitchFamily="34" charset="-120"/>
              </a:rPr>
              <a:t>chef</a:t>
            </a:r>
            <a:r>
              <a:rPr lang="fr-FR" sz="3200" b="1" dirty="0">
                <a:solidFill>
                  <a:schemeClr val="tx1"/>
                </a:solidFill>
                <a:latin typeface="Calibri"/>
              </a:rPr>
              <a:t> de projet Mr. Yassine DRIOUCH.</a:t>
            </a:r>
            <a:endParaRPr sz="3200" b="1" dirty="0">
              <a:solidFill>
                <a:schemeClr val="tx1"/>
              </a:solidFill>
              <a:latin typeface="Calibri"/>
            </a:endParaRPr>
          </a:p>
        </p:txBody>
      </p:sp>
      <p:sp>
        <p:nvSpPr>
          <p:cNvPr id="15" name="Freeform 34"/>
          <p:cNvSpPr/>
          <p:nvPr/>
        </p:nvSpPr>
        <p:spPr>
          <a:xfrm>
            <a:off x="906083" y="4579868"/>
            <a:ext cx="16992862" cy="563632"/>
          </a:xfrm>
          <a:custGeom>
            <a:avLst/>
            <a:gdLst/>
            <a:ahLst/>
            <a:cxnLst/>
            <a:rect l="l" t="t" r="r" b="b"/>
            <a:pathLst>
              <a:path w="8166315" h="563632">
                <a:moveTo>
                  <a:pt x="0" y="0"/>
                </a:moveTo>
                <a:lnTo>
                  <a:pt x="8166315" y="0"/>
                </a:lnTo>
                <a:lnTo>
                  <a:pt x="8166315" y="563632"/>
                </a:lnTo>
                <a:lnTo>
                  <a:pt x="0" y="563632"/>
                </a:lnTo>
                <a:lnTo>
                  <a:pt x="0" y="0"/>
                </a:lnTo>
                <a:close/>
              </a:path>
            </a:pathLst>
          </a:custGeom>
          <a:blipFill>
            <a:blip r:embed="rId4">
              <a:alphaModFix amt="67000"/>
            </a:blip>
            <a:stretch>
              <a:fillRect t="-15857" b="-15857"/>
            </a:stretch>
          </a:blipFill>
        </p:spPr>
      </p:sp>
      <p:grpSp>
        <p:nvGrpSpPr>
          <p:cNvPr id="16" name="Group 35"/>
          <p:cNvGrpSpPr/>
          <p:nvPr/>
        </p:nvGrpSpPr>
        <p:grpSpPr>
          <a:xfrm>
            <a:off x="674836" y="1952447"/>
            <a:ext cx="16992862" cy="2877576"/>
            <a:chOff x="0" y="0"/>
            <a:chExt cx="1243832" cy="533410"/>
          </a:xfrm>
        </p:grpSpPr>
        <p:sp>
          <p:nvSpPr>
            <p:cNvPr id="17" name="Freeform 36"/>
            <p:cNvSpPr/>
            <p:nvPr/>
          </p:nvSpPr>
          <p:spPr>
            <a:xfrm>
              <a:off x="0" y="0"/>
              <a:ext cx="1243832" cy="533410"/>
            </a:xfrm>
            <a:custGeom>
              <a:avLst/>
              <a:gdLst/>
              <a:ahLst/>
              <a:cxnLst/>
              <a:rect l="l" t="t" r="r" b="b"/>
              <a:pathLst>
                <a:path w="1243832" h="533410">
                  <a:moveTo>
                    <a:pt x="18013" y="0"/>
                  </a:moveTo>
                  <a:lnTo>
                    <a:pt x="1225819" y="0"/>
                  </a:lnTo>
                  <a:cubicBezTo>
                    <a:pt x="1230597" y="0"/>
                    <a:pt x="1235178" y="1898"/>
                    <a:pt x="1238556" y="5276"/>
                  </a:cubicBezTo>
                  <a:cubicBezTo>
                    <a:pt x="1241934" y="8654"/>
                    <a:pt x="1243832" y="13235"/>
                    <a:pt x="1243832" y="18013"/>
                  </a:cubicBezTo>
                  <a:lnTo>
                    <a:pt x="1243832" y="515398"/>
                  </a:lnTo>
                  <a:cubicBezTo>
                    <a:pt x="1243832" y="525346"/>
                    <a:pt x="1235767" y="533410"/>
                    <a:pt x="1225819" y="533410"/>
                  </a:cubicBezTo>
                  <a:lnTo>
                    <a:pt x="18013" y="533410"/>
                  </a:lnTo>
                  <a:cubicBezTo>
                    <a:pt x="8065" y="533410"/>
                    <a:pt x="0" y="525346"/>
                    <a:pt x="0" y="515398"/>
                  </a:cubicBezTo>
                  <a:lnTo>
                    <a:pt x="0" y="18013"/>
                  </a:lnTo>
                  <a:cubicBezTo>
                    <a:pt x="0" y="8065"/>
                    <a:pt x="8065" y="0"/>
                    <a:pt x="18013" y="0"/>
                  </a:cubicBezTo>
                  <a:close/>
                </a:path>
              </a:pathLst>
            </a:custGeom>
            <a:solidFill>
              <a:srgbClr val="EFEFEF"/>
            </a:solidFill>
          </p:spPr>
        </p:sp>
        <p:sp>
          <p:nvSpPr>
            <p:cNvPr id="18" name="TextBox 37"/>
            <p:cNvSpPr txBox="1"/>
            <p:nvPr/>
          </p:nvSpPr>
          <p:spPr>
            <a:xfrm>
              <a:off x="0" y="-38100"/>
              <a:ext cx="1243832" cy="571510"/>
            </a:xfrm>
            <a:prstGeom prst="rect">
              <a:avLst/>
            </a:prstGeom>
          </p:spPr>
          <p:txBody>
            <a:bodyPr lIns="50800" tIns="50800" rIns="50800" bIns="50800" rtlCol="0" anchor="ctr"/>
            <a:lstStyle/>
            <a:p>
              <a:pPr algn="ctr">
                <a:lnSpc>
                  <a:spcPts val="2520"/>
                </a:lnSpc>
              </a:pPr>
              <a:endParaRPr/>
            </a:p>
          </p:txBody>
        </p:sp>
      </p:grpSp>
      <p:grpSp>
        <p:nvGrpSpPr>
          <p:cNvPr id="19" name="Group 38"/>
          <p:cNvGrpSpPr/>
          <p:nvPr/>
        </p:nvGrpSpPr>
        <p:grpSpPr>
          <a:xfrm rot="-5400000">
            <a:off x="-453874" y="3238261"/>
            <a:ext cx="2276703" cy="302155"/>
            <a:chOff x="0" y="0"/>
            <a:chExt cx="4464845" cy="554743"/>
          </a:xfrm>
        </p:grpSpPr>
        <p:sp>
          <p:nvSpPr>
            <p:cNvPr id="20" name="Freeform 39"/>
            <p:cNvSpPr/>
            <p:nvPr/>
          </p:nvSpPr>
          <p:spPr>
            <a:xfrm>
              <a:off x="0" y="0"/>
              <a:ext cx="4464845" cy="554743"/>
            </a:xfrm>
            <a:custGeom>
              <a:avLst/>
              <a:gdLst/>
              <a:ahLst/>
              <a:cxnLst/>
              <a:rect l="l" t="t" r="r" b="b"/>
              <a:pathLst>
                <a:path w="4464845" h="554743">
                  <a:moveTo>
                    <a:pt x="4261645" y="0"/>
                  </a:moveTo>
                  <a:cubicBezTo>
                    <a:pt x="4373869" y="0"/>
                    <a:pt x="4464845" y="124183"/>
                    <a:pt x="4464845" y="277371"/>
                  </a:cubicBezTo>
                  <a:cubicBezTo>
                    <a:pt x="4464845" y="430559"/>
                    <a:pt x="4373869" y="554743"/>
                    <a:pt x="4261645" y="554743"/>
                  </a:cubicBezTo>
                  <a:lnTo>
                    <a:pt x="203200" y="554743"/>
                  </a:lnTo>
                  <a:cubicBezTo>
                    <a:pt x="90976" y="554743"/>
                    <a:pt x="0" y="430559"/>
                    <a:pt x="0" y="277371"/>
                  </a:cubicBezTo>
                  <a:cubicBezTo>
                    <a:pt x="0" y="124183"/>
                    <a:pt x="90976" y="0"/>
                    <a:pt x="203200" y="0"/>
                  </a:cubicBezTo>
                  <a:close/>
                </a:path>
              </a:pathLst>
            </a:custGeom>
            <a:solidFill>
              <a:srgbClr val="02B2E4"/>
            </a:solidFill>
          </p:spPr>
        </p:sp>
        <p:sp>
          <p:nvSpPr>
            <p:cNvPr id="21" name="TextBox 40"/>
            <p:cNvSpPr txBox="1"/>
            <p:nvPr/>
          </p:nvSpPr>
          <p:spPr>
            <a:xfrm>
              <a:off x="0" y="-38100"/>
              <a:ext cx="4464845" cy="592843"/>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22" name="Group 41"/>
          <p:cNvGrpSpPr/>
          <p:nvPr/>
        </p:nvGrpSpPr>
        <p:grpSpPr>
          <a:xfrm rot="-5400000">
            <a:off x="622326" y="3156582"/>
            <a:ext cx="570538" cy="465516"/>
            <a:chOff x="0" y="0"/>
            <a:chExt cx="812800" cy="970800"/>
          </a:xfrm>
        </p:grpSpPr>
        <p:sp>
          <p:nvSpPr>
            <p:cNvPr id="23" name="Freeform 42"/>
            <p:cNvSpPr/>
            <p:nvPr/>
          </p:nvSpPr>
          <p:spPr>
            <a:xfrm>
              <a:off x="0" y="0"/>
              <a:ext cx="812800" cy="970800"/>
            </a:xfrm>
            <a:custGeom>
              <a:avLst/>
              <a:gdLst/>
              <a:ahLst/>
              <a:cxnLst/>
              <a:rect l="l" t="t" r="r" b="b"/>
              <a:pathLst>
                <a:path w="812800" h="970800">
                  <a:moveTo>
                    <a:pt x="406400" y="970800"/>
                  </a:moveTo>
                  <a:lnTo>
                    <a:pt x="812800" y="0"/>
                  </a:lnTo>
                  <a:lnTo>
                    <a:pt x="0" y="0"/>
                  </a:lnTo>
                  <a:lnTo>
                    <a:pt x="406400" y="970800"/>
                  </a:lnTo>
                  <a:close/>
                </a:path>
              </a:pathLst>
            </a:custGeom>
            <a:solidFill>
              <a:srgbClr val="02B2E4">
                <a:alpha val="71765"/>
              </a:srgbClr>
            </a:solidFill>
          </p:spPr>
        </p:sp>
        <p:sp>
          <p:nvSpPr>
            <p:cNvPr id="24" name="TextBox 43"/>
            <p:cNvSpPr txBox="1"/>
            <p:nvPr/>
          </p:nvSpPr>
          <p:spPr>
            <a:xfrm>
              <a:off x="127000" y="31243"/>
              <a:ext cx="558800" cy="488828"/>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25" name="TextBox 44"/>
          <p:cNvSpPr txBox="1"/>
          <p:nvPr/>
        </p:nvSpPr>
        <p:spPr>
          <a:xfrm>
            <a:off x="1620651" y="2681935"/>
            <a:ext cx="13056667" cy="1333698"/>
          </a:xfrm>
          <a:prstGeom prst="rect">
            <a:avLst/>
          </a:prstGeom>
        </p:spPr>
        <p:txBody>
          <a:bodyPr wrap="square" lIns="0" tIns="0" rIns="0" bIns="0" rtlCol="0" anchor="t">
            <a:spAutoFit/>
          </a:bodyPr>
          <a:lstStyle/>
          <a:p>
            <a:pPr marL="0" lvl="0" indent="0" algn="l">
              <a:lnSpc>
                <a:spcPts val="2800"/>
              </a:lnSpc>
              <a:spcBef>
                <a:spcPct val="0"/>
              </a:spcBef>
            </a:pPr>
            <a:r>
              <a:rPr lang="fr-FR" sz="2000" dirty="0" smtClean="0">
                <a:solidFill>
                  <a:srgbClr val="000000"/>
                </a:solidFill>
                <a:latin typeface="Proxima Nova"/>
                <a:ea typeface="Proxima Nova"/>
                <a:cs typeface="Proxima Nova"/>
              </a:rPr>
              <a:t>La </a:t>
            </a:r>
            <a:r>
              <a:rPr lang="fr-FR" sz="2000" dirty="0">
                <a:solidFill>
                  <a:srgbClr val="000000"/>
                </a:solidFill>
                <a:latin typeface="Proxima Nova"/>
                <a:ea typeface="Proxima Nova"/>
                <a:cs typeface="Proxima Nova"/>
              </a:rPr>
              <a:t>solution standard pour la centralisation et l'analyse de logs.</a:t>
            </a:r>
          </a:p>
          <a:p>
            <a:r>
              <a:rPr lang="fr-FR" sz="2000" dirty="0">
                <a:solidFill>
                  <a:srgbClr val="000000"/>
                </a:solidFill>
                <a:latin typeface="Proxima Nova"/>
                <a:ea typeface="Proxima Nova"/>
                <a:cs typeface="Proxima Nova"/>
              </a:rPr>
              <a:t>Projet futur (Post-soutenance) : Dans le cadre du stage à TMPA, nous prévoyons le déploiement d'un mini-SOC pour la détection proactive d'incidents.</a:t>
            </a:r>
          </a:p>
          <a:p>
            <a:pPr marL="215901" lvl="1" algn="l">
              <a:lnSpc>
                <a:spcPts val="2800"/>
              </a:lnSpc>
              <a:spcBef>
                <a:spcPct val="0"/>
              </a:spcBef>
            </a:pPr>
            <a:endParaRPr lang="en-US" sz="2000" u="none" strike="noStrike" dirty="0">
              <a:solidFill>
                <a:srgbClr val="000000"/>
              </a:solidFill>
              <a:latin typeface="Proxima Nova"/>
              <a:ea typeface="Proxima Nova"/>
              <a:cs typeface="Proxima Nova"/>
              <a:sym typeface="Proxima Nova"/>
            </a:endParaRPr>
          </a:p>
        </p:txBody>
      </p:sp>
      <p:sp>
        <p:nvSpPr>
          <p:cNvPr id="26" name="TextBox 45"/>
          <p:cNvSpPr txBox="1"/>
          <p:nvPr/>
        </p:nvSpPr>
        <p:spPr>
          <a:xfrm>
            <a:off x="1620651" y="2049523"/>
            <a:ext cx="13056667" cy="487313"/>
          </a:xfrm>
          <a:prstGeom prst="rect">
            <a:avLst/>
          </a:prstGeom>
        </p:spPr>
        <p:txBody>
          <a:bodyPr wrap="square" lIns="0" tIns="0" rIns="0" bIns="0" rtlCol="0" anchor="t">
            <a:spAutoFit/>
          </a:bodyPr>
          <a:lstStyle/>
          <a:p>
            <a:pPr lvl="0">
              <a:lnSpc>
                <a:spcPts val="3808"/>
              </a:lnSpc>
              <a:spcBef>
                <a:spcPct val="0"/>
              </a:spcBef>
            </a:pPr>
            <a:r>
              <a:rPr lang="fr-FR" sz="2800" b="1" dirty="0" smtClean="0"/>
              <a:t>ELK </a:t>
            </a:r>
            <a:r>
              <a:rPr lang="fr-FR" sz="2800" b="1" dirty="0" err="1"/>
              <a:t>Stack</a:t>
            </a:r>
            <a:r>
              <a:rPr lang="fr-FR" sz="2800" b="1" dirty="0"/>
              <a:t> (</a:t>
            </a:r>
            <a:r>
              <a:rPr lang="fr-FR" sz="2800" b="1" dirty="0" err="1"/>
              <a:t>Elasticsearch</a:t>
            </a:r>
            <a:r>
              <a:rPr lang="fr-FR" sz="2800" b="1" dirty="0"/>
              <a:t>, </a:t>
            </a:r>
            <a:r>
              <a:rPr lang="fr-FR" sz="2800" b="1" dirty="0" err="1"/>
              <a:t>Logstash</a:t>
            </a:r>
            <a:r>
              <a:rPr lang="fr-FR" sz="2800" b="1" dirty="0"/>
              <a:t>, </a:t>
            </a:r>
            <a:r>
              <a:rPr lang="fr-FR" sz="2800" b="1" dirty="0" err="1"/>
              <a:t>Kibana</a:t>
            </a:r>
            <a:r>
              <a:rPr lang="fr-FR" sz="2800" b="1" dirty="0"/>
              <a:t>) </a:t>
            </a:r>
            <a:r>
              <a:rPr lang="fr-FR" sz="3200" dirty="0">
                <a:solidFill>
                  <a:srgbClr val="000000"/>
                </a:solidFill>
                <a:latin typeface="Proxima Nova"/>
                <a:ea typeface="Proxima Nova"/>
                <a:cs typeface="Proxima Nova"/>
              </a:rPr>
              <a:t>:</a:t>
            </a:r>
            <a:endParaRPr lang="en-US" sz="2720" b="1" dirty="0">
              <a:solidFill>
                <a:srgbClr val="000000"/>
              </a:solidFill>
              <a:latin typeface="Proxima Nova Bold"/>
              <a:ea typeface="Proxima Nova Bold"/>
              <a:cs typeface="Proxima Nova Bold"/>
              <a:sym typeface="Proxima Nova Bold"/>
            </a:endParaRPr>
          </a:p>
        </p:txBody>
      </p:sp>
      <p:pic>
        <p:nvPicPr>
          <p:cNvPr id="2" name="Image 1"/>
          <p:cNvPicPr>
            <a:picLocks noChangeAspect="1"/>
          </p:cNvPicPr>
          <p:nvPr/>
        </p:nvPicPr>
        <p:blipFill>
          <a:blip r:embed="rId5"/>
          <a:stretch>
            <a:fillRect/>
          </a:stretch>
        </p:blipFill>
        <p:spPr>
          <a:xfrm>
            <a:off x="419185" y="6703650"/>
            <a:ext cx="8983329" cy="3315163"/>
          </a:xfrm>
          <a:prstGeom prst="rect">
            <a:avLst/>
          </a:prstGeom>
        </p:spPr>
      </p:pic>
      <p:pic>
        <p:nvPicPr>
          <p:cNvPr id="5" name="Image 4"/>
          <p:cNvPicPr>
            <a:picLocks noChangeAspect="1"/>
          </p:cNvPicPr>
          <p:nvPr/>
        </p:nvPicPr>
        <p:blipFill>
          <a:blip r:embed="rId6"/>
          <a:stretch>
            <a:fillRect/>
          </a:stretch>
        </p:blipFill>
        <p:spPr>
          <a:xfrm>
            <a:off x="9572989" y="6349013"/>
            <a:ext cx="7697274" cy="4039164"/>
          </a:xfrm>
          <a:prstGeom prst="rect">
            <a:avLst/>
          </a:prstGeom>
        </p:spPr>
      </p:pic>
    </p:spTree>
    <p:extLst>
      <p:ext uri="{BB962C8B-B14F-4D97-AF65-F5344CB8AC3E}">
        <p14:creationId xmlns:p14="http://schemas.microsoft.com/office/powerpoint/2010/main" val="37314906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750" advClick="0">
        <p159:morph option="byObject"/>
      </p:transition>
    </mc:Choice>
    <mc:Fallback>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500"/>
                                        <p:tgtEl>
                                          <p:spTgt spid="26"/>
                                        </p:tgtEl>
                                      </p:cBhvr>
                                    </p:animEffect>
                                  </p:childTnLst>
                                </p:cTn>
                              </p:par>
                              <p:par>
                                <p:cTn id="15" presetID="10"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childTnLst>
                                </p:cTn>
                              </p:par>
                              <p:par>
                                <p:cTn id="21" presetID="10"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wipe(down)">
                                      <p:cBhvr>
                                        <p:cTn id="31" dur="500"/>
                                        <p:tgtEl>
                                          <p:spTgt spid="2"/>
                                        </p:tgtEl>
                                      </p:cBhvr>
                                    </p:animEffect>
                                  </p:childTnLst>
                                </p:cTn>
                              </p:par>
                              <p:par>
                                <p:cTn id="32" presetID="22" presetClass="entr" presetSubtype="4" fill="hold" nodeType="with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wipe(down)">
                                      <p:cBhvr>
                                        <p:cTn id="3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5" grpId="0"/>
      <p:bldP spid="26"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24776</TotalTime>
  <Words>6802</Words>
  <Application>Microsoft Office PowerPoint</Application>
  <PresentationFormat>Personnalisé</PresentationFormat>
  <Paragraphs>1228</Paragraphs>
  <Slides>29</Slides>
  <Notes>29</Notes>
  <HiddenSlides>0</HiddenSlides>
  <MMClips>0</MMClips>
  <ScaleCrop>false</ScaleCrop>
  <HeadingPairs>
    <vt:vector size="6" baseType="variant">
      <vt:variant>
        <vt:lpstr>Polices utilisées</vt:lpstr>
      </vt:variant>
      <vt:variant>
        <vt:i4>36</vt:i4>
      </vt:variant>
      <vt:variant>
        <vt:lpstr>Thème</vt:lpstr>
      </vt:variant>
      <vt:variant>
        <vt:i4>1</vt:i4>
      </vt:variant>
      <vt:variant>
        <vt:lpstr>Titres des diapositives</vt:lpstr>
      </vt:variant>
      <vt:variant>
        <vt:i4>29</vt:i4>
      </vt:variant>
    </vt:vector>
  </HeadingPairs>
  <TitlesOfParts>
    <vt:vector size="66" baseType="lpstr">
      <vt:lpstr>Montserrat Ultra-Bold</vt:lpstr>
      <vt:lpstr>DM Sans</vt:lpstr>
      <vt:lpstr>Arial Bold</vt:lpstr>
      <vt:lpstr>Canva Sans</vt:lpstr>
      <vt:lpstr>Calibri (MS) Bold</vt:lpstr>
      <vt:lpstr>Arial Nova</vt:lpstr>
      <vt:lpstr>Times New Roman</vt:lpstr>
      <vt:lpstr>Gordita</vt:lpstr>
      <vt:lpstr>Inter</vt:lpstr>
      <vt:lpstr>Arial</vt:lpstr>
      <vt:lpstr>Marine-Bold</vt:lpstr>
      <vt:lpstr>Gordita Bold</vt:lpstr>
      <vt:lpstr>Arimo Bold</vt:lpstr>
      <vt:lpstr>Codec Pro</vt:lpstr>
      <vt:lpstr>Proxima Nova Bold</vt:lpstr>
      <vt:lpstr>Proxima Nova</vt:lpstr>
      <vt:lpstr>Canva Sans Bold</vt:lpstr>
      <vt:lpstr>Calibri (MS) Bold Italics</vt:lpstr>
      <vt:lpstr>Open Sans</vt:lpstr>
      <vt:lpstr>TT Fors Bold</vt:lpstr>
      <vt:lpstr>Aileron Ultra-Bold</vt:lpstr>
      <vt:lpstr>Aileron</vt:lpstr>
      <vt:lpstr>Inter Bold</vt:lpstr>
      <vt:lpstr>Open Sauce Bold</vt:lpstr>
      <vt:lpstr>DM Sans Bold</vt:lpstr>
      <vt:lpstr>Calibri (MS) Italics</vt:lpstr>
      <vt:lpstr>Wingdings</vt:lpstr>
      <vt:lpstr>Open Sauce</vt:lpstr>
      <vt:lpstr>Open Sans Bold</vt:lpstr>
      <vt:lpstr>Algerian</vt:lpstr>
      <vt:lpstr>Arial Nova Bold</vt:lpstr>
      <vt:lpstr>Calibri</vt:lpstr>
      <vt:lpstr>Calibri (MS)</vt:lpstr>
      <vt:lpstr>Aileron Bold</vt:lpstr>
      <vt:lpstr>Neue Machina</vt:lpstr>
      <vt:lpstr>Calibri Light</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Grey Orange Simple Modern New SOP Business Presentation</dc:title>
  <dc:creator>walid amane</dc:creator>
  <cp:lastModifiedBy>mobile zone</cp:lastModifiedBy>
  <cp:revision>188</cp:revision>
  <dcterms:created xsi:type="dcterms:W3CDTF">2006-08-16T00:00:00Z</dcterms:created>
  <dcterms:modified xsi:type="dcterms:W3CDTF">2026-06-19T15:11:59Z</dcterms:modified>
  <dc:identifier>DAGVQhTvRsY</dc:identifier>
</cp:coreProperties>
</file>