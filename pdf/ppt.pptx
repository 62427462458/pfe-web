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Hassan 1er  —  FST Settat  |  Master IRISTI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Privé Hyper-Convergé</a:t>
            </a:r>
            <a:endParaRPr lang="en-US" sz="3800" dirty="0"/>
          </a:p>
          <a:p>
            <a:pPr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Zero-Trust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IaaS Multi-Tenant  —  Pilotée par IaC  —  Supervision Avancée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7772400" cy="27432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0604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67712" y="260604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2606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Reef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86784" y="260604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86784" y="2606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+ Keycloak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05856" y="260604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856" y="2606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Ansible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24928" y="260604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26060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ELK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7772400" cy="27432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 Benmoussa Ayoub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pédagogique : </a:t>
            </a:r>
            <a:pPr indent="0" marL="0">
              <a:buNone/>
            </a:pPr>
            <a:r>
              <a:rPr lang="en-US" sz="1100" b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Youssef NOUR-EL AINE — FST Settat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8221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industriels : </a:t>
            </a:r>
            <a:pPr indent="0" marL="0">
              <a:buNone/>
            </a:pPr>
            <a:r>
              <a:rPr lang="en-US" sz="1100" b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Abdellah BOUJIDA &amp; M. Yassine DRIOUCH — Tanger Med Port Authority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2024/2025  —  Soutenance Juin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56692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15361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92808"/>
            <a:ext cx="54864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025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0025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d'accueil — Tanger Med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240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96896"/>
            <a:ext cx="54864" cy="56692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7066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706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 &amp; Choix technologiques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9443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300984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00984"/>
            <a:ext cx="54864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4107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410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Déploiement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36484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05072"/>
            <a:ext cx="54864" cy="5669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1148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4114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Zero-Trust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43525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1188720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188720"/>
            <a:ext cx="54864" cy="566928"/>
          </a:xfrm>
          <a:prstGeom prst="rect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1298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7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4068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IaC + Portail TMPA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15361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1892808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1892808"/>
            <a:ext cx="54864" cy="56692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0025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40680" y="20025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Disaster Recovery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21040" y="2240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2596896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596896"/>
            <a:ext cx="54864" cy="566928"/>
          </a:xfrm>
          <a:prstGeom prst="rect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27066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7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40680" y="2706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&amp; Résultats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21040" y="29443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300984"/>
            <a:ext cx="4297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3300984"/>
            <a:ext cx="54864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4107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40680" y="3410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21040" y="36484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Problématique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Infrastructures classiques — Limites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572768"/>
            <a:ext cx="256032" cy="25603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087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100% manuelle — erreurs fréquentes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167128"/>
            <a:ext cx="256032" cy="25603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031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HA native — downtime en cas de panne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761488"/>
            <a:ext cx="256032" cy="25603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974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périmétrique insuffisante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355848"/>
            <a:ext cx="256032" cy="25603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918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non fiables et non testées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950208"/>
            <a:ext cx="256032" cy="25603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862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coûteuses sans valeur ajoutée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DSI Tanger Med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1572768"/>
            <a:ext cx="256032" cy="256032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5087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stricte entre tenants (Finance, Audit...)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0574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64608" y="2167128"/>
            <a:ext cx="256032" cy="256032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1031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 — RTO &lt; 60s, RPO = 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65176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2761488"/>
            <a:ext cx="256032" cy="256032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6974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Zero-Trust bout en bout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2461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4608" y="3355848"/>
            <a:ext cx="256032" cy="256032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2918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automatisé en quelques minutes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84048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950208"/>
            <a:ext cx="256032" cy="256032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38862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et traçabilité complète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Problématique centrale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3200400"/>
          </a:xfrm>
          <a:prstGeom prst="rect">
            <a:avLst/>
          </a:prstGeom>
          <a:solidFill>
            <a:srgbClr val="112244"/>
          </a:solidFill>
          <a:ln w="25400">
            <a:solidFill>
              <a:srgbClr val="1B7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85800"/>
            <a:ext cx="109728" cy="3200400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mettre en place, au sein de la DSI de Tanger Med, un cloud privé multi-tenant, sécurisé selon le modèle Zero-Trust, entièrement automatisé par Infrastructure as Code, garantissant une haute disponibilité avec un temps de reprise inférieur à 60 secondes et une perte de données nulle, en s'appuyant uniquement sur des outils open source 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192024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5079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auto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4069080"/>
            <a:ext cx="192024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34640" y="45079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perte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4069080"/>
            <a:ext cx="192024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37760" y="45079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4069080"/>
            <a:ext cx="192024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40880" y="45079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stricte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Entreprise d'accueil : Groupe Tanger Med Port Authority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port d'Afrique &amp; de la Méditerranée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60020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1B7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1600200" cy="54864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TEUs/an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078992"/>
            <a:ext cx="160020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1B7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078992"/>
            <a:ext cx="1600200" cy="54864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1430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11680" y="1627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Compagnies maritimes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078992"/>
            <a:ext cx="160020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1B7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1078992"/>
            <a:ext cx="1600200" cy="54864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1430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49040" y="1627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africain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1078992"/>
            <a:ext cx="160020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1B7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078992"/>
            <a:ext cx="1600200" cy="54864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1430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86400" y="1627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ingénieurs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1078992"/>
            <a:ext cx="160020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1B7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1078992"/>
            <a:ext cx="1600200" cy="54864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14300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 Med 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23760" y="1627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2024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76272"/>
            <a:ext cx="85953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PFE — Direction des Systèmes d'Information (DSI)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2606040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633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identifié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26334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hétérogène, administration manuelle, sauvegardes peu fiables, absence de HA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154680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confiée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31821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déployer un cloud privé IaaS hyper-convergé Zero-Trust pour la DSI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703320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307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industriels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60320" y="37307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Abdellah BOUJIDA (Resp. infrastructure SI) &amp; M. Yassine DRIOUCH (Chef projet stockage)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79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60320" y="4279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opérationnelle + portail TMPA + documentation complète + runbooks DR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Choix technologiques justifiés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100% open source — Pourquoi ces outils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8.x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VMware vSphere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HCI natif, Ceph intégré, API complète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64008" cy="10972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Reef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GlusterFS / NFS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avec intégration Proxmox native + RBD + réplication x3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31720"/>
            <a:ext cx="64008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04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26974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Cisco ASA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VLAN natif, Zero-Trust, logs ELK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64008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404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+ Authentik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6974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Active Directory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Cloud-native, MFA TOTP natif, RBAC multi-tenant, SSO OIDC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Ansible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9319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Déploiement manuel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160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totale, Git versionné, CIS Benchmark auto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ELK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9319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Zabbix / Nagios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160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metrics natif, alertes &lt; 2 min, audit complet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Architecture Globale — 3 nœuds VMware Workstation + Proxmox VE + Ceph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2606040" cy="1920240"/>
          </a:xfrm>
          <a:prstGeom prst="rect">
            <a:avLst/>
          </a:prstGeom>
          <a:solidFill>
            <a:srgbClr val="112244"/>
          </a:solidFill>
          <a:ln w="19050">
            <a:solidFill>
              <a:srgbClr val="1B7F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2606040" cy="320040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896112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/ 2 vCPU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40GB OS + 500GB Ceph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+ OSD.0 + MGR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548640"/>
            <a:ext cx="2606040" cy="1920240"/>
          </a:xfrm>
          <a:prstGeom prst="rect">
            <a:avLst/>
          </a:prstGeom>
          <a:solidFill>
            <a:srgbClr val="112244"/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548640"/>
            <a:ext cx="2606040" cy="3200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548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64992" y="896112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/ 2 vCPU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40GB OS + 500GB Ceph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OSD.1 + MGR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548640"/>
            <a:ext cx="2606040" cy="1920240"/>
          </a:xfrm>
          <a:prstGeom prst="rect">
            <a:avLst/>
          </a:prstGeom>
          <a:solidFill>
            <a:srgbClr val="112244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548640"/>
            <a:ext cx="260604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548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896112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 / 2 vCPU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40GB OS + 250GB Ceph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OSD.2 + MGR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508760"/>
            <a:ext cx="594360" cy="0"/>
          </a:xfrm>
          <a:prstGeom prst="line">
            <a:avLst/>
          </a:prstGeom>
          <a:noFill/>
          <a:ln w="25400">
            <a:solidFill>
              <a:srgbClr val="C8962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943600" y="1508760"/>
            <a:ext cx="594360" cy="0"/>
          </a:xfrm>
          <a:prstGeom prst="line">
            <a:avLst/>
          </a:prstGeom>
          <a:noFill/>
          <a:ln w="25400">
            <a:solidFill>
              <a:srgbClr val="C8962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474720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Corosync HA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260604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060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192.168.1.0/24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606040"/>
            <a:ext cx="2606040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6060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2880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10.10.10.0/24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606040"/>
            <a:ext cx="2606040" cy="6858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6060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880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Multi-tenant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802.1Q Trunk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solidFill>
            <a:srgbClr val="1A1A3E"/>
          </a:solidFill>
          <a:ln w="12700">
            <a:solidFill>
              <a:srgbClr val="3A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Pools  —  347 GiB utilisés  |  pool-finance 88 GiB  |  pool-audit 192 GiB  |  pool-pfsense 28 GiB  |  pool-keycloak 30 GiB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solidFill>
            <a:srgbClr val="0E1A35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 :  vm-finance-web/db  |  vm-audit-app/db  |  pfSense  |  Keycloak  |  Authentik  |  Terraform  |  Ansible  |  Prometheus  |  Grafana  |  ELK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Stockage Ceph Reef — Données réelles du cluster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OSDs opérationnels — Ceph version 19.2.3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606040" cy="365760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OSD.0 — server1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: 0.45479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: 24.94%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1097280" cy="256032"/>
          </a:xfrm>
          <a:prstGeom prst="rect">
            <a:avLst/>
          </a:prstGeom>
          <a:solidFill>
            <a:srgbClr val="E6F4EE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097280"/>
            <a:ext cx="2606040" cy="365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097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OSD.1 — server2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1508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: 0.45479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7373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: 24.92%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029968"/>
            <a:ext cx="1097280" cy="256032"/>
          </a:xfrm>
          <a:prstGeom prst="rect">
            <a:avLst/>
          </a:prstGeom>
          <a:solidFill>
            <a:srgbClr val="E6F4EE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09728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097280"/>
            <a:ext cx="2606040" cy="3657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097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OSD.2 — server3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15087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: 0.22739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17373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: 49.84%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029968"/>
            <a:ext cx="1097280" cy="256032"/>
          </a:xfrm>
          <a:prstGeom prst="rect">
            <a:avLst/>
          </a:prstGeom>
          <a:solidFill>
            <a:srgbClr val="E6F4EE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633472"/>
            <a:ext cx="859536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633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80360" y="26334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60520" y="26334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633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2980944"/>
            <a:ext cx="8595360" cy="384048"/>
          </a:xfrm>
          <a:prstGeom prst="rect">
            <a:avLst/>
          </a:prstGeom>
          <a:solidFill>
            <a:srgbClr val="EA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0175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pool-finance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80360" y="30175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60520" y="30175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88.89 GiB (14.47%)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0175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Disques VMs tenant Finance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39242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42900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pool-audit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80360" y="34290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34290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192.09 GiB (26.77%)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342900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Disques VMs tenant Audit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803904"/>
            <a:ext cx="8595360" cy="384048"/>
          </a:xfrm>
          <a:prstGeom prst="rect">
            <a:avLst/>
          </a:prstGeom>
          <a:solidFill>
            <a:srgbClr val="EA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84048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pool-pfsense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880360" y="384048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60520" y="38404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27.99 GiB (5.06%)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384048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pfSense firewall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21538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25196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pool-keycloak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880360" y="42519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60520" y="42519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29.53 GiB (5.32%)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72200" y="425196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Keycloak IAM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626864"/>
            <a:ext cx="8595360" cy="384048"/>
          </a:xfrm>
          <a:prstGeom prst="rect">
            <a:avLst/>
          </a:prstGeom>
          <a:solidFill>
            <a:srgbClr val="EAF4F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6634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880360" y="466344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60520" y="46634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347.36 GiB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72200" y="46634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totale utilisée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Sécurité Zero-Trust  —  "Ne jamais faire confiance, toujours vérifier"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piliers de sécurité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691640"/>
          </a:xfrm>
          <a:prstGeom prst="rect">
            <a:avLst/>
          </a:prstGeom>
          <a:solidFill>
            <a:srgbClr val="112244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420624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881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pfSense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088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20/30/40/50 isolés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inter-VLAN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inter-tenant bloqué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206240" cy="1691640"/>
          </a:xfrm>
          <a:prstGeom prst="rect">
            <a:avLst/>
          </a:prstGeom>
          <a:solidFill>
            <a:srgbClr val="112244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51560"/>
            <a:ext cx="420624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881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Keycloak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0" y="1088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RBAC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52704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Realms par tenant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: Admin/Tenant/ReadOnly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TOTP obligatoire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206240" cy="1691640"/>
          </a:xfrm>
          <a:prstGeom prst="rect">
            <a:avLst/>
          </a:prstGeom>
          <a:solidFill>
            <a:srgbClr val="112244"/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71800"/>
            <a:ext cx="420624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08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Authentik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30083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Applications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44728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pour Grafana, Kibana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isolés par tenant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TMPA sécurisé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206240" cy="1691640"/>
          </a:xfrm>
          <a:prstGeom prst="rect">
            <a:avLst/>
          </a:prstGeom>
          <a:solidFill>
            <a:srgbClr val="112244"/>
          </a:solidFill>
          <a:ln w="19050">
            <a:solidFill>
              <a:srgbClr val="5B2D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71800"/>
            <a:ext cx="4206240" cy="38404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08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Cloudflare ZT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30083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distant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44728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Tunnels sans VPN classique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Email obligatoire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via tunnel sécurisé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Automatisation &amp; Infrastructure as Code (IaC)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intervention manuelle — Infrastructure 100% pilotée par du code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206240" cy="384048"/>
          </a:xfrm>
          <a:prstGeom prst="rect">
            <a:avLst/>
          </a:prstGeom>
          <a:solidFill>
            <a:srgbClr val="5C3B9E"/>
          </a:solidFill>
          <a:ln w="12700">
            <a:solidFill>
              <a:srgbClr val="5C3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Provisionnement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01168" cy="201168"/>
          </a:xfrm>
          <a:prstGeom prst="ellipse">
            <a:avLst/>
          </a:prstGeom>
          <a:solidFill>
            <a:srgbClr val="5C3B9E"/>
          </a:solidFill>
          <a:ln w="12700">
            <a:solidFill>
              <a:srgbClr val="5C3B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727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Proxmox officiel (telmate/proxmox)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201168" cy="201168"/>
          </a:xfrm>
          <a:prstGeom prst="ellipse">
            <a:avLst/>
          </a:prstGeom>
          <a:solidFill>
            <a:srgbClr val="5C3B9E"/>
          </a:solidFill>
          <a:ln w="12700">
            <a:solidFill>
              <a:srgbClr val="5C3B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214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par tenant — tfstate isolé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201168" cy="201168"/>
          </a:xfrm>
          <a:prstGeom prst="ellipse">
            <a:avLst/>
          </a:prstGeom>
          <a:solidFill>
            <a:srgbClr val="5C3B9E"/>
          </a:solidFill>
          <a:ln w="12700">
            <a:solidFill>
              <a:srgbClr val="5C3B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7004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VMs, VLANs, pools Ceph par 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246120"/>
            <a:ext cx="201168" cy="201168"/>
          </a:xfrm>
          <a:prstGeom prst="ellipse">
            <a:avLst/>
          </a:prstGeom>
          <a:solidFill>
            <a:srgbClr val="5C3B9E"/>
          </a:solidFill>
          <a:ln w="12700">
            <a:solidFill>
              <a:srgbClr val="5C3B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1868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: terraform plan → apply → destroy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794760"/>
            <a:ext cx="201168" cy="201168"/>
          </a:xfrm>
          <a:prstGeom prst="ellipse">
            <a:avLst/>
          </a:prstGeom>
          <a:solidFill>
            <a:srgbClr val="5C3B9E"/>
          </a:solidFill>
          <a:ln w="12700">
            <a:solidFill>
              <a:srgbClr val="5C3B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673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Debian 12 — déploiement en 3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78992"/>
            <a:ext cx="42062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78992"/>
            <a:ext cx="4206240" cy="384048"/>
          </a:xfrm>
          <a:prstGeom prst="rect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0789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— Configuration &amp; Hardening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1600200"/>
            <a:ext cx="201168" cy="201168"/>
          </a:xfrm>
          <a:prstGeom prst="ellipse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5727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contrôles CIS Benchmark Debian 12 (niv.1)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148840"/>
            <a:ext cx="201168" cy="201168"/>
          </a:xfrm>
          <a:prstGeom prst="ellipse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1214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SSH, UFW, PAM, auditd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697480"/>
            <a:ext cx="201168" cy="201168"/>
          </a:xfrm>
          <a:prstGeom prst="ellipse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67004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PBS automatique toutes les 2h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246120"/>
            <a:ext cx="201168" cy="201168"/>
          </a:xfrm>
          <a:prstGeom prst="ellipse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21868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snapshots max / VM avec rotation auto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94760"/>
            <a:ext cx="201168" cy="201168"/>
          </a:xfrm>
          <a:prstGeom prst="ellipse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7673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rollback &amp; remédiation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TMPA (Flask + Authentik SSO)  —  Interface unifiée DR / Backup / VMs  —  RBAC Admin / Tenant / ReadOnly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Backup, Disaster Recovery &amp; Haute Disponibilité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RTO &lt; 60s  |  RPO = 0  |  Automatisation complète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64008" cy="100584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Backup Server (PBS)  —  192.168.146.132  —  Disque dédié 500 GB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: toutes les 2h (cron automatique)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426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: 3 backups/VM (rotation auto)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Snapshot online — VM active pendant backup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7007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: AES-256 par VM — compression ZSTD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12848"/>
            <a:ext cx="4114800" cy="34747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128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restore_clone.sh — DR VMs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6334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Détection panne (timeout API &lt; 30s)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Sélection backup PBS (dernier valide)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18211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Restauration sur nœud disponible (3-8 min)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4564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Reconfiguration réseau VLAN / pfSense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7307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Validation + rapport email DSI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12848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12848"/>
            <a:ext cx="411480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128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fw.sh + auto-console.sh — DR pfSense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6334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fw.sh : restauration pfSense depuis PBS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9077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auto-console.sh : technicien virtuel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18211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 l'interaction console pfSense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4564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interfaces VLANs automatiquement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7307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total &lt; 5 minutes — sans intervention humaine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251960"/>
            <a:ext cx="2011680" cy="685800"/>
          </a:xfrm>
          <a:prstGeom prst="rect">
            <a:avLst/>
          </a:prstGeom>
          <a:solidFill>
            <a:srgbClr val="EAF4FB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793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secondes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4320" y="462686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mesuré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4251960"/>
            <a:ext cx="2011680" cy="685800"/>
          </a:xfrm>
          <a:prstGeom prst="rect">
            <a:avLst/>
          </a:prstGeom>
          <a:solidFill>
            <a:srgbClr val="EAF4FB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42793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(zéro)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468880" y="462686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4251960"/>
            <a:ext cx="2011680" cy="685800"/>
          </a:xfrm>
          <a:prstGeom prst="rect">
            <a:avLst/>
          </a:prstGeom>
          <a:solidFill>
            <a:srgbClr val="EAF4FB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2793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 OK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63440" y="462686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19/05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0" y="4251960"/>
            <a:ext cx="2011680" cy="685800"/>
          </a:xfrm>
          <a:prstGeom prst="rect">
            <a:avLst/>
          </a:prstGeom>
          <a:solidFill>
            <a:srgbClr val="EAF4F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42793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validés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58000" y="462686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Supervision &amp; Résultats réels — Prometheus + Grafana + ELK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issues de l'environnement PFE déployé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PBS — Capture réelle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Status 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508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099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 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170992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5.99%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9110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191109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7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1122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11226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3134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Avg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3134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78992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78992"/>
            <a:ext cx="4114800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réelle — server2 — 2026-05-11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1508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Busy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15087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19.97%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150876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70% OK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170992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Used 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17099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56.43%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17099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 CRITICAL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191109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FS 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191109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1911096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80% OK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11226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Avg 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1122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78040" y="2112264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23134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 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23134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minutes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78040" y="231343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atteint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743200"/>
            <a:ext cx="8595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743200"/>
            <a:ext cx="8595360" cy="347472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7432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Backup Report — 2026-05-19 16:00:01 — 7 Backups OK / 0 Failed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3154680"/>
            <a:ext cx="1115568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182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— vm1-audit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" y="34381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14:00:02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0040" y="36393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527048" y="3154680"/>
            <a:ext cx="1115568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27048" y="3182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— vm2-finance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527048" y="34381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14:03:07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27048" y="36393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34056" y="3154680"/>
            <a:ext cx="1115568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34056" y="3182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— pfsense2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34056" y="34381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14:14:34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734056" y="36393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941064" y="3154680"/>
            <a:ext cx="1115568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41064" y="3182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— keycloak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941064" y="34381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14:06:52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941064" y="36393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148072" y="3154680"/>
            <a:ext cx="1115568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48072" y="3182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— vm-cires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48072" y="34381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14:11:04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48072" y="36393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OK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355080" y="3154680"/>
            <a:ext cx="1115568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3182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— vm-cires-it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55080" y="34381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14:12:52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355080" y="36393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OK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562088" y="3154680"/>
            <a:ext cx="1115568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62088" y="3182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— pfsense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562088" y="34381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14:15:23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562088" y="36393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OK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Résultats &amp; Validation des objectifs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objectifs atteints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170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16152"/>
            <a:ext cx="502920" cy="50292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HCI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nœuds Proxmox + Ceph 347 GiB  — 100% opérationnel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206240" cy="1170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216152"/>
            <a:ext cx="502920" cy="50292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143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Zero-Trust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508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+ Keycloak + Authentik + Cloudflare ZT — bout en bout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4206240" cy="1170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514600"/>
            <a:ext cx="502920" cy="50292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4414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Automatisation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0720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Ansible — déploiement VM en &lt; 3 minutes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50008"/>
            <a:ext cx="4206240" cy="1170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514600"/>
            <a:ext cx="502920" cy="50292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4414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80720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mesuré 47 secondes (obj. &lt; 60s) — RPO = 0 confirmé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48456"/>
            <a:ext cx="4206240" cy="1170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813048"/>
            <a:ext cx="502920" cy="50292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813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7398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10565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 VMs sauvegardées le 19/05/2026 — restore_clone.sh validé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48456"/>
            <a:ext cx="4206240" cy="1170432"/>
          </a:xfrm>
          <a:prstGeom prst="rect">
            <a:avLst/>
          </a:prstGeom>
          <a:solidFill>
            <a:srgbClr val="112244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3813048"/>
            <a:ext cx="502920" cy="502920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813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37398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10565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UP 5.99% CPU — Alerte RAM détectée &lt; 2 min — ELK actif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— Diagramme de Gantt — Fév–Mai 2026 — Avancement 88%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phases  |  16 semaines  |  7/9 terminées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0" y="1078992"/>
            <a:ext cx="1577340" cy="256032"/>
          </a:xfrm>
          <a:prstGeom prst="rect">
            <a:avLst/>
          </a:prstGeom>
          <a:solidFill>
            <a:srgbClr val="1B7F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078992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37660" y="1078992"/>
            <a:ext cx="1577340" cy="256032"/>
          </a:xfrm>
          <a:prstGeom prst="rect">
            <a:avLst/>
          </a:prstGeom>
          <a:solidFill>
            <a:srgbClr val="1B7F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37660" y="1078992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15000" y="1078992"/>
            <a:ext cx="1577340" cy="256032"/>
          </a:xfrm>
          <a:prstGeom prst="rect">
            <a:avLst/>
          </a:prstGeom>
          <a:solidFill>
            <a:srgbClr val="1B7F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078992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292340" y="1078992"/>
            <a:ext cx="1577340" cy="256032"/>
          </a:xfrm>
          <a:prstGeom prst="rect">
            <a:avLst/>
          </a:prstGeom>
          <a:solidFill>
            <a:srgbClr val="1B7F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92340" y="1078992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399032"/>
            <a:ext cx="859536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4356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Initialisation &amp; Lab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1435608"/>
            <a:ext cx="788670" cy="237744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7329" y="14538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764792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801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Socle Virtualisation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54655" y="1801368"/>
            <a:ext cx="1183005" cy="237744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7329" y="18196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130552"/>
            <a:ext cx="859536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167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Stockage Ceph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3325" y="2167128"/>
            <a:ext cx="1183005" cy="2377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7329" y="21854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496312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532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Sécurité Zero-Trust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31995" y="2532888"/>
            <a:ext cx="1183005" cy="23774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7329" y="25511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862072"/>
            <a:ext cx="859536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898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IaC — Terraform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20665" y="2898648"/>
            <a:ext cx="1183005" cy="237744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57329" y="29169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227832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2644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IaC — Ansible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09335" y="3264408"/>
            <a:ext cx="1183005" cy="237744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57329" y="32826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593592"/>
            <a:ext cx="859536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630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Backup &amp; Sauvegarde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98005" y="3630168"/>
            <a:ext cx="788670" cy="237744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57329" y="36484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959352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995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Disaster Recovery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92340" y="3995928"/>
            <a:ext cx="788670" cy="23774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7329" y="40142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4325112"/>
            <a:ext cx="859536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361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Supervision &amp; Audit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686675" y="4361688"/>
            <a:ext cx="788670" cy="23774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57329" y="43799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4663440"/>
            <a:ext cx="457200" cy="18288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4663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 (7)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377440" y="4663440"/>
            <a:ext cx="457200" cy="1828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80360" y="4663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(2)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4663440"/>
            <a:ext cx="1645920" cy="201168"/>
          </a:xfrm>
          <a:prstGeom prst="rect">
            <a:avLst/>
          </a:prstGeom>
          <a:solidFill>
            <a:srgbClr val="EAF4FB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46634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global : 88%  —  Soutenance Juin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— Environnement réel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live à l'infrastructure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06240" cy="1097280"/>
          </a:xfrm>
          <a:prstGeom prst="rect">
            <a:avLst/>
          </a:prstGeom>
          <a:solidFill>
            <a:srgbClr val="1122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20624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Proxmox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4813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pve.ayoub-tmsa.org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737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nœuds — VMs actives — Ceph Health — Migrations 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206240" cy="1097280"/>
          </a:xfrm>
          <a:prstGeom prst="rect">
            <a:avLst/>
          </a:prstGeom>
          <a:solidFill>
            <a:srgbClr val="112244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15568"/>
            <a:ext cx="4206240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11556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Ceph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4813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pve.ayoub-tmsa.org → Ceph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8032" y="1737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OSDs up/in — 347 GiB — 7 pools — Réplication x3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4206240" cy="1097280"/>
          </a:xfrm>
          <a:prstGeom prst="rect">
            <a:avLst/>
          </a:prstGeom>
          <a:solidFill>
            <a:srgbClr val="112244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50008"/>
            <a:ext cx="4206240" cy="32918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3500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Firewall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27157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pfsense.ayoub-tmsa.org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VLAN — Trafic inter-tenant bloqué — Logs temps réel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50008"/>
            <a:ext cx="4206240" cy="1097280"/>
          </a:xfrm>
          <a:prstGeom prst="rect">
            <a:avLst/>
          </a:prstGeom>
          <a:solidFill>
            <a:srgbClr val="112244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50008"/>
            <a:ext cx="4206240" cy="32918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3500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PBS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7157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grafana.ayoub-tmsa.org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Status UP — CPU 5.99% — RAM 79.1% — Datastore 10.8%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4206240" cy="1097280"/>
          </a:xfrm>
          <a:prstGeom prst="rect">
            <a:avLst/>
          </a:prstGeom>
          <a:solidFill>
            <a:srgbClr val="112244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584448"/>
            <a:ext cx="4206240" cy="329184"/>
          </a:xfrm>
          <a:prstGeom prst="rect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5844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Backup 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" y="39502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192.168.146.132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 VMs OK — 3 snapshots/VM — Rapport email automatique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84448"/>
            <a:ext cx="4206240" cy="1097280"/>
          </a:xfrm>
          <a:prstGeom prst="rect">
            <a:avLst/>
          </a:prstGeom>
          <a:solidFill>
            <a:srgbClr val="112244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584448"/>
            <a:ext cx="4206240" cy="329184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5844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TMPA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39502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cloud-tmsa.ayoub-tmsa.org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/ Backup / VMs — Authentik SSO — RBAC actif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Conclusion &amp; Perspectives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(K3s/RKE2)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de conteneurs sur Proxmox — PaaS cloud privé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64008" cy="10972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GitLab + ArgoCD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GitOps — déploiement continu — Infrastructure as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59152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59152"/>
            <a:ext cx="64008" cy="10972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505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prédictive sur métriques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8620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 ML sur Prometheus — maintenance prédictive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59152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59152"/>
            <a:ext cx="64008" cy="1097280"/>
          </a:xfrm>
          <a:prstGeom prst="rect">
            <a:avLst/>
          </a:prstGeom>
          <a:solidFill>
            <a:srgbClr val="C47A1B"/>
          </a:solidFill>
          <a:ln w="12700">
            <a:solidFill>
              <a:srgbClr val="C47A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505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hybride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8620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VPN sécurisée vers AWS/Azure — burst capacity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21024"/>
            <a:ext cx="64008" cy="10972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124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1239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sécurité — alignement CIS Controls niveau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21024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21024"/>
            <a:ext cx="64008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124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Multi-datacenter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1239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2 sites Tanger Med — réplication géographique Ceph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générale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Cloud Privé de Niveau Production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E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100% opérationnelle — Open Source — Zero-Trust — IaC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01168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453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déployées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508760"/>
            <a:ext cx="201168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5453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 HCI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201168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453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 GiB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opérationnel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508760"/>
            <a:ext cx="201168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5453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sauvegardées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201168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511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4320" y="3044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validé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2514600"/>
            <a:ext cx="201168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5511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468880" y="3044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(zéro perte)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514600"/>
            <a:ext cx="201168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511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63440" y="3044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2514600"/>
            <a:ext cx="201168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5511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58000" y="3044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licences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8595360" cy="502920"/>
          </a:xfrm>
          <a:prstGeom prst="rect">
            <a:avLst/>
          </a:prstGeom>
          <a:solidFill>
            <a:srgbClr val="11224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630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"Ce projet démontre qu'un cloud privé open source de niveau production peut rivaliser avec AWS/Azure, en apportant souveraineté, contrôle et sécurité Zero-Trust à la DSI de Tanger Med."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251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 : Cloud Infrastructure  |  DevOps  |  Cybersécurité  |  IaC  |  Observabilité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 |  PFE Master IRISTI  |  Tanger Med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8778240" cy="45720"/>
          </a:xfrm>
          <a:prstGeom prst="rect">
            <a:avLst/>
          </a:prstGeom>
          <a:solidFill>
            <a:srgbClr val="1B7FC4"/>
          </a:solidFill>
          <a:ln w="12700">
            <a:solidFill>
              <a:srgbClr val="1B7F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7772400" cy="36576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042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 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23042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Benmoussa Ayoub — Master IRISTI — FST Settat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pédagogique 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7614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Youssef NOUR-EL AINE — FST Settat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18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industriels 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2186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Abdellah BOUJIDA &amp; M. Yassine DRIOUCH — Tanger Med Port Authority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758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live 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6758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ayoub-tmsa.org  (accès sur demande)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33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 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41330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privé — Terraform + Ansible + Scripts DR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7772400" cy="36576"/>
          </a:xfrm>
          <a:prstGeom prst="rect">
            <a:avLst/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Hassan 1er  —  Faculté des Sciences et Techniques de Settat  —  Année universitaire 2024/2025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PFE — Cloud Privé Hyper-Convergé &amp; Zero-Trust — Tanger Med</dc:title>
  <dc:subject>PptxGenJS Presentation</dc:subject>
  <dc:creator>Benmoussa Ayoub</dc:creator>
  <cp:lastModifiedBy>Benmoussa Ayoub</cp:lastModifiedBy>
  <cp:revision>1</cp:revision>
  <dcterms:created xsi:type="dcterms:W3CDTF">2026-05-24T21:24:51Z</dcterms:created>
  <dcterms:modified xsi:type="dcterms:W3CDTF">2026-05-24T21:24:51Z</dcterms:modified>
</cp:coreProperties>
</file>